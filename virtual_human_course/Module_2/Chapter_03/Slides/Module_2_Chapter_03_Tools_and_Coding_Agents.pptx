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jpeg" ContentType="image/jpeg"/>
  <ns0:Default Extension="png" ContentType="image/png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4bad6782c54188" /><Relationship Type="http://schemas.openxmlformats.org/officeDocument/2006/relationships/extended-properties" Target="/docProps/app.xml" Id="R152b94722f374b10" /><Relationship Type="http://schemas.openxmlformats.org/officeDocument/2006/relationships/officeDocument" Target="/ppt/presentation.xml" Id="R459052d707954a1f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402aec61461842ad"/>
  </ns0:sldMasterIdLst>
  <ns0:sldIdLst>
    <ns0:sldId id="256" ns1:id="Rbd1d678730e54059"/>
    <ns0:sldId id="257" ns1:id="R8ecb1299f2db412b"/>
    <ns0:sldId id="258" ns1:id="Rdf2b16607a814007"/>
    <ns0:sldId id="259" ns1:id="R120daeb0145240d0"/>
    <ns0:sldId id="260" ns1:id="Rbd51aec9a3e6442f"/>
    <ns0:sldId id="261" ns1:id="Rd75c60c35cae4e7f"/>
    <ns0:sldId id="262" ns1:id="Redb4d13398194f8c"/>
    <ns0:sldId id="263" ns1:id="Ref08b8ed05be4c44"/>
    <ns0:sldId id="264" ns1:id="R4d832e6c1a204e40"/>
    <ns0:sldId id="265" ns1:id="Rd1917f568b564cd7"/>
    <ns0:sldId id="266" ns1:id="Rf635955afe84427d"/>
    <ns0:sldId id="267" ns1:id="Re0af818ff3714bb1"/>
    <ns0:sldId id="268" ns1:id="R0de702d20e614dbc"/>
    <ns0:sldId id="269" ns1:id="R51c9c42fe0114b06"/>
    <ns0:sldId id="270" ns1:id="Rb05333f7dbe647a0"/>
    <ns0:sldId id="271" ns1:id="R43b3e67f58ed4665"/>
    <ns0:sldId id="272" ns1:id="R2b61ad97dc3f427c"/>
    <ns0:sldId id="273" ns1:id="Rb1a97396b3164189"/>
    <ns0:sldId id="274" ns1:id="Rbd7767e8bcbb4329"/>
    <ns0:sldId id="275" ns1:id="R6f6851757b07410b"/>
    <ns0:sldId id="276" ns1:id="R0b7387f97d234221"/>
    <ns0:sldId id="277" ns1:id="R81c7383e17a04d30"/>
    <ns0:sldId id="278" ns1:id="Rf552de7ea42c4a5f"/>
  </ns0:sldIdLst>
  <ns0:sldSz cx="9144000" cy="51435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f99478fdea574a3b" /><ns0:Relationship Type="http://schemas.openxmlformats.org/officeDocument/2006/relationships/slideMaster" Target="/ppt/slideMasters/slideMaster1.xml" Id="R402aec61461842ad" /><ns0:Relationship Type="http://schemas.openxmlformats.org/officeDocument/2006/relationships/presProps" Target="/ppt/presProps.xml" Id="Rb6a9a401e39e49c2" /><ns0:Relationship Type="http://schemas.openxmlformats.org/officeDocument/2006/relationships/viewProps" Target="/ppt/viewProps.xml" Id="R1c4eba6ec3c141fd" /><ns0:Relationship Type="http://schemas.openxmlformats.org/officeDocument/2006/relationships/tableStyles" Target="/ppt/tableStyles.xml" Id="R2eedf88f769a4e16" /><ns0:Relationship Type="http://schemas.openxmlformats.org/officeDocument/2006/relationships/slide" Target="/ppt/slides/slide1.xml" Id="Rbd1d678730e54059" /><ns0:Relationship Type="http://schemas.openxmlformats.org/officeDocument/2006/relationships/slide" Target="/ppt/slides/slide2.xml" Id="R8ecb1299f2db412b" /><ns0:Relationship Type="http://schemas.openxmlformats.org/officeDocument/2006/relationships/slide" Target="/ppt/slides/slide3.xml" Id="Rdf2b16607a814007" /><ns0:Relationship Type="http://schemas.openxmlformats.org/officeDocument/2006/relationships/slide" Target="/ppt/slides/slide4.xml" Id="R120daeb0145240d0" /><ns0:Relationship Type="http://schemas.openxmlformats.org/officeDocument/2006/relationships/slide" Target="/ppt/slides/slide5.xml" Id="Rbd51aec9a3e6442f" /><ns0:Relationship Type="http://schemas.openxmlformats.org/officeDocument/2006/relationships/slide" Target="/ppt/slides/slide6.xml" Id="Rd75c60c35cae4e7f" /><ns0:Relationship Type="http://schemas.openxmlformats.org/officeDocument/2006/relationships/slide" Target="/ppt/slides/slide7.xml" Id="Redb4d13398194f8c" /><ns0:Relationship Type="http://schemas.openxmlformats.org/officeDocument/2006/relationships/slide" Target="/ppt/slides/slide8.xml" Id="Ref08b8ed05be4c44" /><ns0:Relationship Type="http://schemas.openxmlformats.org/officeDocument/2006/relationships/slide" Target="/ppt/slides/slide9.xml" Id="R4d832e6c1a204e40" /><ns0:Relationship Type="http://schemas.openxmlformats.org/officeDocument/2006/relationships/slide" Target="/ppt/slides/slide10.xml" Id="Rd1917f568b564cd7" /><ns0:Relationship Type="http://schemas.openxmlformats.org/officeDocument/2006/relationships/slide" Target="/ppt/slides/slide11.xml" Id="Rf635955afe84427d" /><ns0:Relationship Type="http://schemas.openxmlformats.org/officeDocument/2006/relationships/slide" Target="/ppt/slides/slide12.xml" Id="Re0af818ff3714bb1" /><ns0:Relationship Type="http://schemas.openxmlformats.org/officeDocument/2006/relationships/slide" Target="/ppt/slides/slide13.xml" Id="R0de702d20e614dbc" /><ns0:Relationship Type="http://schemas.openxmlformats.org/officeDocument/2006/relationships/slide" Target="/ppt/slides/slide14.xml" Id="R51c9c42fe0114b06" /><ns0:Relationship Type="http://schemas.openxmlformats.org/officeDocument/2006/relationships/slide" Target="/ppt/slides/slide15.xml" Id="Rb05333f7dbe647a0" /><ns0:Relationship Type="http://schemas.openxmlformats.org/officeDocument/2006/relationships/slide" Target="/ppt/slides/slide16.xml" Id="R43b3e67f58ed4665" /><ns0:Relationship Type="http://schemas.openxmlformats.org/officeDocument/2006/relationships/slide" Target="/ppt/slides/slide17.xml" Id="R2b61ad97dc3f427c" /><ns0:Relationship Type="http://schemas.openxmlformats.org/officeDocument/2006/relationships/slide" Target="/ppt/slides/slide18.xml" Id="Rb1a97396b3164189" /><ns0:Relationship Type="http://schemas.openxmlformats.org/officeDocument/2006/relationships/slide" Target="/ppt/slides/slide19.xml" Id="Rbd7767e8bcbb4329" /><ns0:Relationship Type="http://schemas.openxmlformats.org/officeDocument/2006/relationships/slide" Target="/ppt/slides/slide20.xml" Id="R6f6851757b07410b" /><ns0:Relationship Type="http://schemas.openxmlformats.org/officeDocument/2006/relationships/slide" Target="/ppt/slides/slide21.xml" Id="R0b7387f97d234221" /><ns0:Relationship Type="http://schemas.openxmlformats.org/officeDocument/2006/relationships/slide" Target="/ppt/slides/slide22.xml" Id="R81c7383e17a04d30" /><ns0:Relationship Type="http://schemas.openxmlformats.org/officeDocument/2006/relationships/slide" Target="/ppt/slides/slide23.xml" Id="Rf552de7ea42c4a5f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e316d6d644b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b00dee3be4ac0" /><Relationship Type="http://schemas.openxmlformats.org/officeDocument/2006/relationships/image" Target="/ppt/media/image.jpeg" Id="R733ce7f8d0d346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d88215b9f54452" /><Relationship Type="http://schemas.openxmlformats.org/officeDocument/2006/relationships/image" Target="/ppt/media/image.png" Id="R6b13f366374644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f7507455474d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4cdddaea54c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707d83e74145f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e1914b4a74c9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747ca468204e5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_P1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ce7f8d0d3461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5FC7451-64D3-4CB8-9AA0-48C8D9DA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DF34BA1-73E7-4752-8D70-4FEFC7FA2B5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_P2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3f3663746441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79BB4D8-5B9D-4F65-BBDB-8D681C9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93FC60A-EA91-4AC7-BC18-270D3086658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SECTION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660B54-203F-42EC-A5A3-F2DC5C93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C66AC75-C800-41C1-BA5A-9761923D22A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450B48-B37E-42BD-8A40-552BD5F2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5E3C3A-CD83-4BD1-8F19-7D30E26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ACBE0D7-4493-47F3-A3B0-8926F89D6AD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CONTENT_P1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AF5B2E-D90D-402D-998C-27509820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VIRTUAL HUMANS FOUNDATIONS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270CFE-C9FB-4344-8B2C-69291004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9532946-C1F9-48AE-995E-50C10B84284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CODE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CB2DEA-1F6F-40AE-B1E2-0531D346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HANDS-ON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CA723F-1C94-47D6-8CBD-26D79347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2A5C3D1-AC51-4DA6-AEE4-466D7F7C1DA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STATEMENT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0ACBF4-7074-4ED0-A09E-3755A1AD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1A20153-E490-422E-8D29-B810FEAC614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522d0351c54bf4" /><Relationship Type="http://schemas.openxmlformats.org/officeDocument/2006/relationships/slideLayout" Target="/ppt/slideLayouts/slideLayout1.xml" Id="R7e4ad35345964fd1" /><Relationship Type="http://schemas.openxmlformats.org/officeDocument/2006/relationships/slideLayout" Target="/ppt/slideLayouts/slideLayout2.xml" Id="R8ea658e45fb642c8" /><Relationship Type="http://schemas.openxmlformats.org/officeDocument/2006/relationships/slideLayout" Target="/ppt/slideLayouts/slideLayout3.xml" Id="Rc3755604cd214de3" /><Relationship Type="http://schemas.openxmlformats.org/officeDocument/2006/relationships/slideLayout" Target="/ppt/slideLayouts/slideLayout4.xml" Id="Ra325afd93d274051" /><Relationship Type="http://schemas.openxmlformats.org/officeDocument/2006/relationships/slideLayout" Target="/ppt/slideLayouts/slideLayout5.xml" Id="Rf87f1a7fb4ff414e" /><Relationship Type="http://schemas.openxmlformats.org/officeDocument/2006/relationships/slideLayout" Target="/ppt/slideLayouts/slideLayout6.xml" Id="R2375f956c87244fb" /><Relationship Type="http://schemas.openxmlformats.org/officeDocument/2006/relationships/slideLayout" Target="/ppt/slideLayouts/slideLayout7.xml" Id="R0ba1aaf156834217" /><Relationship Type="http://schemas.openxmlformats.org/officeDocument/2006/relationships/slideLayout" Target="/ppt/slideLayouts/slideLayout8.xml" Id="R53a1f08f39b84d5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F40BB06-55D8-4F61-8DB4-8F5ED2A813A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>
                <a:solidFill>
                  <a:srgbClr val="FFFFFF"/>
                </a:solidFill>
              </a:rPr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4ad35345964fd1"/>
    <p:sldLayoutId xmlns:r="http://schemas.openxmlformats.org/officeDocument/2006/relationships" id="2147483650" r:id="R8ea658e45fb642c8"/>
    <p:sldLayoutId xmlns:r="http://schemas.openxmlformats.org/officeDocument/2006/relationships" id="2147483651" r:id="Rc3755604cd214de3"/>
    <p:sldLayoutId xmlns:r="http://schemas.openxmlformats.org/officeDocument/2006/relationships" id="2147483652" r:id="Ra325afd93d274051"/>
    <p:sldLayoutId xmlns:r="http://schemas.openxmlformats.org/officeDocument/2006/relationships" id="2147483653" r:id="Rf87f1a7fb4ff414e"/>
    <p:sldLayoutId xmlns:r="http://schemas.openxmlformats.org/officeDocument/2006/relationships" id="2147483654" r:id="R2375f956c87244fb"/>
    <p:sldLayoutId xmlns:r="http://schemas.openxmlformats.org/officeDocument/2006/relationships" id="2147483655" r:id="R0ba1aaf156834217"/>
    <p:sldLayoutId xmlns:r="http://schemas.openxmlformats.org/officeDocument/2006/relationships" id="2147483656" r:id="R53a1f08f39b84d5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3.xml" Id="R5694fbea57224666" /><ns0:Relationship Type="http://schemas.openxmlformats.org/officeDocument/2006/relationships/image" Target="/ppt/media/image2.png" Id="Rf0ec317fce2349ad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5cf3e106a1f41fe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e3d50bd93fa47ae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0cd1a8a4cbc430d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f96539469934702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ff8b967d95c49f9" /><ns0:Relationship Type="http://schemas.openxmlformats.org/officeDocument/2006/relationships/hyperlink" Target="https://home.openweathermap.org/users/sign_up" TargetMode="External" Id="R2c9f666e10b14f51" /><ns0:Relationship Type="http://schemas.openxmlformats.org/officeDocument/2006/relationships/hyperlink" Target="https://home.openweathermap.org/api_keys" TargetMode="External" Id="Rfbe1d7969b6549ed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c7da809a7ac4aab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121756ecdda4883" /><ns0:Relationship Type="http://schemas.openxmlformats.org/officeDocument/2006/relationships/image" Target="/ppt/media/image3.png" Id="R6e6480f0c4854d48" /><ns0:Relationship Type="http://schemas.openxmlformats.org/officeDocument/2006/relationships/image" Target="/ppt/media/image4.png" Id="R78dc4464c39a4431" /><ns0:Relationship Type="http://schemas.openxmlformats.org/officeDocument/2006/relationships/hyperlink" Target="https://claude.com/claude-code" TargetMode="External" Id="R6f022fc144b244c5" /><ns0:Relationship Type="http://schemas.openxmlformats.org/officeDocument/2006/relationships/hyperlink" Target="https://openai.com/codex/" TargetMode="External" Id="R0846c59bfb824f2c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9a3181184244e68" /><ns0:Relationship Type="http://schemas.openxmlformats.org/officeDocument/2006/relationships/hyperlink" Target="https://marketplace.visualstudio.com/items?itemName=OpenAI.chatgpt" TargetMode="External" Id="Rdb0fd5a8d3804737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16f227609f54005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bac28ff9d554fbe" /><ns0:Relationship Type="http://schemas.openxmlformats.org/officeDocument/2006/relationships/image" Target="/ppt/media/image5.png" Id="Ra071f2af011a4454" /><ns0:Relationship Type="http://schemas.openxmlformats.org/officeDocument/2006/relationships/hyperlink" Target="https://arxiv.org/abs/2506.08872" TargetMode="External" Id="R104a83bf29484a8e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0bdcee413464c44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bb9e92e3acb456b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7f8aebf0f924851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49536f854964019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efd68ed0c224ef5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5b96f3cc0d94ffe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1a18f38ed0d4efd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4bc2c02822c4c27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6263192e61b4890" /><ns0:Relationship Type="http://schemas.openxmlformats.org/officeDocument/2006/relationships/hyperlink" Target="https://docs.langchain.com/oss/python/langgraph/persistence" TargetMode="External" Id="R651f146eb7db473e" /><ns0:Relationship Type="http://schemas.openxmlformats.org/officeDocument/2006/relationships/hyperlink" Target="https://docs.langchain.com/oss/python/langgraph/persistence" TargetMode="External" Id="R72b8e545f8a94487" /><ns0:Relationship Type="http://schemas.openxmlformats.org/officeDocument/2006/relationships/hyperlink" Target="https://reference.langchain.com/python/langchain-ollama/chat_models/ChatOllama/with_structured_output" TargetMode="External" Id="Rb94224915b6c41e0" /><ns0:Relationship Type="http://schemas.openxmlformats.org/officeDocument/2006/relationships/hyperlink" Target="https://reference.langchain.com/python/langchain-ollama/chat_models/ChatOllama/with_structured_output" TargetMode="External" Id="Rcbc4e5c4c57c4233" /><ns0:Relationship Type="http://schemas.openxmlformats.org/officeDocument/2006/relationships/hyperlink" Target="https://reference.langchain.com/python/langchain-core/prompts/chat/ChatPromptTemplate" TargetMode="External" Id="R7ee5a77d0d0e467b" /><ns0:Relationship Type="http://schemas.openxmlformats.org/officeDocument/2006/relationships/hyperlink" Target="https://reference.langchain.com/python/langchain-core/prompts/chat/ChatPromptTemplate" TargetMode="External" Id="Rb4dc4d2750c74c8c" /><ns0:Relationship Type="http://schemas.openxmlformats.org/officeDocument/2006/relationships/hyperlink" Target="https://docs.langchain.com/oss/python/langgraph/workflows-agents" TargetMode="External" Id="Re89dcecb05f54cd2" /><ns0:Relationship Type="http://schemas.openxmlformats.org/officeDocument/2006/relationships/hyperlink" Target="https://docs.langchain.com/oss/python/langgraph/workflows-agents" TargetMode="External" Id="R6220d99a50074889" /><ns0:Relationship Type="http://schemas.openxmlformats.org/officeDocument/2006/relationships/hyperlink" Target="https://learn.chatgpt.com/docs/ide" TargetMode="External" Id="R8c363a502c234996" /><ns0:Relationship Type="http://schemas.openxmlformats.org/officeDocument/2006/relationships/hyperlink" Target="https://learn.chatgpt.com/docs/ide" TargetMode="External" Id="Rc3ef945949534742" /><ns0:Relationship Type="http://schemas.openxmlformats.org/officeDocument/2006/relationships/hyperlink" Target="https://code.claude.com/docs/en/overview" TargetMode="External" Id="Raa0b987f74a14654" /><ns0:Relationship Type="http://schemas.openxmlformats.org/officeDocument/2006/relationships/hyperlink" Target="https://code.claude.com/docs/en/overview" TargetMode="External" Id="Rb6abdc0c912d4f2c" /><ns0:Relationship Type="http://schemas.openxmlformats.org/officeDocument/2006/relationships/hyperlink" Target="https://openweathermap.org/api/current" TargetMode="External" Id="Red1de37354c74f13" /><ns0:Relationship Type="http://schemas.openxmlformats.org/officeDocument/2006/relationships/hyperlink" Target="https://openweathermap.org/api/current" TargetMode="External" Id="R9d5d0751b18f4b7b" /><ns0:Relationship Type="http://schemas.openxmlformats.org/officeDocument/2006/relationships/hyperlink" Target="https://openweathermap.org/api/geocoding-api" TargetMode="External" Id="R9ad8592477cc4be1" /><ns0:Relationship Type="http://schemas.openxmlformats.org/officeDocument/2006/relationships/hyperlink" Target="https://openweathermap.org/api/geocoding-api" TargetMode="External" Id="Rc7b23b6dbc1a4903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82aa621ed8544cf" /><ns0:Relationship Type="http://schemas.openxmlformats.org/officeDocument/2006/relationships/hyperlink" Target="https://openweathermap.org/api/weather-conditions" TargetMode="External" Id="Rdeb74079632a4d5e" /><ns0:Relationship Type="http://schemas.openxmlformats.org/officeDocument/2006/relationships/hyperlink" Target="https://openweathermap.org/api/weather-conditions" TargetMode="External" Id="R08a94186acf2466a" /><ns0:Relationship Type="http://schemas.openxmlformats.org/officeDocument/2006/relationships/hyperlink" Target="https://openweathermap.org/faq" TargetMode="External" Id="R56b051b7a5ea43b2" /><ns0:Relationship Type="http://schemas.openxmlformats.org/officeDocument/2006/relationships/hyperlink" Target="https://openweathermap.org/faq" TargetMode="External" Id="Rc200a2902f924f4e" /><ns0:Relationship Type="http://schemas.openxmlformats.org/officeDocument/2006/relationships/hyperlink" Target="https://openweathermap.org/price" TargetMode="External" Id="R9c0bc9c77dc84091" /><ns0:Relationship Type="http://schemas.openxmlformats.org/officeDocument/2006/relationships/hyperlink" Target="https://openweathermap.org/price" TargetMode="External" Id="Rf240ffa0c810488a" /><ns0:Relationship Type="http://schemas.openxmlformats.org/officeDocument/2006/relationships/hyperlink" Target="https://code.claude.com/docs/en/vs-code" TargetMode="External" Id="R455533315ad04f7b" /><ns0:Relationship Type="http://schemas.openxmlformats.org/officeDocument/2006/relationships/hyperlink" Target="https://code.claude.com/docs/en/vs-code" TargetMode="External" Id="R0fcb38707793469b" /><ns0:Relationship Type="http://schemas.openxmlformats.org/officeDocument/2006/relationships/hyperlink" Target="https://marketplace.visualstudio.com/items?itemName=OpenAI.chatgpt" TargetMode="External" Id="R7d83e813358242ec" /><ns0:Relationship Type="http://schemas.openxmlformats.org/officeDocument/2006/relationships/hyperlink" Target="https://marketplace.visualstudio.com/items?itemName=OpenAI.chatgpt" TargetMode="External" Id="Rcbc95e02f54a434d" /><ns0:Relationship Type="http://schemas.openxmlformats.org/officeDocument/2006/relationships/hyperlink" Target="https://marketplace.visualstudio.com/items?itemName=anthropic.claude-code" TargetMode="External" Id="R4d09ec42cc184009" /><ns0:Relationship Type="http://schemas.openxmlformats.org/officeDocument/2006/relationships/hyperlink" Target="https://marketplace.visualstudio.com/items?itemName=anthropic.claude-code" TargetMode="External" Id="R45ac3c18f3684a09" /><ns0:Relationship Type="http://schemas.openxmlformats.org/officeDocument/2006/relationships/hyperlink" Target="https://arxiv.org/abs/2506.08872" TargetMode="External" Id="Rc823ae5888e04afa" /><ns0:Relationship Type="http://schemas.openxmlformats.org/officeDocument/2006/relationships/hyperlink" Target="https://arxiv.org/abs/2506.08872" TargetMode="External" Id="R937fa0026d9547c3" /><ns0:Relationship Type="http://schemas.openxmlformats.org/officeDocument/2006/relationships/hyperlink" Target="https://pubmed.ncbi.nlm.nih.gov/16507066/" TargetMode="External" Id="Re401e7d4ce124d7e" /><ns0:Relationship Type="http://schemas.openxmlformats.org/officeDocument/2006/relationships/hyperlink" Target="https://pubmed.ncbi.nlm.nih.gov/16507066/" TargetMode="External" Id="Rdfc21f0a0673400b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d6bdd4e72d340ca" /><ns0:Relationship Type="http://schemas.openxmlformats.org/officeDocument/2006/relationships/hyperlink" Target="https://tiny.cc/AVENUE_VH_Webinar2" TargetMode="External" Id="Re1180fff47f140c4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52c73ba21c24df5" /><ns0:Relationship Type="http://schemas.openxmlformats.org/officeDocument/2006/relationships/image" Target="/ppt/media/image6.png" Id="R6a8e7c67fecb4277" /><ns0:Relationship Type="http://schemas.openxmlformats.org/officeDocument/2006/relationships/hyperlink" Target="https://forms.cloud.microsoft/pages/responsepage.aspx?id=tLwjs1htJU-Hv2Nmw9aJrwbW7pTWwvxGs7LdQH0PRGJUOFJSTTFMM1A0OERTQkFMWTZTWTdCVUlBRi4u&amp;route=shorturl" TargetMode="External" Id="Rb45b2897b794418f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23E2CA0-25C4-4FBC-91B7-70ECAD48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0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Alessandro Emmanuel Pecora · 30 October 2026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671F37A-9C3B-4F2D-951B-FB8AADDF2EF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c317fce2349a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m0-text-1">
            <a:extLst xmlns:a="http://schemas.openxmlformats.org/drawingml/2006/main">
              <a:ext uri="{FF2B5EF4-FFF2-40B4-BE49-F238E27FC236}">
                <a16:creationId xmlns:a16="http://schemas.microsoft.com/office/drawing/2014/main" id="{42240BCB-CB11-468E-AB0E-9B00F39E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Module 2 - Chapter 03</a:t>
            </a:r>
          </a:p>
          <a:p xmlns:a="http://schemas.openxmlformats.org/drawingml/2006/main">
            <a:pPr>
              <a:buNone/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Tools and Coding Agents</a:t>
            </a:r>
          </a:p>
        </p:txBody>
      </p:sp>
      <p:sp>
        <p:nvSpPr>
          <p:cNvPr id="29" name="m1-text-266">
            <a:extLst xmlns:a="http://schemas.openxmlformats.org/drawingml/2006/main">
              <a:ext uri="{FF2B5EF4-FFF2-40B4-BE49-F238E27FC236}">
                <a16:creationId xmlns:a16="http://schemas.microsoft.com/office/drawing/2014/main" id="{3BB0F476-8304-4F09-BB14-952D406D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1" name="c2-text-33">
            <a:extLst xmlns:a="http://schemas.openxmlformats.org/drawingml/2006/main">
              <a:ext uri="{FF2B5EF4-FFF2-40B4-BE49-F238E27FC236}">
                <a16:creationId xmlns:a16="http://schemas.microsoft.com/office/drawing/2014/main" id="{BDE23DF7-EB72-4801-8530-87C0CD00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3" name="c2-text-151">
            <a:extLst xmlns:a="http://schemas.openxmlformats.org/drawingml/2006/main">
              <a:ext uri="{FF2B5EF4-FFF2-40B4-BE49-F238E27FC236}">
                <a16:creationId xmlns:a16="http://schemas.microsoft.com/office/drawing/2014/main" id="{6AFF5EB8-9E72-4719-9542-1566CA77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5" name="c2-text-197">
            <a:extLst xmlns:a="http://schemas.openxmlformats.org/drawingml/2006/main">
              <a:ext uri="{FF2B5EF4-FFF2-40B4-BE49-F238E27FC236}">
                <a16:creationId xmlns:a16="http://schemas.microsoft.com/office/drawing/2014/main" id="{873E902F-219A-4954-B177-DD955470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7" name="c2-text-223">
            <a:extLst xmlns:a="http://schemas.openxmlformats.org/drawingml/2006/main">
              <a:ext uri="{FF2B5EF4-FFF2-40B4-BE49-F238E27FC236}">
                <a16:creationId xmlns:a16="http://schemas.microsoft.com/office/drawing/2014/main" id="{A305475C-F33A-453B-BD1E-35E07D3E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9" name="c2-text-217">
            <a:extLst xmlns:a="http://schemas.openxmlformats.org/drawingml/2006/main">
              <a:ext uri="{FF2B5EF4-FFF2-40B4-BE49-F238E27FC236}">
                <a16:creationId xmlns:a16="http://schemas.microsoft.com/office/drawing/2014/main" id="{7B5494E3-495E-4E40-A97B-845CBC97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1" name="c2-text-198">
            <a:extLst xmlns:a="http://schemas.openxmlformats.org/drawingml/2006/main">
              <a:ext uri="{FF2B5EF4-FFF2-40B4-BE49-F238E27FC236}">
                <a16:creationId xmlns:a16="http://schemas.microsoft.com/office/drawing/2014/main" id="{70AC672E-C96B-41A3-B850-987365D0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3" name="c2-text-211">
            <a:extLst xmlns:a="http://schemas.openxmlformats.org/drawingml/2006/main">
              <a:ext uri="{FF2B5EF4-FFF2-40B4-BE49-F238E27FC236}">
                <a16:creationId xmlns:a16="http://schemas.microsoft.com/office/drawing/2014/main" id="{DCB5F5CB-2D5B-422D-B5DF-6E628156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5" name="c2-text-220">
            <a:extLst xmlns:a="http://schemas.openxmlformats.org/drawingml/2006/main">
              <a:ext uri="{FF2B5EF4-FFF2-40B4-BE49-F238E27FC236}">
                <a16:creationId xmlns:a16="http://schemas.microsoft.com/office/drawing/2014/main" id="{E51B7192-FD18-487B-8BD5-C7554404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7" name="c2-text-265">
            <a:extLst xmlns:a="http://schemas.openxmlformats.org/drawingml/2006/main">
              <a:ext uri="{FF2B5EF4-FFF2-40B4-BE49-F238E27FC236}">
                <a16:creationId xmlns:a16="http://schemas.microsoft.com/office/drawing/2014/main" id="{DDB11875-B60B-4CD9-87A5-5274469B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9" name="c2-text-282">
            <a:extLst xmlns:a="http://schemas.openxmlformats.org/drawingml/2006/main">
              <a:ext uri="{FF2B5EF4-FFF2-40B4-BE49-F238E27FC236}">
                <a16:creationId xmlns:a16="http://schemas.microsoft.com/office/drawing/2014/main" id="{F5485890-4DD9-408B-B0E0-2577FD1A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1" name="c2-text-275">
            <a:extLst xmlns:a="http://schemas.openxmlformats.org/drawingml/2006/main">
              <a:ext uri="{FF2B5EF4-FFF2-40B4-BE49-F238E27FC236}">
                <a16:creationId xmlns:a16="http://schemas.microsoft.com/office/drawing/2014/main" id="{2FADCB92-2930-4079-9725-B8A8EC75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3" name="c2-text-274">
            <a:extLst xmlns:a="http://schemas.openxmlformats.org/drawingml/2006/main">
              <a:ext uri="{FF2B5EF4-FFF2-40B4-BE49-F238E27FC236}">
                <a16:creationId xmlns:a16="http://schemas.microsoft.com/office/drawing/2014/main" id="{FE398BC8-F2C9-4232-8234-2AFE6AB5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5" name="c3-text-219">
            <a:extLst xmlns:a="http://schemas.openxmlformats.org/drawingml/2006/main">
              <a:ext uri="{FF2B5EF4-FFF2-40B4-BE49-F238E27FC236}">
                <a16:creationId xmlns:a16="http://schemas.microsoft.com/office/drawing/2014/main" id="{A4A5533A-7774-4965-9D71-05D50233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48615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1">
            <a:extLst xmlns:a="http://schemas.openxmlformats.org/drawingml/2006/main">
              <a:ext uri="{FF2B5EF4-FFF2-40B4-BE49-F238E27FC236}">
                <a16:creationId xmlns:a16="http://schemas.microsoft.com/office/drawing/2014/main" id="{DBC55C5B-5ADC-4FFD-BEBF-83690F55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">
            <a:extLst xmlns:a="http://schemas.openxmlformats.org/drawingml/2006/main">
              <a:ext uri="{FF2B5EF4-FFF2-40B4-BE49-F238E27FC236}">
                <a16:creationId xmlns:a16="http://schemas.microsoft.com/office/drawing/2014/main" id="{1A7B37B1-068B-42B0-9CC1-BE0719F4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Starting Point: An Avatar with Memory [1] [2] [3]</a:t>
            </a:r>
          </a:p>
        </p:txBody>
      </p:sp>
      <p:sp>
        <p:nvSpPr>
          <p:cNvPr id="3" name="c3-text-3">
            <a:extLst xmlns:a="http://schemas.openxmlformats.org/drawingml/2006/main">
              <a:ext uri="{FF2B5EF4-FFF2-40B4-BE49-F238E27FC236}">
                <a16:creationId xmlns:a16="http://schemas.microsoft.com/office/drawing/2014/main" id="{55097CB0-64F8-4BD6-93E8-51A41CA2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4">
            <a:extLst xmlns:a="http://schemas.openxmlformats.org/drawingml/2006/main">
              <a:ext uri="{FF2B5EF4-FFF2-40B4-BE49-F238E27FC236}">
                <a16:creationId xmlns:a16="http://schemas.microsoft.com/office/drawing/2014/main" id="{E3FA2106-3671-4AF7-8FDC-E681416D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924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Chapter 02 already gave us memory, speech and animations.</a:t>
            </a:r>
          </a:p>
        </p:txBody>
      </p:sp>
      <p:sp>
        <p:nvSpPr>
          <p:cNvPr id="5" name="c3-text-5">
            <a:extLst xmlns:a="http://schemas.openxmlformats.org/drawingml/2006/main">
              <a:ext uri="{FF2B5EF4-FFF2-40B4-BE49-F238E27FC236}">
                <a16:creationId xmlns:a16="http://schemas.microsoft.com/office/drawing/2014/main" id="{3459AA0F-C9E5-4159-A0AA-31C429A4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7924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FA8E3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7FA8E3"/>
                </a:solidFill>
                <a:latin typeface="Consolas"/>
                <a:ea typeface="Consolas"/>
                <a:cs typeface="Consolas"/>
              </a:rPr>
              <a:t>Base: agents/Module_2/Chapter_02/langgraph_avatar_agent.py</a:t>
            </a:r>
          </a:p>
        </p:txBody>
      </p:sp>
      <p:sp>
        <p:nvSpPr>
          <p:cNvPr id="6" name="c3-text-6">
            <a:extLst xmlns:a="http://schemas.openxmlformats.org/drawingml/2006/main">
              <a:ext uri="{FF2B5EF4-FFF2-40B4-BE49-F238E27FC236}">
                <a16:creationId xmlns:a16="http://schemas.microsoft.com/office/drawing/2014/main" id="{63861D42-836B-46E5-8062-143E8A34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792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Now add tools with a coding agent.</a:t>
            </a:r>
          </a:p>
          <a:p xmlns:a="http://schemas.openxmlformats.org/drawingml/2006/main">
            <a:pPr>
              <a:defRPr sz="21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First weather, then an image on the whiteboard.</a:t>
            </a:r>
          </a:p>
        </p:txBody>
      </p:sp>
      <p:sp>
        <p:nvSpPr>
          <p:cNvPr id="7" name="c3-text-220">
            <a:extLst xmlns:a="http://schemas.openxmlformats.org/drawingml/2006/main">
              <a:ext uri="{FF2B5EF4-FFF2-40B4-BE49-F238E27FC236}">
                <a16:creationId xmlns:a16="http://schemas.microsoft.com/office/drawing/2014/main" id="{4E78EA40-B33B-4D67-A214-30D014FC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596508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7">
            <a:extLst xmlns:a="http://schemas.openxmlformats.org/drawingml/2006/main">
              <a:ext uri="{FF2B5EF4-FFF2-40B4-BE49-F238E27FC236}">
                <a16:creationId xmlns:a16="http://schemas.microsoft.com/office/drawing/2014/main" id="{081E4170-154E-4E9E-9D56-0FA20DF1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8">
            <a:extLst xmlns:a="http://schemas.openxmlformats.org/drawingml/2006/main">
              <a:ext uri="{FF2B5EF4-FFF2-40B4-BE49-F238E27FC236}">
                <a16:creationId xmlns:a16="http://schemas.microsoft.com/office/drawing/2014/main" id="{1D461728-A8FA-435C-8700-408FB8A6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Tools: Actions Outside the Model [4]</a:t>
            </a:r>
          </a:p>
        </p:txBody>
      </p:sp>
      <p:sp>
        <p:nvSpPr>
          <p:cNvPr id="3" name="c3-text-9">
            <a:extLst xmlns:a="http://schemas.openxmlformats.org/drawingml/2006/main">
              <a:ext uri="{FF2B5EF4-FFF2-40B4-BE49-F238E27FC236}">
                <a16:creationId xmlns:a16="http://schemas.microsoft.com/office/drawing/2014/main" id="{67CB7B5F-8ACF-4E90-A6B2-DF1C7A94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10">
            <a:extLst xmlns:a="http://schemas.openxmlformats.org/drawingml/2006/main">
              <a:ext uri="{FF2B5EF4-FFF2-40B4-BE49-F238E27FC236}">
                <a16:creationId xmlns:a16="http://schemas.microsoft.com/office/drawing/2014/main" id="{9A18AEF0-EA2F-43D2-8C4B-EB9AFC11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92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tool lets an agent retrieve data or perform an action.</a:t>
            </a:r>
          </a:p>
        </p:txBody>
      </p:sp>
      <p:sp>
        <p:nvSpPr>
          <p:cNvPr id="5" name="c3-text-11">
            <a:extLst xmlns:a="http://schemas.openxmlformats.org/drawingml/2006/main">
              <a:ext uri="{FF2B5EF4-FFF2-40B4-BE49-F238E27FC236}">
                <a16:creationId xmlns:a16="http://schemas.microsoft.com/office/drawing/2014/main" id="{10DE2E35-D187-4D02-B888-15F33896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7924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model chooses an available tool and supplies its inputs.</a:t>
            </a:r>
          </a:p>
        </p:txBody>
      </p:sp>
      <p:sp>
        <p:nvSpPr>
          <p:cNvPr id="6" name="c3-text-12">
            <a:extLst xmlns:a="http://schemas.openxmlformats.org/drawingml/2006/main">
              <a:ext uri="{FF2B5EF4-FFF2-40B4-BE49-F238E27FC236}">
                <a16:creationId xmlns:a16="http://schemas.microsoft.com/office/drawing/2014/main" id="{159B89BE-6590-4431-BFAD-69CD9780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7924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The program runs the tool and returns its result to the model.</a:t>
            </a:r>
          </a:p>
        </p:txBody>
      </p:sp>
      <p:sp>
        <p:nvSpPr>
          <p:cNvPr id="7" name="c3-text-221">
            <a:extLst xmlns:a="http://schemas.openxmlformats.org/drawingml/2006/main">
              <a:ext uri="{FF2B5EF4-FFF2-40B4-BE49-F238E27FC236}">
                <a16:creationId xmlns:a16="http://schemas.microsoft.com/office/drawing/2014/main" id="{B73C7DDE-19A3-47F7-8A75-79FE8B49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21137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c3-text-13">
            <a:extLst xmlns:a="http://schemas.openxmlformats.org/drawingml/2006/main">
              <a:ext uri="{FF2B5EF4-FFF2-40B4-BE49-F238E27FC236}">
                <a16:creationId xmlns:a16="http://schemas.microsoft.com/office/drawing/2014/main" id="{F20C6D53-088F-477D-89F5-6818B827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4">
            <a:extLst xmlns:a="http://schemas.openxmlformats.org/drawingml/2006/main">
              <a:ext uri="{FF2B5EF4-FFF2-40B4-BE49-F238E27FC236}">
                <a16:creationId xmlns:a16="http://schemas.microsoft.com/office/drawing/2014/main" id="{C880A7BD-DB8F-4492-8473-8D111BE0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Tool Loop [4]</a:t>
            </a:r>
          </a:p>
        </p:txBody>
      </p:sp>
      <p:sp>
        <p:nvSpPr>
          <p:cNvPr id="3" name="c3-text-15">
            <a:extLst xmlns:a="http://schemas.openxmlformats.org/drawingml/2006/main">
              <a:ext uri="{FF2B5EF4-FFF2-40B4-BE49-F238E27FC236}">
                <a16:creationId xmlns:a16="http://schemas.microsoft.com/office/drawing/2014/main" id="{47A6EB36-7AEC-448C-B73B-B3C32214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16">
            <a:extLst xmlns:a="http://schemas.openxmlformats.org/drawingml/2006/main">
              <a:ext uri="{FF2B5EF4-FFF2-40B4-BE49-F238E27FC236}">
                <a16:creationId xmlns:a16="http://schemas.microsoft.com/office/drawing/2014/main" id="{E5456620-B592-4D5A-86F3-23B2CC8E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219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text-17">
            <a:extLst xmlns:a="http://schemas.openxmlformats.org/drawingml/2006/main">
              <a:ext uri="{FF2B5EF4-FFF2-40B4-BE49-F238E27FC236}">
                <a16:creationId xmlns:a16="http://schemas.microsoft.com/office/drawing/2014/main" id="{EB78D230-D1C8-49F0-9F12-EF0E8FE3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99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START</a:t>
            </a:r>
          </a:p>
        </p:txBody>
      </p:sp>
      <p:sp>
        <p:nvSpPr>
          <p:cNvPr id="6" name="c3-shape-18">
            <a:extLst xmlns:a="http://schemas.openxmlformats.org/drawingml/2006/main">
              <a:ext uri="{FF2B5EF4-FFF2-40B4-BE49-F238E27FC236}">
                <a16:creationId xmlns:a16="http://schemas.microsoft.com/office/drawing/2014/main" id="{6FE2009D-AF96-468C-B595-07D0AFE6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95500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7" name="c3-shape-19">
            <a:extLst xmlns:a="http://schemas.openxmlformats.org/drawingml/2006/main">
              <a:ext uri="{FF2B5EF4-FFF2-40B4-BE49-F238E27FC236}">
                <a16:creationId xmlns:a16="http://schemas.microsoft.com/office/drawing/2014/main" id="{812A486E-419D-4493-9377-E9E8A9A6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85950"/>
            <a:ext cx="2095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8" name="c3-text-20">
            <a:extLst xmlns:a="http://schemas.openxmlformats.org/drawingml/2006/main">
              <a:ext uri="{FF2B5EF4-FFF2-40B4-BE49-F238E27FC236}">
                <a16:creationId xmlns:a16="http://schemas.microsoft.com/office/drawing/2014/main" id="{2DB8A54E-CDF3-4597-BDD0-8E55AB1E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621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assistant</a:t>
            </a:r>
          </a:p>
        </p:txBody>
      </p:sp>
      <p:sp>
        <p:nvSpPr>
          <p:cNvPr id="9" name="c3-shape-21">
            <a:extLst xmlns:a="http://schemas.openxmlformats.org/drawingml/2006/main">
              <a:ext uri="{FF2B5EF4-FFF2-40B4-BE49-F238E27FC236}">
                <a16:creationId xmlns:a16="http://schemas.microsoft.com/office/drawing/2014/main" id="{587DC1F5-7E09-4643-B0D7-754E7498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95500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shape-22">
            <a:extLst xmlns:a="http://schemas.openxmlformats.org/drawingml/2006/main">
              <a:ext uri="{FF2B5EF4-FFF2-40B4-BE49-F238E27FC236}">
                <a16:creationId xmlns:a16="http://schemas.microsoft.com/office/drawing/2014/main" id="{086FDAC4-6701-4AC4-9BDC-600A0958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85950"/>
            <a:ext cx="1905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1" name="c3-text-23">
            <a:extLst xmlns:a="http://schemas.openxmlformats.org/drawingml/2006/main">
              <a:ext uri="{FF2B5EF4-FFF2-40B4-BE49-F238E27FC236}">
                <a16:creationId xmlns:a16="http://schemas.microsoft.com/office/drawing/2014/main" id="{1C5FE312-080C-45B4-A6C9-81F4E187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621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tools</a:t>
            </a:r>
          </a:p>
        </p:txBody>
      </p:sp>
      <p:sp>
        <p:nvSpPr>
          <p:cNvPr id="12" name="c3-text-24">
            <a:extLst xmlns:a="http://schemas.openxmlformats.org/drawingml/2006/main">
              <a:ext uri="{FF2B5EF4-FFF2-40B4-BE49-F238E27FC236}">
                <a16:creationId xmlns:a16="http://schemas.microsoft.com/office/drawing/2014/main" id="{BCAE6BEB-332F-4AFA-B254-5AE44518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09725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tool requested</a:t>
            </a:r>
          </a:p>
        </p:txBody>
      </p:sp>
      <p:sp>
        <p:nvSpPr>
          <p:cNvPr id="13" name="c3-shape-25">
            <a:extLst xmlns:a="http://schemas.openxmlformats.org/drawingml/2006/main">
              <a:ext uri="{FF2B5EF4-FFF2-40B4-BE49-F238E27FC236}">
                <a16:creationId xmlns:a16="http://schemas.microsoft.com/office/drawing/2014/main" id="{72017093-1780-40BE-AD75-11B16C48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38500"/>
            <a:ext cx="2095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4" name="c3-text-26">
            <a:extLst xmlns:a="http://schemas.openxmlformats.org/drawingml/2006/main">
              <a:ext uri="{FF2B5EF4-FFF2-40B4-BE49-F238E27FC236}">
                <a16:creationId xmlns:a16="http://schemas.microsoft.com/office/drawing/2014/main" id="{22E1CB63-7DBC-43A3-B02B-0305DDEA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147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final reply</a:t>
            </a:r>
          </a:p>
        </p:txBody>
      </p:sp>
      <p:sp>
        <p:nvSpPr>
          <p:cNvPr id="15" name="c3-shape-27">
            <a:extLst xmlns:a="http://schemas.openxmlformats.org/drawingml/2006/main">
              <a:ext uri="{FF2B5EF4-FFF2-40B4-BE49-F238E27FC236}">
                <a16:creationId xmlns:a16="http://schemas.microsoft.com/office/drawing/2014/main" id="{6818AC31-26EB-49A6-9F5F-59A1B907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48050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6" name="c3-shape-28">
            <a:extLst xmlns:a="http://schemas.openxmlformats.org/drawingml/2006/main">
              <a:ext uri="{FF2B5EF4-FFF2-40B4-BE49-F238E27FC236}">
                <a16:creationId xmlns:a16="http://schemas.microsoft.com/office/drawing/2014/main" id="{C54833F6-4C23-4537-A602-589BAA54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38500"/>
            <a:ext cx="1905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7" name="c3-text-29">
            <a:extLst xmlns:a="http://schemas.openxmlformats.org/drawingml/2006/main">
              <a:ext uri="{FF2B5EF4-FFF2-40B4-BE49-F238E27FC236}">
                <a16:creationId xmlns:a16="http://schemas.microsoft.com/office/drawing/2014/main" id="{1AEFAF4B-2C4F-4127-8B85-6D3AED8A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147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END</a:t>
            </a:r>
          </a:p>
        </p:txBody>
      </p:sp>
      <p:sp>
        <p:nvSpPr>
          <p:cNvPr id="18" name="c3-shape-30">
            <a:extLst xmlns:a="http://schemas.openxmlformats.org/drawingml/2006/main">
              <a:ext uri="{FF2B5EF4-FFF2-40B4-BE49-F238E27FC236}">
                <a16:creationId xmlns:a16="http://schemas.microsoft.com/office/drawing/2014/main" id="{F51CBE1E-AED6-4F48-AEAF-8BCE33DB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142875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9" name="c3-text-31">
            <a:extLst xmlns:a="http://schemas.openxmlformats.org/drawingml/2006/main">
              <a:ext uri="{FF2B5EF4-FFF2-40B4-BE49-F238E27FC236}">
                <a16:creationId xmlns:a16="http://schemas.microsoft.com/office/drawing/2014/main" id="{D48BD9EE-A672-44ED-AD15-A8DD2452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336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ready to answer</a:t>
            </a:r>
          </a:p>
        </p:txBody>
      </p:sp>
      <p:sp>
        <p:nvSpPr>
          <p:cNvPr id="20" name="c3-shape-32">
            <a:extLst xmlns:a="http://schemas.openxmlformats.org/drawingml/2006/main">
              <a:ext uri="{FF2B5EF4-FFF2-40B4-BE49-F238E27FC236}">
                <a16:creationId xmlns:a16="http://schemas.microsoft.com/office/drawing/2014/main" id="{FD100F16-D98E-4D85-B970-44F7B409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343025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1" name="c3-shape-33">
            <a:extLst xmlns:a="http://schemas.openxmlformats.org/drawingml/2006/main">
              <a:ext uri="{FF2B5EF4-FFF2-40B4-BE49-F238E27FC236}">
                <a16:creationId xmlns:a16="http://schemas.microsoft.com/office/drawing/2014/main" id="{72C85911-D587-40D7-9902-100664AA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343025"/>
            <a:ext cx="2752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2" name="c3-shape-34">
            <a:extLst xmlns:a="http://schemas.openxmlformats.org/drawingml/2006/main">
              <a:ext uri="{FF2B5EF4-FFF2-40B4-BE49-F238E27FC236}">
                <a16:creationId xmlns:a16="http://schemas.microsoft.com/office/drawing/2014/main" id="{B371CA42-A929-4BE8-A5BF-18888F55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43025"/>
            <a:ext cx="133350" cy="4667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3" name="c3-text-35">
            <a:extLst xmlns:a="http://schemas.openxmlformats.org/drawingml/2006/main">
              <a:ext uri="{FF2B5EF4-FFF2-40B4-BE49-F238E27FC236}">
                <a16:creationId xmlns:a16="http://schemas.microsoft.com/office/drawing/2014/main" id="{42BCAA7A-4B50-445D-8965-578B2E6D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057275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tool result: return to the model</a:t>
            </a:r>
          </a:p>
        </p:txBody>
      </p:sp>
      <p:sp>
        <p:nvSpPr>
          <p:cNvPr id="24" name="c3-text-36">
            <a:extLst xmlns:a="http://schemas.openxmlformats.org/drawingml/2006/main">
              <a:ext uri="{FF2B5EF4-FFF2-40B4-BE49-F238E27FC236}">
                <a16:creationId xmlns:a16="http://schemas.microsoft.com/office/drawing/2014/main" id="{ECC590EE-BB01-4472-BB02-FE1CC5CE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program returns the tool result to the model, which prepares the reply.</a:t>
            </a:r>
          </a:p>
        </p:txBody>
      </p:sp>
      <p:sp>
        <p:nvSpPr>
          <p:cNvPr id="25" name="c3-text-222">
            <a:extLst xmlns:a="http://schemas.openxmlformats.org/drawingml/2006/main">
              <a:ext uri="{FF2B5EF4-FFF2-40B4-BE49-F238E27FC236}">
                <a16:creationId xmlns:a16="http://schemas.microsoft.com/office/drawing/2014/main" id="{26260DDA-5EFE-4716-BCA2-9CE0F4F1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147552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3-text-37">
            <a:extLst xmlns:a="http://schemas.openxmlformats.org/drawingml/2006/main">
              <a:ext uri="{FF2B5EF4-FFF2-40B4-BE49-F238E27FC236}">
                <a16:creationId xmlns:a16="http://schemas.microsoft.com/office/drawing/2014/main" id="{424BD0BE-F120-480E-83C4-A8586809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38">
            <a:extLst xmlns:a="http://schemas.openxmlformats.org/drawingml/2006/main">
              <a:ext uri="{FF2B5EF4-FFF2-40B4-BE49-F238E27FC236}">
                <a16:creationId xmlns:a16="http://schemas.microsoft.com/office/drawing/2014/main" id="{96385AF4-C198-4080-B610-87B8447F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OpenWeather: Request and JSON [7]</a:t>
            </a:r>
          </a:p>
        </p:txBody>
      </p:sp>
      <p:sp>
        <p:nvSpPr>
          <p:cNvPr id="3" name="c3-text-39">
            <a:extLst xmlns:a="http://schemas.openxmlformats.org/drawingml/2006/main">
              <a:ext uri="{FF2B5EF4-FFF2-40B4-BE49-F238E27FC236}">
                <a16:creationId xmlns:a16="http://schemas.microsoft.com/office/drawing/2014/main" id="{CD2F595F-83A6-4C35-AE20-AD55F4B3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shape-40">
            <a:extLst xmlns:a="http://schemas.openxmlformats.org/drawingml/2006/main">
              <a:ext uri="{FF2B5EF4-FFF2-40B4-BE49-F238E27FC236}">
                <a16:creationId xmlns:a16="http://schemas.microsoft.com/office/drawing/2014/main" id="{66385AFD-5369-422E-8524-052FF1A8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924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41">
            <a:extLst xmlns:a="http://schemas.openxmlformats.org/drawingml/2006/main">
              <a:ext uri="{FF2B5EF4-FFF2-40B4-BE49-F238E27FC236}">
                <a16:creationId xmlns:a16="http://schemas.microsoft.com/office/drawing/2014/main" id="{8C694C8F-6E05-402F-8818-16883146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28775"/>
            <a:ext cx="758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https://api.openweathermap.org/data/</a:t>
            </a: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/weather</a:t>
            </a:r>
          </a:p>
          <a:p xmlns:a="http://schemas.openxmlformats.org/drawingml/2006/main">
            <a:pPr>
              <a:defRPr sz="13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?lat=</a:t>
            </a: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41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90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&amp;lon=</a:t>
            </a: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12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50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&amp;appid=</a:t>
            </a:r>
            <a:r>
              <a:rPr sz="13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YOUR_KEY</a:t>
            </a:r>
            <a:r>
              <a:rPr sz="13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&amp;units=metric</a:t>
            </a:r>
          </a:p>
        </p:txBody>
      </p:sp>
      <p:sp>
        <p:nvSpPr>
          <p:cNvPr id="6" name="c3-text-42">
            <a:extLst xmlns:a="http://schemas.openxmlformats.org/drawingml/2006/main">
              <a:ext uri="{FF2B5EF4-FFF2-40B4-BE49-F238E27FC236}">
                <a16:creationId xmlns:a16="http://schemas.microsoft.com/office/drawing/2014/main" id="{3327B357-D717-49C4-9A3C-3897C556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792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JSON response contains the observation:</a:t>
            </a:r>
          </a:p>
        </p:txBody>
      </p:sp>
      <p:sp>
        <p:nvSpPr>
          <p:cNvPr id="7" name="c3-shape-43">
            <a:extLst xmlns:a="http://schemas.openxmlformats.org/drawingml/2006/main">
              <a:ext uri="{FF2B5EF4-FFF2-40B4-BE49-F238E27FC236}">
                <a16:creationId xmlns:a16="http://schemas.microsoft.com/office/drawing/2014/main" id="{EA407CB1-DE73-478C-B807-7E18A1EC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79248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8" name="c3-text-44">
            <a:extLst xmlns:a="http://schemas.openxmlformats.org/drawingml/2006/main">
              <a:ext uri="{FF2B5EF4-FFF2-40B4-BE49-F238E27FC236}">
                <a16:creationId xmlns:a16="http://schemas.microsoft.com/office/drawing/2014/main" id="{F6EC9EE1-8F73-4BE9-9757-ACF67671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7581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"Rome"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"main"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{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"temp"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18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25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},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"weather"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[{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"description"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"clear sky"</a:t>
            </a: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}]</a:t>
            </a:r>
          </a:p>
          <a:p xmlns:a="http://schemas.openxmlformats.org/drawingml/2006/main">
            <a:pPr>
              <a:defRPr sz="14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c3-text-223">
            <a:extLst xmlns:a="http://schemas.openxmlformats.org/drawingml/2006/main">
              <a:ext uri="{FF2B5EF4-FFF2-40B4-BE49-F238E27FC236}">
                <a16:creationId xmlns:a16="http://schemas.microsoft.com/office/drawing/2014/main" id="{46C351AB-1681-48BE-816B-9A52DFA5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767694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45">
            <a:extLst xmlns:a="http://schemas.openxmlformats.org/drawingml/2006/main">
              <a:ext uri="{FF2B5EF4-FFF2-40B4-BE49-F238E27FC236}">
                <a16:creationId xmlns:a16="http://schemas.microsoft.com/office/drawing/2014/main" id="{D1A78A6B-FE89-4CFB-87D5-5672216E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46">
            <a:extLst xmlns:a="http://schemas.openxmlformats.org/drawingml/2006/main">
              <a:ext uri="{FF2B5EF4-FFF2-40B4-BE49-F238E27FC236}">
                <a16:creationId xmlns:a16="http://schemas.microsoft.com/office/drawing/2014/main" id="{EADF231E-225D-40BC-AA38-590687C4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Get an OpenWeather API Key [10] [11]</a:t>
            </a:r>
          </a:p>
        </p:txBody>
      </p:sp>
      <p:sp>
        <p:nvSpPr>
          <p:cNvPr id="3" name="c3-text-47">
            <a:extLst xmlns:a="http://schemas.openxmlformats.org/drawingml/2006/main">
              <a:ext uri="{FF2B5EF4-FFF2-40B4-BE49-F238E27FC236}">
                <a16:creationId xmlns:a16="http://schemas.microsoft.com/office/drawing/2014/main" id="{BD658301-25F9-4585-A84E-D5F464A5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48">
            <a:hlinkClick xmlns:r="http://schemas.openxmlformats.org/officeDocument/2006/relationships" xmlns:a="http://schemas.openxmlformats.org/drawingml/2006/main" r:id="R2c9f666e10b14f51"/>
            <a:extLst xmlns:a="http://schemas.openxmlformats.org/drawingml/2006/main">
              <a:ext uri="{FF2B5EF4-FFF2-40B4-BE49-F238E27FC236}">
                <a16:creationId xmlns:a16="http://schemas.microsoft.com/office/drawing/2014/main" id="{D1823F08-697D-44E5-B625-0210886F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1. Create an OpenWeather account</a:t>
            </a:r>
          </a:p>
        </p:txBody>
      </p:sp>
      <p:sp>
        <p:nvSpPr>
          <p:cNvPr id="5" name="c3-text-49">
            <a:extLst xmlns:a="http://schemas.openxmlformats.org/drawingml/2006/main">
              <a:ext uri="{FF2B5EF4-FFF2-40B4-BE49-F238E27FC236}">
                <a16:creationId xmlns:a16="http://schemas.microsoft.com/office/drawing/2014/main" id="{A2EDE21F-B36E-4E8B-86BD-6C47015D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792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2. Confirm your email using the verification message.</a:t>
            </a:r>
          </a:p>
        </p:txBody>
      </p:sp>
      <p:sp>
        <p:nvSpPr>
          <p:cNvPr id="6" name="c3-text-50">
            <a:hlinkClick xmlns:r="http://schemas.openxmlformats.org/officeDocument/2006/relationships" xmlns:a="http://schemas.openxmlformats.org/drawingml/2006/main" r:id="Rfbe1d7969b6549ed"/>
            <a:extLst xmlns:a="http://schemas.openxmlformats.org/drawingml/2006/main">
              <a:ext uri="{FF2B5EF4-FFF2-40B4-BE49-F238E27FC236}">
                <a16:creationId xmlns:a16="http://schemas.microsoft.com/office/drawing/2014/main" id="{1504A76C-72D8-432F-A988-5DEDD2F6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792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3. Open API keys and copy your personal key (APPID)</a:t>
            </a:r>
          </a:p>
        </p:txBody>
      </p:sp>
      <p:sp>
        <p:nvSpPr>
          <p:cNvPr id="7" name="c3-text-51">
            <a:extLst xmlns:a="http://schemas.openxmlformats.org/drawingml/2006/main">
              <a:ext uri="{FF2B5EF4-FFF2-40B4-BE49-F238E27FC236}">
                <a16:creationId xmlns:a16="http://schemas.microsoft.com/office/drawing/2014/main" id="{9EAB0B31-6D24-417C-90AD-C1DF2E70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7924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Create it before class: automatic activation can take up to two hours.</a:t>
            </a:r>
          </a:p>
        </p:txBody>
      </p:sp>
      <p:sp>
        <p:nvSpPr>
          <p:cNvPr id="8" name="c3-text-224">
            <a:extLst xmlns:a="http://schemas.openxmlformats.org/drawingml/2006/main">
              <a:ext uri="{FF2B5EF4-FFF2-40B4-BE49-F238E27FC236}">
                <a16:creationId xmlns:a16="http://schemas.microsoft.com/office/drawing/2014/main" id="{22DC0D3E-FFF6-41EB-9744-5D21A179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339394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52">
            <a:extLst xmlns:a="http://schemas.openxmlformats.org/drawingml/2006/main">
              <a:ext uri="{FF2B5EF4-FFF2-40B4-BE49-F238E27FC236}">
                <a16:creationId xmlns:a16="http://schemas.microsoft.com/office/drawing/2014/main" id="{B6640F29-C47A-4169-BC6E-6F335D33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53">
            <a:extLst xmlns:a="http://schemas.openxmlformats.org/drawingml/2006/main">
              <a:ext uri="{FF2B5EF4-FFF2-40B4-BE49-F238E27FC236}">
                <a16:creationId xmlns:a16="http://schemas.microsoft.com/office/drawing/2014/main" id="{8D93E5A0-B6D2-4DC3-B3E6-9C41691F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Save Your API Key</a:t>
            </a:r>
          </a:p>
        </p:txBody>
      </p:sp>
      <p:sp>
        <p:nvSpPr>
          <p:cNvPr id="3" name="c3-text-54">
            <a:extLst xmlns:a="http://schemas.openxmlformats.org/drawingml/2006/main">
              <a:ext uri="{FF2B5EF4-FFF2-40B4-BE49-F238E27FC236}">
                <a16:creationId xmlns:a16="http://schemas.microsoft.com/office/drawing/2014/main" id="{4F16B7CC-8137-4ABB-9F0A-60EBD2A1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55">
            <a:extLst xmlns:a="http://schemas.openxmlformats.org/drawingml/2006/main">
              <a:ext uri="{FF2B5EF4-FFF2-40B4-BE49-F238E27FC236}">
                <a16:creationId xmlns:a16="http://schemas.microsoft.com/office/drawing/2014/main" id="{4E0BE342-FEE2-4D1C-9080-999FD5B8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792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Save the key in a YAML file wherever you prefer.</a:t>
            </a:r>
          </a:p>
        </p:txBody>
      </p:sp>
      <p:sp>
        <p:nvSpPr>
          <p:cNvPr id="5" name="c3-shape-56">
            <a:extLst xmlns:a="http://schemas.openxmlformats.org/drawingml/2006/main">
              <a:ext uri="{FF2B5EF4-FFF2-40B4-BE49-F238E27FC236}">
                <a16:creationId xmlns:a16="http://schemas.microsoft.com/office/drawing/2014/main" id="{0BB6B427-039C-43FC-8901-F74E9E90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7924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6" name="c3-text-57">
            <a:extLst xmlns:a="http://schemas.openxmlformats.org/drawingml/2006/main">
              <a:ext uri="{FF2B5EF4-FFF2-40B4-BE49-F238E27FC236}">
                <a16:creationId xmlns:a16="http://schemas.microsoft.com/office/drawing/2014/main" id="{A399ED81-013A-4C06-9692-5434FDA8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758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api_key: </a:t>
            </a:r>
            <a:r>
              <a:rPr sz="187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"YOUR_OPENWEATHER_KEY"</a:t>
            </a:r>
          </a:p>
        </p:txBody>
      </p:sp>
      <p:sp>
        <p:nvSpPr>
          <p:cNvPr id="7" name="c3-text-58">
            <a:extLst xmlns:a="http://schemas.openxmlformats.org/drawingml/2006/main">
              <a:ext uri="{FF2B5EF4-FFF2-40B4-BE49-F238E27FC236}">
                <a16:creationId xmlns:a16="http://schemas.microsoft.com/office/drawing/2014/main" id="{0D28E410-BE31-46BD-A95F-6C531C3B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792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Tell Codex the file path so the weather agent can read it.</a:t>
            </a:r>
          </a:p>
        </p:txBody>
      </p:sp>
      <p:sp>
        <p:nvSpPr>
          <p:cNvPr id="8" name="c3-text-225">
            <a:extLst xmlns:a="http://schemas.openxmlformats.org/drawingml/2006/main">
              <a:ext uri="{FF2B5EF4-FFF2-40B4-BE49-F238E27FC236}">
                <a16:creationId xmlns:a16="http://schemas.microsoft.com/office/drawing/2014/main" id="{3D28D00D-C839-4312-905F-7BEFBC95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57587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3-text-59">
            <a:extLst xmlns:a="http://schemas.openxmlformats.org/drawingml/2006/main">
              <a:ext uri="{FF2B5EF4-FFF2-40B4-BE49-F238E27FC236}">
                <a16:creationId xmlns:a16="http://schemas.microsoft.com/office/drawing/2014/main" id="{D81402B9-61EA-4E20-86D0-2D3FA5DA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60">
            <a:extLst xmlns:a="http://schemas.openxmlformats.org/drawingml/2006/main">
              <a:ext uri="{FF2B5EF4-FFF2-40B4-BE49-F238E27FC236}">
                <a16:creationId xmlns:a16="http://schemas.microsoft.com/office/drawing/2014/main" id="{1C92ADD3-B727-4C29-A9E8-36CA69F8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Claude Code and Codex [5] [6]</a:t>
            </a:r>
          </a:p>
        </p:txBody>
      </p:sp>
      <p:sp>
        <p:nvSpPr>
          <p:cNvPr id="3" name="c3-text-61">
            <a:extLst xmlns:a="http://schemas.openxmlformats.org/drawingml/2006/main">
              <a:ext uri="{FF2B5EF4-FFF2-40B4-BE49-F238E27FC236}">
                <a16:creationId xmlns:a16="http://schemas.microsoft.com/office/drawing/2014/main" id="{F4213DE2-62AC-469C-9E90-C0C8EFC4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480f0c4854d48"/>
          <a:stretch xmlns:a="http://schemas.openxmlformats.org/drawingml/2006/main"/>
        </p:blipFill>
        <p:spPr>
          <a:xfrm xmlns:a="http://schemas.openxmlformats.org/drawingml/2006/main">
            <a:off x="609600" y="1552575"/>
            <a:ext cx="685800" cy="6858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c4464c39a4431"/>
          <a:stretch xmlns:a="http://schemas.openxmlformats.org/drawingml/2006/main"/>
        </p:blipFill>
        <p:spPr>
          <a:xfrm xmlns:a="http://schemas.openxmlformats.org/drawingml/2006/main">
            <a:off x="4762500" y="1552575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6" name="c3-text-62">
            <a:extLst xmlns:a="http://schemas.openxmlformats.org/drawingml/2006/main">
              <a:ext uri="{FF2B5EF4-FFF2-40B4-BE49-F238E27FC236}">
                <a16:creationId xmlns:a16="http://schemas.microsoft.com/office/drawing/2014/main" id="{DCEABFA4-FB83-4948-9665-7F53D7FF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716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Claude Code</a:t>
            </a:r>
          </a:p>
        </p:txBody>
      </p:sp>
      <p:sp>
        <p:nvSpPr>
          <p:cNvPr id="7" name="c3-text-63">
            <a:extLst xmlns:a="http://schemas.openxmlformats.org/drawingml/2006/main">
              <a:ext uri="{FF2B5EF4-FFF2-40B4-BE49-F238E27FC236}">
                <a16:creationId xmlns:a16="http://schemas.microsoft.com/office/drawing/2014/main" id="{46AF7EBB-7200-456D-81C1-324C1E95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8" name="c3-text-64">
            <a:extLst xmlns:a="http://schemas.openxmlformats.org/drawingml/2006/main">
              <a:ext uri="{FF2B5EF4-FFF2-40B4-BE49-F238E27FC236}">
                <a16:creationId xmlns:a16="http://schemas.microsoft.com/office/drawing/2014/main" id="{104BE12A-45D9-4506-9DB8-E1B13DC8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Codex</a:t>
            </a:r>
          </a:p>
        </p:txBody>
      </p:sp>
      <p:sp>
        <p:nvSpPr>
          <p:cNvPr id="9" name="c3-text-65">
            <a:extLst xmlns:a="http://schemas.openxmlformats.org/drawingml/2006/main">
              <a:ext uri="{FF2B5EF4-FFF2-40B4-BE49-F238E27FC236}">
                <a16:creationId xmlns:a16="http://schemas.microsoft.com/office/drawing/2014/main" id="{871384F3-8F1B-4488-AE53-7A5B21FF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71675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10" name="c3-text-66">
            <a:extLst xmlns:a="http://schemas.openxmlformats.org/drawingml/2006/main">
              <a:ext uri="{FF2B5EF4-FFF2-40B4-BE49-F238E27FC236}">
                <a16:creationId xmlns:a16="http://schemas.microsoft.com/office/drawing/2014/main" id="{4D09941F-ABC1-4F1C-8027-D8396AFF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Uses Claude models to explore a codebase, edit files and run terminal commands.</a:t>
            </a:r>
          </a:p>
        </p:txBody>
      </p:sp>
      <p:sp>
        <p:nvSpPr>
          <p:cNvPr id="11" name="c3-text-67">
            <a:extLst xmlns:a="http://schemas.openxmlformats.org/drawingml/2006/main">
              <a:ext uri="{FF2B5EF4-FFF2-40B4-BE49-F238E27FC236}">
                <a16:creationId xmlns:a16="http://schemas.microsoft.com/office/drawing/2014/main" id="{42EBD413-58EF-40E9-8908-42481C03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Uses OpenAI models to write, review and change code with the context in your editor.</a:t>
            </a:r>
          </a:p>
        </p:txBody>
      </p:sp>
      <p:sp>
        <p:nvSpPr>
          <p:cNvPr id="12" name="c3-text-68">
            <a:extLst xmlns:a="http://schemas.openxmlformats.org/drawingml/2006/main">
              <a:ext uri="{FF2B5EF4-FFF2-40B4-BE49-F238E27FC236}">
                <a16:creationId xmlns:a16="http://schemas.microsoft.com/office/drawing/2014/main" id="{97042E8B-016C-48E5-AB4C-BBF828AB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Terminal and VS Code extension</a:t>
            </a:r>
          </a:p>
        </p:txBody>
      </p:sp>
      <p:sp>
        <p:nvSpPr>
          <p:cNvPr id="13" name="c3-text-69">
            <a:extLst xmlns:a="http://schemas.openxmlformats.org/drawingml/2006/main">
              <a:ext uri="{FF2B5EF4-FFF2-40B4-BE49-F238E27FC236}">
                <a16:creationId xmlns:a16="http://schemas.microsoft.com/office/drawing/2014/main" id="{2E44D216-3E11-435B-B2CC-A4084BFF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33775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VS Code extension and CLI</a:t>
            </a:r>
          </a:p>
        </p:txBody>
      </p:sp>
      <p:sp>
        <p:nvSpPr>
          <p:cNvPr id="14" name="c3-text-70">
            <a:hlinkClick xmlns:r="http://schemas.openxmlformats.org/officeDocument/2006/relationships" xmlns:a="http://schemas.openxmlformats.org/drawingml/2006/main" r:id="R6f022fc144b244c5"/>
            <a:extLst xmlns:a="http://schemas.openxmlformats.org/drawingml/2006/main">
              <a:ext uri="{FF2B5EF4-FFF2-40B4-BE49-F238E27FC236}">
                <a16:creationId xmlns:a16="http://schemas.microsoft.com/office/drawing/2014/main" id="{541EDC5D-8D7C-40E5-A1AD-2D84E634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claude.com/claude-code</a:t>
            </a:r>
          </a:p>
        </p:txBody>
      </p:sp>
      <p:sp>
        <p:nvSpPr>
          <p:cNvPr id="15" name="c3-text-71">
            <a:hlinkClick xmlns:r="http://schemas.openxmlformats.org/officeDocument/2006/relationships" xmlns:a="http://schemas.openxmlformats.org/drawingml/2006/main" r:id="R0846c59bfb824f2c"/>
            <a:extLst xmlns:a="http://schemas.openxmlformats.org/drawingml/2006/main">
              <a:ext uri="{FF2B5EF4-FFF2-40B4-BE49-F238E27FC236}">
                <a16:creationId xmlns:a16="http://schemas.microsoft.com/office/drawing/2014/main" id="{C6EC53BF-E987-4F07-ABB3-8175C455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8145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openai.com/codex</a:t>
            </a:r>
          </a:p>
        </p:txBody>
      </p:sp>
      <p:sp>
        <p:nvSpPr>
          <p:cNvPr id="16" name="c3-text-72">
            <a:extLst xmlns:a="http://schemas.openxmlformats.org/drawingml/2006/main">
              <a:ext uri="{FF2B5EF4-FFF2-40B4-BE49-F238E27FC236}">
                <a16:creationId xmlns:a16="http://schemas.microsoft.com/office/drawing/2014/main" id="{0086BF86-EC27-4043-8748-DB261E88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92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Describe a goal, inspect the edits and try the result.</a:t>
            </a:r>
          </a:p>
        </p:txBody>
      </p:sp>
      <p:sp>
        <p:nvSpPr>
          <p:cNvPr id="17" name="c3-text-226">
            <a:extLst xmlns:a="http://schemas.openxmlformats.org/drawingml/2006/main">
              <a:ext uri="{FF2B5EF4-FFF2-40B4-BE49-F238E27FC236}">
                <a16:creationId xmlns:a16="http://schemas.microsoft.com/office/drawing/2014/main" id="{66FE3ECC-1D97-4016-81CA-98AB4FF0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951707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3-text-73">
            <a:extLst xmlns:a="http://schemas.openxmlformats.org/drawingml/2006/main">
              <a:ext uri="{FF2B5EF4-FFF2-40B4-BE49-F238E27FC236}">
                <a16:creationId xmlns:a16="http://schemas.microsoft.com/office/drawing/2014/main" id="{A8551FA0-8CB2-494B-95D2-EF95BBAA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74">
            <a:extLst xmlns:a="http://schemas.openxmlformats.org/drawingml/2006/main">
              <a:ext uri="{FF2B5EF4-FFF2-40B4-BE49-F238E27FC236}">
                <a16:creationId xmlns:a16="http://schemas.microsoft.com/office/drawing/2014/main" id="{FC4BD69F-D55D-4C11-8D62-51E95CD9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Install Codex in VS Code [5] [13]</a:t>
            </a:r>
          </a:p>
        </p:txBody>
      </p:sp>
      <p:sp>
        <p:nvSpPr>
          <p:cNvPr id="3" name="c3-text-75">
            <a:extLst xmlns:a="http://schemas.openxmlformats.org/drawingml/2006/main">
              <a:ext uri="{FF2B5EF4-FFF2-40B4-BE49-F238E27FC236}">
                <a16:creationId xmlns:a16="http://schemas.microsoft.com/office/drawing/2014/main" id="{5395DA40-AFDF-438E-92F6-0542009D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76">
            <a:extLst xmlns:a="http://schemas.openxmlformats.org/drawingml/2006/main">
              <a:ext uri="{FF2B5EF4-FFF2-40B4-BE49-F238E27FC236}">
                <a16:creationId xmlns:a16="http://schemas.microsoft.com/office/drawing/2014/main" id="{FDE9081F-DEC6-4FD7-966E-F8AB53F2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1. Open Extensions (Ctrl+Shift+X) and search for Codex.</a:t>
            </a:r>
          </a:p>
        </p:txBody>
      </p:sp>
      <p:sp>
        <p:nvSpPr>
          <p:cNvPr id="5" name="c3-text-77">
            <a:extLst xmlns:a="http://schemas.openxmlformats.org/drawingml/2006/main">
              <a:ext uri="{FF2B5EF4-FFF2-40B4-BE49-F238E27FC236}">
                <a16:creationId xmlns:a16="http://schemas.microsoft.com/office/drawing/2014/main" id="{7DB9F682-8A91-47E6-8EDF-8E409BF4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792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2. Install Codex, published by OpenAI.</a:t>
            </a:r>
          </a:p>
        </p:txBody>
      </p:sp>
      <p:sp>
        <p:nvSpPr>
          <p:cNvPr id="6" name="c3-text-78">
            <a:extLst xmlns:a="http://schemas.openxmlformats.org/drawingml/2006/main">
              <a:ext uri="{FF2B5EF4-FFF2-40B4-BE49-F238E27FC236}">
                <a16:creationId xmlns:a16="http://schemas.microsoft.com/office/drawing/2014/main" id="{24470CE5-78C8-471F-B17D-9C43AC6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792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3. Open the Codex panel and sign in with ChatGPT.</a:t>
            </a:r>
          </a:p>
        </p:txBody>
      </p:sp>
      <p:sp>
        <p:nvSpPr>
          <p:cNvPr id="7" name="c3-text-79">
            <a:extLst xmlns:a="http://schemas.openxmlformats.org/drawingml/2006/main">
              <a:ext uri="{FF2B5EF4-FFF2-40B4-BE49-F238E27FC236}">
                <a16:creationId xmlns:a16="http://schemas.microsoft.com/office/drawing/2014/main" id="{D2F61041-EE3E-4C87-8052-E2B07FEF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7924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4. Create and open an empty codex-demo folder. Start a chat.</a:t>
            </a:r>
          </a:p>
        </p:txBody>
      </p:sp>
      <p:sp>
        <p:nvSpPr>
          <p:cNvPr id="8" name="c3-text-80">
            <a:hlinkClick xmlns:r="http://schemas.openxmlformats.org/officeDocument/2006/relationships" xmlns:a="http://schemas.openxmlformats.org/drawingml/2006/main" r:id="Rdb0fd5a8d3804737"/>
            <a:extLst xmlns:a="http://schemas.openxmlformats.org/drawingml/2006/main">
              <a:ext uri="{FF2B5EF4-FFF2-40B4-BE49-F238E27FC236}">
                <a16:creationId xmlns:a16="http://schemas.microsoft.com/office/drawing/2014/main" id="{7E81756A-D571-4A30-9103-3F367D1D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65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the official Codex extension</a:t>
            </a:r>
          </a:p>
        </p:txBody>
      </p:sp>
      <p:sp>
        <p:nvSpPr>
          <p:cNvPr id="9" name="c3-text-227">
            <a:extLst xmlns:a="http://schemas.openxmlformats.org/drawingml/2006/main">
              <a:ext uri="{FF2B5EF4-FFF2-40B4-BE49-F238E27FC236}">
                <a16:creationId xmlns:a16="http://schemas.microsoft.com/office/drawing/2014/main" id="{962BCD0E-60F2-43FD-AD48-5B8D5A0F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85034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81">
            <a:extLst xmlns:a="http://schemas.openxmlformats.org/drawingml/2006/main">
              <a:ext uri="{FF2B5EF4-FFF2-40B4-BE49-F238E27FC236}">
                <a16:creationId xmlns:a16="http://schemas.microsoft.com/office/drawing/2014/main" id="{591949CF-758A-4922-8CEA-DF392325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82">
            <a:extLst xmlns:a="http://schemas.openxmlformats.org/drawingml/2006/main">
              <a:ext uri="{FF2B5EF4-FFF2-40B4-BE49-F238E27FC236}">
                <a16:creationId xmlns:a16="http://schemas.microsoft.com/office/drawing/2014/main" id="{6EB319C8-7388-423C-8702-2A965201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Codex Demo: A Browser Game</a:t>
            </a:r>
          </a:p>
        </p:txBody>
      </p:sp>
      <p:sp>
        <p:nvSpPr>
          <p:cNvPr id="3" name="c3-text-83">
            <a:extLst xmlns:a="http://schemas.openxmlformats.org/drawingml/2006/main">
              <a:ext uri="{FF2B5EF4-FFF2-40B4-BE49-F238E27FC236}">
                <a16:creationId xmlns:a16="http://schemas.microsoft.com/office/drawing/2014/main" id="{8327E771-7B1F-41D2-8266-1389C680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84">
            <a:extLst xmlns:a="http://schemas.openxmlformats.org/drawingml/2006/main">
              <a:ext uri="{FF2B5EF4-FFF2-40B4-BE49-F238E27FC236}">
                <a16:creationId xmlns:a16="http://schemas.microsoft.com/office/drawing/2014/main" id="{F14ECB12-AA4C-41E1-BD22-870789A8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92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Ask Codex in the empty codex-demo folder:</a:t>
            </a:r>
          </a:p>
        </p:txBody>
      </p:sp>
      <p:sp>
        <p:nvSpPr>
          <p:cNvPr id="5" name="c3-text-85">
            <a:extLst xmlns:a="http://schemas.openxmlformats.org/drawingml/2006/main">
              <a:ext uri="{FF2B5EF4-FFF2-40B4-BE49-F238E27FC236}">
                <a16:creationId xmlns:a16="http://schemas.microsoft.com/office/drawing/2014/main" id="{09A66394-ED84-4EBD-979B-C3BE3D62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79248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Create a simple, lightweight game in the style of {game style}.</a:t>
            </a:r>
          </a:p>
          <a:p xmlns:a="http://schemas.openxmlformats.org/drawingml/2006/main">
            <a:pPr>
              <a:defRPr sz="18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Put HTML, CSS and JavaScript in one index.html file.</a:t>
            </a:r>
          </a:p>
          <a:p xmlns:a="http://schemas.openxmlformats.org/drawingml/2006/main">
            <a:pPr>
              <a:defRPr sz="18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It should open directly in a browser.</a:t>
            </a:r>
          </a:p>
          <a:p xmlns:a="http://schemas.openxmlformats.org/drawingml/2006/main">
            <a:pPr>
              <a:defRPr sz="18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Add clear controls, a score and a restart button.</a:t>
            </a:r>
          </a:p>
        </p:txBody>
      </p:sp>
      <p:sp>
        <p:nvSpPr>
          <p:cNvPr id="6" name="c3-text-86">
            <a:extLst xmlns:a="http://schemas.openxmlformats.org/drawingml/2006/main">
              <a:ext uri="{FF2B5EF4-FFF2-40B4-BE49-F238E27FC236}">
                <a16:creationId xmlns:a16="http://schemas.microsoft.com/office/drawing/2014/main" id="{15E9169A-07CD-4199-87AB-0ABDE742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Choose a style: Snake, Pong, a platformer or an endless runner.</a:t>
            </a:r>
          </a:p>
        </p:txBody>
      </p:sp>
      <p:sp>
        <p:nvSpPr>
          <p:cNvPr id="7" name="c3-text-228">
            <a:extLst xmlns:a="http://schemas.openxmlformats.org/drawingml/2006/main">
              <a:ext uri="{FF2B5EF4-FFF2-40B4-BE49-F238E27FC236}">
                <a16:creationId xmlns:a16="http://schemas.microsoft.com/office/drawing/2014/main" id="{CCB5FD00-4B93-46EA-801D-9A5FCD44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059707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3-text-87">
            <a:extLst xmlns:a="http://schemas.openxmlformats.org/drawingml/2006/main">
              <a:ext uri="{FF2B5EF4-FFF2-40B4-BE49-F238E27FC236}">
                <a16:creationId xmlns:a16="http://schemas.microsoft.com/office/drawing/2014/main" id="{9C2878BC-3752-414D-AA25-04813975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88">
            <a:extLst xmlns:a="http://schemas.openxmlformats.org/drawingml/2006/main">
              <a:ext uri="{FF2B5EF4-FFF2-40B4-BE49-F238E27FC236}">
                <a16:creationId xmlns:a16="http://schemas.microsoft.com/office/drawing/2014/main" id="{91BEB70A-B043-482D-A470-D0524E49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Your Brain on ChatGPT [15]</a:t>
            </a:r>
          </a:p>
        </p:txBody>
      </p:sp>
      <p:sp>
        <p:nvSpPr>
          <p:cNvPr id="3" name="c3-text-89">
            <a:extLst xmlns:a="http://schemas.openxmlformats.org/drawingml/2006/main">
              <a:ext uri="{FF2B5EF4-FFF2-40B4-BE49-F238E27FC236}">
                <a16:creationId xmlns:a16="http://schemas.microsoft.com/office/drawing/2014/main" id="{4C6076C2-800A-4400-9E4F-666F4D59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90">
            <a:extLst xmlns:a="http://schemas.openxmlformats.org/drawingml/2006/main">
              <a:ext uri="{FF2B5EF4-FFF2-40B4-BE49-F238E27FC236}">
                <a16:creationId xmlns:a16="http://schemas.microsoft.com/office/drawing/2014/main" id="{A51F2736-CAE5-45C0-A55D-4B737043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7924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MIT-led study: 54 participants wrote essays while EEG recorded brain activity.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1f2af011a4454"/>
          <a:stretch xmlns:a="http://schemas.openxmlformats.org/drawingml/2006/main"/>
        </p:blipFill>
        <p:spPr>
          <a:xfrm xmlns:a="http://schemas.openxmlformats.org/drawingml/2006/main">
            <a:off x="609600" y="1828800"/>
            <a:ext cx="5143500" cy="2571750"/>
          </a:xfrm>
          <a:prstGeom xmlns:a="http://schemas.openxmlformats.org/drawingml/2006/main" prst="rect">
            <a:avLst/>
          </a:prstGeom>
        </p:spPr>
      </p:pic>
      <p:sp>
        <p:nvSpPr>
          <p:cNvPr id="6" name="c3-text-91">
            <a:extLst xmlns:a="http://schemas.openxmlformats.org/drawingml/2006/main">
              <a:ext uri="{FF2B5EF4-FFF2-40B4-BE49-F238E27FC236}">
                <a16:creationId xmlns:a16="http://schemas.microsoft.com/office/drawing/2014/main" id="{77599090-A846-4B45-8518-DE1E5829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95475"/>
            <a:ext cx="2533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ChatGPT group</a:t>
            </a:r>
          </a:p>
        </p:txBody>
      </p:sp>
      <p:sp>
        <p:nvSpPr>
          <p:cNvPr id="7" name="c3-text-92">
            <a:extLst xmlns:a="http://schemas.openxmlformats.org/drawingml/2006/main">
              <a:ext uri="{FF2B5EF4-FFF2-40B4-BE49-F238E27FC236}">
                <a16:creationId xmlns:a16="http://schemas.microsoft.com/office/drawing/2014/main" id="{36D9E0B5-8013-466C-9A1F-4DDC79F3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24100"/>
            <a:ext cx="25336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Weaker EEG connectivity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than the other groups.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More difficulty quoting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their own text afterwards.</a:t>
            </a:r>
          </a:p>
        </p:txBody>
      </p:sp>
      <p:sp>
        <p:nvSpPr>
          <p:cNvPr id="8" name="c3-text-93">
            <a:hlinkClick xmlns:r="http://schemas.openxmlformats.org/officeDocument/2006/relationships" xmlns:a="http://schemas.openxmlformats.org/drawingml/2006/main" r:id="R104a83bf29484a8e"/>
            <a:extLst xmlns:a="http://schemas.openxmlformats.org/drawingml/2006/main">
              <a:ext uri="{FF2B5EF4-FFF2-40B4-BE49-F238E27FC236}">
                <a16:creationId xmlns:a16="http://schemas.microsoft.com/office/drawing/2014/main" id="{8022B05B-2084-4652-9B54-0217E6B3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75" b="0" u="sng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Kosmyna et al. (2025), Fig. 1 · CC BY-NC-SA</a:t>
            </a:r>
          </a:p>
        </p:txBody>
      </p:sp>
      <p:sp>
        <p:nvSpPr>
          <p:cNvPr id="9" name="c3-text-94">
            <a:extLst xmlns:a="http://schemas.openxmlformats.org/drawingml/2006/main">
              <a:ext uri="{FF2B5EF4-FFF2-40B4-BE49-F238E27FC236}">
                <a16:creationId xmlns:a16="http://schemas.microsoft.com/office/drawing/2014/main" id="{2257C03D-32D2-464B-87EC-B41E2419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792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Essay-writing preprint: EEG connectivity is not a direct measure of learning.</a:t>
            </a:r>
          </a:p>
        </p:txBody>
      </p:sp>
      <p:sp>
        <p:nvSpPr>
          <p:cNvPr id="10" name="c3-text-229">
            <a:extLst xmlns:a="http://schemas.openxmlformats.org/drawingml/2006/main">
              <a:ext uri="{FF2B5EF4-FFF2-40B4-BE49-F238E27FC236}">
                <a16:creationId xmlns:a16="http://schemas.microsoft.com/office/drawing/2014/main" id="{A49D0522-7B0C-4CD2-B755-FCE74090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278420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3-text-95">
            <a:extLst xmlns:a="http://schemas.openxmlformats.org/drawingml/2006/main">
              <a:ext uri="{FF2B5EF4-FFF2-40B4-BE49-F238E27FC236}">
                <a16:creationId xmlns:a16="http://schemas.microsoft.com/office/drawing/2014/main" id="{8F7B28F2-EE71-4376-AC06-B1DBF865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96">
            <a:extLst xmlns:a="http://schemas.openxmlformats.org/drawingml/2006/main">
              <a:ext uri="{FF2B5EF4-FFF2-40B4-BE49-F238E27FC236}">
                <a16:creationId xmlns:a16="http://schemas.microsoft.com/office/drawing/2014/main" id="{F7D31B32-B6FC-4DAB-8435-B6E5E1BB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Speed and Learning</a:t>
            </a:r>
          </a:p>
        </p:txBody>
      </p:sp>
      <p:sp>
        <p:nvSpPr>
          <p:cNvPr id="3" name="c3-text-97">
            <a:extLst xmlns:a="http://schemas.openxmlformats.org/drawingml/2006/main">
              <a:ext uri="{FF2B5EF4-FFF2-40B4-BE49-F238E27FC236}">
                <a16:creationId xmlns:a16="http://schemas.microsoft.com/office/drawing/2014/main" id="{3B7F6D7F-B4BF-464C-B104-52B44EFD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98">
            <a:extLst xmlns:a="http://schemas.openxmlformats.org/drawingml/2006/main">
              <a:ext uri="{FF2B5EF4-FFF2-40B4-BE49-F238E27FC236}">
                <a16:creationId xmlns:a16="http://schemas.microsoft.com/office/drawing/2014/main" id="{2555647D-2F15-4DE4-8C9C-F8393BE0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How much of the search and thinking do we do ourselves?</a:t>
            </a:r>
          </a:p>
        </p:txBody>
      </p:sp>
      <p:sp>
        <p:nvSpPr>
          <p:cNvPr id="5" name="c3-text-99">
            <a:extLst xmlns:a="http://schemas.openxmlformats.org/drawingml/2006/main">
              <a:ext uri="{FF2B5EF4-FFF2-40B4-BE49-F238E27FC236}">
                <a16:creationId xmlns:a16="http://schemas.microsoft.com/office/drawing/2014/main" id="{D94A0A60-844F-48E0-A16A-C717B884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Library</a:t>
            </a:r>
          </a:p>
        </p:txBody>
      </p:sp>
      <p:sp>
        <p:nvSpPr>
          <p:cNvPr id="6" name="c3-text-100">
            <a:extLst xmlns:a="http://schemas.openxmlformats.org/drawingml/2006/main">
              <a:ext uri="{FF2B5EF4-FFF2-40B4-BE49-F238E27FC236}">
                <a16:creationId xmlns:a16="http://schemas.microsoft.com/office/drawing/2014/main" id="{B27BC350-3614-443A-A19D-75E724CB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193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Travel, meet a librarian,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find books, take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People, places and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unexpected discoveries.</a:t>
            </a:r>
          </a:p>
        </p:txBody>
      </p:sp>
      <p:sp>
        <p:nvSpPr>
          <p:cNvPr id="7" name="c3-text-101">
            <a:extLst xmlns:a="http://schemas.openxmlformats.org/drawingml/2006/main">
              <a:ext uri="{FF2B5EF4-FFF2-40B4-BE49-F238E27FC236}">
                <a16:creationId xmlns:a16="http://schemas.microsoft.com/office/drawing/2014/main" id="{23952A03-AB00-4B1B-8D8E-3F472EFA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336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Web search</a:t>
            </a:r>
          </a:p>
        </p:txBody>
      </p:sp>
      <p:sp>
        <p:nvSpPr>
          <p:cNvPr id="8" name="c3-text-102">
            <a:extLst xmlns:a="http://schemas.openxmlformats.org/drawingml/2006/main">
              <a:ext uri="{FF2B5EF4-FFF2-40B4-BE49-F238E27FC236}">
                <a16:creationId xmlns:a16="http://schemas.microsoft.com/office/drawing/2014/main" id="{985D4E58-5836-4A01-966B-9BB1A56F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628900"/>
            <a:ext cx="24193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Search, click, compare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sources and summarise.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Less travelling.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Still selecting and writing.</a:t>
            </a:r>
          </a:p>
        </p:txBody>
      </p:sp>
      <p:sp>
        <p:nvSpPr>
          <p:cNvPr id="9" name="c3-text-103">
            <a:extLst xmlns:a="http://schemas.openxmlformats.org/drawingml/2006/main">
              <a:ext uri="{FF2B5EF4-FFF2-40B4-BE49-F238E27FC236}">
                <a16:creationId xmlns:a16="http://schemas.microsoft.com/office/drawing/2014/main" id="{27AD0E7E-CD0A-486F-9772-AF0D57E8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336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An AI answer</a:t>
            </a:r>
          </a:p>
        </p:txBody>
      </p:sp>
      <p:sp>
        <p:nvSpPr>
          <p:cNvPr id="10" name="c3-text-104">
            <a:extLst xmlns:a="http://schemas.openxmlformats.org/drawingml/2006/main">
              <a:ext uri="{FF2B5EF4-FFF2-40B4-BE49-F238E27FC236}">
                <a16:creationId xmlns:a16="http://schemas.microsoft.com/office/drawing/2014/main" id="{2300B397-0215-4F73-BFA1-163E3B0A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28900"/>
            <a:ext cx="24193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Ask for a synthesis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and use it immediately.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Less practice if we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accept it unchanged.</a:t>
            </a:r>
          </a:p>
        </p:txBody>
      </p:sp>
      <p:sp>
        <p:nvSpPr>
          <p:cNvPr id="11" name="c3-text-105">
            <a:extLst xmlns:a="http://schemas.openxmlformats.org/drawingml/2006/main">
              <a:ext uri="{FF2B5EF4-FFF2-40B4-BE49-F238E27FC236}">
                <a16:creationId xmlns:a16="http://schemas.microsoft.com/office/drawing/2014/main" id="{A2C7A07F-D13A-4727-8F5E-23A3E513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792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Faster answers can leave fewer opportunities to process and remember.</a:t>
            </a:r>
          </a:p>
        </p:txBody>
      </p:sp>
      <p:sp>
        <p:nvSpPr>
          <p:cNvPr id="12" name="c3-text-230">
            <a:extLst xmlns:a="http://schemas.openxmlformats.org/drawingml/2006/main">
              <a:ext uri="{FF2B5EF4-FFF2-40B4-BE49-F238E27FC236}">
                <a16:creationId xmlns:a16="http://schemas.microsoft.com/office/drawing/2014/main" id="{4AF59485-0001-4316-8F4B-E8D5F149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958675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3-text-106">
            <a:extLst xmlns:a="http://schemas.openxmlformats.org/drawingml/2006/main">
              <a:ext uri="{FF2B5EF4-FFF2-40B4-BE49-F238E27FC236}">
                <a16:creationId xmlns:a16="http://schemas.microsoft.com/office/drawing/2014/main" id="{4CF36D2A-A532-417D-9179-B743D1F5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07">
            <a:extLst xmlns:a="http://schemas.openxmlformats.org/drawingml/2006/main">
              <a:ext uri="{FF2B5EF4-FFF2-40B4-BE49-F238E27FC236}">
                <a16:creationId xmlns:a16="http://schemas.microsoft.com/office/drawing/2014/main" id="{9B491FDA-C207-4C57-A8AD-DF5E2FCE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Choosing What to Practise [16]</a:t>
            </a:r>
          </a:p>
        </p:txBody>
      </p:sp>
      <p:sp>
        <p:nvSpPr>
          <p:cNvPr id="3" name="c3-text-108">
            <a:extLst xmlns:a="http://schemas.openxmlformats.org/drawingml/2006/main">
              <a:ext uri="{FF2B5EF4-FFF2-40B4-BE49-F238E27FC236}">
                <a16:creationId xmlns:a16="http://schemas.microsoft.com/office/drawing/2014/main" id="{CD938AAB-F44F-41F6-AC82-DDD227CD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109">
            <a:extLst xmlns:a="http://schemas.openxmlformats.org/drawingml/2006/main">
              <a:ext uri="{FF2B5EF4-FFF2-40B4-BE49-F238E27FC236}">
                <a16:creationId xmlns:a16="http://schemas.microsoft.com/office/drawing/2014/main" id="{C80E91A6-6E7E-4F87-A8DB-AE493483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792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What do I want to be able to do without AI?</a:t>
            </a:r>
          </a:p>
        </p:txBody>
      </p:sp>
      <p:sp>
        <p:nvSpPr>
          <p:cNvPr id="5" name="c3-text-110">
            <a:extLst xmlns:a="http://schemas.openxmlformats.org/drawingml/2006/main">
              <a:ext uri="{FF2B5EF4-FFF2-40B4-BE49-F238E27FC236}">
                <a16:creationId xmlns:a16="http://schemas.microsoft.com/office/drawing/2014/main" id="{0A48CAE2-1A6C-4A7A-9A80-69FF3962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A task to finish</a:t>
            </a:r>
          </a:p>
        </p:txBody>
      </p:sp>
      <p:sp>
        <p:nvSpPr>
          <p:cNvPr id="6" name="c3-text-111">
            <a:extLst xmlns:a="http://schemas.openxmlformats.org/drawingml/2006/main">
              <a:ext uri="{FF2B5EF4-FFF2-40B4-BE49-F238E27FC236}">
                <a16:creationId xmlns:a16="http://schemas.microsoft.com/office/drawing/2014/main" id="{2916E1C4-279C-4E56-BCCD-1F3A85B1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486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Delegate routine steps.</a:t>
            </a:r>
          </a:p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Check the result.</a:t>
            </a:r>
          </a:p>
        </p:txBody>
      </p:sp>
      <p:sp>
        <p:nvSpPr>
          <p:cNvPr id="7" name="c3-text-112">
            <a:extLst xmlns:a="http://schemas.openxmlformats.org/drawingml/2006/main">
              <a:ext uri="{FF2B5EF4-FFF2-40B4-BE49-F238E27FC236}">
                <a16:creationId xmlns:a16="http://schemas.microsoft.com/office/drawing/2014/main" id="{2ED4D0E1-2387-4DC1-A38E-2D9E834A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52675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A skill to keep</a:t>
            </a:r>
          </a:p>
        </p:txBody>
      </p:sp>
      <p:sp>
        <p:nvSpPr>
          <p:cNvPr id="8" name="c3-text-113">
            <a:extLst xmlns:a="http://schemas.openxmlformats.org/drawingml/2006/main">
              <a:ext uri="{FF2B5EF4-FFF2-40B4-BE49-F238E27FC236}">
                <a16:creationId xmlns:a16="http://schemas.microsoft.com/office/drawing/2014/main" id="{32AC9802-2C10-432B-A1F6-D3F2498A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3771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Try first. Ask for a hint.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Close the answer and explain it.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Try a similar problem later.</a:t>
            </a:r>
          </a:p>
        </p:txBody>
      </p:sp>
      <p:sp>
        <p:nvSpPr>
          <p:cNvPr id="9" name="c3-text-114">
            <a:extLst xmlns:a="http://schemas.openxmlformats.org/drawingml/2006/main">
              <a:ext uri="{FF2B5EF4-FFF2-40B4-BE49-F238E27FC236}">
                <a16:creationId xmlns:a16="http://schemas.microsoft.com/office/drawing/2014/main" id="{6BC5B741-A115-4EF8-A362-E8A103AF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792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AI can help create the practice: questions, hints and new examples.</a:t>
            </a:r>
          </a:p>
        </p:txBody>
      </p:sp>
      <p:sp>
        <p:nvSpPr>
          <p:cNvPr id="10" name="c3-text-231">
            <a:extLst xmlns:a="http://schemas.openxmlformats.org/drawingml/2006/main">
              <a:ext uri="{FF2B5EF4-FFF2-40B4-BE49-F238E27FC236}">
                <a16:creationId xmlns:a16="http://schemas.microsoft.com/office/drawing/2014/main" id="{02ECB818-B95E-4A5C-9876-05A2B30C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884683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115">
            <a:extLst xmlns:a="http://schemas.openxmlformats.org/drawingml/2006/main">
              <a:ext uri="{FF2B5EF4-FFF2-40B4-BE49-F238E27FC236}">
                <a16:creationId xmlns:a16="http://schemas.microsoft.com/office/drawing/2014/main" id="{620CAEB3-C279-4F04-9820-54E0CB6A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16">
            <a:extLst xmlns:a="http://schemas.openxmlformats.org/drawingml/2006/main">
              <a:ext uri="{FF2B5EF4-FFF2-40B4-BE49-F238E27FC236}">
                <a16:creationId xmlns:a16="http://schemas.microsoft.com/office/drawing/2014/main" id="{8CC54880-C7ED-4868-A3BB-C3B12CE6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Exercise 1: A Virtual Meteorologist</a:t>
            </a:r>
          </a:p>
        </p:txBody>
      </p:sp>
      <p:sp>
        <p:nvSpPr>
          <p:cNvPr id="3" name="c3-text-117">
            <a:extLst xmlns:a="http://schemas.openxmlformats.org/drawingml/2006/main">
              <a:ext uri="{FF2B5EF4-FFF2-40B4-BE49-F238E27FC236}">
                <a16:creationId xmlns:a16="http://schemas.microsoft.com/office/drawing/2014/main" id="{71DBB9C0-49A2-44A1-8D55-510DA710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118">
            <a:extLst xmlns:a="http://schemas.openxmlformats.org/drawingml/2006/main">
              <a:ext uri="{FF2B5EF4-FFF2-40B4-BE49-F238E27FC236}">
                <a16:creationId xmlns:a16="http://schemas.microsoft.com/office/drawing/2014/main" id="{097B23F8-7210-4681-8C07-09662074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924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Start from the Chapter 02 langgraph_avatar_agent.py.</a:t>
            </a:r>
          </a:p>
        </p:txBody>
      </p:sp>
      <p:sp>
        <p:nvSpPr>
          <p:cNvPr id="5" name="c3-text-119">
            <a:extLst xmlns:a="http://schemas.openxmlformats.org/drawingml/2006/main">
              <a:ext uri="{FF2B5EF4-FFF2-40B4-BE49-F238E27FC236}">
                <a16:creationId xmlns:a16="http://schemas.microsoft.com/office/drawing/2014/main" id="{2B77B6DE-EF78-4285-A36F-1826FD5F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7924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Use Codex to add current weather while keeping memory and animations.</a:t>
            </a:r>
          </a:p>
        </p:txBody>
      </p:sp>
      <p:sp>
        <p:nvSpPr>
          <p:cNvPr id="6" name="c3-text-120">
            <a:extLst xmlns:a="http://schemas.openxmlformats.org/drawingml/2006/main">
              <a:ext uri="{FF2B5EF4-FFF2-40B4-BE49-F238E27FC236}">
                <a16:creationId xmlns:a16="http://schemas.microsoft.com/office/drawing/2014/main" id="{CF171470-A3BB-4E75-85D8-0146A952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7924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First version: spoken replies and avatar behaviour. Leave the board unused.</a:t>
            </a:r>
          </a:p>
        </p:txBody>
      </p:sp>
      <p:sp>
        <p:nvSpPr>
          <p:cNvPr id="7" name="c3-text-232">
            <a:extLst xmlns:a="http://schemas.openxmlformats.org/drawingml/2006/main">
              <a:ext uri="{FF2B5EF4-FFF2-40B4-BE49-F238E27FC236}">
                <a16:creationId xmlns:a16="http://schemas.microsoft.com/office/drawing/2014/main" id="{0A433AC7-422A-45D2-93E8-D68DA2C1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109885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3-text-121">
            <a:extLst xmlns:a="http://schemas.openxmlformats.org/drawingml/2006/main">
              <a:ext uri="{FF2B5EF4-FFF2-40B4-BE49-F238E27FC236}">
                <a16:creationId xmlns:a16="http://schemas.microsoft.com/office/drawing/2014/main" id="{7E2E72AE-908B-4E1D-BBD5-F138EBFD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22">
            <a:extLst xmlns:a="http://schemas.openxmlformats.org/drawingml/2006/main">
              <a:ext uri="{FF2B5EF4-FFF2-40B4-BE49-F238E27FC236}">
                <a16:creationId xmlns:a16="http://schemas.microsoft.com/office/drawing/2014/main" id="{211CA2C3-3EE6-460B-946E-8C3C9F9E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Prompt: Create the Weather Agent</a:t>
            </a:r>
          </a:p>
        </p:txBody>
      </p:sp>
      <p:sp>
        <p:nvSpPr>
          <p:cNvPr id="3" name="c3-text-123">
            <a:extLst xmlns:a="http://schemas.openxmlformats.org/drawingml/2006/main">
              <a:ext uri="{FF2B5EF4-FFF2-40B4-BE49-F238E27FC236}">
                <a16:creationId xmlns:a16="http://schemas.microsoft.com/office/drawing/2014/main" id="{61A347A2-F94C-4922-A9EB-571FD5BF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124">
            <a:extLst xmlns:a="http://schemas.openxmlformats.org/drawingml/2006/main">
              <a:ext uri="{FF2B5EF4-FFF2-40B4-BE49-F238E27FC236}">
                <a16:creationId xmlns:a16="http://schemas.microsoft.com/office/drawing/2014/main" id="{20450B93-1C3A-4CDA-9E11-E2B499ED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79248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Create weather_avatar_agent.py in the cognitive server:</a:t>
            </a:r>
          </a:p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use agents/Module_2/Chapter_03 and the Chapter_02 base.</a:t>
            </a:r>
          </a:p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Use OpenWeather for current-weather questions.</a:t>
            </a:r>
          </a:p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Read the key from the YAML file I specify.</a:t>
            </a:r>
          </a:p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Keep memory, animations and Clear conversation.</a:t>
            </a:r>
          </a:p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Speech: spoken words only, no emoji or written actions.</a:t>
            </a:r>
          </a:p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Use chat and message prompt templates.</a:t>
            </a:r>
          </a:p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Return whiteboard=None. Keep the original agent unchanged.</a:t>
            </a:r>
          </a:p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Show how to select and test the new agent.</a:t>
            </a:r>
          </a:p>
        </p:txBody>
      </p:sp>
      <p:sp>
        <p:nvSpPr>
          <p:cNvPr id="5" name="c3-text-125">
            <a:extLst xmlns:a="http://schemas.openxmlformats.org/drawingml/2006/main">
              <a:ext uri="{FF2B5EF4-FFF2-40B4-BE49-F238E27FC236}">
                <a16:creationId xmlns:a16="http://schemas.microsoft.com/office/drawing/2014/main" id="{014B7ABD-92EF-4D37-8FFA-C2BD431D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792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Ask Codex to explain its plan, then review the diff and run the avatar.</a:t>
            </a:r>
          </a:p>
        </p:txBody>
      </p:sp>
      <p:sp>
        <p:nvSpPr>
          <p:cNvPr id="6" name="c3-text-233">
            <a:extLst xmlns:a="http://schemas.openxmlformats.org/drawingml/2006/main">
              <a:ext uri="{FF2B5EF4-FFF2-40B4-BE49-F238E27FC236}">
                <a16:creationId xmlns:a16="http://schemas.microsoft.com/office/drawing/2014/main" id="{15C3D64B-7F25-488A-9737-0B33A1B4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541572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126">
            <a:extLst xmlns:a="http://schemas.openxmlformats.org/drawingml/2006/main">
              <a:ext uri="{FF2B5EF4-FFF2-40B4-BE49-F238E27FC236}">
                <a16:creationId xmlns:a16="http://schemas.microsoft.com/office/drawing/2014/main" id="{9B9AAD5A-B32F-4D87-99ED-C87C2194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27">
            <a:extLst xmlns:a="http://schemas.openxmlformats.org/drawingml/2006/main">
              <a:ext uri="{FF2B5EF4-FFF2-40B4-BE49-F238E27FC236}">
                <a16:creationId xmlns:a16="http://schemas.microsoft.com/office/drawing/2014/main" id="{4606D459-FA7F-4D3E-AA70-D79BC882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Test the First Weather Agent</a:t>
            </a:r>
          </a:p>
        </p:txBody>
      </p:sp>
      <p:sp>
        <p:nvSpPr>
          <p:cNvPr id="3" name="c3-text-128">
            <a:extLst xmlns:a="http://schemas.openxmlformats.org/drawingml/2006/main">
              <a:ext uri="{FF2B5EF4-FFF2-40B4-BE49-F238E27FC236}">
                <a16:creationId xmlns:a16="http://schemas.microsoft.com/office/drawing/2014/main" id="{793980FB-85B8-4F9E-8F33-649AD1A4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129">
            <a:extLst xmlns:a="http://schemas.openxmlformats.org/drawingml/2006/main">
              <a:ext uri="{FF2B5EF4-FFF2-40B4-BE49-F238E27FC236}">
                <a16:creationId xmlns:a16="http://schemas.microsoft.com/office/drawing/2014/main" id="{A91B564D-ED46-4E9B-A60E-2856C5AE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792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Introduce yourself, then ask the avatar to recall your name.</a:t>
            </a:r>
          </a:p>
        </p:txBody>
      </p:sp>
      <p:sp>
        <p:nvSpPr>
          <p:cNvPr id="5" name="c3-text-130">
            <a:extLst xmlns:a="http://schemas.openxmlformats.org/drawingml/2006/main">
              <a:ext uri="{FF2B5EF4-FFF2-40B4-BE49-F238E27FC236}">
                <a16:creationId xmlns:a16="http://schemas.microsoft.com/office/drawing/2014/main" id="{95F24486-FA7B-4160-8326-F05FB543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92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Ask for Rome, Italy. Follow with: What about Milan?</a:t>
            </a:r>
          </a:p>
        </p:txBody>
      </p:sp>
      <p:sp>
        <p:nvSpPr>
          <p:cNvPr id="6" name="c3-text-131">
            <a:extLst xmlns:a="http://schemas.openxmlformats.org/drawingml/2006/main">
              <a:ext uri="{FF2B5EF4-FFF2-40B4-BE49-F238E27FC236}">
                <a16:creationId xmlns:a16="http://schemas.microsoft.com/office/drawing/2014/main" id="{F3C9FBE6-B2FF-4D16-973F-E898A047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792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Ask for a happy greeting and check the animation. Clear and retry.</a:t>
            </a:r>
          </a:p>
        </p:txBody>
      </p:sp>
      <p:sp>
        <p:nvSpPr>
          <p:cNvPr id="7" name="c3-text-132">
            <a:extLst xmlns:a="http://schemas.openxmlformats.org/drawingml/2006/main">
              <a:ext uri="{FF2B5EF4-FFF2-40B4-BE49-F238E27FC236}">
                <a16:creationId xmlns:a16="http://schemas.microsoft.com/office/drawing/2014/main" id="{26DEF576-1B69-4DA9-B1C3-74F3D006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Check an API failure. The first version does not update the board.</a:t>
            </a:r>
          </a:p>
        </p:txBody>
      </p:sp>
      <p:sp>
        <p:nvSpPr>
          <p:cNvPr id="8" name="c3-text-234">
            <a:extLst xmlns:a="http://schemas.openxmlformats.org/drawingml/2006/main">
              <a:ext uri="{FF2B5EF4-FFF2-40B4-BE49-F238E27FC236}">
                <a16:creationId xmlns:a16="http://schemas.microsoft.com/office/drawing/2014/main" id="{0562B503-E5CB-4906-941B-C23B7D73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696870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133">
            <a:extLst xmlns:a="http://schemas.openxmlformats.org/drawingml/2006/main">
              <a:ext uri="{FF2B5EF4-FFF2-40B4-BE49-F238E27FC236}">
                <a16:creationId xmlns:a16="http://schemas.microsoft.com/office/drawing/2014/main" id="{ACB79F2C-5AA3-4744-83A4-49A05109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34">
            <a:extLst xmlns:a="http://schemas.openxmlformats.org/drawingml/2006/main">
              <a:ext uri="{FF2B5EF4-FFF2-40B4-BE49-F238E27FC236}">
                <a16:creationId xmlns:a16="http://schemas.microsoft.com/office/drawing/2014/main" id="{F0AA3BB0-70BE-46BD-800E-B3D83483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How Could We Use the Whiteboard?</a:t>
            </a:r>
          </a:p>
        </p:txBody>
      </p:sp>
      <p:sp>
        <p:nvSpPr>
          <p:cNvPr id="3" name="c3-text-135">
            <a:extLst xmlns:a="http://schemas.openxmlformats.org/drawingml/2006/main">
              <a:ext uri="{FF2B5EF4-FFF2-40B4-BE49-F238E27FC236}">
                <a16:creationId xmlns:a16="http://schemas.microsoft.com/office/drawing/2014/main" id="{0FF2E1D4-E464-4394-957A-F572530C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136">
            <a:extLst xmlns:a="http://schemas.openxmlformats.org/drawingml/2006/main">
              <a:ext uri="{FF2B5EF4-FFF2-40B4-BE49-F238E27FC236}">
                <a16:creationId xmlns:a16="http://schemas.microsoft.com/office/drawing/2014/main" id="{C9441456-93A4-4DB0-A1DF-D85FB6AD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924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The weather presenter works. How could an image help?</a:t>
            </a:r>
          </a:p>
        </p:txBody>
      </p:sp>
      <p:sp>
        <p:nvSpPr>
          <p:cNvPr id="5" name="c3-text-137">
            <a:extLst xmlns:a="http://schemas.openxmlformats.org/drawingml/2006/main">
              <a:ext uri="{FF2B5EF4-FFF2-40B4-BE49-F238E27FC236}">
                <a16:creationId xmlns:a16="http://schemas.microsoft.com/office/drawing/2014/main" id="{84354EF2-5726-4AC0-883A-1C3BFB8E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7924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Show an image that represents the weather requested.</a:t>
            </a:r>
          </a:p>
        </p:txBody>
      </p:sp>
      <p:sp>
        <p:nvSpPr>
          <p:cNvPr id="6" name="c3-text-138">
            <a:extLst xmlns:a="http://schemas.openxmlformats.org/drawingml/2006/main">
              <a:ext uri="{FF2B5EF4-FFF2-40B4-BE49-F238E27FC236}">
                <a16:creationId xmlns:a16="http://schemas.microsoft.com/office/drawing/2014/main" id="{8C2B9778-67CD-4064-A9D1-4A098B49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792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Write your own Codex prompt to extend the agent.</a:t>
            </a:r>
          </a:p>
        </p:txBody>
      </p:sp>
      <p:sp>
        <p:nvSpPr>
          <p:cNvPr id="7" name="c3-text-235">
            <a:extLst xmlns:a="http://schemas.openxmlformats.org/drawingml/2006/main">
              <a:ext uri="{FF2B5EF4-FFF2-40B4-BE49-F238E27FC236}">
                <a16:creationId xmlns:a16="http://schemas.microsoft.com/office/drawing/2014/main" id="{B002E6B2-5627-4849-86BB-DC73E5E4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723250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3-text-139">
            <a:extLst xmlns:a="http://schemas.openxmlformats.org/drawingml/2006/main">
              <a:ext uri="{FF2B5EF4-FFF2-40B4-BE49-F238E27FC236}">
                <a16:creationId xmlns:a16="http://schemas.microsoft.com/office/drawing/2014/main" id="{4AA9FF2F-758E-4202-B06B-7AB0B631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40">
            <a:extLst xmlns:a="http://schemas.openxmlformats.org/drawingml/2006/main">
              <a:ext uri="{FF2B5EF4-FFF2-40B4-BE49-F238E27FC236}">
                <a16:creationId xmlns:a16="http://schemas.microsoft.com/office/drawing/2014/main" id="{619D5160-326F-42FC-9E91-BFA0B468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Whiteboard Playground</a:t>
            </a:r>
          </a:p>
        </p:txBody>
      </p:sp>
      <p:sp>
        <p:nvSpPr>
          <p:cNvPr id="3" name="c3-text-141">
            <a:extLst xmlns:a="http://schemas.openxmlformats.org/drawingml/2006/main">
              <a:ext uri="{FF2B5EF4-FFF2-40B4-BE49-F238E27FC236}">
                <a16:creationId xmlns:a16="http://schemas.microsoft.com/office/drawing/2014/main" id="{B4B214BE-4427-40E1-AD17-B8603B02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142">
            <a:extLst xmlns:a="http://schemas.openxmlformats.org/drawingml/2006/main">
              <a:ext uri="{FF2B5EF4-FFF2-40B4-BE49-F238E27FC236}">
                <a16:creationId xmlns:a16="http://schemas.microsoft.com/office/drawing/2014/main" id="{F2415F80-4B5A-4793-BC94-739ADF15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92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Upload an image and apply it to the avatar scene.</a:t>
            </a:r>
          </a:p>
        </p:txBody>
      </p:sp>
      <p:sp>
        <p:nvSpPr>
          <p:cNvPr id="5" name="c3-text-143">
            <a:extLst xmlns:a="http://schemas.openxmlformats.org/drawingml/2006/main">
              <a:ext uri="{FF2B5EF4-FFF2-40B4-BE49-F238E27FC236}">
                <a16:creationId xmlns:a16="http://schemas.microsoft.com/office/drawing/2014/main" id="{A37294E2-1328-4E7D-BBCF-404ECE4B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792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Replace it, keep it unchanged, then clear it.</a:t>
            </a:r>
          </a:p>
        </p:txBody>
      </p:sp>
      <p:sp>
        <p:nvSpPr>
          <p:cNvPr id="6" name="c3-text-144">
            <a:extLst xmlns:a="http://schemas.openxmlformats.org/drawingml/2006/main">
              <a:ext uri="{FF2B5EF4-FFF2-40B4-BE49-F238E27FC236}">
                <a16:creationId xmlns:a16="http://schemas.microsoft.com/office/drawing/2014/main" id="{B9AD968A-879D-4B00-813B-592D5EAA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792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What would our weather agent need to automate?</a:t>
            </a:r>
          </a:p>
        </p:txBody>
      </p:sp>
      <p:sp>
        <p:nvSpPr>
          <p:cNvPr id="7" name="c3-text-236">
            <a:extLst xmlns:a="http://schemas.openxmlformats.org/drawingml/2006/main">
              <a:ext uri="{FF2B5EF4-FFF2-40B4-BE49-F238E27FC236}">
                <a16:creationId xmlns:a16="http://schemas.microsoft.com/office/drawing/2014/main" id="{9E607669-068F-4C81-8A83-BD5FA11C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838180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145">
            <a:extLst xmlns:a="http://schemas.openxmlformats.org/drawingml/2006/main">
              <a:ext uri="{FF2B5EF4-FFF2-40B4-BE49-F238E27FC236}">
                <a16:creationId xmlns:a16="http://schemas.microsoft.com/office/drawing/2014/main" id="{251E9B86-FC18-43F0-B7A9-25FDE739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46">
            <a:extLst xmlns:a="http://schemas.openxmlformats.org/drawingml/2006/main">
              <a:ext uri="{FF2B5EF4-FFF2-40B4-BE49-F238E27FC236}">
                <a16:creationId xmlns:a16="http://schemas.microsoft.com/office/drawing/2014/main" id="{2D321918-B6A5-4B12-BC9D-A31F10A4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Exercise 2: Write Your Own Prompt</a:t>
            </a:r>
          </a:p>
        </p:txBody>
      </p:sp>
      <p:sp>
        <p:nvSpPr>
          <p:cNvPr id="3" name="c3-text-147">
            <a:extLst xmlns:a="http://schemas.openxmlformats.org/drawingml/2006/main">
              <a:ext uri="{FF2B5EF4-FFF2-40B4-BE49-F238E27FC236}">
                <a16:creationId xmlns:a16="http://schemas.microsoft.com/office/drawing/2014/main" id="{6D9F6BD1-7560-4E7C-B402-86E1FDB2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148">
            <a:extLst xmlns:a="http://schemas.openxmlformats.org/drawingml/2006/main">
              <a:ext uri="{FF2B5EF4-FFF2-40B4-BE49-F238E27FC236}">
                <a16:creationId xmlns:a16="http://schemas.microsoft.com/office/drawing/2014/main" id="{0EAE2BFD-2151-46D9-BEF5-C763C45C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7924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Ask Codex to show a weather image on the whiteboard.</a:t>
            </a:r>
          </a:p>
        </p:txBody>
      </p:sp>
      <p:sp>
        <p:nvSpPr>
          <p:cNvPr id="5" name="c3-text-149">
            <a:extLst xmlns:a="http://schemas.openxmlformats.org/drawingml/2006/main">
              <a:ext uri="{FF2B5EF4-FFF2-40B4-BE49-F238E27FC236}">
                <a16:creationId xmlns:a16="http://schemas.microsoft.com/office/drawing/2014/main" id="{E0274D10-2E95-46D3-8402-53F89484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7924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FA8E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7FA8E3"/>
                </a:solidFill>
                <a:latin typeface="Consolas"/>
                <a:ea typeface="Consolas"/>
                <a:cs typeface="Consolas"/>
              </a:rPr>
              <a:t>Agent: virtual_human_project/vh_cognitive_architecture_server/</a:t>
            </a:r>
          </a:p>
          <a:p xmlns:a="http://schemas.openxmlformats.org/drawingml/2006/main">
            <a:pPr>
              <a:defRPr sz="1425" b="0">
                <a:solidFill>
                  <a:srgbClr val="7FA8E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7FA8E3"/>
                </a:solidFill>
                <a:latin typeface="Consolas"/>
                <a:ea typeface="Consolas"/>
                <a:cs typeface="Consolas"/>
              </a:rPr>
              <a:t>agents/Module_2/Chapter_03/weather_avatar_agent.py</a:t>
            </a:r>
          </a:p>
        </p:txBody>
      </p:sp>
      <p:sp>
        <p:nvSpPr>
          <p:cNvPr id="6" name="c3-text-150">
            <a:extLst xmlns:a="http://schemas.openxmlformats.org/drawingml/2006/main">
              <a:ext uri="{FF2B5EF4-FFF2-40B4-BE49-F238E27FC236}">
                <a16:creationId xmlns:a16="http://schemas.microsoft.com/office/drawing/2014/main" id="{410CC2FB-A654-409C-80A5-36B31EF2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7924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FA8E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7FA8E3"/>
                </a:solidFill>
                <a:latin typeface="Consolas"/>
                <a:ea typeface="Consolas"/>
                <a:cs typeface="Consolas"/>
              </a:rPr>
              <a:t>API: virtual_human_project/vh_embodiment_server/README.md</a:t>
            </a:r>
          </a:p>
        </p:txBody>
      </p:sp>
      <p:sp>
        <p:nvSpPr>
          <p:cNvPr id="7" name="c3-text-151">
            <a:extLst xmlns:a="http://schemas.openxmlformats.org/drawingml/2006/main">
              <a:ext uri="{FF2B5EF4-FFF2-40B4-BE49-F238E27FC236}">
                <a16:creationId xmlns:a16="http://schemas.microsoft.com/office/drawing/2014/main" id="{A82B3D3A-FBFB-4BF4-9F8B-A43DF0C1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92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Explain what already works and include your YAML file path.</a:t>
            </a:r>
          </a:p>
        </p:txBody>
      </p:sp>
      <p:sp>
        <p:nvSpPr>
          <p:cNvPr id="8" name="c3-text-237">
            <a:extLst xmlns:a="http://schemas.openxmlformats.org/drawingml/2006/main">
              <a:ext uri="{FF2B5EF4-FFF2-40B4-BE49-F238E27FC236}">
                <a16:creationId xmlns:a16="http://schemas.microsoft.com/office/drawing/2014/main" id="{B2EC0830-4903-4EC3-9AB7-51AE1EC8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27930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3-text-152">
            <a:extLst xmlns:a="http://schemas.openxmlformats.org/drawingml/2006/main">
              <a:ext uri="{FF2B5EF4-FFF2-40B4-BE49-F238E27FC236}">
                <a16:creationId xmlns:a16="http://schemas.microsoft.com/office/drawing/2014/main" id="{D7B60C9B-82FE-4E23-8D15-307E15D9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53">
            <a:extLst xmlns:a="http://schemas.openxmlformats.org/drawingml/2006/main">
              <a:ext uri="{FF2B5EF4-FFF2-40B4-BE49-F238E27FC236}">
                <a16:creationId xmlns:a16="http://schemas.microsoft.com/office/drawing/2014/main" id="{88095138-FA73-4634-B6DB-0C7F6DDF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3" name="c3-text-154">
            <a:extLst xmlns:a="http://schemas.openxmlformats.org/drawingml/2006/main">
              <a:ext uri="{FF2B5EF4-FFF2-40B4-BE49-F238E27FC236}">
                <a16:creationId xmlns:a16="http://schemas.microsoft.com/office/drawing/2014/main" id="{B3E756E5-BAA5-4374-AEF8-0824A3C7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155">
            <a:hlinkClick xmlns:r="http://schemas.openxmlformats.org/officeDocument/2006/relationships" xmlns:a="http://schemas.openxmlformats.org/drawingml/2006/main" r:id="R651f146eb7db473e"/>
            <a:extLst xmlns:a="http://schemas.openxmlformats.org/drawingml/2006/main">
              <a:ext uri="{FF2B5EF4-FFF2-40B4-BE49-F238E27FC236}">
                <a16:creationId xmlns:a16="http://schemas.microsoft.com/office/drawing/2014/main" id="{7CCFE689-67F1-4A17-B238-83390D82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[1] LangGraph persistence</a:t>
            </a:r>
          </a:p>
        </p:txBody>
      </p:sp>
      <p:sp>
        <p:nvSpPr>
          <p:cNvPr id="5" name="c3-text-156">
            <a:hlinkClick xmlns:r="http://schemas.openxmlformats.org/officeDocument/2006/relationships" xmlns:a="http://schemas.openxmlformats.org/drawingml/2006/main" r:id="R72b8e545f8a94487"/>
            <a:extLst xmlns:a="http://schemas.openxmlformats.org/drawingml/2006/main">
              <a:ext uri="{FF2B5EF4-FFF2-40B4-BE49-F238E27FC236}">
                <a16:creationId xmlns:a16="http://schemas.microsoft.com/office/drawing/2014/main" id="{26131D13-8E31-408B-88A4-1D9C4EE8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Checkpoints, threads and deleting a thread</a:t>
            </a:r>
          </a:p>
        </p:txBody>
      </p:sp>
      <p:sp>
        <p:nvSpPr>
          <p:cNvPr id="6" name="c3-shape-157">
            <a:extLst xmlns:a="http://schemas.openxmlformats.org/drawingml/2006/main">
              <a:ext uri="{FF2B5EF4-FFF2-40B4-BE49-F238E27FC236}">
                <a16:creationId xmlns:a16="http://schemas.microsoft.com/office/drawing/2014/main" id="{A02F45FD-F1C8-4236-8E4A-9A0F6BD6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158">
            <a:hlinkClick xmlns:r="http://schemas.openxmlformats.org/officeDocument/2006/relationships" xmlns:a="http://schemas.openxmlformats.org/drawingml/2006/main" r:id="Rb94224915b6c41e0"/>
            <a:extLst xmlns:a="http://schemas.openxmlformats.org/drawingml/2006/main">
              <a:ext uri="{FF2B5EF4-FFF2-40B4-BE49-F238E27FC236}">
                <a16:creationId xmlns:a16="http://schemas.microsoft.com/office/drawing/2014/main" id="{9FEAEFA4-A2F4-494A-BA62-56047195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[2] ChatOllama structured output</a:t>
            </a:r>
          </a:p>
        </p:txBody>
      </p:sp>
      <p:sp>
        <p:nvSpPr>
          <p:cNvPr id="8" name="c3-text-159">
            <a:hlinkClick xmlns:r="http://schemas.openxmlformats.org/officeDocument/2006/relationships" xmlns:a="http://schemas.openxmlformats.org/drawingml/2006/main" r:id="Rcbc4e5c4c57c4233"/>
            <a:extLst xmlns:a="http://schemas.openxmlformats.org/drawingml/2006/main">
              <a:ext uri="{FF2B5EF4-FFF2-40B4-BE49-F238E27FC236}">
                <a16:creationId xmlns:a16="http://schemas.microsoft.com/office/drawing/2014/main" id="{7DB9EE0D-C1E3-44D7-98EB-E604293E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with_structured_output and its methods</a:t>
            </a:r>
          </a:p>
        </p:txBody>
      </p:sp>
      <p:sp>
        <p:nvSpPr>
          <p:cNvPr id="9" name="c3-shape-160">
            <a:extLst xmlns:a="http://schemas.openxmlformats.org/drawingml/2006/main">
              <a:ext uri="{FF2B5EF4-FFF2-40B4-BE49-F238E27FC236}">
                <a16:creationId xmlns:a16="http://schemas.microsoft.com/office/drawing/2014/main" id="{A9835446-4C10-4175-8779-C85EE0E1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0" name="c3-text-161">
            <a:hlinkClick xmlns:r="http://schemas.openxmlformats.org/officeDocument/2006/relationships" xmlns:a="http://schemas.openxmlformats.org/drawingml/2006/main" r:id="R7ee5a77d0d0e467b"/>
            <a:extLst xmlns:a="http://schemas.openxmlformats.org/drawingml/2006/main">
              <a:ext uri="{FF2B5EF4-FFF2-40B4-BE49-F238E27FC236}">
                <a16:creationId xmlns:a16="http://schemas.microsoft.com/office/drawing/2014/main" id="{2C18FC10-3909-49D1-94D8-3D650AB0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[3] Chat prompt templates</a:t>
            </a:r>
          </a:p>
        </p:txBody>
      </p:sp>
      <p:sp>
        <p:nvSpPr>
          <p:cNvPr id="11" name="c3-text-162">
            <a:hlinkClick xmlns:r="http://schemas.openxmlformats.org/officeDocument/2006/relationships" xmlns:a="http://schemas.openxmlformats.org/drawingml/2006/main" r:id="Rb4dc4d2750c74c8c"/>
            <a:extLst xmlns:a="http://schemas.openxmlformats.org/drawingml/2006/main">
              <a:ext uri="{FF2B5EF4-FFF2-40B4-BE49-F238E27FC236}">
                <a16:creationId xmlns:a16="http://schemas.microsoft.com/office/drawing/2014/main" id="{023A8274-B365-4AEC-829F-BF63CC9B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System templates and message placeholders</a:t>
            </a:r>
          </a:p>
        </p:txBody>
      </p:sp>
      <p:sp>
        <p:nvSpPr>
          <p:cNvPr id="12" name="c3-shape-163">
            <a:extLst xmlns:a="http://schemas.openxmlformats.org/drawingml/2006/main">
              <a:ext uri="{FF2B5EF4-FFF2-40B4-BE49-F238E27FC236}">
                <a16:creationId xmlns:a16="http://schemas.microsoft.com/office/drawing/2014/main" id="{4C897716-66C9-4329-A483-185708D1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164">
            <a:hlinkClick xmlns:r="http://schemas.openxmlformats.org/officeDocument/2006/relationships" xmlns:a="http://schemas.openxmlformats.org/drawingml/2006/main" r:id="Re89dcecb05f54cd2"/>
            <a:extLst xmlns:a="http://schemas.openxmlformats.org/drawingml/2006/main">
              <a:ext uri="{FF2B5EF4-FFF2-40B4-BE49-F238E27FC236}">
                <a16:creationId xmlns:a16="http://schemas.microsoft.com/office/drawing/2014/main" id="{640878B7-F238-48D3-A067-E1A6192B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[4] LangGraph tool loop</a:t>
            </a:r>
          </a:p>
        </p:txBody>
      </p:sp>
      <p:sp>
        <p:nvSpPr>
          <p:cNvPr id="14" name="c3-text-165">
            <a:hlinkClick xmlns:r="http://schemas.openxmlformats.org/officeDocument/2006/relationships" xmlns:a="http://schemas.openxmlformats.org/drawingml/2006/main" r:id="R6220d99a50074889"/>
            <a:extLst xmlns:a="http://schemas.openxmlformats.org/drawingml/2006/main">
              <a:ext uri="{FF2B5EF4-FFF2-40B4-BE49-F238E27FC236}">
                <a16:creationId xmlns:a16="http://schemas.microsoft.com/office/drawing/2014/main" id="{19B882DE-5C24-4CD8-A090-E6C513D3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Model decisions, tools and tool results</a:t>
            </a:r>
          </a:p>
        </p:txBody>
      </p:sp>
      <p:sp>
        <p:nvSpPr>
          <p:cNvPr id="15" name="c3-text-166">
            <a:hlinkClick xmlns:r="http://schemas.openxmlformats.org/officeDocument/2006/relationships" xmlns:a="http://schemas.openxmlformats.org/drawingml/2006/main" r:id="R8c363a502c234996"/>
            <a:extLst xmlns:a="http://schemas.openxmlformats.org/drawingml/2006/main">
              <a:ext uri="{FF2B5EF4-FFF2-40B4-BE49-F238E27FC236}">
                <a16:creationId xmlns:a16="http://schemas.microsoft.com/office/drawing/2014/main" id="{C9B294B1-1B20-4119-BB28-26D94D49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049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[5] Codex in VS Code</a:t>
            </a:r>
          </a:p>
        </p:txBody>
      </p:sp>
      <p:sp>
        <p:nvSpPr>
          <p:cNvPr id="16" name="c3-text-167">
            <a:hlinkClick xmlns:r="http://schemas.openxmlformats.org/officeDocument/2006/relationships" xmlns:a="http://schemas.openxmlformats.org/drawingml/2006/main" r:id="Rc3ef945949534742"/>
            <a:extLst xmlns:a="http://schemas.openxmlformats.org/drawingml/2006/main">
              <a:ext uri="{FF2B5EF4-FFF2-40B4-BE49-F238E27FC236}">
                <a16:creationId xmlns:a16="http://schemas.microsoft.com/office/drawing/2014/main" id="{6C52F37E-A17F-4293-A619-D8797F65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Extension installation and editor workflow</a:t>
            </a:r>
          </a:p>
        </p:txBody>
      </p:sp>
      <p:sp>
        <p:nvSpPr>
          <p:cNvPr id="17" name="c3-shape-168">
            <a:extLst xmlns:a="http://schemas.openxmlformats.org/drawingml/2006/main">
              <a:ext uri="{FF2B5EF4-FFF2-40B4-BE49-F238E27FC236}">
                <a16:creationId xmlns:a16="http://schemas.microsoft.com/office/drawing/2014/main" id="{4A6E271F-9E1F-48C9-93EC-4984B286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8" name="c3-text-169">
            <a:hlinkClick xmlns:r="http://schemas.openxmlformats.org/officeDocument/2006/relationships" xmlns:a="http://schemas.openxmlformats.org/drawingml/2006/main" r:id="Raa0b987f74a14654"/>
            <a:extLst xmlns:a="http://schemas.openxmlformats.org/drawingml/2006/main">
              <a:ext uri="{FF2B5EF4-FFF2-40B4-BE49-F238E27FC236}">
                <a16:creationId xmlns:a16="http://schemas.microsoft.com/office/drawing/2014/main" id="{70698540-F342-4B8E-A52D-E82587CF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[6] Claude Code</a:t>
            </a:r>
          </a:p>
        </p:txBody>
      </p:sp>
      <p:sp>
        <p:nvSpPr>
          <p:cNvPr id="19" name="c3-text-170">
            <a:hlinkClick xmlns:r="http://schemas.openxmlformats.org/officeDocument/2006/relationships" xmlns:a="http://schemas.openxmlformats.org/drawingml/2006/main" r:id="Rb6abdc0c912d4f2c"/>
            <a:extLst xmlns:a="http://schemas.openxmlformats.org/drawingml/2006/main">
              <a:ext uri="{FF2B5EF4-FFF2-40B4-BE49-F238E27FC236}">
                <a16:creationId xmlns:a16="http://schemas.microsoft.com/office/drawing/2014/main" id="{B15C7281-EDA0-4955-B7A1-637B5AD2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908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Coding agent overview</a:t>
            </a:r>
          </a:p>
        </p:txBody>
      </p:sp>
      <p:sp>
        <p:nvSpPr>
          <p:cNvPr id="20" name="c3-shape-171">
            <a:extLst xmlns:a="http://schemas.openxmlformats.org/drawingml/2006/main">
              <a:ext uri="{FF2B5EF4-FFF2-40B4-BE49-F238E27FC236}">
                <a16:creationId xmlns:a16="http://schemas.microsoft.com/office/drawing/2014/main" id="{148C5C37-5BCF-4B48-9240-6B2CD086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1" name="c3-text-172">
            <a:hlinkClick xmlns:r="http://schemas.openxmlformats.org/officeDocument/2006/relationships" xmlns:a="http://schemas.openxmlformats.org/drawingml/2006/main" r:id="Red1de37354c74f13"/>
            <a:extLst xmlns:a="http://schemas.openxmlformats.org/drawingml/2006/main">
              <a:ext uri="{FF2B5EF4-FFF2-40B4-BE49-F238E27FC236}">
                <a16:creationId xmlns:a16="http://schemas.microsoft.com/office/drawing/2014/main" id="{F491AB79-2885-4C57-9EB8-29AE0469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[7] OpenWeather current weather</a:t>
            </a:r>
          </a:p>
        </p:txBody>
      </p:sp>
      <p:sp>
        <p:nvSpPr>
          <p:cNvPr id="22" name="c3-text-173">
            <a:hlinkClick xmlns:r="http://schemas.openxmlformats.org/officeDocument/2006/relationships" xmlns:a="http://schemas.openxmlformats.org/drawingml/2006/main" r:id="R9d5d0751b18f4b7b"/>
            <a:extLst xmlns:a="http://schemas.openxmlformats.org/drawingml/2006/main">
              <a:ext uri="{FF2B5EF4-FFF2-40B4-BE49-F238E27FC236}">
                <a16:creationId xmlns:a16="http://schemas.microsoft.com/office/drawing/2014/main" id="{97ABAB7F-EE3F-4571-82D6-A7E1CB1A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Current conditions and metric units</a:t>
            </a:r>
          </a:p>
        </p:txBody>
      </p:sp>
      <p:sp>
        <p:nvSpPr>
          <p:cNvPr id="23" name="c3-shape-174">
            <a:extLst xmlns:a="http://schemas.openxmlformats.org/drawingml/2006/main">
              <a:ext uri="{FF2B5EF4-FFF2-40B4-BE49-F238E27FC236}">
                <a16:creationId xmlns:a16="http://schemas.microsoft.com/office/drawing/2014/main" id="{57E973B4-0A45-43FD-A59A-A3FA3BC4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004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4" name="c3-text-175">
            <a:hlinkClick xmlns:r="http://schemas.openxmlformats.org/officeDocument/2006/relationships" xmlns:a="http://schemas.openxmlformats.org/drawingml/2006/main" r:id="R9ad8592477cc4be1"/>
            <a:extLst xmlns:a="http://schemas.openxmlformats.org/drawingml/2006/main">
              <a:ext uri="{FF2B5EF4-FFF2-40B4-BE49-F238E27FC236}">
                <a16:creationId xmlns:a16="http://schemas.microsoft.com/office/drawing/2014/main" id="{FBF8C8F7-B98E-4325-B7C5-D9F434E2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[8] OpenWeather geocoding</a:t>
            </a:r>
          </a:p>
        </p:txBody>
      </p:sp>
      <p:sp>
        <p:nvSpPr>
          <p:cNvPr id="25" name="c3-text-176">
            <a:hlinkClick xmlns:r="http://schemas.openxmlformats.org/officeDocument/2006/relationships" xmlns:a="http://schemas.openxmlformats.org/drawingml/2006/main" r:id="Rc7b23b6dbc1a4903"/>
            <a:extLst xmlns:a="http://schemas.openxmlformats.org/drawingml/2006/main">
              <a:ext uri="{FF2B5EF4-FFF2-40B4-BE49-F238E27FC236}">
                <a16:creationId xmlns:a16="http://schemas.microsoft.com/office/drawing/2014/main" id="{DD934214-DADB-4453-BFA0-E0E6BCD2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529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City names to coordinates</a:t>
            </a:r>
          </a:p>
        </p:txBody>
      </p:sp>
      <p:sp>
        <p:nvSpPr>
          <p:cNvPr id="26" name="c3-text-238">
            <a:extLst xmlns:a="http://schemas.openxmlformats.org/drawingml/2006/main">
              <a:ext uri="{FF2B5EF4-FFF2-40B4-BE49-F238E27FC236}">
                <a16:creationId xmlns:a16="http://schemas.microsoft.com/office/drawing/2014/main" id="{CB05C3B9-7042-4E98-B602-27CA234E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754370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3-text-177">
            <a:extLst xmlns:a="http://schemas.openxmlformats.org/drawingml/2006/main">
              <a:ext uri="{FF2B5EF4-FFF2-40B4-BE49-F238E27FC236}">
                <a16:creationId xmlns:a16="http://schemas.microsoft.com/office/drawing/2014/main" id="{797481AB-BBCB-49F5-B3BB-60E223FF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78">
            <a:extLst xmlns:a="http://schemas.openxmlformats.org/drawingml/2006/main">
              <a:ext uri="{FF2B5EF4-FFF2-40B4-BE49-F238E27FC236}">
                <a16:creationId xmlns:a16="http://schemas.microsoft.com/office/drawing/2014/main" id="{AC6F4520-6B4C-4E18-BC25-AA40743A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References (continued)</a:t>
            </a:r>
          </a:p>
        </p:txBody>
      </p:sp>
      <p:sp>
        <p:nvSpPr>
          <p:cNvPr id="3" name="c3-text-179">
            <a:extLst xmlns:a="http://schemas.openxmlformats.org/drawingml/2006/main">
              <a:ext uri="{FF2B5EF4-FFF2-40B4-BE49-F238E27FC236}">
                <a16:creationId xmlns:a16="http://schemas.microsoft.com/office/drawing/2014/main" id="{568A8239-F64D-48F9-BEBE-49586902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180">
            <a:hlinkClick xmlns:r="http://schemas.openxmlformats.org/officeDocument/2006/relationships" xmlns:a="http://schemas.openxmlformats.org/drawingml/2006/main" r:id="Rdeb74079632a4d5e"/>
            <a:extLst xmlns:a="http://schemas.openxmlformats.org/drawingml/2006/main">
              <a:ext uri="{FF2B5EF4-FFF2-40B4-BE49-F238E27FC236}">
                <a16:creationId xmlns:a16="http://schemas.microsoft.com/office/drawing/2014/main" id="{EDC62CA3-9A49-4E06-8BDB-76ADF829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[9] OpenWeather icons</a:t>
            </a:r>
          </a:p>
        </p:txBody>
      </p:sp>
      <p:sp>
        <p:nvSpPr>
          <p:cNvPr id="5" name="c3-text-181">
            <a:hlinkClick xmlns:r="http://schemas.openxmlformats.org/officeDocument/2006/relationships" xmlns:a="http://schemas.openxmlformats.org/drawingml/2006/main" r:id="R08a94186acf2466a"/>
            <a:extLst xmlns:a="http://schemas.openxmlformats.org/drawingml/2006/main">
              <a:ext uri="{FF2B5EF4-FFF2-40B4-BE49-F238E27FC236}">
                <a16:creationId xmlns:a16="http://schemas.microsoft.com/office/drawing/2014/main" id="{60245F29-C33F-4195-9929-75FDEAA1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Weather codes and condition icons</a:t>
            </a:r>
          </a:p>
        </p:txBody>
      </p:sp>
      <p:sp>
        <p:nvSpPr>
          <p:cNvPr id="6" name="c3-shape-182">
            <a:extLst xmlns:a="http://schemas.openxmlformats.org/drawingml/2006/main">
              <a:ext uri="{FF2B5EF4-FFF2-40B4-BE49-F238E27FC236}">
                <a16:creationId xmlns:a16="http://schemas.microsoft.com/office/drawing/2014/main" id="{0B40DE3E-00B3-4394-84E2-6F1539D1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183">
            <a:hlinkClick xmlns:r="http://schemas.openxmlformats.org/officeDocument/2006/relationships" xmlns:a="http://schemas.openxmlformats.org/drawingml/2006/main" r:id="R56b051b7a5ea43b2"/>
            <a:extLst xmlns:a="http://schemas.openxmlformats.org/drawingml/2006/main">
              <a:ext uri="{FF2B5EF4-FFF2-40B4-BE49-F238E27FC236}">
                <a16:creationId xmlns:a16="http://schemas.microsoft.com/office/drawing/2014/main" id="{49F01B53-6598-4229-B3B0-84FBC18B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[10] OpenWeather account and keys</a:t>
            </a:r>
          </a:p>
        </p:txBody>
      </p:sp>
      <p:sp>
        <p:nvSpPr>
          <p:cNvPr id="8" name="c3-text-184">
            <a:hlinkClick xmlns:r="http://schemas.openxmlformats.org/officeDocument/2006/relationships" xmlns:a="http://schemas.openxmlformats.org/drawingml/2006/main" r:id="Rc200a2902f924f4e"/>
            <a:extLst xmlns:a="http://schemas.openxmlformats.org/drawingml/2006/main">
              <a:ext uri="{FF2B5EF4-FFF2-40B4-BE49-F238E27FC236}">
                <a16:creationId xmlns:a16="http://schemas.microsoft.com/office/drawing/2014/main" id="{B2758800-2BAE-4638-8F2C-2C1E4C9D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Registration, email verification and activation</a:t>
            </a:r>
          </a:p>
        </p:txBody>
      </p:sp>
      <p:sp>
        <p:nvSpPr>
          <p:cNvPr id="9" name="c3-shape-185">
            <a:extLst xmlns:a="http://schemas.openxmlformats.org/drawingml/2006/main">
              <a:ext uri="{FF2B5EF4-FFF2-40B4-BE49-F238E27FC236}">
                <a16:creationId xmlns:a16="http://schemas.microsoft.com/office/drawing/2014/main" id="{4C604024-F38B-4599-826E-DD64B7E3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0" name="c3-text-186">
            <a:hlinkClick xmlns:r="http://schemas.openxmlformats.org/officeDocument/2006/relationships" xmlns:a="http://schemas.openxmlformats.org/drawingml/2006/main" r:id="R9c0bc9c77dc84091"/>
            <a:extLst xmlns:a="http://schemas.openxmlformats.org/drawingml/2006/main">
              <a:ext uri="{FF2B5EF4-FFF2-40B4-BE49-F238E27FC236}">
                <a16:creationId xmlns:a16="http://schemas.microsoft.com/office/drawing/2014/main" id="{ED54C0D5-B75D-4656-8EA8-0F655B37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[11] OpenWeather free access</a:t>
            </a:r>
          </a:p>
        </p:txBody>
      </p:sp>
      <p:sp>
        <p:nvSpPr>
          <p:cNvPr id="11" name="c3-text-187">
            <a:hlinkClick xmlns:r="http://schemas.openxmlformats.org/officeDocument/2006/relationships" xmlns:a="http://schemas.openxmlformats.org/drawingml/2006/main" r:id="Rf240ffa0c810488a"/>
            <a:extLst xmlns:a="http://schemas.openxmlformats.org/drawingml/2006/main">
              <a:ext uri="{FF2B5EF4-FFF2-40B4-BE49-F238E27FC236}">
                <a16:creationId xmlns:a16="http://schemas.microsoft.com/office/drawing/2014/main" id="{668B270A-4550-40E6-99F8-9788051A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Current Weather and Geocoding availability</a:t>
            </a:r>
          </a:p>
        </p:txBody>
      </p:sp>
      <p:sp>
        <p:nvSpPr>
          <p:cNvPr id="12" name="c3-shape-188">
            <a:extLst xmlns:a="http://schemas.openxmlformats.org/drawingml/2006/main">
              <a:ext uri="{FF2B5EF4-FFF2-40B4-BE49-F238E27FC236}">
                <a16:creationId xmlns:a16="http://schemas.microsoft.com/office/drawing/2014/main" id="{35697A69-A716-4803-8B05-21B5CF73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189">
            <a:hlinkClick xmlns:r="http://schemas.openxmlformats.org/officeDocument/2006/relationships" xmlns:a="http://schemas.openxmlformats.org/drawingml/2006/main" r:id="R455533315ad04f7b"/>
            <a:extLst xmlns:a="http://schemas.openxmlformats.org/drawingml/2006/main">
              <a:ext uri="{FF2B5EF4-FFF2-40B4-BE49-F238E27FC236}">
                <a16:creationId xmlns:a16="http://schemas.microsoft.com/office/drawing/2014/main" id="{B66FAA11-DB8C-4780-9468-6CAF55DE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[12] Claude Code in VS Code</a:t>
            </a:r>
          </a:p>
        </p:txBody>
      </p:sp>
      <p:sp>
        <p:nvSpPr>
          <p:cNvPr id="14" name="c3-text-190">
            <a:hlinkClick xmlns:r="http://schemas.openxmlformats.org/officeDocument/2006/relationships" xmlns:a="http://schemas.openxmlformats.org/drawingml/2006/main" r:id="R0fcb38707793469b"/>
            <a:extLst xmlns:a="http://schemas.openxmlformats.org/drawingml/2006/main">
              <a:ext uri="{FF2B5EF4-FFF2-40B4-BE49-F238E27FC236}">
                <a16:creationId xmlns:a16="http://schemas.microsoft.com/office/drawing/2014/main" id="{15B8EC2E-2B25-49FE-8D63-F69F940F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Extension, editor context and reviewing edits</a:t>
            </a:r>
          </a:p>
        </p:txBody>
      </p:sp>
      <p:sp>
        <p:nvSpPr>
          <p:cNvPr id="15" name="c3-text-191">
            <a:hlinkClick xmlns:r="http://schemas.openxmlformats.org/officeDocument/2006/relationships" xmlns:a="http://schemas.openxmlformats.org/drawingml/2006/main" r:id="R7d83e813358242ec"/>
            <a:extLst xmlns:a="http://schemas.openxmlformats.org/drawingml/2006/main">
              <a:ext uri="{FF2B5EF4-FFF2-40B4-BE49-F238E27FC236}">
                <a16:creationId xmlns:a16="http://schemas.microsoft.com/office/drawing/2014/main" id="{7A9D0F98-D1E1-4872-9803-64FF1B2E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049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[13] Codex extension</a:t>
            </a:r>
          </a:p>
        </p:txBody>
      </p:sp>
      <p:sp>
        <p:nvSpPr>
          <p:cNvPr id="16" name="c3-text-192">
            <a:hlinkClick xmlns:r="http://schemas.openxmlformats.org/officeDocument/2006/relationships" xmlns:a="http://schemas.openxmlformats.org/drawingml/2006/main" r:id="Rcbc95e02f54a434d"/>
            <a:extLst xmlns:a="http://schemas.openxmlformats.org/drawingml/2006/main">
              <a:ext uri="{FF2B5EF4-FFF2-40B4-BE49-F238E27FC236}">
                <a16:creationId xmlns:a16="http://schemas.microsoft.com/office/drawing/2014/main" id="{E1720A8F-E057-4B8B-938B-32342B31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Official OpenAI extension on Visual Studio Marketplace</a:t>
            </a:r>
          </a:p>
        </p:txBody>
      </p:sp>
      <p:sp>
        <p:nvSpPr>
          <p:cNvPr id="17" name="c3-shape-193">
            <a:extLst xmlns:a="http://schemas.openxmlformats.org/drawingml/2006/main">
              <a:ext uri="{FF2B5EF4-FFF2-40B4-BE49-F238E27FC236}">
                <a16:creationId xmlns:a16="http://schemas.microsoft.com/office/drawing/2014/main" id="{A348A695-F566-4A2F-B356-18A9E9BB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8" name="c3-text-194">
            <a:hlinkClick xmlns:r="http://schemas.openxmlformats.org/officeDocument/2006/relationships" xmlns:a="http://schemas.openxmlformats.org/drawingml/2006/main" r:id="R4d09ec42cc184009"/>
            <a:extLst xmlns:a="http://schemas.openxmlformats.org/drawingml/2006/main">
              <a:ext uri="{FF2B5EF4-FFF2-40B4-BE49-F238E27FC236}">
                <a16:creationId xmlns:a16="http://schemas.microsoft.com/office/drawing/2014/main" id="{2C240178-A228-489F-A20B-C054AC6E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[14] Claude Code extension</a:t>
            </a:r>
          </a:p>
        </p:txBody>
      </p:sp>
      <p:sp>
        <p:nvSpPr>
          <p:cNvPr id="19" name="c3-text-195">
            <a:hlinkClick xmlns:r="http://schemas.openxmlformats.org/officeDocument/2006/relationships" xmlns:a="http://schemas.openxmlformats.org/drawingml/2006/main" r:id="R45ac3c18f3684a09"/>
            <a:extLst xmlns:a="http://schemas.openxmlformats.org/drawingml/2006/main">
              <a:ext uri="{FF2B5EF4-FFF2-40B4-BE49-F238E27FC236}">
                <a16:creationId xmlns:a16="http://schemas.microsoft.com/office/drawing/2014/main" id="{249669C5-59D9-46CD-A2AC-64C87E74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908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Official Anthropic extension on Visual Studio Marketplace</a:t>
            </a:r>
          </a:p>
        </p:txBody>
      </p:sp>
      <p:sp>
        <p:nvSpPr>
          <p:cNvPr id="20" name="c3-shape-196">
            <a:extLst xmlns:a="http://schemas.openxmlformats.org/drawingml/2006/main">
              <a:ext uri="{FF2B5EF4-FFF2-40B4-BE49-F238E27FC236}">
                <a16:creationId xmlns:a16="http://schemas.microsoft.com/office/drawing/2014/main" id="{2C7F21E0-F26A-48BC-AD91-49596AF7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1" name="c3-text-197">
            <a:hlinkClick xmlns:r="http://schemas.openxmlformats.org/officeDocument/2006/relationships" xmlns:a="http://schemas.openxmlformats.org/drawingml/2006/main" r:id="Rc823ae5888e04afa"/>
            <a:extLst xmlns:a="http://schemas.openxmlformats.org/drawingml/2006/main">
              <a:ext uri="{FF2B5EF4-FFF2-40B4-BE49-F238E27FC236}">
                <a16:creationId xmlns:a16="http://schemas.microsoft.com/office/drawing/2014/main" id="{192231C2-3239-4B70-9FE4-2F4B72BB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[15] Kosmyna et al. (2025)</a:t>
            </a:r>
          </a:p>
        </p:txBody>
      </p:sp>
      <p:sp>
        <p:nvSpPr>
          <p:cNvPr id="22" name="c3-text-198">
            <a:hlinkClick xmlns:r="http://schemas.openxmlformats.org/officeDocument/2006/relationships" xmlns:a="http://schemas.openxmlformats.org/drawingml/2006/main" r:id="R937fa0026d9547c3"/>
            <a:extLst xmlns:a="http://schemas.openxmlformats.org/drawingml/2006/main">
              <a:ext uri="{FF2B5EF4-FFF2-40B4-BE49-F238E27FC236}">
                <a16:creationId xmlns:a16="http://schemas.microsoft.com/office/drawing/2014/main" id="{36A6D022-9934-4D52-A1B5-4C0988AE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Your Brain on ChatGPT: essay writing and EEG</a:t>
            </a:r>
          </a:p>
        </p:txBody>
      </p:sp>
      <p:sp>
        <p:nvSpPr>
          <p:cNvPr id="23" name="c3-shape-199">
            <a:extLst xmlns:a="http://schemas.openxmlformats.org/drawingml/2006/main">
              <a:ext uri="{FF2B5EF4-FFF2-40B4-BE49-F238E27FC236}">
                <a16:creationId xmlns:a16="http://schemas.microsoft.com/office/drawing/2014/main" id="{CFC9EE12-6515-47C0-B747-0461439C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004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4" name="c3-text-200">
            <a:hlinkClick xmlns:r="http://schemas.openxmlformats.org/officeDocument/2006/relationships" xmlns:a="http://schemas.openxmlformats.org/drawingml/2006/main" r:id="Re401e7d4ce124d7e"/>
            <a:extLst xmlns:a="http://schemas.openxmlformats.org/drawingml/2006/main">
              <a:ext uri="{FF2B5EF4-FFF2-40B4-BE49-F238E27FC236}">
                <a16:creationId xmlns:a16="http://schemas.microsoft.com/office/drawing/2014/main" id="{58EE6BA4-D5F4-43D0-B2AC-CB348F4B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[16] Roediger &amp; Karpicke (2006)</a:t>
            </a:r>
          </a:p>
        </p:txBody>
      </p:sp>
      <p:sp>
        <p:nvSpPr>
          <p:cNvPr id="25" name="c3-text-201">
            <a:hlinkClick xmlns:r="http://schemas.openxmlformats.org/officeDocument/2006/relationships" xmlns:a="http://schemas.openxmlformats.org/drawingml/2006/main" r:id="Rdfc21f0a0673400b"/>
            <a:extLst xmlns:a="http://schemas.openxmlformats.org/drawingml/2006/main">
              <a:ext uri="{FF2B5EF4-FFF2-40B4-BE49-F238E27FC236}">
                <a16:creationId xmlns:a16="http://schemas.microsoft.com/office/drawing/2014/main" id="{19BC3C9A-F02B-4A8D-A229-C9E55F44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529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Retrieval practice and lasting recall</a:t>
            </a:r>
          </a:p>
        </p:txBody>
      </p:sp>
      <p:sp>
        <p:nvSpPr>
          <p:cNvPr id="26" name="c3-text-239">
            <a:extLst xmlns:a="http://schemas.openxmlformats.org/drawingml/2006/main">
              <a:ext uri="{FF2B5EF4-FFF2-40B4-BE49-F238E27FC236}">
                <a16:creationId xmlns:a16="http://schemas.microsoft.com/office/drawing/2014/main" id="{313067D1-5DCB-4402-B878-F49167D1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122244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3-text-202">
            <a:extLst xmlns:a="http://schemas.openxmlformats.org/drawingml/2006/main">
              <a:ext uri="{FF2B5EF4-FFF2-40B4-BE49-F238E27FC236}">
                <a16:creationId xmlns:a16="http://schemas.microsoft.com/office/drawing/2014/main" id="{D2BC013C-8459-43F7-BE3A-7097AA52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03">
            <a:extLst xmlns:a="http://schemas.openxmlformats.org/drawingml/2006/main">
              <a:ext uri="{FF2B5EF4-FFF2-40B4-BE49-F238E27FC236}">
                <a16:creationId xmlns:a16="http://schemas.microsoft.com/office/drawing/2014/main" id="{83528E11-AF88-4BCF-8227-F518228F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Webinar and Mentorship</a:t>
            </a:r>
          </a:p>
        </p:txBody>
      </p:sp>
      <p:sp>
        <p:nvSpPr>
          <p:cNvPr id="3" name="c3-text-204">
            <a:extLst xmlns:a="http://schemas.openxmlformats.org/drawingml/2006/main">
              <a:ext uri="{FF2B5EF4-FFF2-40B4-BE49-F238E27FC236}">
                <a16:creationId xmlns:a16="http://schemas.microsoft.com/office/drawing/2014/main" id="{5F52601E-EB9D-417F-804A-3657314F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205">
            <a:extLst xmlns:a="http://schemas.openxmlformats.org/drawingml/2006/main">
              <a:ext uri="{FF2B5EF4-FFF2-40B4-BE49-F238E27FC236}">
                <a16:creationId xmlns:a16="http://schemas.microsoft.com/office/drawing/2014/main" id="{C4F50004-2EBE-4E23-AEB2-5540122D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924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Developing your Browser Virtual Human</a:t>
            </a:r>
          </a:p>
        </p:txBody>
      </p:sp>
      <p:sp>
        <p:nvSpPr>
          <p:cNvPr id="5" name="c3-text-206">
            <a:extLst xmlns:a="http://schemas.openxmlformats.org/drawingml/2006/main">
              <a:ext uri="{FF2B5EF4-FFF2-40B4-BE49-F238E27FC236}">
                <a16:creationId xmlns:a16="http://schemas.microsoft.com/office/drawing/2014/main" id="{C9D54BD3-EC58-4FDC-9CFF-E3387185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Online webinar</a:t>
            </a:r>
          </a:p>
        </p:txBody>
      </p:sp>
      <p:sp>
        <p:nvSpPr>
          <p:cNvPr id="6" name="c3-text-207">
            <a:extLst xmlns:a="http://schemas.openxmlformats.org/drawingml/2006/main">
              <a:ext uri="{FF2B5EF4-FFF2-40B4-BE49-F238E27FC236}">
                <a16:creationId xmlns:a16="http://schemas.microsoft.com/office/drawing/2014/main" id="{AFA748A3-3EB6-4210-8E8F-31AC2FD8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77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Tuesday 3 November 2026</a:t>
            </a:r>
          </a:p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17:00–18:00</a:t>
            </a:r>
          </a:p>
        </p:txBody>
      </p:sp>
      <p:sp>
        <p:nvSpPr>
          <p:cNvPr id="7" name="c3-text-208">
            <a:extLst xmlns:a="http://schemas.openxmlformats.org/drawingml/2006/main">
              <a:ext uri="{FF2B5EF4-FFF2-40B4-BE49-F238E27FC236}">
                <a16:creationId xmlns:a16="http://schemas.microsoft.com/office/drawing/2014/main" id="{0960F01D-439E-42C3-A5EC-BF254899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Mentorship</a:t>
            </a:r>
          </a:p>
        </p:txBody>
      </p:sp>
      <p:sp>
        <p:nvSpPr>
          <p:cNvPr id="8" name="c3-text-209">
            <a:extLst xmlns:a="http://schemas.openxmlformats.org/drawingml/2006/main">
              <a:ext uri="{FF2B5EF4-FFF2-40B4-BE49-F238E27FC236}">
                <a16:creationId xmlns:a16="http://schemas.microsoft.com/office/drawing/2014/main" id="{73D20F60-D398-475C-8BE4-17EDFF43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377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Wednesday 11 November 2026</a:t>
            </a:r>
          </a:p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From 14:30</a:t>
            </a:r>
          </a:p>
        </p:txBody>
      </p:sp>
      <p:sp>
        <p:nvSpPr>
          <p:cNvPr id="9" name="c3-text-210">
            <a:extLst xmlns:a="http://schemas.openxmlformats.org/drawingml/2006/main">
              <a:ext uri="{FF2B5EF4-FFF2-40B4-BE49-F238E27FC236}">
                <a16:creationId xmlns:a16="http://schemas.microsoft.com/office/drawing/2014/main" id="{AEA6F304-66CF-493C-896F-36840C33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7924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Join the webinar and mentorship to receive a higher-level certificate.</a:t>
            </a:r>
          </a:p>
        </p:txBody>
      </p:sp>
      <p:sp>
        <p:nvSpPr>
          <p:cNvPr id="10" name="c3-text-211">
            <a:hlinkClick xmlns:r="http://schemas.openxmlformats.org/officeDocument/2006/relationships" xmlns:a="http://schemas.openxmlformats.org/drawingml/2006/main" r:id="Re1180fff47f140c4"/>
            <a:extLst xmlns:a="http://schemas.openxmlformats.org/drawingml/2006/main">
              <a:ext uri="{FF2B5EF4-FFF2-40B4-BE49-F238E27FC236}">
                <a16:creationId xmlns:a16="http://schemas.microsoft.com/office/drawing/2014/main" id="{0D3DC736-5EA2-41EC-BEA8-96112AD7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75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Register: tiny.cc/AVENUE_VH_Webinar2</a:t>
            </a:r>
          </a:p>
        </p:txBody>
      </p:sp>
      <p:sp>
        <p:nvSpPr>
          <p:cNvPr id="11" name="c3-text-240">
            <a:extLst xmlns:a="http://schemas.openxmlformats.org/drawingml/2006/main">
              <a:ext uri="{FF2B5EF4-FFF2-40B4-BE49-F238E27FC236}">
                <a16:creationId xmlns:a16="http://schemas.microsoft.com/office/drawing/2014/main" id="{54D907D2-2478-4F80-9663-F8BD1CD6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821049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3-text-212">
            <a:extLst xmlns:a="http://schemas.openxmlformats.org/drawingml/2006/main">
              <a:ext uri="{FF2B5EF4-FFF2-40B4-BE49-F238E27FC236}">
                <a16:creationId xmlns:a16="http://schemas.microsoft.com/office/drawing/2014/main" id="{11C631DC-61EF-43CF-9EF5-2792CF7C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13">
            <a:extLst xmlns:a="http://schemas.openxmlformats.org/drawingml/2006/main">
              <a:ext uri="{FF2B5EF4-FFF2-40B4-BE49-F238E27FC236}">
                <a16:creationId xmlns:a16="http://schemas.microsoft.com/office/drawing/2014/main" id="{281E0795-C1C8-4E1C-80B5-DFDBC624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Course Feedback</a:t>
            </a:r>
          </a:p>
        </p:txBody>
      </p:sp>
      <p:sp>
        <p:nvSpPr>
          <p:cNvPr id="3" name="c3-text-214">
            <a:extLst xmlns:a="http://schemas.openxmlformats.org/drawingml/2006/main">
              <a:ext uri="{FF2B5EF4-FFF2-40B4-BE49-F238E27FC236}">
                <a16:creationId xmlns:a16="http://schemas.microsoft.com/office/drawing/2014/main" id="{E9BE6416-F8FC-403A-8589-104D8B7E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03</a:t>
            </a:r>
          </a:p>
        </p:txBody>
      </p:sp>
      <p:sp>
        <p:nvSpPr>
          <p:cNvPr id="4" name="c3-text-215">
            <a:extLst xmlns:a="http://schemas.openxmlformats.org/drawingml/2006/main">
              <a:ext uri="{FF2B5EF4-FFF2-40B4-BE49-F238E27FC236}">
                <a16:creationId xmlns:a16="http://schemas.microsoft.com/office/drawing/2014/main" id="{D7C04718-9941-4777-9269-B0CA5AF9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AI powered Virtual Humans Part 2:</a:t>
            </a:r>
          </a:p>
          <a:p xmlns:a="http://schemas.openxmlformats.org/drawingml/2006/main">
            <a:pPr>
              <a:defRPr sz="2175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LLM-based Cognitive Architectures</a:t>
            </a:r>
          </a:p>
        </p:txBody>
      </p:sp>
      <p:sp>
        <p:nvSpPr>
          <p:cNvPr id="5" name="c3-text-216">
            <a:extLst xmlns:a="http://schemas.openxmlformats.org/drawingml/2006/main">
              <a:ext uri="{FF2B5EF4-FFF2-40B4-BE49-F238E27FC236}">
                <a16:creationId xmlns:a16="http://schemas.microsoft.com/office/drawing/2014/main" id="{A0E0BBD3-7852-4D5B-8B41-CE300410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Please select this course</a:t>
            </a:r>
          </a:p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 the questionnaire.</a:t>
            </a:r>
          </a:p>
        </p:txBody>
      </p:sp>
      <p:sp>
        <p:nvSpPr>
          <p:cNvPr id="6" name="c3-shape-217">
            <a:extLst xmlns:a="http://schemas.openxmlformats.org/drawingml/2006/main">
              <a:ext uri="{FF2B5EF4-FFF2-40B4-BE49-F238E27FC236}">
                <a16:creationId xmlns:a16="http://schemas.microsoft.com/office/drawing/2014/main" id="{FA62101D-5697-4D82-8C9B-68580C49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14500"/>
            <a:ext cx="25908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e7c67fecb4277"/>
          <a:stretch xmlns:a="http://schemas.openxmlformats.org/drawingml/2006/main"/>
        </p:blipFill>
        <p:spPr>
          <a:xfrm xmlns:a="http://schemas.openxmlformats.org/drawingml/2006/main">
            <a:off x="6111949" y="1866900"/>
            <a:ext cx="2254102" cy="2286000"/>
          </a:xfrm>
          <a:prstGeom xmlns:a="http://schemas.openxmlformats.org/drawingml/2006/main" prst="rect">
            <a:avLst/>
          </a:prstGeom>
        </p:spPr>
      </p:pic>
      <p:sp>
        <p:nvSpPr>
          <p:cNvPr id="8" name="c3-text-218">
            <a:hlinkClick xmlns:r="http://schemas.openxmlformats.org/officeDocument/2006/relationships" xmlns:a="http://schemas.openxmlformats.org/drawingml/2006/main" r:id="Rb45b2897b794418f"/>
            <a:extLst xmlns:a="http://schemas.openxmlformats.org/drawingml/2006/main">
              <a:ext uri="{FF2B5EF4-FFF2-40B4-BE49-F238E27FC236}">
                <a16:creationId xmlns:a16="http://schemas.microsoft.com/office/drawing/2014/main" id="{E1E2494A-DD4E-4AF1-B7EA-BFA92AC9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the feedback questionnaire</a:t>
            </a:r>
          </a:p>
        </p:txBody>
      </p:sp>
      <p:sp>
        <p:nvSpPr>
          <p:cNvPr id="9" name="c3-text-241">
            <a:extLst xmlns:a="http://schemas.openxmlformats.org/drawingml/2006/main">
              <a:ext uri="{FF2B5EF4-FFF2-40B4-BE49-F238E27FC236}">
                <a16:creationId xmlns:a16="http://schemas.microsoft.com/office/drawing/2014/main" id="{A51FC05A-C29D-4934-974D-E36726E4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3824305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2026-10-30T14:00:04.2660000Z</dcterms:created>
  <dcterms:modified xsi:type="dcterms:W3CDTF">2026-10-30T14:00:04.2660000Z</dcterms:modified>
</coreProperties>
</file>