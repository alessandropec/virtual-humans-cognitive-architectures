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jpeg" ContentType="image/jpeg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f4d0daaee04161" /><Relationship Type="http://schemas.openxmlformats.org/officeDocument/2006/relationships/extended-properties" Target="/docProps/app.xml" Id="R9cff5e7a1f884cee" /><Relationship Type="http://schemas.openxmlformats.org/officeDocument/2006/relationships/officeDocument" Target="/ppt/presentation.xml" Id="R3f2f7301cb91447b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8872af8088914fb8"/>
  </ns0:sldMasterIdLst>
  <ns0:sldIdLst>
    <ns0:sldId id="256" ns1:id="Rc261ca18de704256"/>
    <ns0:sldId id="257" ns1:id="Rb7e334914fbb4a28"/>
    <ns0:sldId id="258" ns1:id="R2dee6fbd97834a22"/>
    <ns0:sldId id="259" ns1:id="Rc411b1113e8a42eb"/>
    <ns0:sldId id="260" ns1:id="Rcf37dc0093b4412f"/>
    <ns0:sldId id="261" ns1:id="Re0e99df00b074aae"/>
    <ns0:sldId id="262" ns1:id="R6f67aaa6c1614860"/>
    <ns0:sldId id="263" ns1:id="R239b86f153d7492f"/>
    <ns0:sldId id="264" ns1:id="R9db8828bae834c66"/>
    <ns0:sldId id="265" ns1:id="R8287c54da26247cc"/>
    <ns0:sldId id="266" ns1:id="Re12d22ec45024c8b"/>
    <ns0:sldId id="267" ns1:id="R50f6afd2da564851"/>
    <ns0:sldId id="268" ns1:id="R6443969897184fc0"/>
    <ns0:sldId id="269" ns1:id="R013471c8506541d0"/>
    <ns0:sldId id="270" ns1:id="R000b561f2a004cd0"/>
    <ns0:sldId id="271" ns1:id="Rb302528566a64c13"/>
    <ns0:sldId id="272" ns1:id="Ra9c791d28a8547ad"/>
    <ns0:sldId id="273" ns1:id="R3fa0c59b0f6544e2"/>
    <ns0:sldId id="274" ns1:id="Re58f57d0619b4a87"/>
    <ns0:sldId id="275" ns1:id="R91be10cdbcd0475a"/>
    <ns0:sldId id="276" ns1:id="R998df8b9f1da41bb"/>
  </ns0:sldIdLst>
  <ns0:sldSz cx="9144000" cy="51435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38c914c9ed124d53" /><ns0:Relationship Type="http://schemas.openxmlformats.org/officeDocument/2006/relationships/slideMaster" Target="/ppt/slideMasters/slideMaster1.xml" Id="R8872af8088914fb8" /><ns0:Relationship Type="http://schemas.openxmlformats.org/officeDocument/2006/relationships/presProps" Target="/ppt/presProps.xml" Id="Ref6fd55bd7eb4fc8" /><ns0:Relationship Type="http://schemas.openxmlformats.org/officeDocument/2006/relationships/viewProps" Target="/ppt/viewProps.xml" Id="Rb98e17939ffc48be" /><ns0:Relationship Type="http://schemas.openxmlformats.org/officeDocument/2006/relationships/tableStyles" Target="/ppt/tableStyles.xml" Id="R2e9fc9e851664d71" /><ns0:Relationship Type="http://schemas.openxmlformats.org/officeDocument/2006/relationships/slide" Target="/ppt/slides/slide1.xml" Id="Rc261ca18de704256" /><ns0:Relationship Type="http://schemas.openxmlformats.org/officeDocument/2006/relationships/slide" Target="/ppt/slides/slide2.xml" Id="Rb7e334914fbb4a28" /><ns0:Relationship Type="http://schemas.openxmlformats.org/officeDocument/2006/relationships/slide" Target="/ppt/slides/slide3.xml" Id="R2dee6fbd97834a22" /><ns0:Relationship Type="http://schemas.openxmlformats.org/officeDocument/2006/relationships/slide" Target="/ppt/slides/slide4.xml" Id="Rc411b1113e8a42eb" /><ns0:Relationship Type="http://schemas.openxmlformats.org/officeDocument/2006/relationships/slide" Target="/ppt/slides/slide5.xml" Id="Rcf37dc0093b4412f" /><ns0:Relationship Type="http://schemas.openxmlformats.org/officeDocument/2006/relationships/slide" Target="/ppt/slides/slide6.xml" Id="Re0e99df00b074aae" /><ns0:Relationship Type="http://schemas.openxmlformats.org/officeDocument/2006/relationships/slide" Target="/ppt/slides/slide7.xml" Id="R6f67aaa6c1614860" /><ns0:Relationship Type="http://schemas.openxmlformats.org/officeDocument/2006/relationships/slide" Target="/ppt/slides/slide8.xml" Id="R239b86f153d7492f" /><ns0:Relationship Type="http://schemas.openxmlformats.org/officeDocument/2006/relationships/slide" Target="/ppt/slides/slide9.xml" Id="R9db8828bae834c66" /><ns0:Relationship Type="http://schemas.openxmlformats.org/officeDocument/2006/relationships/slide" Target="/ppt/slides/slide10.xml" Id="R8287c54da26247cc" /><ns0:Relationship Type="http://schemas.openxmlformats.org/officeDocument/2006/relationships/slide" Target="/ppt/slides/slide11.xml" Id="Re12d22ec45024c8b" /><ns0:Relationship Type="http://schemas.openxmlformats.org/officeDocument/2006/relationships/slide" Target="/ppt/slides/slide12.xml" Id="R50f6afd2da564851" /><ns0:Relationship Type="http://schemas.openxmlformats.org/officeDocument/2006/relationships/slide" Target="/ppt/slides/slide13.xml" Id="R6443969897184fc0" /><ns0:Relationship Type="http://schemas.openxmlformats.org/officeDocument/2006/relationships/slide" Target="/ppt/slides/slide14.xml" Id="R013471c8506541d0" /><ns0:Relationship Type="http://schemas.openxmlformats.org/officeDocument/2006/relationships/slide" Target="/ppt/slides/slide15.xml" Id="R000b561f2a004cd0" /><ns0:Relationship Type="http://schemas.openxmlformats.org/officeDocument/2006/relationships/slide" Target="/ppt/slides/slide16.xml" Id="Rb302528566a64c13" /><ns0:Relationship Type="http://schemas.openxmlformats.org/officeDocument/2006/relationships/slide" Target="/ppt/slides/slide17.xml" Id="Ra9c791d28a8547ad" /><ns0:Relationship Type="http://schemas.openxmlformats.org/officeDocument/2006/relationships/slide" Target="/ppt/slides/slide18.xml" Id="R3fa0c59b0f6544e2" /><ns0:Relationship Type="http://schemas.openxmlformats.org/officeDocument/2006/relationships/slide" Target="/ppt/slides/slide19.xml" Id="Re58f57d0619b4a87" /><ns0:Relationship Type="http://schemas.openxmlformats.org/officeDocument/2006/relationships/slide" Target="/ppt/slides/slide20.xml" Id="R91be10cdbcd0475a" /><ns0:Relationship Type="http://schemas.openxmlformats.org/officeDocument/2006/relationships/slide" Target="/ppt/slides/slide21.xml" Id="R998df8b9f1da41bb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9838c23c649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3897d75a748ea" /><Relationship Type="http://schemas.openxmlformats.org/officeDocument/2006/relationships/image" Target="/ppt/media/image.jpeg" Id="R78fba61eecfc4c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ff8bcf0884b25" /><Relationship Type="http://schemas.openxmlformats.org/officeDocument/2006/relationships/image" Target="/ppt/media/image.png" Id="Rbc91df21a2294a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fc7afd21b45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87c0e85e348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a0532b42f4d3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88f71298342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93acea13d43d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ba61eecfc4c2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5FC7451-64D3-4CB8-9AA0-48C8D9DA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DF34BA1-73E7-4752-8D70-4FEFC7FA2B5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_P2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1df21a2294a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79BB4D8-5B9D-4F65-BBDB-8D681C9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3FC60A-EA91-4AC7-BC18-270D3086658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SECTION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660B54-203F-42EC-A5A3-F2DC5C9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C66AC75-C800-41C1-BA5A-9761923D22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450B48-B37E-42BD-8A40-552BD5F2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5E3C3A-CD83-4BD1-8F19-7D30E26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ACBE0D7-4493-47F3-A3B0-8926F89D6A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CONTENT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AF5B2E-D90D-402D-998C-27509820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VIRTUAL HUMANS FOUNDATIONS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270CFE-C9FB-4344-8B2C-6929100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9532946-C1F9-48AE-995E-50C10B8428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CODE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CB2DEA-1F6F-40AE-B1E2-0531D34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HANDS-ON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CA723F-1C94-47D6-8CBD-26D7934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2A5C3D1-AC51-4DA6-AEE4-466D7F7C1D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STATEM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0ACBF4-7074-4ED0-A09E-3755A1A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1A20153-E490-422E-8D29-B810FEAC614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055f09aa9e488a" /><Relationship Type="http://schemas.openxmlformats.org/officeDocument/2006/relationships/slideLayout" Target="/ppt/slideLayouts/slideLayout1.xml" Id="R08f13d997c9844b5" /><Relationship Type="http://schemas.openxmlformats.org/officeDocument/2006/relationships/slideLayout" Target="/ppt/slideLayouts/slideLayout2.xml" Id="Rfc2baa205cc74366" /><Relationship Type="http://schemas.openxmlformats.org/officeDocument/2006/relationships/slideLayout" Target="/ppt/slideLayouts/slideLayout3.xml" Id="R9423b3797bd54b09" /><Relationship Type="http://schemas.openxmlformats.org/officeDocument/2006/relationships/slideLayout" Target="/ppt/slideLayouts/slideLayout4.xml" Id="Rc1e42e7d35874deb" /><Relationship Type="http://schemas.openxmlformats.org/officeDocument/2006/relationships/slideLayout" Target="/ppt/slideLayouts/slideLayout5.xml" Id="Rd914c71c55b144ed" /><Relationship Type="http://schemas.openxmlformats.org/officeDocument/2006/relationships/slideLayout" Target="/ppt/slideLayouts/slideLayout6.xml" Id="R61a93b8215dd4f58" /><Relationship Type="http://schemas.openxmlformats.org/officeDocument/2006/relationships/slideLayout" Target="/ppt/slideLayouts/slideLayout7.xml" Id="Rc4af5ae3b7df4b4d" /><Relationship Type="http://schemas.openxmlformats.org/officeDocument/2006/relationships/slideLayout" Target="/ppt/slideLayouts/slideLayout8.xml" Id="Rf9a770b62ecf49e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F40BB06-55D8-4F61-8DB4-8F5ED2A813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>
                <a:solidFill>
                  <a:srgbClr val="FFFFFF"/>
                </a:solidFill>
              </a:rPr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f13d997c9844b5"/>
    <p:sldLayoutId xmlns:r="http://schemas.openxmlformats.org/officeDocument/2006/relationships" id="2147483650" r:id="Rfc2baa205cc74366"/>
    <p:sldLayoutId xmlns:r="http://schemas.openxmlformats.org/officeDocument/2006/relationships" id="2147483651" r:id="R9423b3797bd54b09"/>
    <p:sldLayoutId xmlns:r="http://schemas.openxmlformats.org/officeDocument/2006/relationships" id="2147483652" r:id="Rc1e42e7d35874deb"/>
    <p:sldLayoutId xmlns:r="http://schemas.openxmlformats.org/officeDocument/2006/relationships" id="2147483653" r:id="Rd914c71c55b144ed"/>
    <p:sldLayoutId xmlns:r="http://schemas.openxmlformats.org/officeDocument/2006/relationships" id="2147483654" r:id="R61a93b8215dd4f58"/>
    <p:sldLayoutId xmlns:r="http://schemas.openxmlformats.org/officeDocument/2006/relationships" id="2147483655" r:id="Rc4af5ae3b7df4b4d"/>
    <p:sldLayoutId xmlns:r="http://schemas.openxmlformats.org/officeDocument/2006/relationships" id="2147483656" r:id="Rf9a770b62ecf49e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3.xml" Id="R7d72e13130e44240" /><ns0:Relationship Type="http://schemas.openxmlformats.org/officeDocument/2006/relationships/image" Target="/ppt/media/image2.png" Id="R3f21c001e18e452f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4f4dc72ff254149" /><ns0:Relationship Type="http://schemas.openxmlformats.org/officeDocument/2006/relationships/image" Target="/ppt/media/image3.png" Id="R7c981504bc2440d3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2fa898a392849b3" /><ns0:Relationship Type="http://schemas.openxmlformats.org/officeDocument/2006/relationships/image" Target="/ppt/media/image4.png" Id="Rb33183579dbf42ce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1f7424ac5b54d07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358d6a340f84bb8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99b029ffa6842d7" /><ns0:Relationship Type="http://schemas.openxmlformats.org/officeDocument/2006/relationships/image" Target="/ppt/media/image5.png" Id="R4930cf538126422a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4010937dc194dfe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84b5505eb46468b" /><ns0:Relationship Type="http://schemas.openxmlformats.org/officeDocument/2006/relationships/hyperlink" Target="https://ig.ft.com/generative-ai/" TargetMode="External" Id="Raf7ba4703717491b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36fca94348e4aff" /><ns0:Relationship Type="http://schemas.openxmlformats.org/officeDocument/2006/relationships/hyperlink" Target="https://kahoot.it/" TargetMode="External" Id="R72d61a834e1a4401" /><ns0:Relationship Type="http://schemas.openxmlformats.org/officeDocument/2006/relationships/image" Target="/ppt/media/image6.png" Id="R9016b34f78bd46ff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75cc7b761304c27" /><ns0:Relationship Type="http://schemas.openxmlformats.org/officeDocument/2006/relationships/image" Target="/ppt/media/image7.png" Id="R4c19a17dbf49425f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b23162c70ed4c7b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0c6d0976d864e5c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558d4d62440451c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6dcf4f472a3410a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963ae2245264801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e01689823cc4cf8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cdbf7f2de134486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cbc41e282784644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47b24af69604a7c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72a4219b1cd42aa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2b45dfef41840cd" /><ns0:Relationship Type="http://schemas.openxmlformats.org/officeDocument/2006/relationships/hyperlink" Target="https://arxiv.org/abs/1706.03762" TargetMode="External" Id="Rbb310e05aa524dc4" /><ns0:Relationship Type="http://schemas.openxmlformats.org/officeDocument/2006/relationships/hyperlink" Target="https://cdn.openai.com/better-language-models/language-models.pdf" TargetMode="External" Id="R26056e7789794660" /><ns0:Relationship Type="http://schemas.openxmlformats.org/officeDocument/2006/relationships/hyperlink" Target="https://cdn.openai.com/better-language-models/language-models.pdf" TargetMode="External" Id="R9f984b400ce345d6" /><ns0:Relationship Type="http://schemas.openxmlformats.org/officeDocument/2006/relationships/hyperlink" Target="https://arxiv.org/abs/2001.08361" TargetMode="External" Id="R80a5733193134593" /><ns0:Relationship Type="http://schemas.openxmlformats.org/officeDocument/2006/relationships/hyperlink" Target="https://arxiv.org/abs/2005.14165" TargetMode="External" Id="Re242ce43df05457e" /><ns0:Relationship Type="http://schemas.openxmlformats.org/officeDocument/2006/relationships/hyperlink" Target="https://ig.ft.com/generative-ai/" TargetMode="External" Id="Ra73bc64ab0bc4c2c" /><ns0:Relationship Type="http://schemas.openxmlformats.org/officeDocument/2006/relationships/hyperlink" Target="https://ig.ft.com/generative-ai/" TargetMode="External" Id="R0e4852a9f74d4e84" /><ns0:Relationship Type="http://schemas.openxmlformats.org/officeDocument/2006/relationships/hyperlink" Target="https://arxiv.org/abs/2301.00234" TargetMode="External" Id="R0ccde03e1b8c46c0" /><ns0:Relationship Type="http://schemas.openxmlformats.org/officeDocument/2006/relationships/hyperlink" Target="https://arxiv.org/abs/2203.02155" TargetMode="External" Id="R4d167182caa84a7d" /><ns0:Relationship Type="http://schemas.openxmlformats.org/officeDocument/2006/relationships/hyperlink" Target="https://arxiv.org/abs/2203.02155" TargetMode="External" Id="R1978d2e8a6f948af" /><ns0:Relationship Type="http://schemas.openxmlformats.org/officeDocument/2006/relationships/hyperlink" Target="https://arxiv.org/abs/2309.02427" TargetMode="External" Id="R9db4aa6748664c3f" /><ns0:Relationship Type="http://schemas.openxmlformats.org/officeDocument/2006/relationships/hyperlink" Target="https://www.deeplearningbook.org/contents/intro.html" TargetMode="External" Id="Rf7c87aa987fa4242" /><ns0:Relationship Type="http://schemas.openxmlformats.org/officeDocument/2006/relationships/hyperlink" Target="https://arxiv.org/abs/2303.18223" TargetMode="External" Id="R498989b654ef4e17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3E2CA0-25C4-4FBC-91B7-70ECAD48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Alessandro Emmanuel Pecora · 29 October 2026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671F37A-9C3B-4F2D-951B-FB8AADDF2E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1c001e18e452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m0-text-1">
            <a:extLst xmlns:a="http://schemas.openxmlformats.org/drawingml/2006/main">
              <a:ext uri="{FF2B5EF4-FFF2-40B4-BE49-F238E27FC236}">
                <a16:creationId xmlns:a16="http://schemas.microsoft.com/office/drawing/2014/main" id="{42240BCB-CB11-468E-AB0E-9B00F39E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LLMs, Working Memory</a:t>
            </a:r>
          </a:p>
          <a:p xmlns:a="http://schemas.openxmlformats.org/drawingml/2006/main">
            <a:pPr>
              <a:buNone/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Prompting</a:t>
            </a:r>
          </a:p>
        </p:txBody>
      </p:sp>
      <p:sp>
        <p:nvSpPr>
          <p:cNvPr id="29" name="m1-text-266">
            <a:extLst xmlns:a="http://schemas.openxmlformats.org/drawingml/2006/main">
              <a:ext uri="{FF2B5EF4-FFF2-40B4-BE49-F238E27FC236}">
                <a16:creationId xmlns:a16="http://schemas.microsoft.com/office/drawing/2014/main" id="{3BB0F476-8304-4F09-BB14-952D406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1" name="c2-text-33">
            <a:extLst xmlns:a="http://schemas.openxmlformats.org/drawingml/2006/main">
              <a:ext uri="{FF2B5EF4-FFF2-40B4-BE49-F238E27FC236}">
                <a16:creationId xmlns:a16="http://schemas.microsoft.com/office/drawing/2014/main" id="{BDE23DF7-EB72-4801-8530-87C0CD0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3" name="c2-text-151">
            <a:extLst xmlns:a="http://schemas.openxmlformats.org/drawingml/2006/main">
              <a:ext uri="{FF2B5EF4-FFF2-40B4-BE49-F238E27FC236}">
                <a16:creationId xmlns:a16="http://schemas.microsoft.com/office/drawing/2014/main" id="{6AFF5EB8-9E72-4719-9542-1566CA7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c2-text-197">
            <a:extLst xmlns:a="http://schemas.openxmlformats.org/drawingml/2006/main">
              <a:ext uri="{FF2B5EF4-FFF2-40B4-BE49-F238E27FC236}">
                <a16:creationId xmlns:a16="http://schemas.microsoft.com/office/drawing/2014/main" id="{873E902F-219A-4954-B177-DD95547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7" name="c2-text-223">
            <a:extLst xmlns:a="http://schemas.openxmlformats.org/drawingml/2006/main">
              <a:ext uri="{FF2B5EF4-FFF2-40B4-BE49-F238E27FC236}">
                <a16:creationId xmlns:a16="http://schemas.microsoft.com/office/drawing/2014/main" id="{A305475C-F33A-453B-BD1E-35E07D3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9" name="c2-text-217">
            <a:extLst xmlns:a="http://schemas.openxmlformats.org/drawingml/2006/main">
              <a:ext uri="{FF2B5EF4-FFF2-40B4-BE49-F238E27FC236}">
                <a16:creationId xmlns:a16="http://schemas.microsoft.com/office/drawing/2014/main" id="{7B5494E3-495E-4E40-A97B-845CBC97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1" name="c2-text-198">
            <a:extLst xmlns:a="http://schemas.openxmlformats.org/drawingml/2006/main">
              <a:ext uri="{FF2B5EF4-FFF2-40B4-BE49-F238E27FC236}">
                <a16:creationId xmlns:a16="http://schemas.microsoft.com/office/drawing/2014/main" id="{70AC672E-C96B-41A3-B850-987365D0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" name="c2-text-211">
            <a:extLst xmlns:a="http://schemas.openxmlformats.org/drawingml/2006/main">
              <a:ext uri="{FF2B5EF4-FFF2-40B4-BE49-F238E27FC236}">
                <a16:creationId xmlns:a16="http://schemas.microsoft.com/office/drawing/2014/main" id="{DCB5F5CB-2D5B-422D-B5DF-6E628156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5" name="c2-text-220">
            <a:extLst xmlns:a="http://schemas.openxmlformats.org/drawingml/2006/main">
              <a:ext uri="{FF2B5EF4-FFF2-40B4-BE49-F238E27FC236}">
                <a16:creationId xmlns:a16="http://schemas.microsoft.com/office/drawing/2014/main" id="{E51B7192-FD18-487B-8BD5-C755440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7" name="c2-text-265">
            <a:extLst xmlns:a="http://schemas.openxmlformats.org/drawingml/2006/main">
              <a:ext uri="{FF2B5EF4-FFF2-40B4-BE49-F238E27FC236}">
                <a16:creationId xmlns:a16="http://schemas.microsoft.com/office/drawing/2014/main" id="{DDB11875-B60B-4CD9-87A5-5274469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c2-text-282">
            <a:extLst xmlns:a="http://schemas.openxmlformats.org/drawingml/2006/main">
              <a:ext uri="{FF2B5EF4-FFF2-40B4-BE49-F238E27FC236}">
                <a16:creationId xmlns:a16="http://schemas.microsoft.com/office/drawing/2014/main" id="{F5485890-4DD9-408B-B0E0-2577FD1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c2-text-275">
            <a:extLst xmlns:a="http://schemas.openxmlformats.org/drawingml/2006/main">
              <a:ext uri="{FF2B5EF4-FFF2-40B4-BE49-F238E27FC236}">
                <a16:creationId xmlns:a16="http://schemas.microsoft.com/office/drawing/2014/main" id="{2FADCB92-2930-4079-9725-B8A8EC75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48615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2-text-1">
            <a:extLst xmlns:a="http://schemas.openxmlformats.org/drawingml/2006/main">
              <a:ext uri="{FF2B5EF4-FFF2-40B4-BE49-F238E27FC236}">
                <a16:creationId xmlns:a16="http://schemas.microsoft.com/office/drawing/2014/main" id="{08AF58C7-C1C5-4C7B-9A73-AAD59524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2">
            <a:extLst xmlns:a="http://schemas.openxmlformats.org/drawingml/2006/main">
              <a:ext uri="{FF2B5EF4-FFF2-40B4-BE49-F238E27FC236}">
                <a16:creationId xmlns:a16="http://schemas.microsoft.com/office/drawing/2014/main" id="{9C2D0BDE-1387-41AA-80A6-F4731665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Deep Learning and LLMs [9] [10]</a:t>
            </a:r>
          </a:p>
        </p:txBody>
      </p:sp>
      <p:sp>
        <p:nvSpPr>
          <p:cNvPr id="3" name="c2-text-3">
            <a:extLst xmlns:a="http://schemas.openxmlformats.org/drawingml/2006/main">
              <a:ext uri="{FF2B5EF4-FFF2-40B4-BE49-F238E27FC236}">
                <a16:creationId xmlns:a16="http://schemas.microsoft.com/office/drawing/2014/main" id="{B55F6496-C234-43C0-9693-B421409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924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language engine inside our agent.</a:t>
            </a:r>
          </a:p>
        </p:txBody>
      </p:sp>
      <p:sp>
        <p:nvSpPr>
          <p:cNvPr id="4" name="c2-text-4">
            <a:extLst xmlns:a="http://schemas.openxmlformats.org/drawingml/2006/main">
              <a:ext uri="{FF2B5EF4-FFF2-40B4-BE49-F238E27FC236}">
                <a16:creationId xmlns:a16="http://schemas.microsoft.com/office/drawing/2014/main" id="{22A4D6D5-5139-4C08-8516-252EC76B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5" name="c2-shape-5">
            <a:extLst xmlns:a="http://schemas.openxmlformats.org/drawingml/2006/main">
              <a:ext uri="{FF2B5EF4-FFF2-40B4-BE49-F238E27FC236}">
                <a16:creationId xmlns:a16="http://schemas.microsoft.com/office/drawing/2014/main" id="{36A01722-A0A1-4BE4-87E1-561C8D08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953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6" name="c2-shape-6">
            <a:extLst xmlns:a="http://schemas.openxmlformats.org/drawingml/2006/main">
              <a:ext uri="{FF2B5EF4-FFF2-40B4-BE49-F238E27FC236}">
                <a16:creationId xmlns:a16="http://schemas.microsoft.com/office/drawing/2014/main" id="{BE3F4DC9-160F-4FFA-82D5-FA883EAE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7" name="c2-text-7">
            <a:extLst xmlns:a="http://schemas.openxmlformats.org/drawingml/2006/main">
              <a:ext uri="{FF2B5EF4-FFF2-40B4-BE49-F238E27FC236}">
                <a16:creationId xmlns:a16="http://schemas.microsoft.com/office/drawing/2014/main" id="{A6305DB7-97F6-4C9C-8E65-FF639148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Deep learning</a:t>
            </a:r>
          </a:p>
        </p:txBody>
      </p:sp>
      <p:sp>
        <p:nvSpPr>
          <p:cNvPr id="8" name="c2-text-8">
            <a:extLst xmlns:a="http://schemas.openxmlformats.org/drawingml/2006/main">
              <a:ext uri="{FF2B5EF4-FFF2-40B4-BE49-F238E27FC236}">
                <a16:creationId xmlns:a16="http://schemas.microsoft.com/office/drawing/2014/main" id="{D7893A85-15F3-40E7-9BD9-C20127D5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Neural networks learn patterns from data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through multiple layers.</a:t>
            </a:r>
          </a:p>
        </p:txBody>
      </p:sp>
      <p:sp>
        <p:nvSpPr>
          <p:cNvPr id="9" name="c2-shape-9">
            <a:extLst xmlns:a="http://schemas.openxmlformats.org/drawingml/2006/main">
              <a:ext uri="{FF2B5EF4-FFF2-40B4-BE49-F238E27FC236}">
                <a16:creationId xmlns:a16="http://schemas.microsoft.com/office/drawing/2014/main" id="{AA50AE2F-3361-404B-8ACB-0CCAF032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953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0" name="c2-shape-10">
            <a:extLst xmlns:a="http://schemas.openxmlformats.org/drawingml/2006/main">
              <a:ext uri="{FF2B5EF4-FFF2-40B4-BE49-F238E27FC236}">
                <a16:creationId xmlns:a16="http://schemas.microsoft.com/office/drawing/2014/main" id="{CF2B946D-7769-4BD6-BC8C-FBB91FD0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1" name="c2-text-11">
            <a:extLst xmlns:a="http://schemas.openxmlformats.org/drawingml/2006/main">
              <a:ext uri="{FF2B5EF4-FFF2-40B4-BE49-F238E27FC236}">
                <a16:creationId xmlns:a16="http://schemas.microsoft.com/office/drawing/2014/main" id="{966BE436-BA9D-4BAF-86C1-69E67626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Large Language Models (LLMs)</a:t>
            </a:r>
          </a:p>
        </p:txBody>
      </p:sp>
      <p:sp>
        <p:nvSpPr>
          <p:cNvPr id="12" name="c2-text-12">
            <a:extLst xmlns:a="http://schemas.openxmlformats.org/drawingml/2006/main">
              <a:ext uri="{FF2B5EF4-FFF2-40B4-BE49-F238E27FC236}">
                <a16:creationId xmlns:a16="http://schemas.microsoft.com/office/drawing/2014/main" id="{C4C7396F-9C2C-4B02-A1F0-C7421E4E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Deep-learning models trained on large amounts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of text to process and generate language.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81504bc2440d3"/>
          <a:stretch xmlns:a="http://schemas.openxmlformats.org/drawingml/2006/main"/>
        </p:blipFill>
        <p:spPr>
          <a:xfrm xmlns:a="http://schemas.openxmlformats.org/drawingml/2006/main">
            <a:off x="5943600" y="2376100"/>
            <a:ext cx="2590800" cy="1458100"/>
          </a:xfrm>
          <a:prstGeom xmlns:a="http://schemas.openxmlformats.org/drawingml/2006/main" prst="rect">
            <a:avLst/>
          </a:prstGeom>
        </p:spPr>
      </p:pic>
      <p:sp>
        <p:nvSpPr>
          <p:cNvPr id="14" name="c2-text-13">
            <a:extLst xmlns:a="http://schemas.openxmlformats.org/drawingml/2006/main">
              <a:ext uri="{FF2B5EF4-FFF2-40B4-BE49-F238E27FC236}">
                <a16:creationId xmlns:a16="http://schemas.microsoft.com/office/drawing/2014/main" id="{AF019703-2E4D-4CF6-ADF3-BBCD90FC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792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Where did these models come from?</a:t>
            </a:r>
          </a:p>
        </p:txBody>
      </p:sp>
      <p:sp>
        <p:nvSpPr>
          <p:cNvPr id="15" name="c2-text-276">
            <a:extLst xmlns:a="http://schemas.openxmlformats.org/drawingml/2006/main">
              <a:ext uri="{FF2B5EF4-FFF2-40B4-BE49-F238E27FC236}">
                <a16:creationId xmlns:a16="http://schemas.microsoft.com/office/drawing/2014/main" id="{972AEFBB-C6C0-4F88-A7B1-FC27E972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5431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2-text-14">
            <a:extLst xmlns:a="http://schemas.openxmlformats.org/drawingml/2006/main">
              <a:ext uri="{FF2B5EF4-FFF2-40B4-BE49-F238E27FC236}">
                <a16:creationId xmlns:a16="http://schemas.microsoft.com/office/drawing/2014/main" id="{9FF6032C-8BB0-40E8-BCD0-9727F335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15">
            <a:extLst xmlns:a="http://schemas.openxmlformats.org/drawingml/2006/main">
              <a:ext uri="{FF2B5EF4-FFF2-40B4-BE49-F238E27FC236}">
                <a16:creationId xmlns:a16="http://schemas.microsoft.com/office/drawing/2014/main" id="{6127E3E0-9308-47FE-8D10-BE05976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Attention Is All You Need [1]</a:t>
            </a:r>
          </a:p>
        </p:txBody>
      </p:sp>
      <p:sp>
        <p:nvSpPr>
          <p:cNvPr id="3" name="c2-text-16">
            <a:extLst xmlns:a="http://schemas.openxmlformats.org/drawingml/2006/main">
              <a:ext uri="{FF2B5EF4-FFF2-40B4-BE49-F238E27FC236}">
                <a16:creationId xmlns:a16="http://schemas.microsoft.com/office/drawing/2014/main" id="{CFFE963A-3B17-4916-8F22-03BFB547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17">
            <a:extLst xmlns:a="http://schemas.openxmlformats.org/drawingml/2006/main">
              <a:ext uri="{FF2B5EF4-FFF2-40B4-BE49-F238E27FC236}">
                <a16:creationId xmlns:a16="http://schemas.microsoft.com/office/drawing/2014/main" id="{03C9420B-8A9F-4ECD-95A3-35DE46BF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The Transformer (2017)</a:t>
            </a:r>
          </a:p>
        </p:txBody>
      </p:sp>
      <p:sp>
        <p:nvSpPr>
          <p:cNvPr id="5" name="c2-text-18">
            <a:extLst xmlns:a="http://schemas.openxmlformats.org/drawingml/2006/main">
              <a:ext uri="{FF2B5EF4-FFF2-40B4-BE49-F238E27FC236}">
                <a16:creationId xmlns:a16="http://schemas.microsoft.com/office/drawing/2014/main" id="{759E220C-BF22-4685-89CD-7254A40F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886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Vaswani et al. introduced a model that connects words using attention.</a:t>
            </a:r>
          </a:p>
        </p:txBody>
      </p:sp>
      <p:sp>
        <p:nvSpPr>
          <p:cNvPr id="6" name="c2-shape-19">
            <a:extLst xmlns:a="http://schemas.openxmlformats.org/drawingml/2006/main">
              <a:ext uri="{FF2B5EF4-FFF2-40B4-BE49-F238E27FC236}">
                <a16:creationId xmlns:a16="http://schemas.microsoft.com/office/drawing/2014/main" id="{2C4F4F1F-65EC-4BFB-855F-E9525BE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886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7" name="c2-shape-20">
            <a:extLst xmlns:a="http://schemas.openxmlformats.org/drawingml/2006/main">
              <a:ext uri="{FF2B5EF4-FFF2-40B4-BE49-F238E27FC236}">
                <a16:creationId xmlns:a16="http://schemas.microsoft.com/office/drawing/2014/main" id="{80D98206-BE9C-46A7-8F19-0936B0C0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8" name="c2-text-21">
            <a:extLst xmlns:a="http://schemas.openxmlformats.org/drawingml/2006/main">
              <a:ext uri="{FF2B5EF4-FFF2-40B4-BE49-F238E27FC236}">
                <a16:creationId xmlns:a16="http://schemas.microsoft.com/office/drawing/2014/main" id="{995BD64E-1053-4261-99B9-3618AA5C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350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Outcome</a:t>
            </a:r>
          </a:p>
        </p:txBody>
      </p:sp>
      <p:sp>
        <p:nvSpPr>
          <p:cNvPr id="9" name="c2-text-22">
            <a:extLst xmlns:a="http://schemas.openxmlformats.org/drawingml/2006/main">
              <a:ext uri="{FF2B5EF4-FFF2-40B4-BE49-F238E27FC236}">
                <a16:creationId xmlns:a16="http://schemas.microsoft.com/office/drawing/2014/main" id="{23722AFE-15CC-455D-AEF9-F02AF44B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505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Better translations with less time spent training.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183579dbf42ce"/>
          <a:stretch xmlns:a="http://schemas.openxmlformats.org/drawingml/2006/main"/>
        </p:blipFill>
        <p:spPr>
          <a:xfrm xmlns:a="http://schemas.openxmlformats.org/drawingml/2006/main">
            <a:off x="5648411" y="1352550"/>
            <a:ext cx="2114378" cy="3048000"/>
          </a:xfrm>
          <a:prstGeom xmlns:a="http://schemas.openxmlformats.org/drawingml/2006/main" prst="rect">
            <a:avLst/>
          </a:prstGeom>
        </p:spPr>
      </p:pic>
      <p:sp>
        <p:nvSpPr>
          <p:cNvPr id="11" name="c2-text-23">
            <a:extLst xmlns:a="http://schemas.openxmlformats.org/drawingml/2006/main">
              <a:ext uri="{FF2B5EF4-FFF2-40B4-BE49-F238E27FC236}">
                <a16:creationId xmlns:a16="http://schemas.microsoft.com/office/drawing/2014/main" id="{FCE5D73E-813C-4EDA-BDE9-B7908270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48175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Figure 1 - The Transformer</a:t>
            </a:r>
          </a:p>
        </p:txBody>
      </p:sp>
      <p:sp>
        <p:nvSpPr>
          <p:cNvPr id="12" name="c2-text-277">
            <a:extLst xmlns:a="http://schemas.openxmlformats.org/drawingml/2006/main">
              <a:ext uri="{FF2B5EF4-FFF2-40B4-BE49-F238E27FC236}">
                <a16:creationId xmlns:a16="http://schemas.microsoft.com/office/drawing/2014/main" id="{0DD8CDE0-38E5-41E2-B3A2-DCFF4364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87902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2-text-24">
            <a:extLst xmlns:a="http://schemas.openxmlformats.org/drawingml/2006/main">
              <a:ext uri="{FF2B5EF4-FFF2-40B4-BE49-F238E27FC236}">
                <a16:creationId xmlns:a16="http://schemas.microsoft.com/office/drawing/2014/main" id="{1813B7C0-E74B-4BEB-8B8D-509E9F8F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25">
            <a:extLst xmlns:a="http://schemas.openxmlformats.org/drawingml/2006/main">
              <a:ext uri="{FF2B5EF4-FFF2-40B4-BE49-F238E27FC236}">
                <a16:creationId xmlns:a16="http://schemas.microsoft.com/office/drawing/2014/main" id="{13518FCB-5043-4F2D-AC65-AE3A9986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GPT-2: Text Completion [2]</a:t>
            </a:r>
          </a:p>
        </p:txBody>
      </p:sp>
      <p:sp>
        <p:nvSpPr>
          <p:cNvPr id="3" name="c2-text-26">
            <a:extLst xmlns:a="http://schemas.openxmlformats.org/drawingml/2006/main">
              <a:ext uri="{FF2B5EF4-FFF2-40B4-BE49-F238E27FC236}">
                <a16:creationId xmlns:a16="http://schemas.microsoft.com/office/drawing/2014/main" id="{1315C4FA-374B-4858-B766-897EAB39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27">
            <a:extLst xmlns:a="http://schemas.openxmlformats.org/drawingml/2006/main">
              <a:ext uri="{FF2B5EF4-FFF2-40B4-BE49-F238E27FC236}">
                <a16:creationId xmlns:a16="http://schemas.microsoft.com/office/drawing/2014/main" id="{3F1233F3-78CC-4EC4-8371-8C89AE0D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OpenAI (2019), 1.5B parameters</a:t>
            </a:r>
          </a:p>
        </p:txBody>
      </p:sp>
      <p:sp>
        <p:nvSpPr>
          <p:cNvPr id="5" name="c2-text-28">
            <a:extLst xmlns:a="http://schemas.openxmlformats.org/drawingml/2006/main">
              <a:ext uri="{FF2B5EF4-FFF2-40B4-BE49-F238E27FC236}">
                <a16:creationId xmlns:a16="http://schemas.microsoft.com/office/drawing/2014/main" id="{AD9B0669-2889-4222-90D1-563D2EB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886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Predict the next token,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then repeat to continue the text.</a:t>
            </a:r>
          </a:p>
        </p:txBody>
      </p:sp>
      <p:sp>
        <p:nvSpPr>
          <p:cNvPr id="6" name="c2-shape-29">
            <a:extLst xmlns:a="http://schemas.openxmlformats.org/drawingml/2006/main">
              <a:ext uri="{FF2B5EF4-FFF2-40B4-BE49-F238E27FC236}">
                <a16:creationId xmlns:a16="http://schemas.microsoft.com/office/drawing/2014/main" id="{9AF177C4-0BD3-4732-8AE7-0C174254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886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7" name="c2-shape-30">
            <a:extLst xmlns:a="http://schemas.openxmlformats.org/drawingml/2006/main">
              <a:ext uri="{FF2B5EF4-FFF2-40B4-BE49-F238E27FC236}">
                <a16:creationId xmlns:a16="http://schemas.microsoft.com/office/drawing/2014/main" id="{64B43C83-248B-4996-9505-806D48E3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8" name="c2-text-31">
            <a:extLst xmlns:a="http://schemas.openxmlformats.org/drawingml/2006/main">
              <a:ext uri="{FF2B5EF4-FFF2-40B4-BE49-F238E27FC236}">
                <a16:creationId xmlns:a16="http://schemas.microsoft.com/office/drawing/2014/main" id="{B8DF7999-F94B-4DAD-B5E2-736D3AA4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350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Outcome</a:t>
            </a:r>
          </a:p>
        </p:txBody>
      </p:sp>
      <p:sp>
        <p:nvSpPr>
          <p:cNvPr id="9" name="c2-text-32">
            <a:extLst xmlns:a="http://schemas.openxmlformats.org/drawingml/2006/main">
              <a:ext uri="{FF2B5EF4-FFF2-40B4-BE49-F238E27FC236}">
                <a16:creationId xmlns:a16="http://schemas.microsoft.com/office/drawing/2014/main" id="{A8C907AB-7AAD-47CA-AC0E-8BC23F9E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505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Coherent paragraphs, with errors and repetition still possible.</a:t>
            </a:r>
          </a:p>
        </p:txBody>
      </p:sp>
      <p:sp>
        <p:nvSpPr>
          <p:cNvPr id="10" name="c2-shape-33">
            <a:extLst xmlns:a="http://schemas.openxmlformats.org/drawingml/2006/main">
              <a:ext uri="{FF2B5EF4-FFF2-40B4-BE49-F238E27FC236}">
                <a16:creationId xmlns:a16="http://schemas.microsoft.com/office/drawing/2014/main" id="{ED73E47F-64FC-4ECC-A5E7-54FD0A37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76450"/>
            <a:ext cx="369570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1" name="c2-text-34">
            <a:extLst xmlns:a="http://schemas.openxmlformats.org/drawingml/2006/main">
              <a:ext uri="{FF2B5EF4-FFF2-40B4-BE49-F238E27FC236}">
                <a16:creationId xmlns:a16="http://schemas.microsoft.com/office/drawing/2014/main" id="{1EEA3637-D744-4B35-B117-01A49975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12" name="c2-text-35">
            <a:extLst xmlns:a="http://schemas.openxmlformats.org/drawingml/2006/main">
              <a:ext uri="{FF2B5EF4-FFF2-40B4-BE49-F238E27FC236}">
                <a16:creationId xmlns:a16="http://schemas.microsoft.com/office/drawing/2014/main" id="{C67A0003-63A0-40E2-BF23-064B739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cat sat on the</a:t>
            </a:r>
          </a:p>
        </p:txBody>
      </p:sp>
      <p:sp>
        <p:nvSpPr>
          <p:cNvPr id="13" name="c2-shape-36">
            <a:extLst xmlns:a="http://schemas.openxmlformats.org/drawingml/2006/main">
              <a:ext uri="{FF2B5EF4-FFF2-40B4-BE49-F238E27FC236}">
                <a16:creationId xmlns:a16="http://schemas.microsoft.com/office/drawing/2014/main" id="{85EE704F-2C5F-41D5-AD68-15F0B5B2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71825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4" name="c2-text-37">
            <a:extLst xmlns:a="http://schemas.openxmlformats.org/drawingml/2006/main">
              <a:ext uri="{FF2B5EF4-FFF2-40B4-BE49-F238E27FC236}">
                <a16:creationId xmlns:a16="http://schemas.microsoft.com/office/drawing/2014/main" id="{790DDCF7-1B89-413B-AFEF-535190E3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147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Possible continuation</a:t>
            </a:r>
          </a:p>
        </p:txBody>
      </p:sp>
      <p:sp>
        <p:nvSpPr>
          <p:cNvPr id="15" name="c2-text-38">
            <a:extLst xmlns:a="http://schemas.openxmlformats.org/drawingml/2006/main">
              <a:ext uri="{FF2B5EF4-FFF2-40B4-BE49-F238E27FC236}">
                <a16:creationId xmlns:a16="http://schemas.microsoft.com/office/drawing/2014/main" id="{0E31588B-13B4-48DC-92C6-1369A3EA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86175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mat and fell asleep.</a:t>
            </a:r>
          </a:p>
        </p:txBody>
      </p:sp>
      <p:sp>
        <p:nvSpPr>
          <p:cNvPr id="16" name="c2-text-39">
            <a:extLst xmlns:a="http://schemas.openxmlformats.org/drawingml/2006/main">
              <a:ext uri="{FF2B5EF4-FFF2-40B4-BE49-F238E27FC236}">
                <a16:creationId xmlns:a16="http://schemas.microsoft.com/office/drawing/2014/main" id="{EAB89175-DA6B-48AE-B9D6-2D8FE691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29125"/>
            <a:ext cx="3695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Illustrative example</a:t>
            </a:r>
          </a:p>
        </p:txBody>
      </p:sp>
      <p:sp>
        <p:nvSpPr>
          <p:cNvPr id="17" name="c2-text-278">
            <a:extLst xmlns:a="http://schemas.openxmlformats.org/drawingml/2006/main">
              <a:ext uri="{FF2B5EF4-FFF2-40B4-BE49-F238E27FC236}">
                <a16:creationId xmlns:a16="http://schemas.microsoft.com/office/drawing/2014/main" id="{0CF4F69F-9EDA-4D3D-AE9A-8B74776D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59832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2-text-40">
            <a:extLst xmlns:a="http://schemas.openxmlformats.org/drawingml/2006/main">
              <a:ext uri="{FF2B5EF4-FFF2-40B4-BE49-F238E27FC236}">
                <a16:creationId xmlns:a16="http://schemas.microsoft.com/office/drawing/2014/main" id="{9D5F6FEC-0CA1-4279-BB90-8FE91F60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41">
            <a:extLst xmlns:a="http://schemas.openxmlformats.org/drawingml/2006/main">
              <a:ext uri="{FF2B5EF4-FFF2-40B4-BE49-F238E27FC236}">
                <a16:creationId xmlns:a16="http://schemas.microsoft.com/office/drawing/2014/main" id="{8DBFA75F-D720-4571-88C5-8097949B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Scaling Laws for Neural Language Models [3]</a:t>
            </a:r>
          </a:p>
        </p:txBody>
      </p:sp>
      <p:sp>
        <p:nvSpPr>
          <p:cNvPr id="3" name="c2-text-42">
            <a:extLst xmlns:a="http://schemas.openxmlformats.org/drawingml/2006/main">
              <a:ext uri="{FF2B5EF4-FFF2-40B4-BE49-F238E27FC236}">
                <a16:creationId xmlns:a16="http://schemas.microsoft.com/office/drawing/2014/main" id="{3658A0E1-6D61-4D4E-B4DB-B445C300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43">
            <a:extLst xmlns:a="http://schemas.openxmlformats.org/drawingml/2006/main">
              <a:ext uri="{FF2B5EF4-FFF2-40B4-BE49-F238E27FC236}">
                <a16:creationId xmlns:a16="http://schemas.microsoft.com/office/drawing/2014/main" id="{E8F6095E-30F6-47EC-B2D1-C7B2D09F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Kaplan et al., January 2020</a:t>
            </a:r>
          </a:p>
        </p:txBody>
      </p:sp>
      <p:sp>
        <p:nvSpPr>
          <p:cNvPr id="5" name="c2-shape-44">
            <a:extLst xmlns:a="http://schemas.openxmlformats.org/drawingml/2006/main">
              <a:ext uri="{FF2B5EF4-FFF2-40B4-BE49-F238E27FC236}">
                <a16:creationId xmlns:a16="http://schemas.microsoft.com/office/drawing/2014/main" id="{CD169D6B-BCD6-439F-9642-3A5B7C28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792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6" name="c2-text-45">
            <a:extLst xmlns:a="http://schemas.openxmlformats.org/drawingml/2006/main">
              <a:ext uri="{FF2B5EF4-FFF2-40B4-BE49-F238E27FC236}">
                <a16:creationId xmlns:a16="http://schemas.microsoft.com/office/drawing/2014/main" id="{157156FB-A36C-4E51-9168-CFC3A420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7924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Size matters.</a:t>
            </a:r>
          </a:p>
        </p:txBody>
      </p:sp>
      <p:sp>
        <p:nvSpPr>
          <p:cNvPr id="7" name="c2-text-46">
            <a:extLst xmlns:a="http://schemas.openxmlformats.org/drawingml/2006/main">
              <a:ext uri="{FF2B5EF4-FFF2-40B4-BE49-F238E27FC236}">
                <a16:creationId xmlns:a16="http://schemas.microsoft.com/office/drawing/2014/main" id="{46261E40-0B32-49E2-B05B-9702110C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But what do we mean by bigger?</a:t>
            </a:r>
          </a:p>
        </p:txBody>
      </p:sp>
      <p:sp>
        <p:nvSpPr>
          <p:cNvPr id="8" name="c2-text-279">
            <a:extLst xmlns:a="http://schemas.openxmlformats.org/drawingml/2006/main">
              <a:ext uri="{FF2B5EF4-FFF2-40B4-BE49-F238E27FC236}">
                <a16:creationId xmlns:a16="http://schemas.microsoft.com/office/drawing/2014/main" id="{B2232F57-C049-45A9-870A-46D47471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87406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2-text-47">
            <a:extLst xmlns:a="http://schemas.openxmlformats.org/drawingml/2006/main">
              <a:ext uri="{FF2B5EF4-FFF2-40B4-BE49-F238E27FC236}">
                <a16:creationId xmlns:a16="http://schemas.microsoft.com/office/drawing/2014/main" id="{62EBCE92-1DCC-4663-9F1C-29648CE1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48">
            <a:extLst xmlns:a="http://schemas.openxmlformats.org/drawingml/2006/main">
              <a:ext uri="{FF2B5EF4-FFF2-40B4-BE49-F238E27FC236}">
                <a16:creationId xmlns:a16="http://schemas.microsoft.com/office/drawing/2014/main" id="{4D26639D-86DE-4819-B1D5-72671241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Scaling Laws for Neural Language Models [3]</a:t>
            </a:r>
          </a:p>
        </p:txBody>
      </p:sp>
      <p:sp>
        <p:nvSpPr>
          <p:cNvPr id="3" name="c2-text-49">
            <a:extLst xmlns:a="http://schemas.openxmlformats.org/drawingml/2006/main">
              <a:ext uri="{FF2B5EF4-FFF2-40B4-BE49-F238E27FC236}">
                <a16:creationId xmlns:a16="http://schemas.microsoft.com/office/drawing/2014/main" id="{29114D98-AA83-4F59-932B-080C005F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50">
            <a:extLst xmlns:a="http://schemas.openxmlformats.org/drawingml/2006/main">
              <a:ext uri="{FF2B5EF4-FFF2-40B4-BE49-F238E27FC236}">
                <a16:creationId xmlns:a16="http://schemas.microsoft.com/office/drawing/2014/main" id="{4DDAC687-AB3C-4617-B990-25C622AD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Bigger wins…</a:t>
            </a:r>
          </a:p>
        </p:txBody>
      </p:sp>
      <p:sp>
        <p:nvSpPr>
          <p:cNvPr id="5" name="c2-text-51">
            <a:extLst xmlns:a="http://schemas.openxmlformats.org/drawingml/2006/main">
              <a:ext uri="{FF2B5EF4-FFF2-40B4-BE49-F238E27FC236}">
                <a16:creationId xmlns:a16="http://schemas.microsoft.com/office/drawing/2014/main" id="{3D95A7D5-6F95-49FB-90BF-28FF6BCF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924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More data, training computation and model parameters.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0cf538126422a"/>
          <a:stretch xmlns:a="http://schemas.openxmlformats.org/drawingml/2006/main"/>
        </p:blipFill>
        <p:spPr>
          <a:xfrm xmlns:a="http://schemas.openxmlformats.org/drawingml/2006/main">
            <a:off x="1846529" y="2400300"/>
            <a:ext cx="5450942" cy="1704975"/>
          </a:xfrm>
          <a:prstGeom xmlns:a="http://schemas.openxmlformats.org/drawingml/2006/main" prst="rect">
            <a:avLst/>
          </a:prstGeom>
        </p:spPr>
      </p:pic>
      <p:sp>
        <p:nvSpPr>
          <p:cNvPr id="7" name="c2-shape-52">
            <a:extLst xmlns:a="http://schemas.openxmlformats.org/drawingml/2006/main">
              <a:ext uri="{FF2B5EF4-FFF2-40B4-BE49-F238E27FC236}">
                <a16:creationId xmlns:a16="http://schemas.microsoft.com/office/drawing/2014/main" id="{DB796DFE-F23A-4E78-8F2B-3ADB345E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79248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8" name="c2-text-53">
            <a:extLst xmlns:a="http://schemas.openxmlformats.org/drawingml/2006/main">
              <a:ext uri="{FF2B5EF4-FFF2-40B4-BE49-F238E27FC236}">
                <a16:creationId xmlns:a16="http://schemas.microsoft.com/office/drawing/2014/main" id="{35908983-9B15-4B29-803E-56354455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Outcome</a:t>
            </a:r>
          </a:p>
        </p:txBody>
      </p:sp>
      <p:sp>
        <p:nvSpPr>
          <p:cNvPr id="9" name="c2-text-54">
            <a:extLst xmlns:a="http://schemas.openxmlformats.org/drawingml/2006/main">
              <a:ext uri="{FF2B5EF4-FFF2-40B4-BE49-F238E27FC236}">
                <a16:creationId xmlns:a16="http://schemas.microsoft.com/office/drawing/2014/main" id="{6F23AECD-E335-4EDE-9561-DF08834A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24350"/>
            <a:ext cx="640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Lower prediction error as training resources increase.</a:t>
            </a:r>
          </a:p>
        </p:txBody>
      </p:sp>
      <p:sp>
        <p:nvSpPr>
          <p:cNvPr id="10" name="c2-text-280">
            <a:extLst xmlns:a="http://schemas.openxmlformats.org/drawingml/2006/main">
              <a:ext uri="{FF2B5EF4-FFF2-40B4-BE49-F238E27FC236}">
                <a16:creationId xmlns:a16="http://schemas.microsoft.com/office/drawing/2014/main" id="{993CEC3A-C1DB-49A3-83C2-871166C4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45245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2-text-55">
            <a:extLst xmlns:a="http://schemas.openxmlformats.org/drawingml/2006/main">
              <a:ext uri="{FF2B5EF4-FFF2-40B4-BE49-F238E27FC236}">
                <a16:creationId xmlns:a16="http://schemas.microsoft.com/office/drawing/2014/main" id="{77D153A2-78E6-443F-95C0-09B05AD0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56">
            <a:extLst xmlns:a="http://schemas.openxmlformats.org/drawingml/2006/main">
              <a:ext uri="{FF2B5EF4-FFF2-40B4-BE49-F238E27FC236}">
                <a16:creationId xmlns:a16="http://schemas.microsoft.com/office/drawing/2014/main" id="{6137499A-DDB1-4B20-985A-E7417266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GPT-3: Scaling Up [2] [4]</a:t>
            </a:r>
          </a:p>
        </p:txBody>
      </p:sp>
      <p:sp>
        <p:nvSpPr>
          <p:cNvPr id="3" name="c2-text-57">
            <a:extLst xmlns:a="http://schemas.openxmlformats.org/drawingml/2006/main">
              <a:ext uri="{FF2B5EF4-FFF2-40B4-BE49-F238E27FC236}">
                <a16:creationId xmlns:a16="http://schemas.microsoft.com/office/drawing/2014/main" id="{0FCE9F8A-1F43-4BC0-B99B-E3E682AE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58">
            <a:extLst xmlns:a="http://schemas.openxmlformats.org/drawingml/2006/main">
              <a:ext uri="{FF2B5EF4-FFF2-40B4-BE49-F238E27FC236}">
                <a16:creationId xmlns:a16="http://schemas.microsoft.com/office/drawing/2014/main" id="{4FE19DA2-78A2-4671-BF4F-A8224A61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OpenAI, May 2020</a:t>
            </a:r>
          </a:p>
        </p:txBody>
      </p:sp>
      <p:sp>
        <p:nvSpPr>
          <p:cNvPr id="5" name="c2-text-59">
            <a:extLst xmlns:a="http://schemas.openxmlformats.org/drawingml/2006/main">
              <a:ext uri="{FF2B5EF4-FFF2-40B4-BE49-F238E27FC236}">
                <a16:creationId xmlns:a16="http://schemas.microsoft.com/office/drawing/2014/main" id="{0BB1350C-2D6F-43FB-A425-346DBB1C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886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GPT-3 applied the scaling strategy</a:t>
            </a:r>
          </a:p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 a much larger language model.</a:t>
            </a:r>
          </a:p>
        </p:txBody>
      </p:sp>
      <p:sp>
        <p:nvSpPr>
          <p:cNvPr id="6" name="c2-shape-60">
            <a:extLst xmlns:a="http://schemas.openxmlformats.org/drawingml/2006/main">
              <a:ext uri="{FF2B5EF4-FFF2-40B4-BE49-F238E27FC236}">
                <a16:creationId xmlns:a16="http://schemas.microsoft.com/office/drawing/2014/main" id="{397A7C11-EF9B-48C4-9F04-5BC080A9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886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7" name="c2-shape-61">
            <a:extLst xmlns:a="http://schemas.openxmlformats.org/drawingml/2006/main">
              <a:ext uri="{FF2B5EF4-FFF2-40B4-BE49-F238E27FC236}">
                <a16:creationId xmlns:a16="http://schemas.microsoft.com/office/drawing/2014/main" id="{AE938E42-66DC-4DEF-98E1-4AADA9CD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8" name="c2-text-62">
            <a:extLst xmlns:a="http://schemas.openxmlformats.org/drawingml/2006/main">
              <a:ext uri="{FF2B5EF4-FFF2-40B4-BE49-F238E27FC236}">
                <a16:creationId xmlns:a16="http://schemas.microsoft.com/office/drawing/2014/main" id="{0218E3F5-9A9A-4124-9DEF-EC8CFC29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350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Outcome</a:t>
            </a:r>
          </a:p>
        </p:txBody>
      </p:sp>
      <p:sp>
        <p:nvSpPr>
          <p:cNvPr id="9" name="c2-text-63">
            <a:extLst xmlns:a="http://schemas.openxmlformats.org/drawingml/2006/main">
              <a:ext uri="{FF2B5EF4-FFF2-40B4-BE49-F238E27FC236}">
                <a16:creationId xmlns:a16="http://schemas.microsoft.com/office/drawing/2014/main" id="{DA34978A-8620-49E9-B266-C0A8F9EC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505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Stronger performance across many tasks using examples in the prompt.</a:t>
            </a:r>
          </a:p>
        </p:txBody>
      </p:sp>
      <p:sp>
        <p:nvSpPr>
          <p:cNvPr id="10" name="c2-shape-64">
            <a:extLst xmlns:a="http://schemas.openxmlformats.org/drawingml/2006/main">
              <a:ext uri="{FF2B5EF4-FFF2-40B4-BE49-F238E27FC236}">
                <a16:creationId xmlns:a16="http://schemas.microsoft.com/office/drawing/2014/main" id="{FBCBD027-BDA6-45CE-AB7B-F6A8BF22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76450"/>
            <a:ext cx="36957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1" name="c2-text-65">
            <a:extLst xmlns:a="http://schemas.openxmlformats.org/drawingml/2006/main">
              <a:ext uri="{FF2B5EF4-FFF2-40B4-BE49-F238E27FC236}">
                <a16:creationId xmlns:a16="http://schemas.microsoft.com/office/drawing/2014/main" id="{2142C263-F38C-4C36-9EF4-497B44CF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GPT-2 (2019)</a:t>
            </a:r>
          </a:p>
        </p:txBody>
      </p:sp>
      <p:sp>
        <p:nvSpPr>
          <p:cNvPr id="12" name="c2-text-66">
            <a:extLst xmlns:a="http://schemas.openxmlformats.org/drawingml/2006/main">
              <a:ext uri="{FF2B5EF4-FFF2-40B4-BE49-F238E27FC236}">
                <a16:creationId xmlns:a16="http://schemas.microsoft.com/office/drawing/2014/main" id="{91E4F996-38DA-45C4-992C-A01F8279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GPT-3 (2020)</a:t>
            </a:r>
          </a:p>
        </p:txBody>
      </p:sp>
      <p:sp>
        <p:nvSpPr>
          <p:cNvPr id="13" name="c2-text-67">
            <a:extLst xmlns:a="http://schemas.openxmlformats.org/drawingml/2006/main">
              <a:ext uri="{FF2B5EF4-FFF2-40B4-BE49-F238E27FC236}">
                <a16:creationId xmlns:a16="http://schemas.microsoft.com/office/drawing/2014/main" id="{1C9F91DC-AA44-40C5-905A-CE754348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860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1.5B</a:t>
            </a:r>
          </a:p>
        </p:txBody>
      </p:sp>
      <p:sp>
        <p:nvSpPr>
          <p:cNvPr id="14" name="c2-text-68">
            <a:extLst xmlns:a="http://schemas.openxmlformats.org/drawingml/2006/main">
              <a:ext uri="{FF2B5EF4-FFF2-40B4-BE49-F238E27FC236}">
                <a16:creationId xmlns:a16="http://schemas.microsoft.com/office/drawing/2014/main" id="{8901C33C-9F82-451D-99AA-C72ECA74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175B</a:t>
            </a:r>
          </a:p>
        </p:txBody>
      </p:sp>
      <p:sp>
        <p:nvSpPr>
          <p:cNvPr id="15" name="c2-text-69">
            <a:extLst xmlns:a="http://schemas.openxmlformats.org/drawingml/2006/main">
              <a:ext uri="{FF2B5EF4-FFF2-40B4-BE49-F238E27FC236}">
                <a16:creationId xmlns:a16="http://schemas.microsoft.com/office/drawing/2014/main" id="{823AEC7E-49C0-4B5C-BE23-77EF803F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242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parameters</a:t>
            </a:r>
          </a:p>
        </p:txBody>
      </p:sp>
      <p:sp>
        <p:nvSpPr>
          <p:cNvPr id="16" name="c2-text-70">
            <a:extLst xmlns:a="http://schemas.openxmlformats.org/drawingml/2006/main">
              <a:ext uri="{FF2B5EF4-FFF2-40B4-BE49-F238E27FC236}">
                <a16:creationId xmlns:a16="http://schemas.microsoft.com/office/drawing/2014/main" id="{13A39E25-0A64-42E8-AAA1-6725E8BA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242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parameters</a:t>
            </a:r>
          </a:p>
        </p:txBody>
      </p:sp>
      <p:sp>
        <p:nvSpPr>
          <p:cNvPr id="17" name="c2-shape-71">
            <a:extLst xmlns:a="http://schemas.openxmlformats.org/drawingml/2006/main">
              <a:ext uri="{FF2B5EF4-FFF2-40B4-BE49-F238E27FC236}">
                <a16:creationId xmlns:a16="http://schemas.microsoft.com/office/drawing/2014/main" id="{1967EC09-1F11-4CBA-A8DC-D546160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528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8" name="c2-text-72">
            <a:extLst xmlns:a="http://schemas.openxmlformats.org/drawingml/2006/main">
              <a:ext uri="{FF2B5EF4-FFF2-40B4-BE49-F238E27FC236}">
                <a16:creationId xmlns:a16="http://schemas.microsoft.com/office/drawing/2014/main" id="{BC35C0C7-5B82-43FB-AE45-3119FD06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62400"/>
            <a:ext cx="331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≈117× as many parameters</a:t>
            </a:r>
          </a:p>
        </p:txBody>
      </p:sp>
      <p:sp>
        <p:nvSpPr>
          <p:cNvPr id="19" name="c2-text-281">
            <a:extLst xmlns:a="http://schemas.openxmlformats.org/drawingml/2006/main">
              <a:ext uri="{FF2B5EF4-FFF2-40B4-BE49-F238E27FC236}">
                <a16:creationId xmlns:a16="http://schemas.microsoft.com/office/drawing/2014/main" id="{4562BBA6-C291-4374-97E4-9AFC8BA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53558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2-text-73">
            <a:extLst xmlns:a="http://schemas.openxmlformats.org/drawingml/2006/main">
              <a:ext uri="{FF2B5EF4-FFF2-40B4-BE49-F238E27FC236}">
                <a16:creationId xmlns:a16="http://schemas.microsoft.com/office/drawing/2014/main" id="{A90EBCDC-7653-41A0-89D3-CF2687DB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74">
            <a:extLst xmlns:a="http://schemas.openxmlformats.org/drawingml/2006/main">
              <a:ext uri="{FF2B5EF4-FFF2-40B4-BE49-F238E27FC236}">
                <a16:creationId xmlns:a16="http://schemas.microsoft.com/office/drawing/2014/main" id="{93AD6F40-C697-4D24-831C-D6967F3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Flipped Classroom</a:t>
            </a:r>
          </a:p>
        </p:txBody>
      </p:sp>
      <p:sp>
        <p:nvSpPr>
          <p:cNvPr id="3" name="c2-text-75">
            <a:extLst xmlns:a="http://schemas.openxmlformats.org/drawingml/2006/main">
              <a:ext uri="{FF2B5EF4-FFF2-40B4-BE49-F238E27FC236}">
                <a16:creationId xmlns:a16="http://schemas.microsoft.com/office/drawing/2014/main" id="{1A12D3B0-3B4A-48D2-973E-4AF7D83B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76">
            <a:extLst xmlns:a="http://schemas.openxmlformats.org/drawingml/2006/main">
              <a:ext uri="{FF2B5EF4-FFF2-40B4-BE49-F238E27FC236}">
                <a16:creationId xmlns:a16="http://schemas.microsoft.com/office/drawing/2014/main" id="{0AB0B4D6-A3B7-4734-AC7B-A62E33D4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Read, check your understanding, discuss</a:t>
            </a:r>
          </a:p>
        </p:txBody>
      </p:sp>
      <p:sp>
        <p:nvSpPr>
          <p:cNvPr id="5" name="c2-shape-77">
            <a:extLst xmlns:a="http://schemas.openxmlformats.org/drawingml/2006/main">
              <a:ext uri="{FF2B5EF4-FFF2-40B4-BE49-F238E27FC236}">
                <a16:creationId xmlns:a16="http://schemas.microsoft.com/office/drawing/2014/main" id="{722095F0-E376-4422-A2FF-9CC1270B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4005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6" name="c2-text-78">
            <a:extLst xmlns:a="http://schemas.openxmlformats.org/drawingml/2006/main">
              <a:ext uri="{FF2B5EF4-FFF2-40B4-BE49-F238E27FC236}">
                <a16:creationId xmlns:a16="http://schemas.microsoft.com/office/drawing/2014/main" id="{3359F215-4A4D-43C5-9B08-99528AF8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Financial Times (2023) [5]</a:t>
            </a:r>
          </a:p>
        </p:txBody>
      </p:sp>
      <p:sp>
        <p:nvSpPr>
          <p:cNvPr id="7" name="c2-text-79">
            <a:extLst xmlns:a="http://schemas.openxmlformats.org/drawingml/2006/main">
              <a:ext uri="{FF2B5EF4-FFF2-40B4-BE49-F238E27FC236}">
                <a16:creationId xmlns:a16="http://schemas.microsoft.com/office/drawing/2014/main" id="{E19A8FE4-7B03-4C2D-848F-57F3FA11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981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Generative AI exists because</a:t>
            </a:r>
          </a:p>
          <a:p xmlns:a="http://schemas.openxmlformats.org/drawingml/2006/main">
            <a:pPr>
              <a:defRPr sz="22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of the transformer</a:t>
            </a:r>
          </a:p>
        </p:txBody>
      </p:sp>
      <p:sp>
        <p:nvSpPr>
          <p:cNvPr id="8" name="c2-text-80">
            <a:hlinkClick xmlns:r="http://schemas.openxmlformats.org/officeDocument/2006/relationships" xmlns:a="http://schemas.openxmlformats.org/drawingml/2006/main" r:id="Raf7ba4703717491b"/>
            <a:extLst xmlns:a="http://schemas.openxmlformats.org/drawingml/2006/main">
              <a:ext uri="{FF2B5EF4-FFF2-40B4-BE49-F238E27FC236}">
                <a16:creationId xmlns:a16="http://schemas.microsoft.com/office/drawing/2014/main" id="{67D32DBF-5B1A-48C9-851C-FB903AD6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398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725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Open the interactive article</a:t>
            </a:r>
          </a:p>
        </p:txBody>
      </p:sp>
      <p:sp>
        <p:nvSpPr>
          <p:cNvPr id="9" name="c2-shape-81">
            <a:extLst xmlns:a="http://schemas.openxmlformats.org/drawingml/2006/main">
              <a:ext uri="{FF2B5EF4-FFF2-40B4-BE49-F238E27FC236}">
                <a16:creationId xmlns:a16="http://schemas.microsoft.com/office/drawing/2014/main" id="{9834445A-3764-4B74-8BC9-08E202E7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76450"/>
            <a:ext cx="32575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0" name="c2-shape-82">
            <a:extLst xmlns:a="http://schemas.openxmlformats.org/drawingml/2006/main">
              <a:ext uri="{FF2B5EF4-FFF2-40B4-BE49-F238E27FC236}">
                <a16:creationId xmlns:a16="http://schemas.microsoft.com/office/drawing/2014/main" id="{B24E0B85-72B7-4150-9519-72D257DD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3837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11" name="c2-text-83">
            <a:extLst xmlns:a="http://schemas.openxmlformats.org/drawingml/2006/main">
              <a:ext uri="{FF2B5EF4-FFF2-40B4-BE49-F238E27FC236}">
                <a16:creationId xmlns:a16="http://schemas.microsoft.com/office/drawing/2014/main" id="{9E90CB2D-4DCD-4F34-B8F0-528C55AE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33625"/>
            <a:ext cx="2876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Individual reading</a:t>
            </a:r>
          </a:p>
        </p:txBody>
      </p:sp>
      <p:sp>
        <p:nvSpPr>
          <p:cNvPr id="12" name="c2-text-84">
            <a:extLst xmlns:a="http://schemas.openxmlformats.org/drawingml/2006/main">
              <a:ext uri="{FF2B5EF4-FFF2-40B4-BE49-F238E27FC236}">
                <a16:creationId xmlns:a16="http://schemas.microsoft.com/office/drawing/2014/main" id="{D684058B-C318-4B98-9EB6-2723EA9D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2876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25 minutes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Note one question to discuss.</a:t>
            </a:r>
          </a:p>
        </p:txBody>
      </p:sp>
      <p:sp>
        <p:nvSpPr>
          <p:cNvPr id="13" name="c2-shape-85">
            <a:extLst xmlns:a="http://schemas.openxmlformats.org/drawingml/2006/main">
              <a:ext uri="{FF2B5EF4-FFF2-40B4-BE49-F238E27FC236}">
                <a16:creationId xmlns:a16="http://schemas.microsoft.com/office/drawing/2014/main" id="{5A073E1C-1B00-41BA-9AED-F91AFAB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00425"/>
            <a:ext cx="3257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4" name="c2-shape-86">
            <a:extLst xmlns:a="http://schemas.openxmlformats.org/drawingml/2006/main">
              <a:ext uri="{FF2B5EF4-FFF2-40B4-BE49-F238E27FC236}">
                <a16:creationId xmlns:a16="http://schemas.microsoft.com/office/drawing/2014/main" id="{2BD50784-7609-464D-B715-AA685CFF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623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5" name="c2-text-87">
            <a:extLst xmlns:a="http://schemas.openxmlformats.org/drawingml/2006/main">
              <a:ext uri="{FF2B5EF4-FFF2-40B4-BE49-F238E27FC236}">
                <a16:creationId xmlns:a16="http://schemas.microsoft.com/office/drawing/2014/main" id="{A52E5A9A-72C0-4C67-9F66-9C9449E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57600"/>
            <a:ext cx="2876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After reading</a:t>
            </a:r>
          </a:p>
        </p:txBody>
      </p:sp>
      <p:sp>
        <p:nvSpPr>
          <p:cNvPr id="16" name="c2-text-88">
            <a:extLst xmlns:a="http://schemas.openxmlformats.org/drawingml/2006/main">
              <a:ext uri="{FF2B5EF4-FFF2-40B4-BE49-F238E27FC236}">
                <a16:creationId xmlns:a16="http://schemas.microsoft.com/office/drawing/2014/main" id="{71358CAA-0978-4034-90C5-00B4A90A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5287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Kahoot, then questions</a:t>
            </a:r>
          </a:p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and discussion.</a:t>
            </a:r>
          </a:p>
        </p:txBody>
      </p:sp>
      <p:sp>
        <p:nvSpPr>
          <p:cNvPr id="17" name="c2-text-282">
            <a:extLst xmlns:a="http://schemas.openxmlformats.org/drawingml/2006/main">
              <a:ext uri="{FF2B5EF4-FFF2-40B4-BE49-F238E27FC236}">
                <a16:creationId xmlns:a16="http://schemas.microsoft.com/office/drawing/2014/main" id="{7AEB8314-2273-4D7C-96C2-E6665208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00310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2-text-89">
            <a:extLst xmlns:a="http://schemas.openxmlformats.org/drawingml/2006/main">
              <a:ext uri="{FF2B5EF4-FFF2-40B4-BE49-F238E27FC236}">
                <a16:creationId xmlns:a16="http://schemas.microsoft.com/office/drawing/2014/main" id="{99835556-6D5E-4A43-986B-52A7E213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90">
            <a:extLst xmlns:a="http://schemas.openxmlformats.org/drawingml/2006/main">
              <a:ext uri="{FF2B5EF4-FFF2-40B4-BE49-F238E27FC236}">
                <a16:creationId xmlns:a16="http://schemas.microsoft.com/office/drawing/2014/main" id="{1D6F339E-0211-4391-89E2-8A603C73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Kahoot</a:t>
            </a:r>
          </a:p>
        </p:txBody>
      </p:sp>
      <p:sp>
        <p:nvSpPr>
          <p:cNvPr id="3" name="c2-text-91">
            <a:extLst xmlns:a="http://schemas.openxmlformats.org/drawingml/2006/main">
              <a:ext uri="{FF2B5EF4-FFF2-40B4-BE49-F238E27FC236}">
                <a16:creationId xmlns:a16="http://schemas.microsoft.com/office/drawing/2014/main" id="{DA4D17D4-A132-42ED-9D11-43243685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92">
            <a:extLst xmlns:a="http://schemas.openxmlformats.org/drawingml/2006/main">
              <a:ext uri="{FF2B5EF4-FFF2-40B4-BE49-F238E27FC236}">
                <a16:creationId xmlns:a16="http://schemas.microsoft.com/office/drawing/2014/main" id="{1E4FAFA0-AFB5-4304-BE6F-63C620F1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14 questions to check your understanding</a:t>
            </a:r>
          </a:p>
        </p:txBody>
      </p:sp>
      <p:sp>
        <p:nvSpPr>
          <p:cNvPr id="5" name="c2-shape-93">
            <a:extLst xmlns:a="http://schemas.openxmlformats.org/drawingml/2006/main">
              <a:ext uri="{FF2B5EF4-FFF2-40B4-BE49-F238E27FC236}">
                <a16:creationId xmlns:a16="http://schemas.microsoft.com/office/drawing/2014/main" id="{EC4943F3-B6E9-411B-B61F-4F3BC3A1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8006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6" name="c2-text-94">
            <a:hlinkClick xmlns:r="http://schemas.openxmlformats.org/officeDocument/2006/relationships" xmlns:a="http://schemas.openxmlformats.org/drawingml/2006/main" r:id="R72d61a834e1a4401"/>
            <a:extLst xmlns:a="http://schemas.openxmlformats.org/drawingml/2006/main">
              <a:ext uri="{FF2B5EF4-FFF2-40B4-BE49-F238E27FC236}">
                <a16:creationId xmlns:a16="http://schemas.microsoft.com/office/drawing/2014/main" id="{5AC8A2A6-A626-4B01-A61A-E2453772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3450" b="0" u="sng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kahoot.it</a:t>
            </a:r>
          </a:p>
        </p:txBody>
      </p:sp>
      <p:sp>
        <p:nvSpPr>
          <p:cNvPr id="7" name="c2-shape-95">
            <a:extLst xmlns:a="http://schemas.openxmlformats.org/drawingml/2006/main">
              <a:ext uri="{FF2B5EF4-FFF2-40B4-BE49-F238E27FC236}">
                <a16:creationId xmlns:a16="http://schemas.microsoft.com/office/drawing/2014/main" id="{3F731513-CFB8-43BF-B8CB-E9766FCA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8" name="c2-text-96">
            <a:extLst xmlns:a="http://schemas.openxmlformats.org/drawingml/2006/main">
              <a:ext uri="{FF2B5EF4-FFF2-40B4-BE49-F238E27FC236}">
                <a16:creationId xmlns:a16="http://schemas.microsoft.com/office/drawing/2014/main" id="{8C85C5FE-3A52-425C-B3F7-B7DFD93B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438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Open the link or scan the QR.</a:t>
            </a:r>
          </a:p>
          <a:p xmlns:a="http://schemas.openxmlformats.org/drawingml/2006/main">
            <a:pPr>
              <a:defRPr sz="18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Enter the game PIN shown on screen.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6b34f78bd46ff"/>
          <a:stretch xmlns:a="http://schemas.openxmlformats.org/drawingml/2006/main"/>
        </p:blipFill>
        <p:spPr>
          <a:xfrm xmlns:a="http://schemas.openxmlformats.org/drawingml/2006/main">
            <a:off x="6019800" y="205740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0" name="c2-text-283">
            <a:extLst xmlns:a="http://schemas.openxmlformats.org/drawingml/2006/main">
              <a:ext uri="{FF2B5EF4-FFF2-40B4-BE49-F238E27FC236}">
                <a16:creationId xmlns:a16="http://schemas.microsoft.com/office/drawing/2014/main" id="{24E2F759-FD29-4FC0-8D66-1ECC1D8C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81129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2-text-97">
            <a:extLst xmlns:a="http://schemas.openxmlformats.org/drawingml/2006/main">
              <a:ext uri="{FF2B5EF4-FFF2-40B4-BE49-F238E27FC236}">
                <a16:creationId xmlns:a16="http://schemas.microsoft.com/office/drawing/2014/main" id="{8C3AB3EA-0942-4B12-83D9-E7B25A4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98">
            <a:extLst xmlns:a="http://schemas.openxmlformats.org/drawingml/2006/main">
              <a:ext uri="{FF2B5EF4-FFF2-40B4-BE49-F238E27FC236}">
                <a16:creationId xmlns:a16="http://schemas.microsoft.com/office/drawing/2014/main" id="{3983BDF7-AA96-4779-93C8-5F781D69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Language Models are Few-Shot Learners [4]</a:t>
            </a:r>
          </a:p>
        </p:txBody>
      </p:sp>
      <p:sp>
        <p:nvSpPr>
          <p:cNvPr id="3" name="c2-text-99">
            <a:extLst xmlns:a="http://schemas.openxmlformats.org/drawingml/2006/main">
              <a:ext uri="{FF2B5EF4-FFF2-40B4-BE49-F238E27FC236}">
                <a16:creationId xmlns:a16="http://schemas.microsoft.com/office/drawing/2014/main" id="{75D01DD4-DCA9-43CC-A737-4488D707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100">
            <a:extLst xmlns:a="http://schemas.openxmlformats.org/drawingml/2006/main">
              <a:ext uri="{FF2B5EF4-FFF2-40B4-BE49-F238E27FC236}">
                <a16:creationId xmlns:a16="http://schemas.microsoft.com/office/drawing/2014/main" id="{2ABAC990-07BB-45EA-B656-63E30FDB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Brown et al. (2020) - GPT-3, 175B parameters</a:t>
            </a:r>
          </a:p>
        </p:txBody>
      </p:sp>
      <p:sp>
        <p:nvSpPr>
          <p:cNvPr id="5" name="c2-text-101">
            <a:extLst xmlns:a="http://schemas.openxmlformats.org/drawingml/2006/main">
              <a:ext uri="{FF2B5EF4-FFF2-40B4-BE49-F238E27FC236}">
                <a16:creationId xmlns:a16="http://schemas.microsoft.com/office/drawing/2014/main" id="{72F5DB0A-64D7-4715-B0C8-46B3BC18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886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They evaluated language tasks using instructions and a few examples in the input.</a:t>
            </a:r>
          </a:p>
        </p:txBody>
      </p:sp>
      <p:sp>
        <p:nvSpPr>
          <p:cNvPr id="6" name="c2-shape-102">
            <a:extLst xmlns:a="http://schemas.openxmlformats.org/drawingml/2006/main">
              <a:ext uri="{FF2B5EF4-FFF2-40B4-BE49-F238E27FC236}">
                <a16:creationId xmlns:a16="http://schemas.microsoft.com/office/drawing/2014/main" id="{90026FAD-2618-400D-96CE-88B1449C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886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7" name="c2-shape-103">
            <a:extLst xmlns:a="http://schemas.openxmlformats.org/drawingml/2006/main">
              <a:ext uri="{FF2B5EF4-FFF2-40B4-BE49-F238E27FC236}">
                <a16:creationId xmlns:a16="http://schemas.microsoft.com/office/drawing/2014/main" id="{19293A16-9E53-494A-8F98-CE70FEA8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8" name="c2-text-104">
            <a:extLst xmlns:a="http://schemas.openxmlformats.org/drawingml/2006/main">
              <a:ext uri="{FF2B5EF4-FFF2-40B4-BE49-F238E27FC236}">
                <a16:creationId xmlns:a16="http://schemas.microsoft.com/office/drawing/2014/main" id="{9F81732F-9F4F-4387-AB41-5CA67A7A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350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Outcome</a:t>
            </a:r>
          </a:p>
        </p:txBody>
      </p:sp>
      <p:sp>
        <p:nvSpPr>
          <p:cNvPr id="9" name="c2-text-105">
            <a:extLst xmlns:a="http://schemas.openxmlformats.org/drawingml/2006/main">
              <a:ext uri="{FF2B5EF4-FFF2-40B4-BE49-F238E27FC236}">
                <a16:creationId xmlns:a16="http://schemas.microsoft.com/office/drawing/2014/main" id="{889A4CD6-FF81-43F3-BCBC-984C57F4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505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New cases handled without retraining the model for each task.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9a17dbf49425f"/>
          <a:stretch xmlns:a="http://schemas.openxmlformats.org/drawingml/2006/main"/>
        </p:blipFill>
        <p:spPr>
          <a:xfrm xmlns:a="http://schemas.openxmlformats.org/drawingml/2006/main">
            <a:off x="4838700" y="2218336"/>
            <a:ext cx="3695700" cy="2002227"/>
          </a:xfrm>
          <a:prstGeom xmlns:a="http://schemas.openxmlformats.org/drawingml/2006/main" prst="rect">
            <a:avLst/>
          </a:prstGeom>
        </p:spPr>
      </p:pic>
      <p:sp>
        <p:nvSpPr>
          <p:cNvPr id="11" name="c2-text-106">
            <a:extLst xmlns:a="http://schemas.openxmlformats.org/drawingml/2006/main">
              <a:ext uri="{FF2B5EF4-FFF2-40B4-BE49-F238E27FC236}">
                <a16:creationId xmlns:a16="http://schemas.microsoft.com/office/drawing/2014/main" id="{8DF06C09-3C6D-4B4B-B540-FF76EA24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91025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Figure 1.2 - examples supplied in context</a:t>
            </a:r>
          </a:p>
        </p:txBody>
      </p:sp>
      <p:sp>
        <p:nvSpPr>
          <p:cNvPr id="12" name="c2-text-284">
            <a:extLst xmlns:a="http://schemas.openxmlformats.org/drawingml/2006/main">
              <a:ext uri="{FF2B5EF4-FFF2-40B4-BE49-F238E27FC236}">
                <a16:creationId xmlns:a16="http://schemas.microsoft.com/office/drawing/2014/main" id="{203B6273-7CD1-484D-9973-F1AE3989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723469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2-text-107">
            <a:extLst xmlns:a="http://schemas.openxmlformats.org/drawingml/2006/main">
              <a:ext uri="{FF2B5EF4-FFF2-40B4-BE49-F238E27FC236}">
                <a16:creationId xmlns:a16="http://schemas.microsoft.com/office/drawing/2014/main" id="{7BEB1551-2033-4D72-8FB2-1C714F4A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108">
            <a:extLst xmlns:a="http://schemas.openxmlformats.org/drawingml/2006/main">
              <a:ext uri="{FF2B5EF4-FFF2-40B4-BE49-F238E27FC236}">
                <a16:creationId xmlns:a16="http://schemas.microsoft.com/office/drawing/2014/main" id="{0F2C1ED7-0512-409B-BFAF-1DE0AC83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In-Context Learning [4] [6]</a:t>
            </a:r>
          </a:p>
        </p:txBody>
      </p:sp>
      <p:sp>
        <p:nvSpPr>
          <p:cNvPr id="3" name="c2-text-109">
            <a:extLst xmlns:a="http://schemas.openxmlformats.org/drawingml/2006/main">
              <a:ext uri="{FF2B5EF4-FFF2-40B4-BE49-F238E27FC236}">
                <a16:creationId xmlns:a16="http://schemas.microsoft.com/office/drawing/2014/main" id="{87899461-DC2C-4A26-B1B0-0BD42E18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110">
            <a:extLst xmlns:a="http://schemas.openxmlformats.org/drawingml/2006/main">
              <a:ext uri="{FF2B5EF4-FFF2-40B4-BE49-F238E27FC236}">
                <a16:creationId xmlns:a16="http://schemas.microsoft.com/office/drawing/2014/main" id="{00ADBA80-2AE9-4FEF-A13F-6773CC38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model can use examples in its prompt to infer a task pattern.</a:t>
            </a:r>
          </a:p>
        </p:txBody>
      </p:sp>
      <p:sp>
        <p:nvSpPr>
          <p:cNvPr id="5" name="c2-shape-111">
            <a:extLst xmlns:a="http://schemas.openxmlformats.org/drawingml/2006/main">
              <a:ext uri="{FF2B5EF4-FFF2-40B4-BE49-F238E27FC236}">
                <a16:creationId xmlns:a16="http://schemas.microsoft.com/office/drawing/2014/main" id="{768151A7-B70C-4793-86D5-FDF0F890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1336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6" name="c2-text-112">
            <a:extLst xmlns:a="http://schemas.openxmlformats.org/drawingml/2006/main">
              <a:ext uri="{FF2B5EF4-FFF2-40B4-BE49-F238E27FC236}">
                <a16:creationId xmlns:a16="http://schemas.microsoft.com/office/drawing/2014/main" id="{CAEFBB57-78F0-4778-AC15-2D1922E8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Examples</a:t>
            </a:r>
          </a:p>
        </p:txBody>
      </p:sp>
      <p:sp>
        <p:nvSpPr>
          <p:cNvPr id="7" name="c2-text-113">
            <a:extLst xmlns:a="http://schemas.openxmlformats.org/drawingml/2006/main">
              <a:ext uri="{FF2B5EF4-FFF2-40B4-BE49-F238E27FC236}">
                <a16:creationId xmlns:a16="http://schemas.microsoft.com/office/drawing/2014/main" id="{664120CD-CA8F-4390-9FA2-DF2C7550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c2-shape-114">
            <a:extLst xmlns:a="http://schemas.openxmlformats.org/drawingml/2006/main">
              <a:ext uri="{FF2B5EF4-FFF2-40B4-BE49-F238E27FC236}">
                <a16:creationId xmlns:a16="http://schemas.microsoft.com/office/drawing/2014/main" id="{E13EFA42-9562-482E-8987-9F1DECC6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00325"/>
            <a:ext cx="21336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9" name="c2-text-115">
            <a:extLst xmlns:a="http://schemas.openxmlformats.org/drawingml/2006/main">
              <a:ext uri="{FF2B5EF4-FFF2-40B4-BE49-F238E27FC236}">
                <a16:creationId xmlns:a16="http://schemas.microsoft.com/office/drawing/2014/main" id="{86549993-7931-43F7-B778-48EB0488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New input</a:t>
            </a:r>
          </a:p>
        </p:txBody>
      </p:sp>
      <p:sp>
        <p:nvSpPr>
          <p:cNvPr id="10" name="c2-shape-116">
            <a:extLst xmlns:a="http://schemas.openxmlformats.org/drawingml/2006/main">
              <a:ext uri="{FF2B5EF4-FFF2-40B4-BE49-F238E27FC236}">
                <a16:creationId xmlns:a16="http://schemas.microsoft.com/office/drawing/2014/main" id="{52C733A0-7D85-421E-92EB-A9BF09CD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05125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1" name="c2-shape-117">
            <a:extLst xmlns:a="http://schemas.openxmlformats.org/drawingml/2006/main">
              <a:ext uri="{FF2B5EF4-FFF2-40B4-BE49-F238E27FC236}">
                <a16:creationId xmlns:a16="http://schemas.microsoft.com/office/drawing/2014/main" id="{D126CB0E-59EB-41AC-B39A-9FE7CD86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0325"/>
            <a:ext cx="21336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12" name="c2-text-118">
            <a:extLst xmlns:a="http://schemas.openxmlformats.org/drawingml/2006/main">
              <a:ext uri="{FF2B5EF4-FFF2-40B4-BE49-F238E27FC236}">
                <a16:creationId xmlns:a16="http://schemas.microsoft.com/office/drawing/2014/main" id="{FA20199D-9A62-49C4-99A4-EC4E7AC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Response</a:t>
            </a:r>
          </a:p>
        </p:txBody>
      </p:sp>
      <p:sp>
        <p:nvSpPr>
          <p:cNvPr id="13" name="c2-shape-119">
            <a:extLst xmlns:a="http://schemas.openxmlformats.org/drawingml/2006/main">
              <a:ext uri="{FF2B5EF4-FFF2-40B4-BE49-F238E27FC236}">
                <a16:creationId xmlns:a16="http://schemas.microsoft.com/office/drawing/2014/main" id="{9030D04A-E0EC-4FD6-A6B6-D792B8B2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4" name="c2-text-120">
            <a:extLst xmlns:a="http://schemas.openxmlformats.org/drawingml/2006/main">
              <a:ext uri="{FF2B5EF4-FFF2-40B4-BE49-F238E27FC236}">
                <a16:creationId xmlns:a16="http://schemas.microsoft.com/office/drawing/2014/main" id="{3DADB379-9D7D-49E1-82D2-8A09D30C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7543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No task-specific retraining is needed for this interaction.</a:t>
            </a:r>
          </a:p>
        </p:txBody>
      </p:sp>
      <p:sp>
        <p:nvSpPr>
          <p:cNvPr id="15" name="c2-text-121">
            <a:extLst xmlns:a="http://schemas.openxmlformats.org/drawingml/2006/main">
              <a:ext uri="{FF2B5EF4-FFF2-40B4-BE49-F238E27FC236}">
                <a16:creationId xmlns:a16="http://schemas.microsoft.com/office/drawing/2014/main" id="{77B9BC13-081E-40D9-935B-B3B3E3E0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792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Context can also supply conversations, facts and memories.</a:t>
            </a:r>
          </a:p>
        </p:txBody>
      </p:sp>
      <p:sp>
        <p:nvSpPr>
          <p:cNvPr id="16" name="c2-text-285">
            <a:extLst xmlns:a="http://schemas.openxmlformats.org/drawingml/2006/main">
              <a:ext uri="{FF2B5EF4-FFF2-40B4-BE49-F238E27FC236}">
                <a16:creationId xmlns:a16="http://schemas.microsoft.com/office/drawing/2014/main" id="{BDC41FBB-B514-4C5D-AEE0-3064E3DE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51602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2-text-122">
            <a:extLst xmlns:a="http://schemas.openxmlformats.org/drawingml/2006/main">
              <a:ext uri="{FF2B5EF4-FFF2-40B4-BE49-F238E27FC236}">
                <a16:creationId xmlns:a16="http://schemas.microsoft.com/office/drawing/2014/main" id="{8F517029-3617-4FA7-BABD-F843D2DD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123">
            <a:extLst xmlns:a="http://schemas.openxmlformats.org/drawingml/2006/main">
              <a:ext uri="{FF2B5EF4-FFF2-40B4-BE49-F238E27FC236}">
                <a16:creationId xmlns:a16="http://schemas.microsoft.com/office/drawing/2014/main" id="{47CB041D-6B4E-4B29-930B-E8AC8ACB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Few-Shot Translation [4] [6]</a:t>
            </a:r>
          </a:p>
        </p:txBody>
      </p:sp>
      <p:sp>
        <p:nvSpPr>
          <p:cNvPr id="3" name="c2-text-124">
            <a:extLst xmlns:a="http://schemas.openxmlformats.org/drawingml/2006/main">
              <a:ext uri="{FF2B5EF4-FFF2-40B4-BE49-F238E27FC236}">
                <a16:creationId xmlns:a16="http://schemas.microsoft.com/office/drawing/2014/main" id="{FD3D9491-B077-49E8-B7FC-93B6FC20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125">
            <a:extLst xmlns:a="http://schemas.openxmlformats.org/drawingml/2006/main">
              <a:ext uri="{FF2B5EF4-FFF2-40B4-BE49-F238E27FC236}">
                <a16:creationId xmlns:a16="http://schemas.microsoft.com/office/drawing/2014/main" id="{FD591790-8330-4BB8-B65C-6B85F109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Two examples, then a new sentence.</a:t>
            </a:r>
          </a:p>
        </p:txBody>
      </p:sp>
      <p:sp>
        <p:nvSpPr>
          <p:cNvPr id="5" name="c2-text-126">
            <a:extLst xmlns:a="http://schemas.openxmlformats.org/drawingml/2006/main">
              <a:ext uri="{FF2B5EF4-FFF2-40B4-BE49-F238E27FC236}">
                <a16:creationId xmlns:a16="http://schemas.microsoft.com/office/drawing/2014/main" id="{82F325DA-02F1-46C2-9DD7-27D1D554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6" name="c2-shape-127">
            <a:extLst xmlns:a="http://schemas.openxmlformats.org/drawingml/2006/main">
              <a:ext uri="{FF2B5EF4-FFF2-40B4-BE49-F238E27FC236}">
                <a16:creationId xmlns:a16="http://schemas.microsoft.com/office/drawing/2014/main" id="{6877497F-3B49-4515-87B9-ADE494A5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9248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7" name="c2-text-128">
            <a:extLst xmlns:a="http://schemas.openxmlformats.org/drawingml/2006/main">
              <a:ext uri="{FF2B5EF4-FFF2-40B4-BE49-F238E27FC236}">
                <a16:creationId xmlns:a16="http://schemas.microsoft.com/office/drawing/2014/main" id="{F6804267-DF1C-4BEB-96EF-B8D95CAB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7543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English: Good morning.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Italian: Buongiorno.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English: Thank you.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Italian: Grazie.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English: Where is the entrance?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Italian:</a:t>
            </a:r>
          </a:p>
        </p:txBody>
      </p:sp>
      <p:sp>
        <p:nvSpPr>
          <p:cNvPr id="8" name="c2-shape-129">
            <a:extLst xmlns:a="http://schemas.openxmlformats.org/drawingml/2006/main">
              <a:ext uri="{FF2B5EF4-FFF2-40B4-BE49-F238E27FC236}">
                <a16:creationId xmlns:a16="http://schemas.microsoft.com/office/drawing/2014/main" id="{FDAF9FE5-696B-4478-BDF9-EF09194A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9" name="c2-text-130">
            <a:extLst xmlns:a="http://schemas.openxmlformats.org/drawingml/2006/main">
              <a:ext uri="{FF2B5EF4-FFF2-40B4-BE49-F238E27FC236}">
                <a16:creationId xmlns:a16="http://schemas.microsoft.com/office/drawing/2014/main" id="{59574F5A-7265-4EF3-836A-349296AC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Continuation</a:t>
            </a:r>
          </a:p>
        </p:txBody>
      </p:sp>
      <p:sp>
        <p:nvSpPr>
          <p:cNvPr id="10" name="c2-text-131">
            <a:extLst xmlns:a="http://schemas.openxmlformats.org/drawingml/2006/main">
              <a:ext uri="{FF2B5EF4-FFF2-40B4-BE49-F238E27FC236}">
                <a16:creationId xmlns:a16="http://schemas.microsoft.com/office/drawing/2014/main" id="{A51B5506-DB1C-43A0-BC7A-6B86697A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592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1" name="c2-text-286">
            <a:extLst xmlns:a="http://schemas.openxmlformats.org/drawingml/2006/main">
              <a:ext uri="{FF2B5EF4-FFF2-40B4-BE49-F238E27FC236}">
                <a16:creationId xmlns:a16="http://schemas.microsoft.com/office/drawing/2014/main" id="{7EA81B5A-8500-4401-B818-FA25A7E4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118511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2-text-132">
            <a:extLst xmlns:a="http://schemas.openxmlformats.org/drawingml/2006/main">
              <a:ext uri="{FF2B5EF4-FFF2-40B4-BE49-F238E27FC236}">
                <a16:creationId xmlns:a16="http://schemas.microsoft.com/office/drawing/2014/main" id="{E66490BB-1CFD-4246-BD94-2D1B1AC8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133">
            <a:extLst xmlns:a="http://schemas.openxmlformats.org/drawingml/2006/main">
              <a:ext uri="{FF2B5EF4-FFF2-40B4-BE49-F238E27FC236}">
                <a16:creationId xmlns:a16="http://schemas.microsoft.com/office/drawing/2014/main" id="{5788EB77-E5C7-4407-9B13-8D8E9868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Few-Shot Translation [4] [6]</a:t>
            </a:r>
          </a:p>
        </p:txBody>
      </p:sp>
      <p:sp>
        <p:nvSpPr>
          <p:cNvPr id="3" name="c2-text-134">
            <a:extLst xmlns:a="http://schemas.openxmlformats.org/drawingml/2006/main">
              <a:ext uri="{FF2B5EF4-FFF2-40B4-BE49-F238E27FC236}">
                <a16:creationId xmlns:a16="http://schemas.microsoft.com/office/drawing/2014/main" id="{9CE2802D-21F9-456A-A7BA-F53F5091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135">
            <a:extLst xmlns:a="http://schemas.openxmlformats.org/drawingml/2006/main">
              <a:ext uri="{FF2B5EF4-FFF2-40B4-BE49-F238E27FC236}">
                <a16:creationId xmlns:a16="http://schemas.microsoft.com/office/drawing/2014/main" id="{8B87EDB9-BD23-4785-935D-A14281A7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Two examples, then a new sentence.</a:t>
            </a:r>
          </a:p>
        </p:txBody>
      </p:sp>
      <p:sp>
        <p:nvSpPr>
          <p:cNvPr id="5" name="c2-text-136">
            <a:extLst xmlns:a="http://schemas.openxmlformats.org/drawingml/2006/main">
              <a:ext uri="{FF2B5EF4-FFF2-40B4-BE49-F238E27FC236}">
                <a16:creationId xmlns:a16="http://schemas.microsoft.com/office/drawing/2014/main" id="{BF258409-6E36-4121-8434-D7260944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6" name="c2-shape-137">
            <a:extLst xmlns:a="http://schemas.openxmlformats.org/drawingml/2006/main">
              <a:ext uri="{FF2B5EF4-FFF2-40B4-BE49-F238E27FC236}">
                <a16:creationId xmlns:a16="http://schemas.microsoft.com/office/drawing/2014/main" id="{B0024DAC-3FB4-4DC3-9FCB-1FFC7F55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9248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7" name="c2-text-138">
            <a:extLst xmlns:a="http://schemas.openxmlformats.org/drawingml/2006/main">
              <a:ext uri="{FF2B5EF4-FFF2-40B4-BE49-F238E27FC236}">
                <a16:creationId xmlns:a16="http://schemas.microsoft.com/office/drawing/2014/main" id="{ADB156F7-FA39-49E1-BFFA-7FDBD503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7543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English: Good morning.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Italian: Buongiorno.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English: Thank you.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Italian: Grazie.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English: Where is the entrance?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Italian:</a:t>
            </a:r>
          </a:p>
        </p:txBody>
      </p:sp>
      <p:sp>
        <p:nvSpPr>
          <p:cNvPr id="8" name="c2-shape-139">
            <a:extLst xmlns:a="http://schemas.openxmlformats.org/drawingml/2006/main">
              <a:ext uri="{FF2B5EF4-FFF2-40B4-BE49-F238E27FC236}">
                <a16:creationId xmlns:a16="http://schemas.microsoft.com/office/drawing/2014/main" id="{B3336DD9-B89D-4EC4-8075-8099935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9" name="c2-text-140">
            <a:extLst xmlns:a="http://schemas.openxmlformats.org/drawingml/2006/main">
              <a:ext uri="{FF2B5EF4-FFF2-40B4-BE49-F238E27FC236}">
                <a16:creationId xmlns:a16="http://schemas.microsoft.com/office/drawing/2014/main" id="{FA6B72BA-8E08-4BCF-9DB2-69F683A2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Continuation</a:t>
            </a:r>
          </a:p>
        </p:txBody>
      </p:sp>
      <p:sp>
        <p:nvSpPr>
          <p:cNvPr id="10" name="c2-text-141">
            <a:extLst xmlns:a="http://schemas.openxmlformats.org/drawingml/2006/main">
              <a:ext uri="{FF2B5EF4-FFF2-40B4-BE49-F238E27FC236}">
                <a16:creationId xmlns:a16="http://schemas.microsoft.com/office/drawing/2014/main" id="{ECDD2D01-9179-4AE9-8D4E-5303F1BF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592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Dove si trova l'ingresso?</a:t>
            </a:r>
          </a:p>
        </p:txBody>
      </p:sp>
      <p:sp>
        <p:nvSpPr>
          <p:cNvPr id="11" name="c2-text-287">
            <a:extLst xmlns:a="http://schemas.openxmlformats.org/drawingml/2006/main">
              <a:ext uri="{FF2B5EF4-FFF2-40B4-BE49-F238E27FC236}">
                <a16:creationId xmlns:a16="http://schemas.microsoft.com/office/drawing/2014/main" id="{6EF82A9E-FBD6-484D-8320-CC4AFCB3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041152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2-text-142">
            <a:extLst xmlns:a="http://schemas.openxmlformats.org/drawingml/2006/main">
              <a:ext uri="{FF2B5EF4-FFF2-40B4-BE49-F238E27FC236}">
                <a16:creationId xmlns:a16="http://schemas.microsoft.com/office/drawing/2014/main" id="{4FADC458-2708-405A-AC17-95E4E384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143">
            <a:extLst xmlns:a="http://schemas.openxmlformats.org/drawingml/2006/main">
              <a:ext uri="{FF2B5EF4-FFF2-40B4-BE49-F238E27FC236}">
                <a16:creationId xmlns:a16="http://schemas.microsoft.com/office/drawing/2014/main" id="{DFE1028E-4FD8-4353-B34B-48DE2C66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Completing a Question [4]</a:t>
            </a:r>
          </a:p>
        </p:txBody>
      </p:sp>
      <p:sp>
        <p:nvSpPr>
          <p:cNvPr id="3" name="c2-text-144">
            <a:extLst xmlns:a="http://schemas.openxmlformats.org/drawingml/2006/main">
              <a:ext uri="{FF2B5EF4-FFF2-40B4-BE49-F238E27FC236}">
                <a16:creationId xmlns:a16="http://schemas.microsoft.com/office/drawing/2014/main" id="{772E8785-1E68-4986-BAC8-B61F5B6E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145">
            <a:extLst xmlns:a="http://schemas.openxmlformats.org/drawingml/2006/main">
              <a:ext uri="{FF2B5EF4-FFF2-40B4-BE49-F238E27FC236}">
                <a16:creationId xmlns:a16="http://schemas.microsoft.com/office/drawing/2014/main" id="{34B642B9-2F8A-4540-8537-209FD76B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question can also be the beginning of a text to continue.</a:t>
            </a:r>
          </a:p>
        </p:txBody>
      </p:sp>
      <p:sp>
        <p:nvSpPr>
          <p:cNvPr id="5" name="c2-text-146">
            <a:extLst xmlns:a="http://schemas.openxmlformats.org/drawingml/2006/main">
              <a:ext uri="{FF2B5EF4-FFF2-40B4-BE49-F238E27FC236}">
                <a16:creationId xmlns:a16="http://schemas.microsoft.com/office/drawing/2014/main" id="{7F438D67-B65E-476D-8A70-C0B14BC9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6" name="c2-shape-147">
            <a:extLst xmlns:a="http://schemas.openxmlformats.org/drawingml/2006/main">
              <a:ext uri="{FF2B5EF4-FFF2-40B4-BE49-F238E27FC236}">
                <a16:creationId xmlns:a16="http://schemas.microsoft.com/office/drawing/2014/main" id="{93DB1916-BEF9-423E-B1C9-A9EFEB84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9248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7" name="c2-text-148">
            <a:extLst xmlns:a="http://schemas.openxmlformats.org/drawingml/2006/main">
              <a:ext uri="{FF2B5EF4-FFF2-40B4-BE49-F238E27FC236}">
                <a16:creationId xmlns:a16="http://schemas.microsoft.com/office/drawing/2014/main" id="{E3D05270-69AA-4050-A57F-7B8D60F1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7543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Question: What is the capital of France?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Answer:</a:t>
            </a:r>
          </a:p>
        </p:txBody>
      </p:sp>
      <p:sp>
        <p:nvSpPr>
          <p:cNvPr id="8" name="c2-shape-149">
            <a:extLst xmlns:a="http://schemas.openxmlformats.org/drawingml/2006/main">
              <a:ext uri="{FF2B5EF4-FFF2-40B4-BE49-F238E27FC236}">
                <a16:creationId xmlns:a16="http://schemas.microsoft.com/office/drawing/2014/main" id="{A22EE228-631D-483B-9609-1B9052F6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9" name="c2-text-150">
            <a:extLst xmlns:a="http://schemas.openxmlformats.org/drawingml/2006/main">
              <a:ext uri="{FF2B5EF4-FFF2-40B4-BE49-F238E27FC236}">
                <a16:creationId xmlns:a16="http://schemas.microsoft.com/office/drawing/2014/main" id="{7B0C3320-2F44-4D9C-BFBF-182C2B0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Continuation</a:t>
            </a:r>
          </a:p>
        </p:txBody>
      </p:sp>
      <p:sp>
        <p:nvSpPr>
          <p:cNvPr id="10" name="c2-text-151">
            <a:extLst xmlns:a="http://schemas.openxmlformats.org/drawingml/2006/main">
              <a:ext uri="{FF2B5EF4-FFF2-40B4-BE49-F238E27FC236}">
                <a16:creationId xmlns:a16="http://schemas.microsoft.com/office/drawing/2014/main" id="{612350F7-1449-411D-8967-74A6D3CE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592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Paris.</a:t>
            </a:r>
          </a:p>
        </p:txBody>
      </p:sp>
      <p:sp>
        <p:nvSpPr>
          <p:cNvPr id="11" name="c2-text-288">
            <a:extLst xmlns:a="http://schemas.openxmlformats.org/drawingml/2006/main">
              <a:ext uri="{FF2B5EF4-FFF2-40B4-BE49-F238E27FC236}">
                <a16:creationId xmlns:a16="http://schemas.microsoft.com/office/drawing/2014/main" id="{EE06927D-FA6B-411D-819A-8F9267BF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769235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2-text-152">
            <a:extLst xmlns:a="http://schemas.openxmlformats.org/drawingml/2006/main">
              <a:ext uri="{FF2B5EF4-FFF2-40B4-BE49-F238E27FC236}">
                <a16:creationId xmlns:a16="http://schemas.microsoft.com/office/drawing/2014/main" id="{B32DBD3C-44D2-4D50-B912-6B18FA33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153">
            <a:extLst xmlns:a="http://schemas.openxmlformats.org/drawingml/2006/main">
              <a:ext uri="{FF2B5EF4-FFF2-40B4-BE49-F238E27FC236}">
                <a16:creationId xmlns:a16="http://schemas.microsoft.com/office/drawing/2014/main" id="{47891FC6-2741-4244-BD14-A860854A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Conversation Is a Prompt [4] [7]</a:t>
            </a:r>
          </a:p>
        </p:txBody>
      </p:sp>
      <p:sp>
        <p:nvSpPr>
          <p:cNvPr id="3" name="c2-text-154">
            <a:extLst xmlns:a="http://schemas.openxmlformats.org/drawingml/2006/main">
              <a:ext uri="{FF2B5EF4-FFF2-40B4-BE49-F238E27FC236}">
                <a16:creationId xmlns:a16="http://schemas.microsoft.com/office/drawing/2014/main" id="{AF2D1E2C-BCE3-426A-98A7-54B451F7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155">
            <a:extLst xmlns:a="http://schemas.openxmlformats.org/drawingml/2006/main">
              <a:ext uri="{FF2B5EF4-FFF2-40B4-BE49-F238E27FC236}">
                <a16:creationId xmlns:a16="http://schemas.microsoft.com/office/drawing/2014/main" id="{A83C8F1E-E052-441A-9C99-F67A65B6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Write a conversation and leave the next reply unfinished.</a:t>
            </a:r>
          </a:p>
        </p:txBody>
      </p:sp>
      <p:sp>
        <p:nvSpPr>
          <p:cNvPr id="5" name="c2-text-156">
            <a:extLst xmlns:a="http://schemas.openxmlformats.org/drawingml/2006/main">
              <a:ext uri="{FF2B5EF4-FFF2-40B4-BE49-F238E27FC236}">
                <a16:creationId xmlns:a16="http://schemas.microsoft.com/office/drawing/2014/main" id="{CA2EB22F-49AB-4299-A4F2-565BCC6E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6" name="c2-shape-157">
            <a:extLst xmlns:a="http://schemas.openxmlformats.org/drawingml/2006/main">
              <a:ext uri="{FF2B5EF4-FFF2-40B4-BE49-F238E27FC236}">
                <a16:creationId xmlns:a16="http://schemas.microsoft.com/office/drawing/2014/main" id="{28C403B3-FAE7-467F-888C-534619FD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9248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7" name="c2-text-158">
            <a:extLst xmlns:a="http://schemas.openxmlformats.org/drawingml/2006/main">
              <a:ext uri="{FF2B5EF4-FFF2-40B4-BE49-F238E27FC236}">
                <a16:creationId xmlns:a16="http://schemas.microsoft.com/office/drawing/2014/main" id="{BD92EAEC-4CBF-4714-AB31-2AB7BDF8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7543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Complete the conversation.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Visitor: Hello!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Guide: Welcome to the museum.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Visitor: Can you help me find the entrance?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Guide:</a:t>
            </a:r>
          </a:p>
        </p:txBody>
      </p:sp>
      <p:sp>
        <p:nvSpPr>
          <p:cNvPr id="8" name="c2-shape-159">
            <a:extLst xmlns:a="http://schemas.openxmlformats.org/drawingml/2006/main">
              <a:ext uri="{FF2B5EF4-FFF2-40B4-BE49-F238E27FC236}">
                <a16:creationId xmlns:a16="http://schemas.microsoft.com/office/drawing/2014/main" id="{D0DF0442-B173-46EC-AC45-DBEDFA43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9" name="c2-text-160">
            <a:extLst xmlns:a="http://schemas.openxmlformats.org/drawingml/2006/main">
              <a:ext uri="{FF2B5EF4-FFF2-40B4-BE49-F238E27FC236}">
                <a16:creationId xmlns:a16="http://schemas.microsoft.com/office/drawing/2014/main" id="{119DDED8-218B-44A6-ACC6-1474AF91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Continuation</a:t>
            </a:r>
          </a:p>
        </p:txBody>
      </p:sp>
      <p:sp>
        <p:nvSpPr>
          <p:cNvPr id="10" name="c2-text-161">
            <a:extLst xmlns:a="http://schemas.openxmlformats.org/drawingml/2006/main">
              <a:ext uri="{FF2B5EF4-FFF2-40B4-BE49-F238E27FC236}">
                <a16:creationId xmlns:a16="http://schemas.microsoft.com/office/drawing/2014/main" id="{F9EEE00B-0554-402F-9A2B-A4CEDECB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592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Of course! Let me show you the way.</a:t>
            </a:r>
          </a:p>
        </p:txBody>
      </p:sp>
      <p:sp>
        <p:nvSpPr>
          <p:cNvPr id="11" name="c2-text-289">
            <a:extLst xmlns:a="http://schemas.openxmlformats.org/drawingml/2006/main">
              <a:ext uri="{FF2B5EF4-FFF2-40B4-BE49-F238E27FC236}">
                <a16:creationId xmlns:a16="http://schemas.microsoft.com/office/drawing/2014/main" id="{53C5956F-20BC-493B-B7ED-A12DE544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479497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2-text-162">
            <a:extLst xmlns:a="http://schemas.openxmlformats.org/drawingml/2006/main">
              <a:ext uri="{FF2B5EF4-FFF2-40B4-BE49-F238E27FC236}">
                <a16:creationId xmlns:a16="http://schemas.microsoft.com/office/drawing/2014/main" id="{5FDEE185-3CC4-44B5-B189-EB4860EF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163">
            <a:extLst xmlns:a="http://schemas.openxmlformats.org/drawingml/2006/main">
              <a:ext uri="{FF2B5EF4-FFF2-40B4-BE49-F238E27FC236}">
                <a16:creationId xmlns:a16="http://schemas.microsoft.com/office/drawing/2014/main" id="{0C3075EC-B166-4387-8152-D6A69537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Adding Facts to the Prompt [8]</a:t>
            </a:r>
          </a:p>
        </p:txBody>
      </p:sp>
      <p:sp>
        <p:nvSpPr>
          <p:cNvPr id="3" name="c2-text-164">
            <a:extLst xmlns:a="http://schemas.openxmlformats.org/drawingml/2006/main">
              <a:ext uri="{FF2B5EF4-FFF2-40B4-BE49-F238E27FC236}">
                <a16:creationId xmlns:a16="http://schemas.microsoft.com/office/drawing/2014/main" id="{C093AB0F-3B9A-4ECD-AFFA-2513FE23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165">
            <a:extLst xmlns:a="http://schemas.openxmlformats.org/drawingml/2006/main">
              <a:ext uri="{FF2B5EF4-FFF2-40B4-BE49-F238E27FC236}">
                <a16:creationId xmlns:a16="http://schemas.microsoft.com/office/drawing/2014/main" id="{8D8388B4-167A-4916-B0BC-496C784F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application can supply information for the current reply.</a:t>
            </a:r>
          </a:p>
        </p:txBody>
      </p:sp>
      <p:sp>
        <p:nvSpPr>
          <p:cNvPr id="5" name="c2-text-166">
            <a:extLst xmlns:a="http://schemas.openxmlformats.org/drawingml/2006/main">
              <a:ext uri="{FF2B5EF4-FFF2-40B4-BE49-F238E27FC236}">
                <a16:creationId xmlns:a16="http://schemas.microsoft.com/office/drawing/2014/main" id="{F9716B2F-296C-4348-B565-69ABD41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6" name="c2-shape-167">
            <a:extLst xmlns:a="http://schemas.openxmlformats.org/drawingml/2006/main">
              <a:ext uri="{FF2B5EF4-FFF2-40B4-BE49-F238E27FC236}">
                <a16:creationId xmlns:a16="http://schemas.microsoft.com/office/drawing/2014/main" id="{8E213E94-F91F-4370-8C3E-0B5CF9A8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9248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7" name="c2-text-168">
            <a:extLst xmlns:a="http://schemas.openxmlformats.org/drawingml/2006/main">
              <a:ext uri="{FF2B5EF4-FFF2-40B4-BE49-F238E27FC236}">
                <a16:creationId xmlns:a16="http://schemas.microsoft.com/office/drawing/2014/main" id="{AA2106CD-590A-40BA-9508-12F20D5F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7543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Complete the conversation.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Context: The guide is called PippoBot.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current local time is 14:30.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Visitor: What is your name, and what time is it?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Guide:</a:t>
            </a:r>
          </a:p>
        </p:txBody>
      </p:sp>
      <p:sp>
        <p:nvSpPr>
          <p:cNvPr id="8" name="c2-shape-169">
            <a:extLst xmlns:a="http://schemas.openxmlformats.org/drawingml/2006/main">
              <a:ext uri="{FF2B5EF4-FFF2-40B4-BE49-F238E27FC236}">
                <a16:creationId xmlns:a16="http://schemas.microsoft.com/office/drawing/2014/main" id="{0CF9F460-E815-41F8-B806-59753A81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9" name="c2-text-170">
            <a:extLst xmlns:a="http://schemas.openxmlformats.org/drawingml/2006/main">
              <a:ext uri="{FF2B5EF4-FFF2-40B4-BE49-F238E27FC236}">
                <a16:creationId xmlns:a16="http://schemas.microsoft.com/office/drawing/2014/main" id="{342963B4-A664-44AD-BA47-3EF343B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Continuation</a:t>
            </a:r>
          </a:p>
        </p:txBody>
      </p:sp>
      <p:sp>
        <p:nvSpPr>
          <p:cNvPr id="10" name="c2-text-171">
            <a:extLst xmlns:a="http://schemas.openxmlformats.org/drawingml/2006/main">
              <a:ext uri="{FF2B5EF4-FFF2-40B4-BE49-F238E27FC236}">
                <a16:creationId xmlns:a16="http://schemas.microsoft.com/office/drawing/2014/main" id="{41CDE1FC-EB2F-432B-BDBB-EA58EB30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592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I'm PippoBot. It is 14:30.</a:t>
            </a:r>
          </a:p>
        </p:txBody>
      </p:sp>
      <p:sp>
        <p:nvSpPr>
          <p:cNvPr id="11" name="c2-text-290">
            <a:extLst xmlns:a="http://schemas.openxmlformats.org/drawingml/2006/main">
              <a:ext uri="{FF2B5EF4-FFF2-40B4-BE49-F238E27FC236}">
                <a16:creationId xmlns:a16="http://schemas.microsoft.com/office/drawing/2014/main" id="{C138D77D-E148-41DD-9A4A-EA5FB65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1387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2-text-172">
            <a:extLst xmlns:a="http://schemas.openxmlformats.org/drawingml/2006/main">
              <a:ext uri="{FF2B5EF4-FFF2-40B4-BE49-F238E27FC236}">
                <a16:creationId xmlns:a16="http://schemas.microsoft.com/office/drawing/2014/main" id="{5D40CF05-4FE4-43B0-A442-3EAE8AE0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173">
            <a:extLst xmlns:a="http://schemas.openxmlformats.org/drawingml/2006/main">
              <a:ext uri="{FF2B5EF4-FFF2-40B4-BE49-F238E27FC236}">
                <a16:creationId xmlns:a16="http://schemas.microsoft.com/office/drawing/2014/main" id="{CD7A7678-1387-432E-BCBB-9A21CD28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Bringing a Memory into the Prompt [8]</a:t>
            </a:r>
          </a:p>
        </p:txBody>
      </p:sp>
      <p:sp>
        <p:nvSpPr>
          <p:cNvPr id="3" name="c2-text-174">
            <a:extLst xmlns:a="http://schemas.openxmlformats.org/drawingml/2006/main">
              <a:ext uri="{FF2B5EF4-FFF2-40B4-BE49-F238E27FC236}">
                <a16:creationId xmlns:a16="http://schemas.microsoft.com/office/drawing/2014/main" id="{49CFDD79-7E73-4ADA-A8FE-4EE09E36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175">
            <a:extLst xmlns:a="http://schemas.openxmlformats.org/drawingml/2006/main">
              <a:ext uri="{FF2B5EF4-FFF2-40B4-BE49-F238E27FC236}">
                <a16:creationId xmlns:a16="http://schemas.microsoft.com/office/drawing/2014/main" id="{5B3E8A37-09E9-45C5-9180-2345E835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program can retrieve a stored fact and include it in the input.</a:t>
            </a:r>
          </a:p>
        </p:txBody>
      </p:sp>
      <p:sp>
        <p:nvSpPr>
          <p:cNvPr id="5" name="c2-shape-176">
            <a:extLst xmlns:a="http://schemas.openxmlformats.org/drawingml/2006/main">
              <a:ext uri="{FF2B5EF4-FFF2-40B4-BE49-F238E27FC236}">
                <a16:creationId xmlns:a16="http://schemas.microsoft.com/office/drawing/2014/main" id="{B0CB0CA6-270C-4016-A045-7D08515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209800" cy="1724025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6" name="c2-text-177">
            <a:extLst xmlns:a="http://schemas.openxmlformats.org/drawingml/2006/main">
              <a:ext uri="{FF2B5EF4-FFF2-40B4-BE49-F238E27FC236}">
                <a16:creationId xmlns:a16="http://schemas.microsoft.com/office/drawing/2014/main" id="{71BF1D2F-2B24-42BC-9530-9E75E9DD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828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Long-term memory</a:t>
            </a:r>
          </a:p>
        </p:txBody>
      </p:sp>
      <p:sp>
        <p:nvSpPr>
          <p:cNvPr id="7" name="c2-text-178">
            <a:extLst xmlns:a="http://schemas.openxmlformats.org/drawingml/2006/main">
              <a:ext uri="{FF2B5EF4-FFF2-40B4-BE49-F238E27FC236}">
                <a16:creationId xmlns:a16="http://schemas.microsoft.com/office/drawing/2014/main" id="{3464116D-F54D-490C-B76F-9FDF0C71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Visitor #42</a:t>
            </a:r>
          </a:p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Prefers Italian</a:t>
            </a:r>
          </a:p>
        </p:txBody>
      </p:sp>
      <p:sp>
        <p:nvSpPr>
          <p:cNvPr id="8" name="c2-shape-179">
            <a:extLst xmlns:a="http://schemas.openxmlformats.org/drawingml/2006/main">
              <a:ext uri="{FF2B5EF4-FFF2-40B4-BE49-F238E27FC236}">
                <a16:creationId xmlns:a16="http://schemas.microsoft.com/office/drawing/2014/main" id="{91898282-A215-44CE-B91C-AD876F20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9" name="c2-shape-180">
            <a:extLst xmlns:a="http://schemas.openxmlformats.org/drawingml/2006/main">
              <a:ext uri="{FF2B5EF4-FFF2-40B4-BE49-F238E27FC236}">
                <a16:creationId xmlns:a16="http://schemas.microsoft.com/office/drawing/2014/main" id="{D5B1F716-45B3-4145-87C7-89E7AFA5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24100"/>
            <a:ext cx="4953000" cy="1724025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10" name="c2-text-181">
            <a:extLst xmlns:a="http://schemas.openxmlformats.org/drawingml/2006/main">
              <a:ext uri="{FF2B5EF4-FFF2-40B4-BE49-F238E27FC236}">
                <a16:creationId xmlns:a16="http://schemas.microsoft.com/office/drawing/2014/main" id="{14C51F23-3A6C-4408-A60F-0D1F6263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19350"/>
            <a:ext cx="4572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11" name="c2-text-182">
            <a:extLst xmlns:a="http://schemas.openxmlformats.org/drawingml/2006/main">
              <a:ext uri="{FF2B5EF4-FFF2-40B4-BE49-F238E27FC236}">
                <a16:creationId xmlns:a16="http://schemas.microsoft.com/office/drawing/2014/main" id="{172F068A-8213-4227-8A0A-915C0182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765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Context: Visitor prefers Italian.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Visitor: Can we continue?</a:t>
            </a:r>
          </a:p>
          <a:p xmlns:a="http://schemas.openxmlformats.org/drawingml/2006/main">
            <a:pPr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Guide:</a:t>
            </a:r>
          </a:p>
        </p:txBody>
      </p:sp>
      <p:sp>
        <p:nvSpPr>
          <p:cNvPr id="12" name="c2-shape-183">
            <a:extLst xmlns:a="http://schemas.openxmlformats.org/drawingml/2006/main">
              <a:ext uri="{FF2B5EF4-FFF2-40B4-BE49-F238E27FC236}">
                <a16:creationId xmlns:a16="http://schemas.microsoft.com/office/drawing/2014/main" id="{E4C3B52E-C2FD-41BA-A68C-F291C955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248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3" name="c2-text-184">
            <a:extLst xmlns:a="http://schemas.openxmlformats.org/drawingml/2006/main">
              <a:ext uri="{FF2B5EF4-FFF2-40B4-BE49-F238E27FC236}">
                <a16:creationId xmlns:a16="http://schemas.microsoft.com/office/drawing/2014/main" id="{7CA72E1F-C718-4750-B073-42CE606A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Continuation</a:t>
            </a:r>
          </a:p>
        </p:txBody>
      </p:sp>
      <p:sp>
        <p:nvSpPr>
          <p:cNvPr id="14" name="c2-text-185">
            <a:extLst xmlns:a="http://schemas.openxmlformats.org/drawingml/2006/main">
              <a:ext uri="{FF2B5EF4-FFF2-40B4-BE49-F238E27FC236}">
                <a16:creationId xmlns:a16="http://schemas.microsoft.com/office/drawing/2014/main" id="{0E535F15-A518-420A-9676-DBAB6790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592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Certo, continuiamo la visita.</a:t>
            </a:r>
          </a:p>
        </p:txBody>
      </p:sp>
      <p:sp>
        <p:nvSpPr>
          <p:cNvPr id="15" name="c2-text-291">
            <a:extLst xmlns:a="http://schemas.openxmlformats.org/drawingml/2006/main">
              <a:ext uri="{FF2B5EF4-FFF2-40B4-BE49-F238E27FC236}">
                <a16:creationId xmlns:a16="http://schemas.microsoft.com/office/drawing/2014/main" id="{C76EABA4-D7C7-4244-93A7-41896FC1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95736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2-text-186">
            <a:extLst xmlns:a="http://schemas.openxmlformats.org/drawingml/2006/main">
              <a:ext uri="{FF2B5EF4-FFF2-40B4-BE49-F238E27FC236}">
                <a16:creationId xmlns:a16="http://schemas.microsoft.com/office/drawing/2014/main" id="{6C3F35B9-2165-4B9C-A1A8-782466B4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187">
            <a:extLst xmlns:a="http://schemas.openxmlformats.org/drawingml/2006/main">
              <a:ext uri="{FF2B5EF4-FFF2-40B4-BE49-F238E27FC236}">
                <a16:creationId xmlns:a16="http://schemas.microsoft.com/office/drawing/2014/main" id="{A3CD35F1-E4A1-485B-8FF5-999495FE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Context Window Is Limited [4] [8]</a:t>
            </a:r>
          </a:p>
        </p:txBody>
      </p:sp>
      <p:sp>
        <p:nvSpPr>
          <p:cNvPr id="3" name="c2-text-188">
            <a:extLst xmlns:a="http://schemas.openxmlformats.org/drawingml/2006/main">
              <a:ext uri="{FF2B5EF4-FFF2-40B4-BE49-F238E27FC236}">
                <a16:creationId xmlns:a16="http://schemas.microsoft.com/office/drawing/2014/main" id="{A40FB091-8A77-4867-B96D-0436DC7C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189">
            <a:extLst xmlns:a="http://schemas.openxmlformats.org/drawingml/2006/main">
              <a:ext uri="{FF2B5EF4-FFF2-40B4-BE49-F238E27FC236}">
                <a16:creationId xmlns:a16="http://schemas.microsoft.com/office/drawing/2014/main" id="{1E64BFB7-FB2D-48FA-83E9-9779DCB3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Only a finite amount of text can be available in one call.</a:t>
            </a:r>
          </a:p>
        </p:txBody>
      </p:sp>
      <p:sp>
        <p:nvSpPr>
          <p:cNvPr id="5" name="c2-shape-190">
            <a:extLst xmlns:a="http://schemas.openxmlformats.org/drawingml/2006/main">
              <a:ext uri="{FF2B5EF4-FFF2-40B4-BE49-F238E27FC236}">
                <a16:creationId xmlns:a16="http://schemas.microsoft.com/office/drawing/2014/main" id="{E76B3F59-B28E-4452-ACFE-3461C091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924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6" name="c2-shape-191">
            <a:extLst xmlns:a="http://schemas.openxmlformats.org/drawingml/2006/main">
              <a:ext uri="{FF2B5EF4-FFF2-40B4-BE49-F238E27FC236}">
                <a16:creationId xmlns:a16="http://schemas.microsoft.com/office/drawing/2014/main" id="{D1304066-0736-419D-9531-305E0685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7" name="c2-text-192">
            <a:extLst xmlns:a="http://schemas.openxmlformats.org/drawingml/2006/main">
              <a:ext uri="{FF2B5EF4-FFF2-40B4-BE49-F238E27FC236}">
                <a16:creationId xmlns:a16="http://schemas.microsoft.com/office/drawing/2014/main" id="{4A36CF59-86D3-4FA8-A5F0-AC4A5331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Instructions</a:t>
            </a:r>
          </a:p>
        </p:txBody>
      </p:sp>
      <p:sp>
        <p:nvSpPr>
          <p:cNvPr id="8" name="c2-shape-193">
            <a:extLst xmlns:a="http://schemas.openxmlformats.org/drawingml/2006/main">
              <a:ext uri="{FF2B5EF4-FFF2-40B4-BE49-F238E27FC236}">
                <a16:creationId xmlns:a16="http://schemas.microsoft.com/office/drawing/2014/main" id="{49D08C0B-9879-457D-A5D9-6A255EEA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050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9" name="c2-text-194">
            <a:extLst xmlns:a="http://schemas.openxmlformats.org/drawingml/2006/main">
              <a:ext uri="{FF2B5EF4-FFF2-40B4-BE49-F238E27FC236}">
                <a16:creationId xmlns:a16="http://schemas.microsoft.com/office/drawing/2014/main" id="{2FAF2216-DDD4-4B4E-94BC-2F29D26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52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Examples</a:t>
            </a:r>
          </a:p>
        </p:txBody>
      </p:sp>
      <p:sp>
        <p:nvSpPr>
          <p:cNvPr id="10" name="c2-shape-195">
            <a:extLst xmlns:a="http://schemas.openxmlformats.org/drawingml/2006/main">
              <a:ext uri="{FF2B5EF4-FFF2-40B4-BE49-F238E27FC236}">
                <a16:creationId xmlns:a16="http://schemas.microsoft.com/office/drawing/2014/main" id="{869A84DD-3EB3-4915-9736-6DA684F1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050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1" name="c2-text-196">
            <a:extLst xmlns:a="http://schemas.openxmlformats.org/drawingml/2006/main">
              <a:ext uri="{FF2B5EF4-FFF2-40B4-BE49-F238E27FC236}">
                <a16:creationId xmlns:a16="http://schemas.microsoft.com/office/drawing/2014/main" id="{BD2FBB0C-CB31-4F88-851F-8417BD49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52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12" name="c2-shape-197">
            <a:extLst xmlns:a="http://schemas.openxmlformats.org/drawingml/2006/main">
              <a:ext uri="{FF2B5EF4-FFF2-40B4-BE49-F238E27FC236}">
                <a16:creationId xmlns:a16="http://schemas.microsoft.com/office/drawing/2014/main" id="{BE97DDB0-6D1E-4D7F-9EFF-2F3AACA3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050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3" name="c2-text-198">
            <a:extLst xmlns:a="http://schemas.openxmlformats.org/drawingml/2006/main">
              <a:ext uri="{FF2B5EF4-FFF2-40B4-BE49-F238E27FC236}">
                <a16:creationId xmlns:a16="http://schemas.microsoft.com/office/drawing/2014/main" id="{53199B94-39CF-4ECE-A43F-E52BFBEF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52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Retrieved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facts</a:t>
            </a:r>
          </a:p>
        </p:txBody>
      </p:sp>
      <p:sp>
        <p:nvSpPr>
          <p:cNvPr id="14" name="c2-shape-199">
            <a:extLst xmlns:a="http://schemas.openxmlformats.org/drawingml/2006/main">
              <a:ext uri="{FF2B5EF4-FFF2-40B4-BE49-F238E27FC236}">
                <a16:creationId xmlns:a16="http://schemas.microsoft.com/office/drawing/2014/main" id="{469DEAA1-DEC0-464C-BC95-E0984FFE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5" name="c2-text-200">
            <a:extLst xmlns:a="http://schemas.openxmlformats.org/drawingml/2006/main">
              <a:ext uri="{FF2B5EF4-FFF2-40B4-BE49-F238E27FC236}">
                <a16:creationId xmlns:a16="http://schemas.microsoft.com/office/drawing/2014/main" id="{B41A0B29-35FE-4628-8242-3DCA79CB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Current</a:t>
            </a:r>
          </a:p>
          <a:p xmlns:a="http://schemas.openxmlformats.org/drawingml/2006/main">
            <a:pPr algn="ctr">
              <a:defRPr sz="15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request</a:t>
            </a:r>
          </a:p>
        </p:txBody>
      </p:sp>
      <p:sp>
        <p:nvSpPr>
          <p:cNvPr id="16" name="c2-text-201">
            <a:extLst xmlns:a="http://schemas.openxmlformats.org/drawingml/2006/main">
              <a:ext uri="{FF2B5EF4-FFF2-40B4-BE49-F238E27FC236}">
                <a16:creationId xmlns:a16="http://schemas.microsoft.com/office/drawing/2014/main" id="{B0403798-26CE-4D96-93B2-16C7C053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92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application chooses what to keep, retrieve or summarise.</a:t>
            </a:r>
          </a:p>
        </p:txBody>
      </p:sp>
      <p:sp>
        <p:nvSpPr>
          <p:cNvPr id="17" name="c2-shape-202">
            <a:extLst xmlns:a="http://schemas.openxmlformats.org/drawingml/2006/main">
              <a:ext uri="{FF2B5EF4-FFF2-40B4-BE49-F238E27FC236}">
                <a16:creationId xmlns:a16="http://schemas.microsoft.com/office/drawing/2014/main" id="{D9EDF42B-0EED-42D9-A919-CD5DAB23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8" name="c2-text-203">
            <a:extLst xmlns:a="http://schemas.openxmlformats.org/drawingml/2006/main">
              <a:ext uri="{FF2B5EF4-FFF2-40B4-BE49-F238E27FC236}">
                <a16:creationId xmlns:a16="http://schemas.microsoft.com/office/drawing/2014/main" id="{417D21B8-1366-4E40-AD07-DFD7350E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7543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Like working memory, this is a limited active workspace.</a:t>
            </a:r>
          </a:p>
        </p:txBody>
      </p:sp>
      <p:sp>
        <p:nvSpPr>
          <p:cNvPr id="19" name="c2-text-292">
            <a:extLst xmlns:a="http://schemas.openxmlformats.org/drawingml/2006/main">
              <a:ext uri="{FF2B5EF4-FFF2-40B4-BE49-F238E27FC236}">
                <a16:creationId xmlns:a16="http://schemas.microsoft.com/office/drawing/2014/main" id="{461F9727-7CDC-4A5F-B71D-D905783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298778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2-text-204">
            <a:extLst xmlns:a="http://schemas.openxmlformats.org/drawingml/2006/main">
              <a:ext uri="{FF2B5EF4-FFF2-40B4-BE49-F238E27FC236}">
                <a16:creationId xmlns:a16="http://schemas.microsoft.com/office/drawing/2014/main" id="{7A0AAA37-B5AB-4BAA-A436-7DD6910C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205">
            <a:extLst xmlns:a="http://schemas.openxmlformats.org/drawingml/2006/main">
              <a:ext uri="{FF2B5EF4-FFF2-40B4-BE49-F238E27FC236}">
                <a16:creationId xmlns:a16="http://schemas.microsoft.com/office/drawing/2014/main" id="{8BD8B4A3-2EC2-4C8C-A02E-F86DFA39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Implementing Working Memory [8]</a:t>
            </a:r>
          </a:p>
        </p:txBody>
      </p:sp>
      <p:sp>
        <p:nvSpPr>
          <p:cNvPr id="3" name="c2-text-206">
            <a:extLst xmlns:a="http://schemas.openxmlformats.org/drawingml/2006/main">
              <a:ext uri="{FF2B5EF4-FFF2-40B4-BE49-F238E27FC236}">
                <a16:creationId xmlns:a16="http://schemas.microsoft.com/office/drawing/2014/main" id="{B53CBCE7-51D4-4E85-AF50-053E7DA9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207">
            <a:extLst xmlns:a="http://schemas.openxmlformats.org/drawingml/2006/main">
              <a:ext uri="{FF2B5EF4-FFF2-40B4-BE49-F238E27FC236}">
                <a16:creationId xmlns:a16="http://schemas.microsoft.com/office/drawing/2014/main" id="{FABB950D-B575-4F4F-AD88-0FD1BF8D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code selects and updates the active context.</a:t>
            </a:r>
          </a:p>
        </p:txBody>
      </p:sp>
      <p:sp>
        <p:nvSpPr>
          <p:cNvPr id="5" name="c2-shape-208">
            <a:extLst xmlns:a="http://schemas.openxmlformats.org/drawingml/2006/main">
              <a:ext uri="{FF2B5EF4-FFF2-40B4-BE49-F238E27FC236}">
                <a16:creationId xmlns:a16="http://schemas.microsoft.com/office/drawing/2014/main" id="{1165BE6B-6F05-45CC-AF81-BAD4787E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9248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6" name="c2-text-209">
            <a:extLst xmlns:a="http://schemas.openxmlformats.org/drawingml/2006/main">
              <a:ext uri="{FF2B5EF4-FFF2-40B4-BE49-F238E27FC236}">
                <a16:creationId xmlns:a16="http://schemas.microsoft.com/office/drawing/2014/main" id="{690DE2F9-3816-44F6-801D-4811D14C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7543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Working-memory system</a:t>
            </a:r>
          </a:p>
        </p:txBody>
      </p:sp>
      <p:sp>
        <p:nvSpPr>
          <p:cNvPr id="7" name="c2-shape-210">
            <a:extLst xmlns:a="http://schemas.openxmlformats.org/drawingml/2006/main">
              <a:ext uri="{FF2B5EF4-FFF2-40B4-BE49-F238E27FC236}">
                <a16:creationId xmlns:a16="http://schemas.microsoft.com/office/drawing/2014/main" id="{C4536E6B-620A-4923-AF6C-D6C31CCE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45148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8" name="c2-text-211">
            <a:extLst xmlns:a="http://schemas.openxmlformats.org/drawingml/2006/main">
              <a:ext uri="{FF2B5EF4-FFF2-40B4-BE49-F238E27FC236}">
                <a16:creationId xmlns:a16="http://schemas.microsoft.com/office/drawing/2014/main" id="{77FDB913-51F8-49F7-A55F-7E8FB3D7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4324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Prompt: active information</a:t>
            </a:r>
          </a:p>
        </p:txBody>
      </p:sp>
      <p:sp>
        <p:nvSpPr>
          <p:cNvPr id="9" name="c2-shape-212">
            <a:extLst xmlns:a="http://schemas.openxmlformats.org/drawingml/2006/main">
              <a:ext uri="{FF2B5EF4-FFF2-40B4-BE49-F238E27FC236}">
                <a16:creationId xmlns:a16="http://schemas.microsoft.com/office/drawing/2014/main" id="{52F1CC05-278B-4EF8-9D61-09D59302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0040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0" name="c2-shape-213">
            <a:extLst xmlns:a="http://schemas.openxmlformats.org/drawingml/2006/main">
              <a:ext uri="{FF2B5EF4-FFF2-40B4-BE49-F238E27FC236}">
                <a16:creationId xmlns:a16="http://schemas.microsoft.com/office/drawing/2014/main" id="{3AACC48A-2488-462E-8C17-FDE8115A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1" name="c2-text-214">
            <a:extLst xmlns:a="http://schemas.openxmlformats.org/drawingml/2006/main">
              <a:ext uri="{FF2B5EF4-FFF2-40B4-BE49-F238E27FC236}">
                <a16:creationId xmlns:a16="http://schemas.microsoft.com/office/drawing/2014/main" id="{77586D44-6763-4920-8867-912EC4ED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LLM: processing</a:t>
            </a:r>
          </a:p>
        </p:txBody>
      </p:sp>
      <p:sp>
        <p:nvSpPr>
          <p:cNvPr id="12" name="c2-text-215">
            <a:extLst xmlns:a="http://schemas.openxmlformats.org/drawingml/2006/main">
              <a:ext uri="{FF2B5EF4-FFF2-40B4-BE49-F238E27FC236}">
                <a16:creationId xmlns:a16="http://schemas.microsoft.com/office/drawing/2014/main" id="{39D6D2E0-6C29-4F93-A34B-6F5B5FAE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81425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Request, conversation, examples and retrieved facts</a:t>
            </a:r>
          </a:p>
        </p:txBody>
      </p:sp>
      <p:sp>
        <p:nvSpPr>
          <p:cNvPr id="13" name="c2-shape-216">
            <a:extLst xmlns:a="http://schemas.openxmlformats.org/drawingml/2006/main">
              <a:ext uri="{FF2B5EF4-FFF2-40B4-BE49-F238E27FC236}">
                <a16:creationId xmlns:a16="http://schemas.microsoft.com/office/drawing/2014/main" id="{97853A4B-4030-4C3F-9E21-8B52E878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4" name="c2-text-217">
            <a:extLst xmlns:a="http://schemas.openxmlformats.org/drawingml/2006/main">
              <a:ext uri="{FF2B5EF4-FFF2-40B4-BE49-F238E27FC236}">
                <a16:creationId xmlns:a16="http://schemas.microsoft.com/office/drawing/2014/main" id="{AEDF56D0-A44F-40ED-BD11-AA5A71B6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7543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code can be seen as a dynamic prompt manager.</a:t>
            </a:r>
          </a:p>
        </p:txBody>
      </p:sp>
      <p:sp>
        <p:nvSpPr>
          <p:cNvPr id="15" name="c2-text-293">
            <a:extLst xmlns:a="http://schemas.openxmlformats.org/drawingml/2006/main">
              <a:ext uri="{FF2B5EF4-FFF2-40B4-BE49-F238E27FC236}">
                <a16:creationId xmlns:a16="http://schemas.microsoft.com/office/drawing/2014/main" id="{53DC16CE-7926-4E59-8F0A-2F8896ED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722720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2-text-218">
            <a:extLst xmlns:a="http://schemas.openxmlformats.org/drawingml/2006/main">
              <a:ext uri="{FF2B5EF4-FFF2-40B4-BE49-F238E27FC236}">
                <a16:creationId xmlns:a16="http://schemas.microsoft.com/office/drawing/2014/main" id="{5664017F-DE4D-4082-B47A-54CA7162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219">
            <a:extLst xmlns:a="http://schemas.openxmlformats.org/drawingml/2006/main">
              <a:ext uri="{FF2B5EF4-FFF2-40B4-BE49-F238E27FC236}">
                <a16:creationId xmlns:a16="http://schemas.microsoft.com/office/drawing/2014/main" id="{AFB0C6DA-AC20-4112-8C21-ACE8C07F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Computational Cognitive Architecture [8]</a:t>
            </a:r>
          </a:p>
        </p:txBody>
      </p:sp>
      <p:sp>
        <p:nvSpPr>
          <p:cNvPr id="3" name="c2-text-220">
            <a:extLst xmlns:a="http://schemas.openxmlformats.org/drawingml/2006/main">
              <a:ext uri="{FF2B5EF4-FFF2-40B4-BE49-F238E27FC236}">
                <a16:creationId xmlns:a16="http://schemas.microsoft.com/office/drawing/2014/main" id="{9413C200-9430-489E-B4B6-745DDE2A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221">
            <a:extLst xmlns:a="http://schemas.openxmlformats.org/drawingml/2006/main">
              <a:ext uri="{FF2B5EF4-FFF2-40B4-BE49-F238E27FC236}">
                <a16:creationId xmlns:a16="http://schemas.microsoft.com/office/drawing/2014/main" id="{71CCA23C-EC55-403D-ADFB-DB5F857F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924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Code coordinates the LLM, working memory and other subsystems.</a:t>
            </a:r>
          </a:p>
        </p:txBody>
      </p:sp>
      <p:sp>
        <p:nvSpPr>
          <p:cNvPr id="5" name="c2-shape-222">
            <a:extLst xmlns:a="http://schemas.openxmlformats.org/drawingml/2006/main">
              <a:ext uri="{FF2B5EF4-FFF2-40B4-BE49-F238E27FC236}">
                <a16:creationId xmlns:a16="http://schemas.microsoft.com/office/drawing/2014/main" id="{482A99C5-FCDC-4700-B347-636E9681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8120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6" name="c2-text-223">
            <a:extLst xmlns:a="http://schemas.openxmlformats.org/drawingml/2006/main">
              <a:ext uri="{FF2B5EF4-FFF2-40B4-BE49-F238E27FC236}">
                <a16:creationId xmlns:a16="http://schemas.microsoft.com/office/drawing/2014/main" id="{4453F31D-5084-49A9-9DBB-49602104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2882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Long-term</a:t>
            </a:r>
          </a:p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7" name="c2-shape-224">
            <a:extLst xmlns:a="http://schemas.openxmlformats.org/drawingml/2006/main">
              <a:ext uri="{FF2B5EF4-FFF2-40B4-BE49-F238E27FC236}">
                <a16:creationId xmlns:a16="http://schemas.microsoft.com/office/drawing/2014/main" id="{720646AD-1B43-458C-9A93-5864D14D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A06B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8" name="c2-text-225">
            <a:extLst xmlns:a="http://schemas.openxmlformats.org/drawingml/2006/main">
              <a:ext uri="{FF2B5EF4-FFF2-40B4-BE49-F238E27FC236}">
                <a16:creationId xmlns:a16="http://schemas.microsoft.com/office/drawing/2014/main" id="{88A00D12-3903-400C-AC66-24C5CECC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003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Retrieval</a:t>
            </a:r>
          </a:p>
        </p:txBody>
      </p:sp>
      <p:sp>
        <p:nvSpPr>
          <p:cNvPr id="9" name="c2-shape-226">
            <a:extLst xmlns:a="http://schemas.openxmlformats.org/drawingml/2006/main">
              <a:ext uri="{FF2B5EF4-FFF2-40B4-BE49-F238E27FC236}">
                <a16:creationId xmlns:a16="http://schemas.microsoft.com/office/drawing/2014/main" id="{953A31B6-C15E-4DA0-8B82-5B57B05F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4114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10" name="c2-text-227">
            <a:extLst xmlns:a="http://schemas.openxmlformats.org/drawingml/2006/main">
              <a:ext uri="{FF2B5EF4-FFF2-40B4-BE49-F238E27FC236}">
                <a16:creationId xmlns:a16="http://schemas.microsoft.com/office/drawing/2014/main" id="{5E0ECDF6-E6E8-4E8C-8CA9-62606238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5275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Working memory</a:t>
            </a:r>
          </a:p>
        </p:txBody>
      </p:sp>
      <p:sp>
        <p:nvSpPr>
          <p:cNvPr id="11" name="c2-shape-228">
            <a:extLst xmlns:a="http://schemas.openxmlformats.org/drawingml/2006/main">
              <a:ext uri="{FF2B5EF4-FFF2-40B4-BE49-F238E27FC236}">
                <a16:creationId xmlns:a16="http://schemas.microsoft.com/office/drawing/2014/main" id="{CC4B5E09-4424-431E-8B9E-B8E4FBC4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28975"/>
            <a:ext cx="152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D9A06B"/>
            </a:solidFill>
          </a:ln>
        </p:spPr>
      </p:sp>
      <p:sp>
        <p:nvSpPr>
          <p:cNvPr id="12" name="c2-text-229">
            <a:extLst xmlns:a="http://schemas.openxmlformats.org/drawingml/2006/main">
              <a:ext uri="{FF2B5EF4-FFF2-40B4-BE49-F238E27FC236}">
                <a16:creationId xmlns:a16="http://schemas.microsoft.com/office/drawing/2014/main" id="{55EB05E9-AB1C-4CDA-AC10-40148E6C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13" name="c2-shape-230">
            <a:extLst xmlns:a="http://schemas.openxmlformats.org/drawingml/2006/main">
              <a:ext uri="{FF2B5EF4-FFF2-40B4-BE49-F238E27FC236}">
                <a16:creationId xmlns:a16="http://schemas.microsoft.com/office/drawing/2014/main" id="{31D19374-D7A6-4B97-99CF-D54D97D6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19475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4" name="c2-shape-231">
            <a:extLst xmlns:a="http://schemas.openxmlformats.org/drawingml/2006/main">
              <a:ext uri="{FF2B5EF4-FFF2-40B4-BE49-F238E27FC236}">
                <a16:creationId xmlns:a16="http://schemas.microsoft.com/office/drawing/2014/main" id="{17D95278-29D9-4D13-B8B5-695BF800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28975"/>
            <a:ext cx="152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5" name="c2-text-232">
            <a:extLst xmlns:a="http://schemas.openxmlformats.org/drawingml/2006/main">
              <a:ext uri="{FF2B5EF4-FFF2-40B4-BE49-F238E27FC236}">
                <a16:creationId xmlns:a16="http://schemas.microsoft.com/office/drawing/2014/main" id="{AC5C6F20-5581-473E-91DB-0FE2E591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766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LLM</a:t>
            </a:r>
          </a:p>
        </p:txBody>
      </p:sp>
      <p:sp>
        <p:nvSpPr>
          <p:cNvPr id="16" name="c2-shape-233">
            <a:extLst xmlns:a="http://schemas.openxmlformats.org/drawingml/2006/main">
              <a:ext uri="{FF2B5EF4-FFF2-40B4-BE49-F238E27FC236}">
                <a16:creationId xmlns:a16="http://schemas.microsoft.com/office/drawing/2014/main" id="{D56EDE87-39F1-47D7-BC56-93425BFD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485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7" name="c2-text-234">
            <a:extLst xmlns:a="http://schemas.openxmlformats.org/drawingml/2006/main">
              <a:ext uri="{FF2B5EF4-FFF2-40B4-BE49-F238E27FC236}">
                <a16:creationId xmlns:a16="http://schemas.microsoft.com/office/drawing/2014/main" id="{E01C7845-82C9-4B35-B7E2-8744EC0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Perception</a:t>
            </a:r>
          </a:p>
        </p:txBody>
      </p:sp>
      <p:sp>
        <p:nvSpPr>
          <p:cNvPr id="18" name="c2-shape-235">
            <a:extLst xmlns:a="http://schemas.openxmlformats.org/drawingml/2006/main">
              <a:ext uri="{FF2B5EF4-FFF2-40B4-BE49-F238E27FC236}">
                <a16:creationId xmlns:a16="http://schemas.microsoft.com/office/drawing/2014/main" id="{64825311-A6D2-4442-86C4-4600A3C0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28975"/>
            <a:ext cx="1485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19" name="c2-text-236">
            <a:extLst xmlns:a="http://schemas.openxmlformats.org/drawingml/2006/main">
              <a:ext uri="{FF2B5EF4-FFF2-40B4-BE49-F238E27FC236}">
                <a16:creationId xmlns:a16="http://schemas.microsoft.com/office/drawing/2014/main" id="{E9F04BCE-D5FD-426B-A50A-C009E0A6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Action</a:t>
            </a:r>
          </a:p>
        </p:txBody>
      </p:sp>
      <p:sp>
        <p:nvSpPr>
          <p:cNvPr id="20" name="c2-shape-237">
            <a:extLst xmlns:a="http://schemas.openxmlformats.org/drawingml/2006/main">
              <a:ext uri="{FF2B5EF4-FFF2-40B4-BE49-F238E27FC236}">
                <a16:creationId xmlns:a16="http://schemas.microsoft.com/office/drawing/2014/main" id="{EFE0130F-F25F-4D64-92B8-2EE3E30F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19475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21" name="c2-shape-238">
            <a:extLst xmlns:a="http://schemas.openxmlformats.org/drawingml/2006/main">
              <a:ext uri="{FF2B5EF4-FFF2-40B4-BE49-F238E27FC236}">
                <a16:creationId xmlns:a16="http://schemas.microsoft.com/office/drawing/2014/main" id="{93BCE5E2-A387-4DF9-9293-03ADE911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19475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22" name="c2-shape-239">
            <a:extLst xmlns:a="http://schemas.openxmlformats.org/drawingml/2006/main">
              <a:ext uri="{FF2B5EF4-FFF2-40B4-BE49-F238E27FC236}">
                <a16:creationId xmlns:a16="http://schemas.microsoft.com/office/drawing/2014/main" id="{F0D9CCE1-9F17-4AAD-97D2-CEA5951E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623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23" name="c2-shape-240">
            <a:extLst xmlns:a="http://schemas.openxmlformats.org/drawingml/2006/main">
              <a:ext uri="{FF2B5EF4-FFF2-40B4-BE49-F238E27FC236}">
                <a16:creationId xmlns:a16="http://schemas.microsoft.com/office/drawing/2014/main" id="{AFFB6244-1647-400C-A205-A0A99D71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76700"/>
            <a:ext cx="6448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24" name="c2-shape-241">
            <a:extLst xmlns:a="http://schemas.openxmlformats.org/drawingml/2006/main">
              <a:ext uri="{FF2B5EF4-FFF2-40B4-BE49-F238E27FC236}">
                <a16:creationId xmlns:a16="http://schemas.microsoft.com/office/drawing/2014/main" id="{F8191F6A-D863-4716-93C4-49955CDD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62375"/>
            <a:ext cx="152400" cy="3238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7FA8E3"/>
          </a:solidFill>
          <a:ln xmlns:a="http://schemas.openxmlformats.org/drawingml/2006/main" w="11430">
            <a:solidFill>
              <a:srgbClr val="7FA8E3"/>
            </a:solidFill>
          </a:ln>
        </p:spPr>
      </p:sp>
      <p:sp>
        <p:nvSpPr>
          <p:cNvPr id="25" name="c2-shape-242">
            <a:extLst xmlns:a="http://schemas.openxmlformats.org/drawingml/2006/main">
              <a:ext uri="{FF2B5EF4-FFF2-40B4-BE49-F238E27FC236}">
                <a16:creationId xmlns:a16="http://schemas.microsoft.com/office/drawing/2014/main" id="{41CD2302-054F-406B-9DA7-2278EC8A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924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21A27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26" name="c2-text-243">
            <a:extLst xmlns:a="http://schemas.openxmlformats.org/drawingml/2006/main">
              <a:ext uri="{FF2B5EF4-FFF2-40B4-BE49-F238E27FC236}">
                <a16:creationId xmlns:a16="http://schemas.microsoft.com/office/drawing/2014/main" id="{9E269C8C-072E-489E-BB03-58A2C9BA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7543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architecture is the code that controls the whole loop.</a:t>
            </a:r>
          </a:p>
        </p:txBody>
      </p:sp>
      <p:sp>
        <p:nvSpPr>
          <p:cNvPr id="27" name="c2-text-294">
            <a:extLst xmlns:a="http://schemas.openxmlformats.org/drawingml/2006/main">
              <a:ext uri="{FF2B5EF4-FFF2-40B4-BE49-F238E27FC236}">
                <a16:creationId xmlns:a16="http://schemas.microsoft.com/office/drawing/2014/main" id="{231CD039-7D37-4DE0-9294-DC7207D8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159415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c2-text-244">
            <a:extLst xmlns:a="http://schemas.openxmlformats.org/drawingml/2006/main">
              <a:ext uri="{FF2B5EF4-FFF2-40B4-BE49-F238E27FC236}">
                <a16:creationId xmlns:a16="http://schemas.microsoft.com/office/drawing/2014/main" id="{CDFA13A7-CE6E-458A-8476-EEA1AC1E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c2-text-245">
            <a:extLst xmlns:a="http://schemas.openxmlformats.org/drawingml/2006/main">
              <a:ext uri="{FF2B5EF4-FFF2-40B4-BE49-F238E27FC236}">
                <a16:creationId xmlns:a16="http://schemas.microsoft.com/office/drawing/2014/main" id="{95994F9E-D22C-4766-986F-BF4AD896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92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3" name="c2-text-246">
            <a:extLst xmlns:a="http://schemas.openxmlformats.org/drawingml/2006/main">
              <a:ext uri="{FF2B5EF4-FFF2-40B4-BE49-F238E27FC236}">
                <a16:creationId xmlns:a16="http://schemas.microsoft.com/office/drawing/2014/main" id="{F096ECEF-27C0-43E7-BB45-AF7DE5A3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Module 1 · Chapter 02</a:t>
            </a:r>
          </a:p>
        </p:txBody>
      </p:sp>
      <p:sp>
        <p:nvSpPr>
          <p:cNvPr id="4" name="c2-text-247">
            <a:extLst xmlns:a="http://schemas.openxmlformats.org/drawingml/2006/main">
              <a:ext uri="{FF2B5EF4-FFF2-40B4-BE49-F238E27FC236}">
                <a16:creationId xmlns:a16="http://schemas.microsoft.com/office/drawing/2014/main" id="{33F6695B-05A4-4C55-ADD3-E660034A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[1] Vaswani et al. (2017)</a:t>
            </a:r>
          </a:p>
        </p:txBody>
      </p:sp>
      <p:sp>
        <p:nvSpPr>
          <p:cNvPr id="5" name="c2-text-248">
            <a:hlinkClick xmlns:r="http://schemas.openxmlformats.org/officeDocument/2006/relationships" xmlns:a="http://schemas.openxmlformats.org/drawingml/2006/main" r:id="Rbb310e05aa524dc4"/>
            <a:extLst xmlns:a="http://schemas.openxmlformats.org/drawingml/2006/main">
              <a:ext uri="{FF2B5EF4-FFF2-40B4-BE49-F238E27FC236}">
                <a16:creationId xmlns:a16="http://schemas.microsoft.com/office/drawing/2014/main" id="{96994E53-07CF-4794-AADA-7D48BC6B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Attention Is All You Need</a:t>
            </a:r>
          </a:p>
        </p:txBody>
      </p:sp>
      <p:sp>
        <p:nvSpPr>
          <p:cNvPr id="6" name="c2-shape-249">
            <a:extLst xmlns:a="http://schemas.openxmlformats.org/drawingml/2006/main">
              <a:ext uri="{FF2B5EF4-FFF2-40B4-BE49-F238E27FC236}">
                <a16:creationId xmlns:a16="http://schemas.microsoft.com/office/drawing/2014/main" id="{66017DD1-E34C-4CD4-8CFA-13689D24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7" name="c2-text-250">
            <a:extLst xmlns:a="http://schemas.openxmlformats.org/drawingml/2006/main">
              <a:ext uri="{FF2B5EF4-FFF2-40B4-BE49-F238E27FC236}">
                <a16:creationId xmlns:a16="http://schemas.microsoft.com/office/drawing/2014/main" id="{E3E4ADB0-2FE4-4270-86B2-B09835BC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[2] Radford et al. (2019)</a:t>
            </a:r>
          </a:p>
        </p:txBody>
      </p:sp>
      <p:sp>
        <p:nvSpPr>
          <p:cNvPr id="8" name="c2-text-251">
            <a:hlinkClick xmlns:r="http://schemas.openxmlformats.org/officeDocument/2006/relationships" xmlns:a="http://schemas.openxmlformats.org/drawingml/2006/main" r:id="R26056e7789794660"/>
            <a:extLst xmlns:a="http://schemas.openxmlformats.org/drawingml/2006/main">
              <a:ext uri="{FF2B5EF4-FFF2-40B4-BE49-F238E27FC236}">
                <a16:creationId xmlns:a16="http://schemas.microsoft.com/office/drawing/2014/main" id="{E2555418-AFE8-496B-89D0-6855AA20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Language Models are Unsupervised</a:t>
            </a:r>
          </a:p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Multitask Learners</a:t>
            </a:r>
          </a:p>
        </p:txBody>
      </p:sp>
      <p:sp>
        <p:nvSpPr>
          <p:cNvPr id="9" name="c2-shape-252">
            <a:extLst xmlns:a="http://schemas.openxmlformats.org/drawingml/2006/main">
              <a:ext uri="{FF2B5EF4-FFF2-40B4-BE49-F238E27FC236}">
                <a16:creationId xmlns:a16="http://schemas.microsoft.com/office/drawing/2014/main" id="{E97D0325-97BE-4962-AF16-DEA56235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0" name="c2-text-253">
            <a:extLst xmlns:a="http://schemas.openxmlformats.org/drawingml/2006/main">
              <a:ext uri="{FF2B5EF4-FFF2-40B4-BE49-F238E27FC236}">
                <a16:creationId xmlns:a16="http://schemas.microsoft.com/office/drawing/2014/main" id="{3F0D46FB-9FB0-4122-87E4-0E8C6F80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[3] Kaplan et al. (2020)</a:t>
            </a:r>
          </a:p>
        </p:txBody>
      </p:sp>
      <p:sp>
        <p:nvSpPr>
          <p:cNvPr id="11" name="c2-text-254">
            <a:hlinkClick xmlns:r="http://schemas.openxmlformats.org/officeDocument/2006/relationships" xmlns:a="http://schemas.openxmlformats.org/drawingml/2006/main" r:id="R80a5733193134593"/>
            <a:extLst xmlns:a="http://schemas.openxmlformats.org/drawingml/2006/main">
              <a:ext uri="{FF2B5EF4-FFF2-40B4-BE49-F238E27FC236}">
                <a16:creationId xmlns:a16="http://schemas.microsoft.com/office/drawing/2014/main" id="{C6404616-747D-4500-B415-76E3E4E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Scaling Laws for Neural Language Models</a:t>
            </a:r>
          </a:p>
        </p:txBody>
      </p:sp>
      <p:sp>
        <p:nvSpPr>
          <p:cNvPr id="12" name="c2-shape-255">
            <a:extLst xmlns:a="http://schemas.openxmlformats.org/drawingml/2006/main">
              <a:ext uri="{FF2B5EF4-FFF2-40B4-BE49-F238E27FC236}">
                <a16:creationId xmlns:a16="http://schemas.microsoft.com/office/drawing/2014/main" id="{79349076-4055-4ACD-B919-258F086D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3" name="c2-text-256">
            <a:extLst xmlns:a="http://schemas.openxmlformats.org/drawingml/2006/main">
              <a:ext uri="{FF2B5EF4-FFF2-40B4-BE49-F238E27FC236}">
                <a16:creationId xmlns:a16="http://schemas.microsoft.com/office/drawing/2014/main" id="{4182EAD1-1372-4D35-A7BE-C9ECB780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[4] Brown et al. (2020)</a:t>
            </a:r>
          </a:p>
        </p:txBody>
      </p:sp>
      <p:sp>
        <p:nvSpPr>
          <p:cNvPr id="14" name="c2-text-257">
            <a:hlinkClick xmlns:r="http://schemas.openxmlformats.org/officeDocument/2006/relationships" xmlns:a="http://schemas.openxmlformats.org/drawingml/2006/main" r:id="Re242ce43df05457e"/>
            <a:extLst xmlns:a="http://schemas.openxmlformats.org/drawingml/2006/main">
              <a:ext uri="{FF2B5EF4-FFF2-40B4-BE49-F238E27FC236}">
                <a16:creationId xmlns:a16="http://schemas.microsoft.com/office/drawing/2014/main" id="{83ADD8A7-DDBE-49ED-B5DC-EFDAB517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Language Models are Few-Shot Learners</a:t>
            </a:r>
          </a:p>
        </p:txBody>
      </p:sp>
      <p:sp>
        <p:nvSpPr>
          <p:cNvPr id="15" name="c2-shape-258">
            <a:extLst xmlns:a="http://schemas.openxmlformats.org/drawingml/2006/main">
              <a:ext uri="{FF2B5EF4-FFF2-40B4-BE49-F238E27FC236}">
                <a16:creationId xmlns:a16="http://schemas.microsoft.com/office/drawing/2014/main" id="{9D5CE2E5-B2B8-4460-A065-5E62FC19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16" name="c2-text-259">
            <a:extLst xmlns:a="http://schemas.openxmlformats.org/drawingml/2006/main">
              <a:ext uri="{FF2B5EF4-FFF2-40B4-BE49-F238E27FC236}">
                <a16:creationId xmlns:a16="http://schemas.microsoft.com/office/drawing/2014/main" id="{A9BCCDDD-CA5B-47C0-8263-6A52A2A7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[5] Financial Times (2023)</a:t>
            </a:r>
          </a:p>
        </p:txBody>
      </p:sp>
      <p:sp>
        <p:nvSpPr>
          <p:cNvPr id="17" name="c2-text-260">
            <a:hlinkClick xmlns:r="http://schemas.openxmlformats.org/officeDocument/2006/relationships" xmlns:a="http://schemas.openxmlformats.org/drawingml/2006/main" r:id="Ra73bc64ab0bc4c2c"/>
            <a:extLst xmlns:a="http://schemas.openxmlformats.org/drawingml/2006/main">
              <a:ext uri="{FF2B5EF4-FFF2-40B4-BE49-F238E27FC236}">
                <a16:creationId xmlns:a16="http://schemas.microsoft.com/office/drawing/2014/main" id="{D85A921E-0187-4077-87F5-738B0E8B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Generative AI exists because</a:t>
            </a:r>
          </a:p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of the transformer</a:t>
            </a:r>
          </a:p>
        </p:txBody>
      </p:sp>
      <p:sp>
        <p:nvSpPr>
          <p:cNvPr id="18" name="c2-text-261">
            <a:extLst xmlns:a="http://schemas.openxmlformats.org/drawingml/2006/main">
              <a:ext uri="{FF2B5EF4-FFF2-40B4-BE49-F238E27FC236}">
                <a16:creationId xmlns:a16="http://schemas.microsoft.com/office/drawing/2014/main" id="{8D39CA7F-FD1E-423D-BCB1-2F3ADB69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38275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[6] Dong et al. (2024 revision)</a:t>
            </a:r>
          </a:p>
        </p:txBody>
      </p:sp>
      <p:sp>
        <p:nvSpPr>
          <p:cNvPr id="19" name="c2-text-262">
            <a:hlinkClick xmlns:r="http://schemas.openxmlformats.org/officeDocument/2006/relationships" xmlns:a="http://schemas.openxmlformats.org/drawingml/2006/main" r:id="R0ccde03e1b8c46c0"/>
            <a:extLst xmlns:a="http://schemas.openxmlformats.org/drawingml/2006/main">
              <a:ext uri="{FF2B5EF4-FFF2-40B4-BE49-F238E27FC236}">
                <a16:creationId xmlns:a16="http://schemas.microsoft.com/office/drawing/2014/main" id="{49FDFC32-0708-46ED-9671-1ADB0F79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573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Survey on In-context Learning</a:t>
            </a:r>
          </a:p>
        </p:txBody>
      </p:sp>
      <p:sp>
        <p:nvSpPr>
          <p:cNvPr id="20" name="c2-shape-263">
            <a:extLst xmlns:a="http://schemas.openxmlformats.org/drawingml/2006/main">
              <a:ext uri="{FF2B5EF4-FFF2-40B4-BE49-F238E27FC236}">
                <a16:creationId xmlns:a16="http://schemas.microsoft.com/office/drawing/2014/main" id="{F51C74B2-D159-41BC-B3E7-3EE940E8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478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21" name="c2-text-264">
            <a:extLst xmlns:a="http://schemas.openxmlformats.org/drawingml/2006/main">
              <a:ext uri="{FF2B5EF4-FFF2-40B4-BE49-F238E27FC236}">
                <a16:creationId xmlns:a16="http://schemas.microsoft.com/office/drawing/2014/main" id="{9F5E952E-528D-4F19-858C-024E717C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[7] Ouyang et al. (2022)</a:t>
            </a:r>
          </a:p>
        </p:txBody>
      </p:sp>
      <p:sp>
        <p:nvSpPr>
          <p:cNvPr id="22" name="c2-text-265">
            <a:hlinkClick xmlns:r="http://schemas.openxmlformats.org/officeDocument/2006/relationships" xmlns:a="http://schemas.openxmlformats.org/drawingml/2006/main" r:id="R4d167182caa84a7d"/>
            <a:extLst xmlns:a="http://schemas.openxmlformats.org/drawingml/2006/main">
              <a:ext uri="{FF2B5EF4-FFF2-40B4-BE49-F238E27FC236}">
                <a16:creationId xmlns:a16="http://schemas.microsoft.com/office/drawing/2014/main" id="{F7504D1D-4EE3-46E1-A498-86A7EEC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955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Training language models to follow</a:t>
            </a:r>
          </a:p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instructions with human feedback</a:t>
            </a:r>
          </a:p>
        </p:txBody>
      </p:sp>
      <p:sp>
        <p:nvSpPr>
          <p:cNvPr id="23" name="c2-shape-266">
            <a:extLst xmlns:a="http://schemas.openxmlformats.org/drawingml/2006/main">
              <a:ext uri="{FF2B5EF4-FFF2-40B4-BE49-F238E27FC236}">
                <a16:creationId xmlns:a16="http://schemas.microsoft.com/office/drawing/2014/main" id="{24898EC0-0529-45AC-B07F-79C97F4E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24" name="c2-text-267">
            <a:extLst xmlns:a="http://schemas.openxmlformats.org/drawingml/2006/main">
              <a:ext uri="{FF2B5EF4-FFF2-40B4-BE49-F238E27FC236}">
                <a16:creationId xmlns:a16="http://schemas.microsoft.com/office/drawing/2014/main" id="{AB745075-5AA5-414D-81B3-B846B12C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[8] Sumers et al. (2024)</a:t>
            </a:r>
          </a:p>
        </p:txBody>
      </p:sp>
      <p:sp>
        <p:nvSpPr>
          <p:cNvPr id="25" name="c2-text-268">
            <a:hlinkClick xmlns:r="http://schemas.openxmlformats.org/officeDocument/2006/relationships" xmlns:a="http://schemas.openxmlformats.org/drawingml/2006/main" r:id="R9db4aa6748664c3f"/>
            <a:extLst xmlns:a="http://schemas.openxmlformats.org/drawingml/2006/main">
              <a:ext uri="{FF2B5EF4-FFF2-40B4-BE49-F238E27FC236}">
                <a16:creationId xmlns:a16="http://schemas.microsoft.com/office/drawing/2014/main" id="{C16E8633-D536-47D3-8B0B-D171DFA5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Cognitive Architectures for Language Agents</a:t>
            </a:r>
          </a:p>
        </p:txBody>
      </p:sp>
      <p:sp>
        <p:nvSpPr>
          <p:cNvPr id="26" name="c2-shape-269">
            <a:extLst xmlns:a="http://schemas.openxmlformats.org/drawingml/2006/main">
              <a:ext uri="{FF2B5EF4-FFF2-40B4-BE49-F238E27FC236}">
                <a16:creationId xmlns:a16="http://schemas.microsoft.com/office/drawing/2014/main" id="{9541DAB9-6CF3-4264-B58F-0814826F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242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27" name="c2-text-270">
            <a:extLst xmlns:a="http://schemas.openxmlformats.org/drawingml/2006/main">
              <a:ext uri="{FF2B5EF4-FFF2-40B4-BE49-F238E27FC236}">
                <a16:creationId xmlns:a16="http://schemas.microsoft.com/office/drawing/2014/main" id="{7D110534-A161-4C5E-BC53-0A6D40D8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[9] Goodfellow et al. (2016)</a:t>
            </a:r>
          </a:p>
        </p:txBody>
      </p:sp>
      <p:sp>
        <p:nvSpPr>
          <p:cNvPr id="28" name="c2-text-271">
            <a:hlinkClick xmlns:r="http://schemas.openxmlformats.org/officeDocument/2006/relationships" xmlns:a="http://schemas.openxmlformats.org/drawingml/2006/main" r:id="Rf7c87aa987fa4242"/>
            <a:extLst xmlns:a="http://schemas.openxmlformats.org/drawingml/2006/main">
              <a:ext uri="{FF2B5EF4-FFF2-40B4-BE49-F238E27FC236}">
                <a16:creationId xmlns:a16="http://schemas.microsoft.com/office/drawing/2014/main" id="{72B2C5FF-3FEB-4045-BAA8-4BC7CD9E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Deep Learning: Introduction</a:t>
            </a:r>
          </a:p>
        </p:txBody>
      </p:sp>
      <p:sp>
        <p:nvSpPr>
          <p:cNvPr id="29" name="c2-shape-272">
            <a:extLst xmlns:a="http://schemas.openxmlformats.org/drawingml/2006/main">
              <a:ext uri="{FF2B5EF4-FFF2-40B4-BE49-F238E27FC236}">
                <a16:creationId xmlns:a16="http://schemas.microsoft.com/office/drawing/2014/main" id="{2B2C329F-193A-4DF7-8849-D608A0B2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58"/>
          </a:solidFill>
          <a:ln xmlns:a="http://schemas.openxmlformats.org/drawingml/2006/main" w="11430">
            <a:solidFill>
              <a:srgbClr val="3A4458"/>
            </a:solidFill>
          </a:ln>
        </p:spPr>
      </p:sp>
      <p:sp>
        <p:nvSpPr>
          <p:cNvPr id="30" name="c2-text-273">
            <a:extLst xmlns:a="http://schemas.openxmlformats.org/drawingml/2006/main">
              <a:ext uri="{FF2B5EF4-FFF2-40B4-BE49-F238E27FC236}">
                <a16:creationId xmlns:a16="http://schemas.microsoft.com/office/drawing/2014/main" id="{06C0FBE8-5E5E-4AF5-84DA-EF997E13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0975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[10] Zhao et al.</a:t>
            </a:r>
          </a:p>
        </p:txBody>
      </p:sp>
      <p:sp>
        <p:nvSpPr>
          <p:cNvPr id="31" name="c2-text-274">
            <a:hlinkClick xmlns:r="http://schemas.openxmlformats.org/officeDocument/2006/relationships" xmlns:a="http://schemas.openxmlformats.org/drawingml/2006/main" r:id="R498989b654ef4e17"/>
            <a:extLst xmlns:a="http://schemas.openxmlformats.org/drawingml/2006/main">
              <a:ext uri="{FF2B5EF4-FFF2-40B4-BE49-F238E27FC236}">
                <a16:creationId xmlns:a16="http://schemas.microsoft.com/office/drawing/2014/main" id="{87F71953-45E1-425A-91BA-DEACD759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275" b="0" u="sng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 Survey of Large Language Models</a:t>
            </a:r>
          </a:p>
        </p:txBody>
      </p:sp>
      <p:sp>
        <p:nvSpPr>
          <p:cNvPr id="32" name="c2-text-295">
            <a:extLst xmlns:a="http://schemas.openxmlformats.org/drawingml/2006/main">
              <a:ext uri="{FF2B5EF4-FFF2-40B4-BE49-F238E27FC236}">
                <a16:creationId xmlns:a16="http://schemas.microsoft.com/office/drawing/2014/main" id="{E6338427-127F-4447-8153-2E872AE7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815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4BDCB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B4BDCB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629237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2026-10-28T18:03:13.9940000Z</dcterms:created>
  <dcterms:modified xsi:type="dcterms:W3CDTF">2026-10-28T18:03:13.9940000Z</dcterms:modified>
</coreProperties>
</file>