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60589c93634a50" /><Relationship Type="http://schemas.openxmlformats.org/officeDocument/2006/relationships/extended-properties" Target="/docProps/app.xml" Id="R378b4c94ec8e4f60" /><Relationship Type="http://schemas.openxmlformats.org/officeDocument/2006/relationships/officeDocument" Target="/ppt/presentation.xml" Id="R959f791c5c4e4168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0880c4c91ffa4251"/>
  </ns0:sldMasterIdLst>
  <ns0:sldIdLst>
    <ns0:sldId id="256" ns1:id="R7d21a3ff6eba46fe"/>
    <ns0:sldId id="257" ns1:id="Rde48efeea0694f1f"/>
    <ns0:sldId id="258" ns1:id="Rfb79f3312c624458"/>
    <ns0:sldId id="259" ns1:id="Rd49d4236175d475a"/>
    <ns0:sldId id="260" ns1:id="Rba9d9ce91c214c3e"/>
    <ns0:sldId id="261" ns1:id="R52b6bc7552ad42cc"/>
    <ns0:sldId id="262" ns1:id="R110fc55cb4fa4198"/>
    <ns0:sldId id="263" ns1:id="R30bd59f05d444e9a"/>
    <ns0:sldId id="264" ns1:id="R4f01ac0456624f16"/>
    <ns0:sldId id="265" ns1:id="R4e36b492f5ab4a4a"/>
    <ns0:sldId id="266" ns1:id="Rc0046d6542a84475"/>
    <ns0:sldId id="267" ns1:id="R4208634bbb354e66"/>
    <ns0:sldId id="268" ns1:id="Re6977c5db7ce44d9"/>
    <ns0:sldId id="269" ns1:id="R2f33c5dbd2834373"/>
    <ns0:sldId id="270" ns1:id="R85a8e2790b794744"/>
    <ns0:sldId id="271" ns1:id="R35907585dc5b4625"/>
    <ns0:sldId id="272" ns1:id="Rbd4f71c8ff614eab"/>
    <ns0:sldId id="273" ns1:id="R835083c7de2d47bb"/>
    <ns0:sldId id="274" ns1:id="Rbe72f974689f449b"/>
    <ns0:sldId id="275" ns1:id="Rbf8a36270d274ea0"/>
    <ns0:sldId id="276" ns1:id="R87a16bc246634e6a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fcb52b849f5b4514" /><ns0:Relationship Type="http://schemas.openxmlformats.org/officeDocument/2006/relationships/slideMaster" Target="/ppt/slideMasters/slideMaster1.xml" Id="R0880c4c91ffa4251" /><ns0:Relationship Type="http://schemas.openxmlformats.org/officeDocument/2006/relationships/presProps" Target="/ppt/presProps.xml" Id="R8a8c267b9f6a4d11" /><ns0:Relationship Type="http://schemas.openxmlformats.org/officeDocument/2006/relationships/viewProps" Target="/ppt/viewProps.xml" Id="R85e86c4a25cd498c" /><ns0:Relationship Type="http://schemas.openxmlformats.org/officeDocument/2006/relationships/tableStyles" Target="/ppt/tableStyles.xml" Id="R3438f978947148df" /><ns0:Relationship Type="http://schemas.openxmlformats.org/officeDocument/2006/relationships/slide" Target="/ppt/slides/slide1.xml" Id="R7d21a3ff6eba46fe" /><ns0:Relationship Type="http://schemas.openxmlformats.org/officeDocument/2006/relationships/slide" Target="/ppt/slides/slide2.xml" Id="Rde48efeea0694f1f" /><ns0:Relationship Type="http://schemas.openxmlformats.org/officeDocument/2006/relationships/slide" Target="/ppt/slides/slide3.xml" Id="Rfb79f3312c624458" /><ns0:Relationship Type="http://schemas.openxmlformats.org/officeDocument/2006/relationships/slide" Target="/ppt/slides/slide4.xml" Id="Rd49d4236175d475a" /><ns0:Relationship Type="http://schemas.openxmlformats.org/officeDocument/2006/relationships/slide" Target="/ppt/slides/slide5.xml" Id="Rba9d9ce91c214c3e" /><ns0:Relationship Type="http://schemas.openxmlformats.org/officeDocument/2006/relationships/slide" Target="/ppt/slides/slide6.xml" Id="R52b6bc7552ad42cc" /><ns0:Relationship Type="http://schemas.openxmlformats.org/officeDocument/2006/relationships/slide" Target="/ppt/slides/slide7.xml" Id="R110fc55cb4fa4198" /><ns0:Relationship Type="http://schemas.openxmlformats.org/officeDocument/2006/relationships/slide" Target="/ppt/slides/slide8.xml" Id="R30bd59f05d444e9a" /><ns0:Relationship Type="http://schemas.openxmlformats.org/officeDocument/2006/relationships/slide" Target="/ppt/slides/slide9.xml" Id="R4f01ac0456624f16" /><ns0:Relationship Type="http://schemas.openxmlformats.org/officeDocument/2006/relationships/slide" Target="/ppt/slides/slide10.xml" Id="R4e36b492f5ab4a4a" /><ns0:Relationship Type="http://schemas.openxmlformats.org/officeDocument/2006/relationships/slide" Target="/ppt/slides/slide11.xml" Id="Rc0046d6542a84475" /><ns0:Relationship Type="http://schemas.openxmlformats.org/officeDocument/2006/relationships/slide" Target="/ppt/slides/slide12.xml" Id="R4208634bbb354e66" /><ns0:Relationship Type="http://schemas.openxmlformats.org/officeDocument/2006/relationships/slide" Target="/ppt/slides/slide13.xml" Id="Re6977c5db7ce44d9" /><ns0:Relationship Type="http://schemas.openxmlformats.org/officeDocument/2006/relationships/slide" Target="/ppt/slides/slide14.xml" Id="R2f33c5dbd2834373" /><ns0:Relationship Type="http://schemas.openxmlformats.org/officeDocument/2006/relationships/slide" Target="/ppt/slides/slide15.xml" Id="R85a8e2790b794744" /><ns0:Relationship Type="http://schemas.openxmlformats.org/officeDocument/2006/relationships/slide" Target="/ppt/slides/slide16.xml" Id="R35907585dc5b4625" /><ns0:Relationship Type="http://schemas.openxmlformats.org/officeDocument/2006/relationships/slide" Target="/ppt/slides/slide17.xml" Id="Rbd4f71c8ff614eab" /><ns0:Relationship Type="http://schemas.openxmlformats.org/officeDocument/2006/relationships/slide" Target="/ppt/slides/slide18.xml" Id="R835083c7de2d47bb" /><ns0:Relationship Type="http://schemas.openxmlformats.org/officeDocument/2006/relationships/slide" Target="/ppt/slides/slide19.xml" Id="Rbe72f974689f449b" /><ns0:Relationship Type="http://schemas.openxmlformats.org/officeDocument/2006/relationships/slide" Target="/ppt/slides/slide20.xml" Id="Rbf8a36270d274ea0" /><ns0:Relationship Type="http://schemas.openxmlformats.org/officeDocument/2006/relationships/slide" Target="/ppt/slides/slide21.xml" Id="R87a16bc246634e6a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e10a853a9546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1f0ed1dbee4a7c" /><Relationship Type="http://schemas.openxmlformats.org/officeDocument/2006/relationships/image" Target="/ppt/media/image.jpeg" Id="Raee4380039ed47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26be5d76e84408" /><Relationship Type="http://schemas.openxmlformats.org/officeDocument/2006/relationships/image" Target="/ppt/media/image.png" Id="Rb5e4c5a3cbc8469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7b5dcc889b4d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2a7b3189fc48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f0980c25640a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bcb55f25444ef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f22d147994bc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4380039ed47c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4c5a3cbc8469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734cb00d64505" /><Relationship Type="http://schemas.openxmlformats.org/officeDocument/2006/relationships/slideLayout" Target="/ppt/slideLayouts/slideLayout1.xml" Id="R29fb9420ce7942b9" /><Relationship Type="http://schemas.openxmlformats.org/officeDocument/2006/relationships/slideLayout" Target="/ppt/slideLayouts/slideLayout2.xml" Id="R31a699e5150d4e7b" /><Relationship Type="http://schemas.openxmlformats.org/officeDocument/2006/relationships/slideLayout" Target="/ppt/slideLayouts/slideLayout3.xml" Id="Rc5a970696fb74321" /><Relationship Type="http://schemas.openxmlformats.org/officeDocument/2006/relationships/slideLayout" Target="/ppt/slideLayouts/slideLayout4.xml" Id="Rf51decb16a3b416e" /><Relationship Type="http://schemas.openxmlformats.org/officeDocument/2006/relationships/slideLayout" Target="/ppt/slideLayouts/slideLayout5.xml" Id="R36a99b9eaf2046ab" /><Relationship Type="http://schemas.openxmlformats.org/officeDocument/2006/relationships/slideLayout" Target="/ppt/slideLayouts/slideLayout6.xml" Id="R05a2f125a56a4a39" /><Relationship Type="http://schemas.openxmlformats.org/officeDocument/2006/relationships/slideLayout" Target="/ppt/slideLayouts/slideLayout7.xml" Id="R72e3a56bf07a474e" /><Relationship Type="http://schemas.openxmlformats.org/officeDocument/2006/relationships/slideLayout" Target="/ppt/slideLayouts/slideLayout8.xml" Id="Re9c7673efed14d2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fb9420ce7942b9"/>
    <p:sldLayoutId xmlns:r="http://schemas.openxmlformats.org/officeDocument/2006/relationships" id="2147483650" r:id="R31a699e5150d4e7b"/>
    <p:sldLayoutId xmlns:r="http://schemas.openxmlformats.org/officeDocument/2006/relationships" id="2147483651" r:id="Rc5a970696fb74321"/>
    <p:sldLayoutId xmlns:r="http://schemas.openxmlformats.org/officeDocument/2006/relationships" id="2147483652" r:id="Rf51decb16a3b416e"/>
    <p:sldLayoutId xmlns:r="http://schemas.openxmlformats.org/officeDocument/2006/relationships" id="2147483653" r:id="R36a99b9eaf2046ab"/>
    <p:sldLayoutId xmlns:r="http://schemas.openxmlformats.org/officeDocument/2006/relationships" id="2147483654" r:id="R05a2f125a56a4a39"/>
    <p:sldLayoutId xmlns:r="http://schemas.openxmlformats.org/officeDocument/2006/relationships" id="2147483655" r:id="R72e3a56bf07a474e"/>
    <p:sldLayoutId xmlns:r="http://schemas.openxmlformats.org/officeDocument/2006/relationships" id="2147483656" r:id="Re9c7673efed14d2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bef2662bd26d404e" /><ns0:Relationship Type="http://schemas.openxmlformats.org/officeDocument/2006/relationships/image" Target="/ppt/media/image2.png" Id="Rf92f12e02ccd4989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c927009a224905" /><ns0:Relationship Type="http://schemas.openxmlformats.org/officeDocument/2006/relationships/image" Target="/ppt/media/image3.png" Id="Rf4c45642b2ef47f1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b81da5a50f4a15" /><ns0:Relationship Type="http://schemas.openxmlformats.org/officeDocument/2006/relationships/image" Target="/ppt/media/image4.png" Id="R434c20e1e3e54bb8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ed4dc95e3042d1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1ad6f2bb064a30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2d0f9c207b4995" /><ns0:Relationship Type="http://schemas.openxmlformats.org/officeDocument/2006/relationships/image" Target="/ppt/media/image5.png" Id="Rf06788ed31c14ec7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b2f5361f264530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c5750f0cf5540a9" /><ns0:Relationship Type="http://schemas.openxmlformats.org/officeDocument/2006/relationships/hyperlink" Target="https://ig.ft.com/generative-ai/" TargetMode="External" Id="R7e6476bdda8e4946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d21b912f2541da" /><ns0:Relationship Type="http://schemas.openxmlformats.org/officeDocument/2006/relationships/hyperlink" Target="https://kahoot.it/" TargetMode="External" Id="Rcebdc8a9f5a54e59" /><ns0:Relationship Type="http://schemas.openxmlformats.org/officeDocument/2006/relationships/image" Target="/ppt/media/image6.png" Id="R2947a9990d9d4702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9c2363e880459b" /><ns0:Relationship Type="http://schemas.openxmlformats.org/officeDocument/2006/relationships/image" Target="/ppt/media/image7.png" Id="Rc3fadc6b1ffd4e3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66f71d2d9648ca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0b3daabe6741f4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34b4ee84b645e9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2107631c5440a9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d0ed2c472342a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a96814409e4135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1a4d6bf7e7429e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02bf2ef6e84f3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ece246b853409b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07c241618d4e2d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662c5bf0d44650" /><ns0:Relationship Type="http://schemas.openxmlformats.org/officeDocument/2006/relationships/hyperlink" Target="https://arxiv.org/abs/1706.03762" TargetMode="External" Id="R1e12ee6d3de04800" /><ns0:Relationship Type="http://schemas.openxmlformats.org/officeDocument/2006/relationships/hyperlink" Target="https://cdn.openai.com/better-language-models/language-models.pdf" TargetMode="External" Id="Rfcba13ca126c4220" /><ns0:Relationship Type="http://schemas.openxmlformats.org/officeDocument/2006/relationships/hyperlink" Target="https://cdn.openai.com/better-language-models/language-models.pdf" TargetMode="External" Id="Rf2bf61e815464ecf" /><ns0:Relationship Type="http://schemas.openxmlformats.org/officeDocument/2006/relationships/hyperlink" Target="https://arxiv.org/abs/2001.08361" TargetMode="External" Id="Raf6a706219ed43f9" /><ns0:Relationship Type="http://schemas.openxmlformats.org/officeDocument/2006/relationships/hyperlink" Target="https://arxiv.org/abs/2005.14165" TargetMode="External" Id="R3157d20cb2674c90" /><ns0:Relationship Type="http://schemas.openxmlformats.org/officeDocument/2006/relationships/hyperlink" Target="https://ig.ft.com/generative-ai/" TargetMode="External" Id="R2a06300f49934f8a" /><ns0:Relationship Type="http://schemas.openxmlformats.org/officeDocument/2006/relationships/hyperlink" Target="https://ig.ft.com/generative-ai/" TargetMode="External" Id="Rf8dc544cef814416" /><ns0:Relationship Type="http://schemas.openxmlformats.org/officeDocument/2006/relationships/hyperlink" Target="https://arxiv.org/abs/2301.00234" TargetMode="External" Id="Re1e3d77b1dda49ea" /><ns0:Relationship Type="http://schemas.openxmlformats.org/officeDocument/2006/relationships/hyperlink" Target="https://arxiv.org/abs/2203.02155" TargetMode="External" Id="R7d1d461f26514097" /><ns0:Relationship Type="http://schemas.openxmlformats.org/officeDocument/2006/relationships/hyperlink" Target="https://arxiv.org/abs/2203.02155" TargetMode="External" Id="R2177e52b3c9a4442" /><ns0:Relationship Type="http://schemas.openxmlformats.org/officeDocument/2006/relationships/hyperlink" Target="https://arxiv.org/abs/2309.02427" TargetMode="External" Id="Rea90380724c34a23" /><ns0:Relationship Type="http://schemas.openxmlformats.org/officeDocument/2006/relationships/hyperlink" Target="https://www.deeplearningbook.org/contents/intro.html" TargetMode="External" Id="R65c66c21f3964d9c" /><ns0:Relationship Type="http://schemas.openxmlformats.org/officeDocument/2006/relationships/hyperlink" Target="https://arxiv.org/abs/2303.18223" TargetMode="External" Id="R977ec893c6e5420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f12e02ccd498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LLMs, Working Memory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Prompting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2-text-274">
            <a:extLst xmlns:a="http://schemas.openxmlformats.org/drawingml/2006/main">
              <a:ext uri="{FF2B5EF4-FFF2-40B4-BE49-F238E27FC236}">
                <a16:creationId xmlns:a16="http://schemas.microsoft.com/office/drawing/2014/main" id="{FE398BC8-F2C9-4232-8234-2AFE6AB5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2-text-1">
            <a:extLst xmlns:a="http://schemas.openxmlformats.org/drawingml/2006/main">
              <a:ext uri="{FF2B5EF4-FFF2-40B4-BE49-F238E27FC236}">
                <a16:creationId xmlns:a16="http://schemas.microsoft.com/office/drawing/2014/main" id="{89E58370-C33C-41B2-9CD0-8ABE408A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2">
            <a:extLst xmlns:a="http://schemas.openxmlformats.org/drawingml/2006/main">
              <a:ext uri="{FF2B5EF4-FFF2-40B4-BE49-F238E27FC236}">
                <a16:creationId xmlns:a16="http://schemas.microsoft.com/office/drawing/2014/main" id="{78527C96-BAF4-455B-88E3-1D84D5E3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Deep Learning and LLMs [9] [10]</a:t>
            </a:r>
          </a:p>
        </p:txBody>
      </p:sp>
      <p:sp>
        <p:nvSpPr>
          <p:cNvPr id="3" name="c2-text-3">
            <a:extLst xmlns:a="http://schemas.openxmlformats.org/drawingml/2006/main">
              <a:ext uri="{FF2B5EF4-FFF2-40B4-BE49-F238E27FC236}">
                <a16:creationId xmlns:a16="http://schemas.microsoft.com/office/drawing/2014/main" id="{C0853483-3D85-46AB-B04E-338265F4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language engine inside our agent.</a:t>
            </a:r>
          </a:p>
        </p:txBody>
      </p:sp>
      <p:sp>
        <p:nvSpPr>
          <p:cNvPr id="4" name="c2-text-4">
            <a:extLst xmlns:a="http://schemas.openxmlformats.org/drawingml/2006/main">
              <a:ext uri="{FF2B5EF4-FFF2-40B4-BE49-F238E27FC236}">
                <a16:creationId xmlns:a16="http://schemas.microsoft.com/office/drawing/2014/main" id="{6F5869FB-610B-434C-AC5B-1CCCCEE4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5" name="c2-shape-5">
            <a:extLst xmlns:a="http://schemas.openxmlformats.org/drawingml/2006/main">
              <a:ext uri="{FF2B5EF4-FFF2-40B4-BE49-F238E27FC236}">
                <a16:creationId xmlns:a16="http://schemas.microsoft.com/office/drawing/2014/main" id="{672DA1FC-7E30-44C8-BA6B-065FD182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953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6" name="c2-shape-6">
            <a:extLst xmlns:a="http://schemas.openxmlformats.org/drawingml/2006/main">
              <a:ext uri="{FF2B5EF4-FFF2-40B4-BE49-F238E27FC236}">
                <a16:creationId xmlns:a16="http://schemas.microsoft.com/office/drawing/2014/main" id="{35D45748-99ED-4BCD-9948-27545E37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7" name="c2-text-7">
            <a:extLst xmlns:a="http://schemas.openxmlformats.org/drawingml/2006/main">
              <a:ext uri="{FF2B5EF4-FFF2-40B4-BE49-F238E27FC236}">
                <a16:creationId xmlns:a16="http://schemas.microsoft.com/office/drawing/2014/main" id="{62AEBE4E-F076-4030-834C-A32EC2E6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457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Deep learning</a:t>
            </a:r>
          </a:p>
        </p:txBody>
      </p:sp>
      <p:sp>
        <p:nvSpPr>
          <p:cNvPr id="8" name="c2-text-8">
            <a:extLst xmlns:a="http://schemas.openxmlformats.org/drawingml/2006/main">
              <a:ext uri="{FF2B5EF4-FFF2-40B4-BE49-F238E27FC236}">
                <a16:creationId xmlns:a16="http://schemas.microsoft.com/office/drawing/2014/main" id="{C5C9D672-FBDD-485C-8943-E7540ED0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Neural networks learn patterns from data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through multiple layers.</a:t>
            </a:r>
          </a:p>
        </p:txBody>
      </p:sp>
      <p:sp>
        <p:nvSpPr>
          <p:cNvPr id="9" name="c2-shape-9">
            <a:extLst xmlns:a="http://schemas.openxmlformats.org/drawingml/2006/main">
              <a:ext uri="{FF2B5EF4-FFF2-40B4-BE49-F238E27FC236}">
                <a16:creationId xmlns:a16="http://schemas.microsoft.com/office/drawing/2014/main" id="{98BEEA39-F42B-4308-84F5-DE2554F2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53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0" name="c2-shape-10">
            <a:extLst xmlns:a="http://schemas.openxmlformats.org/drawingml/2006/main">
              <a:ext uri="{FF2B5EF4-FFF2-40B4-BE49-F238E27FC236}">
                <a16:creationId xmlns:a16="http://schemas.microsoft.com/office/drawing/2014/main" id="{8ACB68E8-609E-4FE0-B000-1AB616E1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1" name="c2-text-11">
            <a:extLst xmlns:a="http://schemas.openxmlformats.org/drawingml/2006/main">
              <a:ext uri="{FF2B5EF4-FFF2-40B4-BE49-F238E27FC236}">
                <a16:creationId xmlns:a16="http://schemas.microsoft.com/office/drawing/2014/main" id="{EE98C98E-559B-40AB-ABFF-8FC790FF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457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Large Language Models (LLMs)</a:t>
            </a:r>
          </a:p>
        </p:txBody>
      </p:sp>
      <p:sp>
        <p:nvSpPr>
          <p:cNvPr id="12" name="c2-text-12">
            <a:extLst xmlns:a="http://schemas.openxmlformats.org/drawingml/2006/main">
              <a:ext uri="{FF2B5EF4-FFF2-40B4-BE49-F238E27FC236}">
                <a16:creationId xmlns:a16="http://schemas.microsoft.com/office/drawing/2014/main" id="{FB655B40-E7FE-4A05-98E8-E2297EE8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38575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Deep-learning models trained on large amounts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 text to process and generate language.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45642b2ef47f1"/>
          <a:stretch xmlns:a="http://schemas.openxmlformats.org/drawingml/2006/main"/>
        </p:blipFill>
        <p:spPr>
          <a:xfrm xmlns:a="http://schemas.openxmlformats.org/drawingml/2006/main">
            <a:off x="5943600" y="2376100"/>
            <a:ext cx="2590800" cy="1458100"/>
          </a:xfrm>
          <a:prstGeom xmlns:a="http://schemas.openxmlformats.org/drawingml/2006/main" prst="rect">
            <a:avLst/>
          </a:prstGeom>
        </p:spPr>
      </p:pic>
      <p:sp>
        <p:nvSpPr>
          <p:cNvPr id="14" name="c2-text-13">
            <a:extLst xmlns:a="http://schemas.openxmlformats.org/drawingml/2006/main">
              <a:ext uri="{FF2B5EF4-FFF2-40B4-BE49-F238E27FC236}">
                <a16:creationId xmlns:a16="http://schemas.microsoft.com/office/drawing/2014/main" id="{4840E386-113C-4CD2-947B-35D64AF1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792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Where did these models come from?</a:t>
            </a:r>
          </a:p>
        </p:txBody>
      </p:sp>
      <p:sp>
        <p:nvSpPr>
          <p:cNvPr id="15" name="c2-text-275">
            <a:extLst xmlns:a="http://schemas.openxmlformats.org/drawingml/2006/main">
              <a:ext uri="{FF2B5EF4-FFF2-40B4-BE49-F238E27FC236}">
                <a16:creationId xmlns:a16="http://schemas.microsoft.com/office/drawing/2014/main" id="{45EAC393-BEA8-4A5A-8A11-C58736C9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70580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2-text-14">
            <a:extLst xmlns:a="http://schemas.openxmlformats.org/drawingml/2006/main">
              <a:ext uri="{FF2B5EF4-FFF2-40B4-BE49-F238E27FC236}">
                <a16:creationId xmlns:a16="http://schemas.microsoft.com/office/drawing/2014/main" id="{0560ABCF-B83A-4143-A76A-2F602D4B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5">
            <a:extLst xmlns:a="http://schemas.openxmlformats.org/drawingml/2006/main">
              <a:ext uri="{FF2B5EF4-FFF2-40B4-BE49-F238E27FC236}">
                <a16:creationId xmlns:a16="http://schemas.microsoft.com/office/drawing/2014/main" id="{48A91AAD-004C-4DBE-AF37-390C4BD2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Attention Is All You Need [1]</a:t>
            </a:r>
          </a:p>
        </p:txBody>
      </p:sp>
      <p:sp>
        <p:nvSpPr>
          <p:cNvPr id="3" name="c2-text-16">
            <a:extLst xmlns:a="http://schemas.openxmlformats.org/drawingml/2006/main">
              <a:ext uri="{FF2B5EF4-FFF2-40B4-BE49-F238E27FC236}">
                <a16:creationId xmlns:a16="http://schemas.microsoft.com/office/drawing/2014/main" id="{509CFB11-32CD-4421-8852-6FB4612C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7">
            <a:extLst xmlns:a="http://schemas.openxmlformats.org/drawingml/2006/main">
              <a:ext uri="{FF2B5EF4-FFF2-40B4-BE49-F238E27FC236}">
                <a16:creationId xmlns:a16="http://schemas.microsoft.com/office/drawing/2014/main" id="{8CEDA902-9B16-49EB-BAE5-0B823BBD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Transformer (2017)</a:t>
            </a:r>
          </a:p>
        </p:txBody>
      </p:sp>
      <p:sp>
        <p:nvSpPr>
          <p:cNvPr id="5" name="c2-text-18">
            <a:extLst xmlns:a="http://schemas.openxmlformats.org/drawingml/2006/main">
              <a:ext uri="{FF2B5EF4-FFF2-40B4-BE49-F238E27FC236}">
                <a16:creationId xmlns:a16="http://schemas.microsoft.com/office/drawing/2014/main" id="{1FE61963-8889-4802-9298-854EF7F1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8862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Vaswani et al. introduced a model that connects words using attention.</a:t>
            </a:r>
          </a:p>
        </p:txBody>
      </p:sp>
      <p:sp>
        <p:nvSpPr>
          <p:cNvPr id="6" name="c2-shape-19">
            <a:extLst xmlns:a="http://schemas.openxmlformats.org/drawingml/2006/main">
              <a:ext uri="{FF2B5EF4-FFF2-40B4-BE49-F238E27FC236}">
                <a16:creationId xmlns:a16="http://schemas.microsoft.com/office/drawing/2014/main" id="{D3F0424B-0F6D-4C48-AB77-43D76F0F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886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7" name="c2-shape-20">
            <a:extLst xmlns:a="http://schemas.openxmlformats.org/drawingml/2006/main">
              <a:ext uri="{FF2B5EF4-FFF2-40B4-BE49-F238E27FC236}">
                <a16:creationId xmlns:a16="http://schemas.microsoft.com/office/drawing/2014/main" id="{189DB281-D8C5-45D0-861F-66FF6EB4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861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8" name="c2-text-21">
            <a:extLst xmlns:a="http://schemas.openxmlformats.org/drawingml/2006/main">
              <a:ext uri="{FF2B5EF4-FFF2-40B4-BE49-F238E27FC236}">
                <a16:creationId xmlns:a16="http://schemas.microsoft.com/office/drawing/2014/main" id="{CEA35EF9-B1B9-43EE-884C-451600FA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50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9" name="c2-text-22">
            <a:extLst xmlns:a="http://schemas.openxmlformats.org/drawingml/2006/main">
              <a:ext uri="{FF2B5EF4-FFF2-40B4-BE49-F238E27FC236}">
                <a16:creationId xmlns:a16="http://schemas.microsoft.com/office/drawing/2014/main" id="{9460713A-8813-4717-8883-D5E0D0A9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35052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Better translations with less time spent training.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4c20e1e3e54bb8"/>
          <a:stretch xmlns:a="http://schemas.openxmlformats.org/drawingml/2006/main"/>
        </p:blipFill>
        <p:spPr>
          <a:xfrm xmlns:a="http://schemas.openxmlformats.org/drawingml/2006/main">
            <a:off x="5648411" y="1352550"/>
            <a:ext cx="2114378" cy="3048000"/>
          </a:xfrm>
          <a:prstGeom xmlns:a="http://schemas.openxmlformats.org/drawingml/2006/main" prst="rect">
            <a:avLst/>
          </a:prstGeom>
        </p:spPr>
      </p:pic>
      <p:sp>
        <p:nvSpPr>
          <p:cNvPr id="11" name="c2-text-23">
            <a:extLst xmlns:a="http://schemas.openxmlformats.org/drawingml/2006/main">
              <a:ext uri="{FF2B5EF4-FFF2-40B4-BE49-F238E27FC236}">
                <a16:creationId xmlns:a16="http://schemas.microsoft.com/office/drawing/2014/main" id="{6F71E95E-8891-4B05-BE6F-4E69CC8F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48175"/>
            <a:ext cx="3657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Figure 1 - The Transformer</a:t>
            </a:r>
          </a:p>
        </p:txBody>
      </p:sp>
      <p:sp>
        <p:nvSpPr>
          <p:cNvPr id="12" name="c2-text-276">
            <a:extLst xmlns:a="http://schemas.openxmlformats.org/drawingml/2006/main">
              <a:ext uri="{FF2B5EF4-FFF2-40B4-BE49-F238E27FC236}">
                <a16:creationId xmlns:a16="http://schemas.microsoft.com/office/drawing/2014/main" id="{E1AC3EF2-A29B-4E44-947A-96638EDA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68568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2-text-24">
            <a:extLst xmlns:a="http://schemas.openxmlformats.org/drawingml/2006/main">
              <a:ext uri="{FF2B5EF4-FFF2-40B4-BE49-F238E27FC236}">
                <a16:creationId xmlns:a16="http://schemas.microsoft.com/office/drawing/2014/main" id="{9773FAE1-B9AC-4962-9570-31EE877D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25">
            <a:extLst xmlns:a="http://schemas.openxmlformats.org/drawingml/2006/main">
              <a:ext uri="{FF2B5EF4-FFF2-40B4-BE49-F238E27FC236}">
                <a16:creationId xmlns:a16="http://schemas.microsoft.com/office/drawing/2014/main" id="{33F8A6BB-5B60-4301-BF59-A68CE2F0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GPT-2: Text Completion [2]</a:t>
            </a:r>
          </a:p>
        </p:txBody>
      </p:sp>
      <p:sp>
        <p:nvSpPr>
          <p:cNvPr id="3" name="c2-text-26">
            <a:extLst xmlns:a="http://schemas.openxmlformats.org/drawingml/2006/main">
              <a:ext uri="{FF2B5EF4-FFF2-40B4-BE49-F238E27FC236}">
                <a16:creationId xmlns:a16="http://schemas.microsoft.com/office/drawing/2014/main" id="{310E268D-92A0-4939-94D1-FF6EF688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27">
            <a:extLst xmlns:a="http://schemas.openxmlformats.org/drawingml/2006/main">
              <a:ext uri="{FF2B5EF4-FFF2-40B4-BE49-F238E27FC236}">
                <a16:creationId xmlns:a16="http://schemas.microsoft.com/office/drawing/2014/main" id="{A7EEDF2B-24C9-413F-979F-A5F3C961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OpenAI (2019), 1.5B parameters</a:t>
            </a:r>
          </a:p>
        </p:txBody>
      </p:sp>
      <p:sp>
        <p:nvSpPr>
          <p:cNvPr id="5" name="c2-text-28">
            <a:extLst xmlns:a="http://schemas.openxmlformats.org/drawingml/2006/main">
              <a:ext uri="{FF2B5EF4-FFF2-40B4-BE49-F238E27FC236}">
                <a16:creationId xmlns:a16="http://schemas.microsoft.com/office/drawing/2014/main" id="{2634E566-688A-40FE-B9BC-964B382C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8862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Predict the next token,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then repeat to continue the text.</a:t>
            </a:r>
          </a:p>
        </p:txBody>
      </p:sp>
      <p:sp>
        <p:nvSpPr>
          <p:cNvPr id="6" name="c2-shape-29">
            <a:extLst xmlns:a="http://schemas.openxmlformats.org/drawingml/2006/main">
              <a:ext uri="{FF2B5EF4-FFF2-40B4-BE49-F238E27FC236}">
                <a16:creationId xmlns:a16="http://schemas.microsoft.com/office/drawing/2014/main" id="{28D370B0-0C66-42D4-961F-5A798B83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886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7" name="c2-shape-30">
            <a:extLst xmlns:a="http://schemas.openxmlformats.org/drawingml/2006/main">
              <a:ext uri="{FF2B5EF4-FFF2-40B4-BE49-F238E27FC236}">
                <a16:creationId xmlns:a16="http://schemas.microsoft.com/office/drawing/2014/main" id="{3B635DB9-FE36-40D7-BCEA-86E834F6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861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8" name="c2-text-31">
            <a:extLst xmlns:a="http://schemas.openxmlformats.org/drawingml/2006/main">
              <a:ext uri="{FF2B5EF4-FFF2-40B4-BE49-F238E27FC236}">
                <a16:creationId xmlns:a16="http://schemas.microsoft.com/office/drawing/2014/main" id="{05EF6BD9-4007-4115-999E-CA9D1FC7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50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9" name="c2-text-32">
            <a:extLst xmlns:a="http://schemas.openxmlformats.org/drawingml/2006/main">
              <a:ext uri="{FF2B5EF4-FFF2-40B4-BE49-F238E27FC236}">
                <a16:creationId xmlns:a16="http://schemas.microsoft.com/office/drawing/2014/main" id="{448FFC0A-FC84-48C9-B0B3-913BC92B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35052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Coherent paragraphs, with errors and repetition still possible.</a:t>
            </a:r>
          </a:p>
        </p:txBody>
      </p:sp>
      <p:sp>
        <p:nvSpPr>
          <p:cNvPr id="10" name="c2-shape-33">
            <a:extLst xmlns:a="http://schemas.openxmlformats.org/drawingml/2006/main">
              <a:ext uri="{FF2B5EF4-FFF2-40B4-BE49-F238E27FC236}">
                <a16:creationId xmlns:a16="http://schemas.microsoft.com/office/drawing/2014/main" id="{06F54329-C475-4E66-A130-55F2C31B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76450"/>
            <a:ext cx="3695700" cy="2257425"/>
          </a:xfrm>
          <a:prstGeom xmlns:a="http://schemas.openxmlformats.org/drawingml/2006/main" prst="roundRect">
            <a:avLst>
              <a:gd name="adj" fmla="val 337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1" name="c2-text-34">
            <a:extLst xmlns:a="http://schemas.openxmlformats.org/drawingml/2006/main">
              <a:ext uri="{FF2B5EF4-FFF2-40B4-BE49-F238E27FC236}">
                <a16:creationId xmlns:a16="http://schemas.microsoft.com/office/drawing/2014/main" id="{57CB442F-F5CF-4123-92F2-095B1BC7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2" name="c2-text-35">
            <a:extLst xmlns:a="http://schemas.openxmlformats.org/drawingml/2006/main">
              <a:ext uri="{FF2B5EF4-FFF2-40B4-BE49-F238E27FC236}">
                <a16:creationId xmlns:a16="http://schemas.microsoft.com/office/drawing/2014/main" id="{3F5E06A9-3E23-44AA-A633-0B326F5C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28900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cat sat on the</a:t>
            </a:r>
          </a:p>
        </p:txBody>
      </p:sp>
      <p:sp>
        <p:nvSpPr>
          <p:cNvPr id="13" name="c2-shape-36">
            <a:extLst xmlns:a="http://schemas.openxmlformats.org/drawingml/2006/main">
              <a:ext uri="{FF2B5EF4-FFF2-40B4-BE49-F238E27FC236}">
                <a16:creationId xmlns:a16="http://schemas.microsoft.com/office/drawing/2014/main" id="{56251614-73FD-443F-87F9-D63EDB81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4" name="c2-text-37">
            <a:extLst xmlns:a="http://schemas.openxmlformats.org/drawingml/2006/main">
              <a:ext uri="{FF2B5EF4-FFF2-40B4-BE49-F238E27FC236}">
                <a16:creationId xmlns:a16="http://schemas.microsoft.com/office/drawing/2014/main" id="{15C3C10A-AD1B-4E97-93FC-6ED50C6B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1470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Possible continuation</a:t>
            </a:r>
          </a:p>
        </p:txBody>
      </p:sp>
      <p:sp>
        <p:nvSpPr>
          <p:cNvPr id="15" name="c2-text-38">
            <a:extLst xmlns:a="http://schemas.openxmlformats.org/drawingml/2006/main">
              <a:ext uri="{FF2B5EF4-FFF2-40B4-BE49-F238E27FC236}">
                <a16:creationId xmlns:a16="http://schemas.microsoft.com/office/drawing/2014/main" id="{926892FF-8F2A-475E-A039-CB4E50F9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86175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mat and fell asleep.</a:t>
            </a:r>
          </a:p>
        </p:txBody>
      </p:sp>
      <p:sp>
        <p:nvSpPr>
          <p:cNvPr id="16" name="c2-text-277">
            <a:extLst xmlns:a="http://schemas.openxmlformats.org/drawingml/2006/main">
              <a:ext uri="{FF2B5EF4-FFF2-40B4-BE49-F238E27FC236}">
                <a16:creationId xmlns:a16="http://schemas.microsoft.com/office/drawing/2014/main" id="{16265413-EB83-4261-92F9-1E7141B1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32611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2-text-39">
            <a:extLst xmlns:a="http://schemas.openxmlformats.org/drawingml/2006/main">
              <a:ext uri="{FF2B5EF4-FFF2-40B4-BE49-F238E27FC236}">
                <a16:creationId xmlns:a16="http://schemas.microsoft.com/office/drawing/2014/main" id="{02AC2EFB-1392-43F9-A47E-233E1D82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40">
            <a:extLst xmlns:a="http://schemas.openxmlformats.org/drawingml/2006/main">
              <a:ext uri="{FF2B5EF4-FFF2-40B4-BE49-F238E27FC236}">
                <a16:creationId xmlns:a16="http://schemas.microsoft.com/office/drawing/2014/main" id="{FE3C32D5-4534-4CA3-B135-077857EF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Scaling Laws for Neural Language Models [3]</a:t>
            </a:r>
          </a:p>
        </p:txBody>
      </p:sp>
      <p:sp>
        <p:nvSpPr>
          <p:cNvPr id="3" name="c2-text-41">
            <a:extLst xmlns:a="http://schemas.openxmlformats.org/drawingml/2006/main">
              <a:ext uri="{FF2B5EF4-FFF2-40B4-BE49-F238E27FC236}">
                <a16:creationId xmlns:a16="http://schemas.microsoft.com/office/drawing/2014/main" id="{AB72527D-1520-4299-AF86-BE8D9C0D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42">
            <a:extLst xmlns:a="http://schemas.openxmlformats.org/drawingml/2006/main">
              <a:ext uri="{FF2B5EF4-FFF2-40B4-BE49-F238E27FC236}">
                <a16:creationId xmlns:a16="http://schemas.microsoft.com/office/drawing/2014/main" id="{C0BD11B6-ECD4-43D8-99C9-4E199DCF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Kaplan et al., January 2020</a:t>
            </a:r>
          </a:p>
        </p:txBody>
      </p:sp>
      <p:sp>
        <p:nvSpPr>
          <p:cNvPr id="5" name="c2-shape-43">
            <a:extLst xmlns:a="http://schemas.openxmlformats.org/drawingml/2006/main">
              <a:ext uri="{FF2B5EF4-FFF2-40B4-BE49-F238E27FC236}">
                <a16:creationId xmlns:a16="http://schemas.microsoft.com/office/drawing/2014/main" id="{937E7F1F-231D-432E-9D0C-E323009B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7924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6" name="c2-text-44">
            <a:extLst xmlns:a="http://schemas.openxmlformats.org/drawingml/2006/main">
              <a:ext uri="{FF2B5EF4-FFF2-40B4-BE49-F238E27FC236}">
                <a16:creationId xmlns:a16="http://schemas.microsoft.com/office/drawing/2014/main" id="{6B0FA1FB-4C8F-48EF-A584-546D222B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Size matters.</a:t>
            </a:r>
          </a:p>
        </p:txBody>
      </p:sp>
      <p:sp>
        <p:nvSpPr>
          <p:cNvPr id="7" name="c2-text-45">
            <a:extLst xmlns:a="http://schemas.openxmlformats.org/drawingml/2006/main">
              <a:ext uri="{FF2B5EF4-FFF2-40B4-BE49-F238E27FC236}">
                <a16:creationId xmlns:a16="http://schemas.microsoft.com/office/drawing/2014/main" id="{B2E7344C-7355-4E6F-B44C-2BCBCC0E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But what do we mean by bigger?</a:t>
            </a:r>
          </a:p>
        </p:txBody>
      </p:sp>
      <p:sp>
        <p:nvSpPr>
          <p:cNvPr id="8" name="c2-text-278">
            <a:extLst xmlns:a="http://schemas.openxmlformats.org/drawingml/2006/main">
              <a:ext uri="{FF2B5EF4-FFF2-40B4-BE49-F238E27FC236}">
                <a16:creationId xmlns:a16="http://schemas.microsoft.com/office/drawing/2014/main" id="{B063E47E-5E2F-4B94-B15C-E6FDE817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930099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2-text-46">
            <a:extLst xmlns:a="http://schemas.openxmlformats.org/drawingml/2006/main">
              <a:ext uri="{FF2B5EF4-FFF2-40B4-BE49-F238E27FC236}">
                <a16:creationId xmlns:a16="http://schemas.microsoft.com/office/drawing/2014/main" id="{2AF149C6-84C9-4F6E-BD65-7AD1326A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47">
            <a:extLst xmlns:a="http://schemas.openxmlformats.org/drawingml/2006/main">
              <a:ext uri="{FF2B5EF4-FFF2-40B4-BE49-F238E27FC236}">
                <a16:creationId xmlns:a16="http://schemas.microsoft.com/office/drawing/2014/main" id="{1F10BC66-9235-4C08-BD4E-BFA77B1E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Scaling Laws for Neural Language Models [3]</a:t>
            </a:r>
          </a:p>
        </p:txBody>
      </p:sp>
      <p:sp>
        <p:nvSpPr>
          <p:cNvPr id="3" name="c2-text-48">
            <a:extLst xmlns:a="http://schemas.openxmlformats.org/drawingml/2006/main">
              <a:ext uri="{FF2B5EF4-FFF2-40B4-BE49-F238E27FC236}">
                <a16:creationId xmlns:a16="http://schemas.microsoft.com/office/drawing/2014/main" id="{8FFB4086-1D12-4D21-9A33-1FE9A0DC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49">
            <a:extLst xmlns:a="http://schemas.openxmlformats.org/drawingml/2006/main">
              <a:ext uri="{FF2B5EF4-FFF2-40B4-BE49-F238E27FC236}">
                <a16:creationId xmlns:a16="http://schemas.microsoft.com/office/drawing/2014/main" id="{776776BE-81FE-4609-B3AB-7AC661BB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Bigger wins…</a:t>
            </a:r>
          </a:p>
        </p:txBody>
      </p:sp>
      <p:sp>
        <p:nvSpPr>
          <p:cNvPr id="5" name="c2-text-50">
            <a:extLst xmlns:a="http://schemas.openxmlformats.org/drawingml/2006/main">
              <a:ext uri="{FF2B5EF4-FFF2-40B4-BE49-F238E27FC236}">
                <a16:creationId xmlns:a16="http://schemas.microsoft.com/office/drawing/2014/main" id="{AAFFC177-4572-4CDF-9BE0-92A3EE13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7924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More data, training computation and model parameters.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788ed31c14ec7"/>
          <a:stretch xmlns:a="http://schemas.openxmlformats.org/drawingml/2006/main"/>
        </p:blipFill>
        <p:spPr>
          <a:xfrm xmlns:a="http://schemas.openxmlformats.org/drawingml/2006/main">
            <a:off x="1846529" y="2400300"/>
            <a:ext cx="5450942" cy="1704975"/>
          </a:xfrm>
          <a:prstGeom xmlns:a="http://schemas.openxmlformats.org/drawingml/2006/main" prst="rect">
            <a:avLst/>
          </a:prstGeom>
        </p:spPr>
      </p:pic>
      <p:sp>
        <p:nvSpPr>
          <p:cNvPr id="7" name="c2-shape-51">
            <a:extLst xmlns:a="http://schemas.openxmlformats.org/drawingml/2006/main">
              <a:ext uri="{FF2B5EF4-FFF2-40B4-BE49-F238E27FC236}">
                <a16:creationId xmlns:a16="http://schemas.microsoft.com/office/drawing/2014/main" id="{7D650C01-3B5C-4E0B-81FC-6D5D37D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924800" cy="466725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8" name="c2-text-52">
            <a:extLst xmlns:a="http://schemas.openxmlformats.org/drawingml/2006/main">
              <a:ext uri="{FF2B5EF4-FFF2-40B4-BE49-F238E27FC236}">
                <a16:creationId xmlns:a16="http://schemas.microsoft.com/office/drawing/2014/main" id="{EE890AFB-8BA2-405C-970B-0F5057ED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971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9" name="c2-text-53">
            <a:extLst xmlns:a="http://schemas.openxmlformats.org/drawingml/2006/main">
              <a:ext uri="{FF2B5EF4-FFF2-40B4-BE49-F238E27FC236}">
                <a16:creationId xmlns:a16="http://schemas.microsoft.com/office/drawing/2014/main" id="{169A7178-DB9F-41C7-AE80-76A9688C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324350"/>
            <a:ext cx="6400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Lower prediction error as training resources increase.</a:t>
            </a:r>
          </a:p>
        </p:txBody>
      </p:sp>
      <p:sp>
        <p:nvSpPr>
          <p:cNvPr id="10" name="c2-text-279">
            <a:extLst xmlns:a="http://schemas.openxmlformats.org/drawingml/2006/main">
              <a:ext uri="{FF2B5EF4-FFF2-40B4-BE49-F238E27FC236}">
                <a16:creationId xmlns:a16="http://schemas.microsoft.com/office/drawing/2014/main" id="{ECDA302C-3DA9-4D4D-98DC-C668696C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834630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c2-text-54">
            <a:extLst xmlns:a="http://schemas.openxmlformats.org/drawingml/2006/main">
              <a:ext uri="{FF2B5EF4-FFF2-40B4-BE49-F238E27FC236}">
                <a16:creationId xmlns:a16="http://schemas.microsoft.com/office/drawing/2014/main" id="{67E111F5-F2C7-4891-BDA7-6D67B8AE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55">
            <a:extLst xmlns:a="http://schemas.openxmlformats.org/drawingml/2006/main">
              <a:ext uri="{FF2B5EF4-FFF2-40B4-BE49-F238E27FC236}">
                <a16:creationId xmlns:a16="http://schemas.microsoft.com/office/drawing/2014/main" id="{EC7B227F-8CC0-4C27-BA5F-01F10647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GPT-3: Scaling Up [2] [4]</a:t>
            </a:r>
          </a:p>
        </p:txBody>
      </p:sp>
      <p:sp>
        <p:nvSpPr>
          <p:cNvPr id="3" name="c2-text-56">
            <a:extLst xmlns:a="http://schemas.openxmlformats.org/drawingml/2006/main">
              <a:ext uri="{FF2B5EF4-FFF2-40B4-BE49-F238E27FC236}">
                <a16:creationId xmlns:a16="http://schemas.microsoft.com/office/drawing/2014/main" id="{53A3CFED-508A-410F-9267-4402F7B4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57">
            <a:extLst xmlns:a="http://schemas.openxmlformats.org/drawingml/2006/main">
              <a:ext uri="{FF2B5EF4-FFF2-40B4-BE49-F238E27FC236}">
                <a16:creationId xmlns:a16="http://schemas.microsoft.com/office/drawing/2014/main" id="{E288B814-7FBB-473D-9B8A-8759695F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OpenAI, May 2020</a:t>
            </a:r>
          </a:p>
        </p:txBody>
      </p:sp>
      <p:sp>
        <p:nvSpPr>
          <p:cNvPr id="5" name="c2-text-58">
            <a:extLst xmlns:a="http://schemas.openxmlformats.org/drawingml/2006/main">
              <a:ext uri="{FF2B5EF4-FFF2-40B4-BE49-F238E27FC236}">
                <a16:creationId xmlns:a16="http://schemas.microsoft.com/office/drawing/2014/main" id="{AD236195-AB14-4D64-B5F3-6F85D6CD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8862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GPT-3 applied the scaling strategy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a much larger language model.</a:t>
            </a:r>
          </a:p>
        </p:txBody>
      </p:sp>
      <p:sp>
        <p:nvSpPr>
          <p:cNvPr id="6" name="c2-shape-59">
            <a:extLst xmlns:a="http://schemas.openxmlformats.org/drawingml/2006/main">
              <a:ext uri="{FF2B5EF4-FFF2-40B4-BE49-F238E27FC236}">
                <a16:creationId xmlns:a16="http://schemas.microsoft.com/office/drawing/2014/main" id="{23FB894C-187E-409D-8ACA-A6B05F3F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886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7" name="c2-shape-60">
            <a:extLst xmlns:a="http://schemas.openxmlformats.org/drawingml/2006/main">
              <a:ext uri="{FF2B5EF4-FFF2-40B4-BE49-F238E27FC236}">
                <a16:creationId xmlns:a16="http://schemas.microsoft.com/office/drawing/2014/main" id="{3E43B019-F118-4B5E-86BA-C7192A28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861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8" name="c2-text-61">
            <a:extLst xmlns:a="http://schemas.openxmlformats.org/drawingml/2006/main">
              <a:ext uri="{FF2B5EF4-FFF2-40B4-BE49-F238E27FC236}">
                <a16:creationId xmlns:a16="http://schemas.microsoft.com/office/drawing/2014/main" id="{FFB5181A-A8B1-45C3-9098-B567EC00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50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9" name="c2-text-62">
            <a:extLst xmlns:a="http://schemas.openxmlformats.org/drawingml/2006/main">
              <a:ext uri="{FF2B5EF4-FFF2-40B4-BE49-F238E27FC236}">
                <a16:creationId xmlns:a16="http://schemas.microsoft.com/office/drawing/2014/main" id="{919615E2-6578-4E59-BAF7-8CBF8325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35052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Stronger performance across many tasks using examples in the prompt.</a:t>
            </a:r>
          </a:p>
        </p:txBody>
      </p:sp>
      <p:sp>
        <p:nvSpPr>
          <p:cNvPr id="10" name="c2-shape-63">
            <a:extLst xmlns:a="http://schemas.openxmlformats.org/drawingml/2006/main">
              <a:ext uri="{FF2B5EF4-FFF2-40B4-BE49-F238E27FC236}">
                <a16:creationId xmlns:a16="http://schemas.microsoft.com/office/drawing/2014/main" id="{B2F3454D-A3D5-492F-8BBB-56B987E3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76450"/>
            <a:ext cx="3695700" cy="2524125"/>
          </a:xfrm>
          <a:prstGeom xmlns:a="http://schemas.openxmlformats.org/drawingml/2006/main" prst="roundRect">
            <a:avLst>
              <a:gd name="adj" fmla="val 301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1" name="c2-text-64">
            <a:extLst xmlns:a="http://schemas.openxmlformats.org/drawingml/2006/main">
              <a:ext uri="{FF2B5EF4-FFF2-40B4-BE49-F238E27FC236}">
                <a16:creationId xmlns:a16="http://schemas.microsoft.com/office/drawing/2014/main" id="{CD591E7E-BD5C-4683-A2F4-C11FD447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479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GPT-2 (2019)</a:t>
            </a:r>
          </a:p>
        </p:txBody>
      </p:sp>
      <p:sp>
        <p:nvSpPr>
          <p:cNvPr id="12" name="c2-text-65">
            <a:extLst xmlns:a="http://schemas.openxmlformats.org/drawingml/2006/main">
              <a:ext uri="{FF2B5EF4-FFF2-40B4-BE49-F238E27FC236}">
                <a16:creationId xmlns:a16="http://schemas.microsoft.com/office/drawing/2014/main" id="{8C7D6AD3-38F2-4B3B-BDA1-7D7364AC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GPT-3 (2020)</a:t>
            </a:r>
          </a:p>
        </p:txBody>
      </p:sp>
      <p:sp>
        <p:nvSpPr>
          <p:cNvPr id="13" name="c2-text-66">
            <a:extLst xmlns:a="http://schemas.openxmlformats.org/drawingml/2006/main">
              <a:ext uri="{FF2B5EF4-FFF2-40B4-BE49-F238E27FC236}">
                <a16:creationId xmlns:a16="http://schemas.microsoft.com/office/drawing/2014/main" id="{47475837-457A-417E-8B3D-A779CD17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8605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1.5B</a:t>
            </a:r>
          </a:p>
        </p:txBody>
      </p:sp>
      <p:sp>
        <p:nvSpPr>
          <p:cNvPr id="14" name="c2-text-67">
            <a:extLst xmlns:a="http://schemas.openxmlformats.org/drawingml/2006/main">
              <a:ext uri="{FF2B5EF4-FFF2-40B4-BE49-F238E27FC236}">
                <a16:creationId xmlns:a16="http://schemas.microsoft.com/office/drawing/2014/main" id="{0D12C162-EB4B-457B-AC94-C65020BE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1562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175B</a:t>
            </a:r>
          </a:p>
        </p:txBody>
      </p:sp>
      <p:sp>
        <p:nvSpPr>
          <p:cNvPr id="15" name="c2-text-68">
            <a:extLst xmlns:a="http://schemas.openxmlformats.org/drawingml/2006/main">
              <a:ext uri="{FF2B5EF4-FFF2-40B4-BE49-F238E27FC236}">
                <a16:creationId xmlns:a16="http://schemas.microsoft.com/office/drawing/2014/main" id="{749FB5BC-510A-4C8C-91E3-C41C974D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3242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parameters</a:t>
            </a:r>
          </a:p>
        </p:txBody>
      </p:sp>
      <p:sp>
        <p:nvSpPr>
          <p:cNvPr id="16" name="c2-text-69">
            <a:extLst xmlns:a="http://schemas.openxmlformats.org/drawingml/2006/main">
              <a:ext uri="{FF2B5EF4-FFF2-40B4-BE49-F238E27FC236}">
                <a16:creationId xmlns:a16="http://schemas.microsoft.com/office/drawing/2014/main" id="{2D4C7E6C-6880-4AF8-A9F4-CA79068E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24225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parameters</a:t>
            </a:r>
          </a:p>
        </p:txBody>
      </p:sp>
      <p:sp>
        <p:nvSpPr>
          <p:cNvPr id="17" name="c2-shape-70">
            <a:extLst xmlns:a="http://schemas.openxmlformats.org/drawingml/2006/main">
              <a:ext uri="{FF2B5EF4-FFF2-40B4-BE49-F238E27FC236}">
                <a16:creationId xmlns:a16="http://schemas.microsoft.com/office/drawing/2014/main" id="{8EE85CF8-BD01-4022-B764-1A40A735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52850"/>
            <a:ext cx="331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8" name="c2-text-71">
            <a:extLst xmlns:a="http://schemas.openxmlformats.org/drawingml/2006/main">
              <a:ext uri="{FF2B5EF4-FFF2-40B4-BE49-F238E27FC236}">
                <a16:creationId xmlns:a16="http://schemas.microsoft.com/office/drawing/2014/main" id="{5CAFFD28-89F2-4962-BABB-E8355DB3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62400"/>
            <a:ext cx="3314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≈117× as many parameters</a:t>
            </a:r>
          </a:p>
        </p:txBody>
      </p:sp>
      <p:sp>
        <p:nvSpPr>
          <p:cNvPr id="19" name="c2-text-280">
            <a:extLst xmlns:a="http://schemas.openxmlformats.org/drawingml/2006/main">
              <a:ext uri="{FF2B5EF4-FFF2-40B4-BE49-F238E27FC236}">
                <a16:creationId xmlns:a16="http://schemas.microsoft.com/office/drawing/2014/main" id="{C39A4CA0-28F9-4B5D-9C41-9A2992F7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262308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2-text-72">
            <a:extLst xmlns:a="http://schemas.openxmlformats.org/drawingml/2006/main">
              <a:ext uri="{FF2B5EF4-FFF2-40B4-BE49-F238E27FC236}">
                <a16:creationId xmlns:a16="http://schemas.microsoft.com/office/drawing/2014/main" id="{2ABD8248-480C-4410-94B9-4A61F85D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73">
            <a:extLst xmlns:a="http://schemas.openxmlformats.org/drawingml/2006/main">
              <a:ext uri="{FF2B5EF4-FFF2-40B4-BE49-F238E27FC236}">
                <a16:creationId xmlns:a16="http://schemas.microsoft.com/office/drawing/2014/main" id="{C5E7C832-2EC9-453C-B447-1A8C60A6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Flipped Classroom</a:t>
            </a:r>
          </a:p>
        </p:txBody>
      </p:sp>
      <p:sp>
        <p:nvSpPr>
          <p:cNvPr id="3" name="c2-text-74">
            <a:extLst xmlns:a="http://schemas.openxmlformats.org/drawingml/2006/main">
              <a:ext uri="{FF2B5EF4-FFF2-40B4-BE49-F238E27FC236}">
                <a16:creationId xmlns:a16="http://schemas.microsoft.com/office/drawing/2014/main" id="{CFAC1995-EDAE-4051-95F5-C2031773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75">
            <a:extLst xmlns:a="http://schemas.openxmlformats.org/drawingml/2006/main">
              <a:ext uri="{FF2B5EF4-FFF2-40B4-BE49-F238E27FC236}">
                <a16:creationId xmlns:a16="http://schemas.microsoft.com/office/drawing/2014/main" id="{2A6F9D63-9E73-482C-BE0F-CB33943B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Read, check your understanding, discuss</a:t>
            </a:r>
          </a:p>
        </p:txBody>
      </p:sp>
      <p:sp>
        <p:nvSpPr>
          <p:cNvPr id="5" name="c2-shape-76">
            <a:extLst xmlns:a="http://schemas.openxmlformats.org/drawingml/2006/main">
              <a:ext uri="{FF2B5EF4-FFF2-40B4-BE49-F238E27FC236}">
                <a16:creationId xmlns:a16="http://schemas.microsoft.com/office/drawing/2014/main" id="{370F7BB9-3DFD-4246-B87A-14084710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400550" cy="2505075"/>
          </a:xfrm>
          <a:prstGeom xmlns:a="http://schemas.openxmlformats.org/drawingml/2006/main" prst="roundRect">
            <a:avLst>
              <a:gd name="adj" fmla="val 304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6" name="c2-text-77">
            <a:extLst xmlns:a="http://schemas.openxmlformats.org/drawingml/2006/main">
              <a:ext uri="{FF2B5EF4-FFF2-40B4-BE49-F238E27FC236}">
                <a16:creationId xmlns:a16="http://schemas.microsoft.com/office/drawing/2014/main" id="{C41DB903-DDB9-4452-92A7-51B8233C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7647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Financial Times (2023) [5]</a:t>
            </a:r>
          </a:p>
        </p:txBody>
      </p:sp>
      <p:sp>
        <p:nvSpPr>
          <p:cNvPr id="7" name="c2-text-78">
            <a:extLst xmlns:a="http://schemas.openxmlformats.org/drawingml/2006/main">
              <a:ext uri="{FF2B5EF4-FFF2-40B4-BE49-F238E27FC236}">
                <a16:creationId xmlns:a16="http://schemas.microsoft.com/office/drawing/2014/main" id="{86DAD921-787E-42CD-92D0-BC0CC577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3981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Generative AI exists because</a:t>
            </a:r>
          </a:p>
          <a:p xmlns:a="http://schemas.openxmlformats.org/drawingml/2006/main">
            <a:pPr>
              <a:defRPr sz="22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 the transformer</a:t>
            </a:r>
          </a:p>
        </p:txBody>
      </p:sp>
      <p:sp>
        <p:nvSpPr>
          <p:cNvPr id="8" name="c2-text-79">
            <a:hlinkClick xmlns:r="http://schemas.openxmlformats.org/officeDocument/2006/relationships" xmlns:a="http://schemas.openxmlformats.org/drawingml/2006/main" r:id="R7e6476bdda8e4946"/>
            <a:extLst xmlns:a="http://schemas.openxmlformats.org/drawingml/2006/main">
              <a:ext uri="{FF2B5EF4-FFF2-40B4-BE49-F238E27FC236}">
                <a16:creationId xmlns:a16="http://schemas.microsoft.com/office/drawing/2014/main" id="{7B54FCEA-41AF-4676-B6B8-1767FA4B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29075"/>
            <a:ext cx="3981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interactive article</a:t>
            </a:r>
          </a:p>
        </p:txBody>
      </p:sp>
      <p:sp>
        <p:nvSpPr>
          <p:cNvPr id="9" name="c2-shape-80">
            <a:extLst xmlns:a="http://schemas.openxmlformats.org/drawingml/2006/main">
              <a:ext uri="{FF2B5EF4-FFF2-40B4-BE49-F238E27FC236}">
                <a16:creationId xmlns:a16="http://schemas.microsoft.com/office/drawing/2014/main" id="{67870826-789B-4397-9DCB-FFE81444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076450"/>
            <a:ext cx="32575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0" name="c2-shape-81">
            <a:extLst xmlns:a="http://schemas.openxmlformats.org/drawingml/2006/main">
              <a:ext uri="{FF2B5EF4-FFF2-40B4-BE49-F238E27FC236}">
                <a16:creationId xmlns:a16="http://schemas.microsoft.com/office/drawing/2014/main" id="{8E16FF74-DE5F-42FA-9AAC-5C29E1C0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383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11" name="c2-text-82">
            <a:extLst xmlns:a="http://schemas.openxmlformats.org/drawingml/2006/main">
              <a:ext uri="{FF2B5EF4-FFF2-40B4-BE49-F238E27FC236}">
                <a16:creationId xmlns:a16="http://schemas.microsoft.com/office/drawing/2014/main" id="{24D8249F-39E6-4D23-9F4A-C9D0EB9B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33625"/>
            <a:ext cx="2876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Individual reading</a:t>
            </a:r>
          </a:p>
        </p:txBody>
      </p:sp>
      <p:sp>
        <p:nvSpPr>
          <p:cNvPr id="12" name="c2-text-83">
            <a:extLst xmlns:a="http://schemas.openxmlformats.org/drawingml/2006/main">
              <a:ext uri="{FF2B5EF4-FFF2-40B4-BE49-F238E27FC236}">
                <a16:creationId xmlns:a16="http://schemas.microsoft.com/office/drawing/2014/main" id="{24910DBF-B933-4564-AB44-10C8D9A8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628900"/>
            <a:ext cx="2876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25 minutes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Note one question to discuss.</a:t>
            </a:r>
          </a:p>
        </p:txBody>
      </p:sp>
      <p:sp>
        <p:nvSpPr>
          <p:cNvPr id="13" name="c2-shape-84">
            <a:extLst xmlns:a="http://schemas.openxmlformats.org/drawingml/2006/main">
              <a:ext uri="{FF2B5EF4-FFF2-40B4-BE49-F238E27FC236}">
                <a16:creationId xmlns:a16="http://schemas.microsoft.com/office/drawing/2014/main" id="{84F2588D-5C0B-49A8-A6B5-8A67A5D9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400425"/>
            <a:ext cx="32575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4" name="c2-shape-85">
            <a:extLst xmlns:a="http://schemas.openxmlformats.org/drawingml/2006/main">
              <a:ext uri="{FF2B5EF4-FFF2-40B4-BE49-F238E27FC236}">
                <a16:creationId xmlns:a16="http://schemas.microsoft.com/office/drawing/2014/main" id="{AFECAAFB-E312-4E49-BF35-355D6C00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623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5" name="c2-text-86">
            <a:extLst xmlns:a="http://schemas.openxmlformats.org/drawingml/2006/main">
              <a:ext uri="{FF2B5EF4-FFF2-40B4-BE49-F238E27FC236}">
                <a16:creationId xmlns:a16="http://schemas.microsoft.com/office/drawing/2014/main" id="{250EB8DE-5744-4340-B9A4-D34C2F54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57600"/>
            <a:ext cx="2876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After reading</a:t>
            </a:r>
          </a:p>
        </p:txBody>
      </p:sp>
      <p:sp>
        <p:nvSpPr>
          <p:cNvPr id="16" name="c2-text-87">
            <a:extLst xmlns:a="http://schemas.openxmlformats.org/drawingml/2006/main">
              <a:ext uri="{FF2B5EF4-FFF2-40B4-BE49-F238E27FC236}">
                <a16:creationId xmlns:a16="http://schemas.microsoft.com/office/drawing/2014/main" id="{991A44D7-4D3C-445C-A711-3F52C409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5287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Kahoot, then questions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discussion.</a:t>
            </a:r>
          </a:p>
        </p:txBody>
      </p:sp>
      <p:sp>
        <p:nvSpPr>
          <p:cNvPr id="17" name="c2-text-281">
            <a:extLst xmlns:a="http://schemas.openxmlformats.org/drawingml/2006/main">
              <a:ext uri="{FF2B5EF4-FFF2-40B4-BE49-F238E27FC236}">
                <a16:creationId xmlns:a16="http://schemas.microsoft.com/office/drawing/2014/main" id="{0482602A-8DF2-4923-A5DC-125343EC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01669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2-text-88">
            <a:extLst xmlns:a="http://schemas.openxmlformats.org/drawingml/2006/main">
              <a:ext uri="{FF2B5EF4-FFF2-40B4-BE49-F238E27FC236}">
                <a16:creationId xmlns:a16="http://schemas.microsoft.com/office/drawing/2014/main" id="{4CDE0777-4A3C-4A5F-BB7F-53684A2C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89">
            <a:extLst xmlns:a="http://schemas.openxmlformats.org/drawingml/2006/main">
              <a:ext uri="{FF2B5EF4-FFF2-40B4-BE49-F238E27FC236}">
                <a16:creationId xmlns:a16="http://schemas.microsoft.com/office/drawing/2014/main" id="{4CD164A6-8659-4EB9-9741-9C61F1A7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Kahoot</a:t>
            </a:r>
          </a:p>
        </p:txBody>
      </p:sp>
      <p:sp>
        <p:nvSpPr>
          <p:cNvPr id="3" name="c2-text-90">
            <a:extLst xmlns:a="http://schemas.openxmlformats.org/drawingml/2006/main">
              <a:ext uri="{FF2B5EF4-FFF2-40B4-BE49-F238E27FC236}">
                <a16:creationId xmlns:a16="http://schemas.microsoft.com/office/drawing/2014/main" id="{DF412A21-45F8-480F-BB06-6D086764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91">
            <a:extLst xmlns:a="http://schemas.openxmlformats.org/drawingml/2006/main">
              <a:ext uri="{FF2B5EF4-FFF2-40B4-BE49-F238E27FC236}">
                <a16:creationId xmlns:a16="http://schemas.microsoft.com/office/drawing/2014/main" id="{1C919C23-E390-47EE-9785-2EE596D9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14 questions to check your understanding</a:t>
            </a:r>
          </a:p>
        </p:txBody>
      </p:sp>
      <p:sp>
        <p:nvSpPr>
          <p:cNvPr id="5" name="c2-shape-92">
            <a:extLst xmlns:a="http://schemas.openxmlformats.org/drawingml/2006/main">
              <a:ext uri="{FF2B5EF4-FFF2-40B4-BE49-F238E27FC236}">
                <a16:creationId xmlns:a16="http://schemas.microsoft.com/office/drawing/2014/main" id="{16D514B7-B12C-4CE5-BEC8-81A04CFA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00600" cy="2305050"/>
          </a:xfrm>
          <a:prstGeom xmlns:a="http://schemas.openxmlformats.org/drawingml/2006/main" prst="roundRect">
            <a:avLst>
              <a:gd name="adj" fmla="val 330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6" name="c2-text-93">
            <a:hlinkClick xmlns:r="http://schemas.openxmlformats.org/officeDocument/2006/relationships" xmlns:a="http://schemas.openxmlformats.org/drawingml/2006/main" r:id="Rcebdc8a9f5a54e59"/>
            <a:extLst xmlns:a="http://schemas.openxmlformats.org/drawingml/2006/main">
              <a:ext uri="{FF2B5EF4-FFF2-40B4-BE49-F238E27FC236}">
                <a16:creationId xmlns:a16="http://schemas.microsoft.com/office/drawing/2014/main" id="{63F3A2F6-666C-4D12-AEBA-3305E11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438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34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kahoot.it</a:t>
            </a:r>
          </a:p>
        </p:txBody>
      </p:sp>
      <p:sp>
        <p:nvSpPr>
          <p:cNvPr id="7" name="c2-shape-94">
            <a:extLst xmlns:a="http://schemas.openxmlformats.org/drawingml/2006/main">
              <a:ext uri="{FF2B5EF4-FFF2-40B4-BE49-F238E27FC236}">
                <a16:creationId xmlns:a16="http://schemas.microsoft.com/office/drawing/2014/main" id="{BDBF4EA5-4129-4DE7-ADF4-467BEFAE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8" name="c2-text-95">
            <a:extLst xmlns:a="http://schemas.openxmlformats.org/drawingml/2006/main">
              <a:ext uri="{FF2B5EF4-FFF2-40B4-BE49-F238E27FC236}">
                <a16:creationId xmlns:a16="http://schemas.microsoft.com/office/drawing/2014/main" id="{DC37DED1-508B-4C07-8B18-6B5A95D3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438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link or scan the QR.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Enter the game PIN shown on screen.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7a9990d9d4702"/>
          <a:stretch xmlns:a="http://schemas.openxmlformats.org/drawingml/2006/main"/>
        </p:blipFill>
        <p:spPr>
          <a:xfrm xmlns:a="http://schemas.openxmlformats.org/drawingml/2006/main">
            <a:off x="6019800" y="20574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10" name="c2-text-282">
            <a:extLst xmlns:a="http://schemas.openxmlformats.org/drawingml/2006/main">
              <a:ext uri="{FF2B5EF4-FFF2-40B4-BE49-F238E27FC236}">
                <a16:creationId xmlns:a16="http://schemas.microsoft.com/office/drawing/2014/main" id="{9B29A6A6-6E76-4813-A045-3CB9FDFB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225705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2-text-96">
            <a:extLst xmlns:a="http://schemas.openxmlformats.org/drawingml/2006/main">
              <a:ext uri="{FF2B5EF4-FFF2-40B4-BE49-F238E27FC236}">
                <a16:creationId xmlns:a16="http://schemas.microsoft.com/office/drawing/2014/main" id="{22EC15B5-FCA2-48B6-A759-BBAA2986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97">
            <a:extLst xmlns:a="http://schemas.openxmlformats.org/drawingml/2006/main">
              <a:ext uri="{FF2B5EF4-FFF2-40B4-BE49-F238E27FC236}">
                <a16:creationId xmlns:a16="http://schemas.microsoft.com/office/drawing/2014/main" id="{B8C2901B-79BB-4AFA-B7E8-0C70412A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Language Models are Few-Shot Learners [4]</a:t>
            </a:r>
          </a:p>
        </p:txBody>
      </p:sp>
      <p:sp>
        <p:nvSpPr>
          <p:cNvPr id="3" name="c2-text-98">
            <a:extLst xmlns:a="http://schemas.openxmlformats.org/drawingml/2006/main">
              <a:ext uri="{FF2B5EF4-FFF2-40B4-BE49-F238E27FC236}">
                <a16:creationId xmlns:a16="http://schemas.microsoft.com/office/drawing/2014/main" id="{EFFA70E2-8858-41D0-9CAA-7874DB79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99">
            <a:extLst xmlns:a="http://schemas.openxmlformats.org/drawingml/2006/main">
              <a:ext uri="{FF2B5EF4-FFF2-40B4-BE49-F238E27FC236}">
                <a16:creationId xmlns:a16="http://schemas.microsoft.com/office/drawing/2014/main" id="{BC6E269E-3022-446F-9CFB-5F5BC61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Brown et al. (2020) - GPT-3, 175B parameters</a:t>
            </a:r>
          </a:p>
        </p:txBody>
      </p:sp>
      <p:sp>
        <p:nvSpPr>
          <p:cNvPr id="5" name="c2-text-100">
            <a:extLst xmlns:a="http://schemas.openxmlformats.org/drawingml/2006/main">
              <a:ext uri="{FF2B5EF4-FFF2-40B4-BE49-F238E27FC236}">
                <a16:creationId xmlns:a16="http://schemas.microsoft.com/office/drawing/2014/main" id="{80E6C462-D356-477B-B9BF-3D6E4B02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8862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They evaluated language tasks using instructions and a few examples in the input.</a:t>
            </a:r>
          </a:p>
        </p:txBody>
      </p:sp>
      <p:sp>
        <p:nvSpPr>
          <p:cNvPr id="6" name="c2-shape-101">
            <a:extLst xmlns:a="http://schemas.openxmlformats.org/drawingml/2006/main">
              <a:ext uri="{FF2B5EF4-FFF2-40B4-BE49-F238E27FC236}">
                <a16:creationId xmlns:a16="http://schemas.microsoft.com/office/drawing/2014/main" id="{652DDF55-F3D6-491A-8FEA-49626444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886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7" name="c2-shape-102">
            <a:extLst xmlns:a="http://schemas.openxmlformats.org/drawingml/2006/main">
              <a:ext uri="{FF2B5EF4-FFF2-40B4-BE49-F238E27FC236}">
                <a16:creationId xmlns:a16="http://schemas.microsoft.com/office/drawing/2014/main" id="{814971ED-8E6C-45BA-A482-F9807A16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861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8" name="c2-text-103">
            <a:extLst xmlns:a="http://schemas.openxmlformats.org/drawingml/2006/main">
              <a:ext uri="{FF2B5EF4-FFF2-40B4-BE49-F238E27FC236}">
                <a16:creationId xmlns:a16="http://schemas.microsoft.com/office/drawing/2014/main" id="{23DD4329-5746-4BD8-9B82-986B7D12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50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9" name="c2-text-104">
            <a:extLst xmlns:a="http://schemas.openxmlformats.org/drawingml/2006/main">
              <a:ext uri="{FF2B5EF4-FFF2-40B4-BE49-F238E27FC236}">
                <a16:creationId xmlns:a16="http://schemas.microsoft.com/office/drawing/2014/main" id="{2BE675DD-8ADA-43A4-8367-00FD8079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35052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New cases handled without retraining the model for each task.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adc6b1ffd4e3a"/>
          <a:stretch xmlns:a="http://schemas.openxmlformats.org/drawingml/2006/main"/>
        </p:blipFill>
        <p:spPr>
          <a:xfrm xmlns:a="http://schemas.openxmlformats.org/drawingml/2006/main">
            <a:off x="4838700" y="2218336"/>
            <a:ext cx="3695700" cy="2002227"/>
          </a:xfrm>
          <a:prstGeom xmlns:a="http://schemas.openxmlformats.org/drawingml/2006/main" prst="rect">
            <a:avLst/>
          </a:prstGeom>
        </p:spPr>
      </p:pic>
      <p:sp>
        <p:nvSpPr>
          <p:cNvPr id="11" name="c2-text-105">
            <a:extLst xmlns:a="http://schemas.openxmlformats.org/drawingml/2006/main">
              <a:ext uri="{FF2B5EF4-FFF2-40B4-BE49-F238E27FC236}">
                <a16:creationId xmlns:a16="http://schemas.microsoft.com/office/drawing/2014/main" id="{5253CB16-DF19-4B34-BBA2-0FE949A3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91025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Figure 1.2 - examples supplied in context</a:t>
            </a:r>
          </a:p>
        </p:txBody>
      </p:sp>
      <p:sp>
        <p:nvSpPr>
          <p:cNvPr id="12" name="c2-text-283">
            <a:extLst xmlns:a="http://schemas.openxmlformats.org/drawingml/2006/main">
              <a:ext uri="{FF2B5EF4-FFF2-40B4-BE49-F238E27FC236}">
                <a16:creationId xmlns:a16="http://schemas.microsoft.com/office/drawing/2014/main" id="{1EC0726A-E9A3-4C6B-9E3F-8129B4C6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488105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2-text-106">
            <a:extLst xmlns:a="http://schemas.openxmlformats.org/drawingml/2006/main">
              <a:ext uri="{FF2B5EF4-FFF2-40B4-BE49-F238E27FC236}">
                <a16:creationId xmlns:a16="http://schemas.microsoft.com/office/drawing/2014/main" id="{BD2988B0-C211-454E-8BFE-51551F01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07">
            <a:extLst xmlns:a="http://schemas.openxmlformats.org/drawingml/2006/main">
              <a:ext uri="{FF2B5EF4-FFF2-40B4-BE49-F238E27FC236}">
                <a16:creationId xmlns:a16="http://schemas.microsoft.com/office/drawing/2014/main" id="{2564C991-F5F0-4175-8853-422B6284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In-Context Learning [4] [6]</a:t>
            </a:r>
          </a:p>
        </p:txBody>
      </p:sp>
      <p:sp>
        <p:nvSpPr>
          <p:cNvPr id="3" name="c2-text-108">
            <a:extLst xmlns:a="http://schemas.openxmlformats.org/drawingml/2006/main">
              <a:ext uri="{FF2B5EF4-FFF2-40B4-BE49-F238E27FC236}">
                <a16:creationId xmlns:a16="http://schemas.microsoft.com/office/drawing/2014/main" id="{35AEBCAD-4917-4310-B45B-A2C00314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09">
            <a:extLst xmlns:a="http://schemas.openxmlformats.org/drawingml/2006/main">
              <a:ext uri="{FF2B5EF4-FFF2-40B4-BE49-F238E27FC236}">
                <a16:creationId xmlns:a16="http://schemas.microsoft.com/office/drawing/2014/main" id="{EBE786CA-9BC2-47F3-99BA-187CEBA9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can use examples in its prompt to infer a task pattern.</a:t>
            </a:r>
          </a:p>
        </p:txBody>
      </p:sp>
      <p:sp>
        <p:nvSpPr>
          <p:cNvPr id="5" name="c2-shape-110">
            <a:extLst xmlns:a="http://schemas.openxmlformats.org/drawingml/2006/main">
              <a:ext uri="{FF2B5EF4-FFF2-40B4-BE49-F238E27FC236}">
                <a16:creationId xmlns:a16="http://schemas.microsoft.com/office/drawing/2014/main" id="{625B0E87-93AE-4DDA-A0EE-24F4F205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21336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6" name="c2-text-111">
            <a:extLst xmlns:a="http://schemas.openxmlformats.org/drawingml/2006/main">
              <a:ext uri="{FF2B5EF4-FFF2-40B4-BE49-F238E27FC236}">
                <a16:creationId xmlns:a16="http://schemas.microsoft.com/office/drawing/2014/main" id="{04895FC2-B7B3-47CB-97FF-1D3CE369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Examples</a:t>
            </a:r>
          </a:p>
        </p:txBody>
      </p:sp>
      <p:sp>
        <p:nvSpPr>
          <p:cNvPr id="7" name="c2-text-112">
            <a:extLst xmlns:a="http://schemas.openxmlformats.org/drawingml/2006/main">
              <a:ext uri="{FF2B5EF4-FFF2-40B4-BE49-F238E27FC236}">
                <a16:creationId xmlns:a16="http://schemas.microsoft.com/office/drawing/2014/main" id="{4E18A820-AFE9-43DB-A50F-A867F6FE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30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c2-shape-113">
            <a:extLst xmlns:a="http://schemas.openxmlformats.org/drawingml/2006/main">
              <a:ext uri="{FF2B5EF4-FFF2-40B4-BE49-F238E27FC236}">
                <a16:creationId xmlns:a16="http://schemas.microsoft.com/office/drawing/2014/main" id="{F0C8F05E-6688-48AF-8751-D581722D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00325"/>
            <a:ext cx="21336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9" name="c2-text-114">
            <a:extLst xmlns:a="http://schemas.openxmlformats.org/drawingml/2006/main">
              <a:ext uri="{FF2B5EF4-FFF2-40B4-BE49-F238E27FC236}">
                <a16:creationId xmlns:a16="http://schemas.microsoft.com/office/drawing/2014/main" id="{D7CBFB39-C77D-4979-8235-69599EF0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New input</a:t>
            </a:r>
          </a:p>
        </p:txBody>
      </p:sp>
      <p:sp>
        <p:nvSpPr>
          <p:cNvPr id="10" name="c2-shape-115">
            <a:extLst xmlns:a="http://schemas.openxmlformats.org/drawingml/2006/main">
              <a:ext uri="{FF2B5EF4-FFF2-40B4-BE49-F238E27FC236}">
                <a16:creationId xmlns:a16="http://schemas.microsoft.com/office/drawing/2014/main" id="{5B0DA455-2510-461E-9CE3-10171AA7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0512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1" name="c2-shape-116">
            <a:extLst xmlns:a="http://schemas.openxmlformats.org/drawingml/2006/main">
              <a:ext uri="{FF2B5EF4-FFF2-40B4-BE49-F238E27FC236}">
                <a16:creationId xmlns:a16="http://schemas.microsoft.com/office/drawing/2014/main" id="{E1F5B9B8-0593-48B4-B265-9D3062CC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0325"/>
            <a:ext cx="21336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12" name="c2-text-117">
            <a:extLst xmlns:a="http://schemas.openxmlformats.org/drawingml/2006/main">
              <a:ext uri="{FF2B5EF4-FFF2-40B4-BE49-F238E27FC236}">
                <a16:creationId xmlns:a16="http://schemas.microsoft.com/office/drawing/2014/main" id="{993BB0AD-BEC8-4ACE-A8FA-8B5D0052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47950"/>
            <a:ext cx="1943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</a:t>
            </a:r>
          </a:p>
        </p:txBody>
      </p:sp>
      <p:sp>
        <p:nvSpPr>
          <p:cNvPr id="13" name="c2-shape-118">
            <a:extLst xmlns:a="http://schemas.openxmlformats.org/drawingml/2006/main">
              <a:ext uri="{FF2B5EF4-FFF2-40B4-BE49-F238E27FC236}">
                <a16:creationId xmlns:a16="http://schemas.microsoft.com/office/drawing/2014/main" id="{F3B2BF91-0D36-4239-8424-5FA44460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4" name="c2-text-119">
            <a:extLst xmlns:a="http://schemas.openxmlformats.org/drawingml/2006/main">
              <a:ext uri="{FF2B5EF4-FFF2-40B4-BE49-F238E27FC236}">
                <a16:creationId xmlns:a16="http://schemas.microsoft.com/office/drawing/2014/main" id="{D0632845-21B1-4F26-9DD2-573A9594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7543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 task-specific retraining is needed for this interaction.</a:t>
            </a:r>
          </a:p>
        </p:txBody>
      </p:sp>
      <p:sp>
        <p:nvSpPr>
          <p:cNvPr id="15" name="c2-text-120">
            <a:extLst xmlns:a="http://schemas.openxmlformats.org/drawingml/2006/main">
              <a:ext uri="{FF2B5EF4-FFF2-40B4-BE49-F238E27FC236}">
                <a16:creationId xmlns:a16="http://schemas.microsoft.com/office/drawing/2014/main" id="{0953C8F3-4EAA-4841-B18A-66825E11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Context can also supply conversations, facts and memories.</a:t>
            </a:r>
          </a:p>
        </p:txBody>
      </p:sp>
      <p:sp>
        <p:nvSpPr>
          <p:cNvPr id="16" name="c2-text-284">
            <a:extLst xmlns:a="http://schemas.openxmlformats.org/drawingml/2006/main">
              <a:ext uri="{FF2B5EF4-FFF2-40B4-BE49-F238E27FC236}">
                <a16:creationId xmlns:a16="http://schemas.microsoft.com/office/drawing/2014/main" id="{B291D856-94E2-41E3-86EE-7F37ACD9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63730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2-text-121">
            <a:extLst xmlns:a="http://schemas.openxmlformats.org/drawingml/2006/main">
              <a:ext uri="{FF2B5EF4-FFF2-40B4-BE49-F238E27FC236}">
                <a16:creationId xmlns:a16="http://schemas.microsoft.com/office/drawing/2014/main" id="{4CA397AD-16E0-493D-854A-B472C905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22">
            <a:extLst xmlns:a="http://schemas.openxmlformats.org/drawingml/2006/main">
              <a:ext uri="{FF2B5EF4-FFF2-40B4-BE49-F238E27FC236}">
                <a16:creationId xmlns:a16="http://schemas.microsoft.com/office/drawing/2014/main" id="{BE71D830-5538-45FE-9728-894D4878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Few-Shot Translation [4] [6]</a:t>
            </a:r>
          </a:p>
        </p:txBody>
      </p:sp>
      <p:sp>
        <p:nvSpPr>
          <p:cNvPr id="3" name="c2-text-123">
            <a:extLst xmlns:a="http://schemas.openxmlformats.org/drawingml/2006/main">
              <a:ext uri="{FF2B5EF4-FFF2-40B4-BE49-F238E27FC236}">
                <a16:creationId xmlns:a16="http://schemas.microsoft.com/office/drawing/2014/main" id="{56BAA994-4CB5-40CF-A850-17546425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24">
            <a:extLst xmlns:a="http://schemas.openxmlformats.org/drawingml/2006/main">
              <a:ext uri="{FF2B5EF4-FFF2-40B4-BE49-F238E27FC236}">
                <a16:creationId xmlns:a16="http://schemas.microsoft.com/office/drawing/2014/main" id="{C648306C-BA3A-47E5-B5CB-DCD785DD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Two examples, then a new sentence.</a:t>
            </a:r>
          </a:p>
        </p:txBody>
      </p:sp>
      <p:sp>
        <p:nvSpPr>
          <p:cNvPr id="5" name="c2-text-125">
            <a:extLst xmlns:a="http://schemas.openxmlformats.org/drawingml/2006/main">
              <a:ext uri="{FF2B5EF4-FFF2-40B4-BE49-F238E27FC236}">
                <a16:creationId xmlns:a16="http://schemas.microsoft.com/office/drawing/2014/main" id="{CE0D29D9-A5F2-4763-8051-0F06EFC4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924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6" name="c2-shape-126">
            <a:extLst xmlns:a="http://schemas.openxmlformats.org/drawingml/2006/main">
              <a:ext uri="{FF2B5EF4-FFF2-40B4-BE49-F238E27FC236}">
                <a16:creationId xmlns:a16="http://schemas.microsoft.com/office/drawing/2014/main" id="{E49988BF-34FE-40FE-9F13-A41243A3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7" name="c2-text-127">
            <a:extLst xmlns:a="http://schemas.openxmlformats.org/drawingml/2006/main">
              <a:ext uri="{FF2B5EF4-FFF2-40B4-BE49-F238E27FC236}">
                <a16:creationId xmlns:a16="http://schemas.microsoft.com/office/drawing/2014/main" id="{A45F9319-0F41-4780-9166-999DA5FA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7543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English: Good morning.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Italian: Buongiorno.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English: Thank you.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Italian: Grazie.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English: Where is the entrance?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Italian:</a:t>
            </a:r>
          </a:p>
        </p:txBody>
      </p:sp>
      <p:sp>
        <p:nvSpPr>
          <p:cNvPr id="8" name="c2-shape-128">
            <a:extLst xmlns:a="http://schemas.openxmlformats.org/drawingml/2006/main">
              <a:ext uri="{FF2B5EF4-FFF2-40B4-BE49-F238E27FC236}">
                <a16:creationId xmlns:a16="http://schemas.microsoft.com/office/drawing/2014/main" id="{01FE22D9-C7B3-48B9-8DEF-61A8E38C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79248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9" name="c2-text-129">
            <a:extLst xmlns:a="http://schemas.openxmlformats.org/drawingml/2006/main">
              <a:ext uri="{FF2B5EF4-FFF2-40B4-BE49-F238E27FC236}">
                <a16:creationId xmlns:a16="http://schemas.microsoft.com/office/drawing/2014/main" id="{FCB8AF30-CDA4-4CA4-BCCB-BF02DE74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Continuation</a:t>
            </a:r>
          </a:p>
        </p:txBody>
      </p:sp>
      <p:sp>
        <p:nvSpPr>
          <p:cNvPr id="10" name="c2-text-130">
            <a:extLst xmlns:a="http://schemas.openxmlformats.org/drawingml/2006/main">
              <a:ext uri="{FF2B5EF4-FFF2-40B4-BE49-F238E27FC236}">
                <a16:creationId xmlns:a16="http://schemas.microsoft.com/office/drawing/2014/main" id="{C7AF72B5-43E7-430B-B857-E5DC777A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592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11" name="c2-text-285">
            <a:extLst xmlns:a="http://schemas.openxmlformats.org/drawingml/2006/main">
              <a:ext uri="{FF2B5EF4-FFF2-40B4-BE49-F238E27FC236}">
                <a16:creationId xmlns:a16="http://schemas.microsoft.com/office/drawing/2014/main" id="{91F313C9-0BFD-4633-AD3A-E8824E3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68487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2-text-131">
            <a:extLst xmlns:a="http://schemas.openxmlformats.org/drawingml/2006/main">
              <a:ext uri="{FF2B5EF4-FFF2-40B4-BE49-F238E27FC236}">
                <a16:creationId xmlns:a16="http://schemas.microsoft.com/office/drawing/2014/main" id="{9FB31DA4-F677-45CE-AAAB-69BA2A5E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32">
            <a:extLst xmlns:a="http://schemas.openxmlformats.org/drawingml/2006/main">
              <a:ext uri="{FF2B5EF4-FFF2-40B4-BE49-F238E27FC236}">
                <a16:creationId xmlns:a16="http://schemas.microsoft.com/office/drawing/2014/main" id="{DD107226-17C2-478B-916D-5098621D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Few-Shot Translation [4] [6]</a:t>
            </a:r>
          </a:p>
        </p:txBody>
      </p:sp>
      <p:sp>
        <p:nvSpPr>
          <p:cNvPr id="3" name="c2-text-133">
            <a:extLst xmlns:a="http://schemas.openxmlformats.org/drawingml/2006/main">
              <a:ext uri="{FF2B5EF4-FFF2-40B4-BE49-F238E27FC236}">
                <a16:creationId xmlns:a16="http://schemas.microsoft.com/office/drawing/2014/main" id="{E13444C1-673A-46B2-9D23-F5B396A8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34">
            <a:extLst xmlns:a="http://schemas.openxmlformats.org/drawingml/2006/main">
              <a:ext uri="{FF2B5EF4-FFF2-40B4-BE49-F238E27FC236}">
                <a16:creationId xmlns:a16="http://schemas.microsoft.com/office/drawing/2014/main" id="{DDAE8539-F5A2-42BB-BE02-3E467B5A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Two examples, then a new sentence.</a:t>
            </a:r>
          </a:p>
        </p:txBody>
      </p:sp>
      <p:sp>
        <p:nvSpPr>
          <p:cNvPr id="5" name="c2-text-135">
            <a:extLst xmlns:a="http://schemas.openxmlformats.org/drawingml/2006/main">
              <a:ext uri="{FF2B5EF4-FFF2-40B4-BE49-F238E27FC236}">
                <a16:creationId xmlns:a16="http://schemas.microsoft.com/office/drawing/2014/main" id="{2B30167E-BD44-4CFB-8ECF-4BAEBAA0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924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6" name="c2-shape-136">
            <a:extLst xmlns:a="http://schemas.openxmlformats.org/drawingml/2006/main">
              <a:ext uri="{FF2B5EF4-FFF2-40B4-BE49-F238E27FC236}">
                <a16:creationId xmlns:a16="http://schemas.microsoft.com/office/drawing/2014/main" id="{32C4E632-355C-4957-97A8-CE32DB43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7" name="c2-text-137">
            <a:extLst xmlns:a="http://schemas.openxmlformats.org/drawingml/2006/main">
              <a:ext uri="{FF2B5EF4-FFF2-40B4-BE49-F238E27FC236}">
                <a16:creationId xmlns:a16="http://schemas.microsoft.com/office/drawing/2014/main" id="{02FBDE3E-E2CF-4DD0-8256-58F99D9E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7543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English: Good morning.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Italian: Buongiorno.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English: Thank you.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Italian: Grazie.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English: Where is the entrance?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Italian:</a:t>
            </a:r>
          </a:p>
        </p:txBody>
      </p:sp>
      <p:sp>
        <p:nvSpPr>
          <p:cNvPr id="8" name="c2-shape-138">
            <a:extLst xmlns:a="http://schemas.openxmlformats.org/drawingml/2006/main">
              <a:ext uri="{FF2B5EF4-FFF2-40B4-BE49-F238E27FC236}">
                <a16:creationId xmlns:a16="http://schemas.microsoft.com/office/drawing/2014/main" id="{C84634D9-A498-404F-8DA2-3709BE90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79248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9" name="c2-text-139">
            <a:extLst xmlns:a="http://schemas.openxmlformats.org/drawingml/2006/main">
              <a:ext uri="{FF2B5EF4-FFF2-40B4-BE49-F238E27FC236}">
                <a16:creationId xmlns:a16="http://schemas.microsoft.com/office/drawing/2014/main" id="{80F5EB26-B76C-4172-A842-34E11021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Continuation</a:t>
            </a:r>
          </a:p>
        </p:txBody>
      </p:sp>
      <p:sp>
        <p:nvSpPr>
          <p:cNvPr id="10" name="c2-text-140">
            <a:extLst xmlns:a="http://schemas.openxmlformats.org/drawingml/2006/main">
              <a:ext uri="{FF2B5EF4-FFF2-40B4-BE49-F238E27FC236}">
                <a16:creationId xmlns:a16="http://schemas.microsoft.com/office/drawing/2014/main" id="{D848F684-AB17-46F2-9CE2-D15A4E95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592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Dove si trova l'ingresso?</a:t>
            </a:r>
          </a:p>
        </p:txBody>
      </p:sp>
      <p:sp>
        <p:nvSpPr>
          <p:cNvPr id="11" name="c2-text-286">
            <a:extLst xmlns:a="http://schemas.openxmlformats.org/drawingml/2006/main">
              <a:ext uri="{FF2B5EF4-FFF2-40B4-BE49-F238E27FC236}">
                <a16:creationId xmlns:a16="http://schemas.microsoft.com/office/drawing/2014/main" id="{EB89D150-EB38-472B-9588-860EDC86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77926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2-text-141">
            <a:extLst xmlns:a="http://schemas.openxmlformats.org/drawingml/2006/main">
              <a:ext uri="{FF2B5EF4-FFF2-40B4-BE49-F238E27FC236}">
                <a16:creationId xmlns:a16="http://schemas.microsoft.com/office/drawing/2014/main" id="{B279957A-9170-45A4-8402-0672E941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42">
            <a:extLst xmlns:a="http://schemas.openxmlformats.org/drawingml/2006/main">
              <a:ext uri="{FF2B5EF4-FFF2-40B4-BE49-F238E27FC236}">
                <a16:creationId xmlns:a16="http://schemas.microsoft.com/office/drawing/2014/main" id="{5E9390E5-9BB0-4315-9E9D-84A0613D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Completing a Question [4]</a:t>
            </a:r>
          </a:p>
        </p:txBody>
      </p:sp>
      <p:sp>
        <p:nvSpPr>
          <p:cNvPr id="3" name="c2-text-143">
            <a:extLst xmlns:a="http://schemas.openxmlformats.org/drawingml/2006/main">
              <a:ext uri="{FF2B5EF4-FFF2-40B4-BE49-F238E27FC236}">
                <a16:creationId xmlns:a16="http://schemas.microsoft.com/office/drawing/2014/main" id="{8FB891FA-0498-4134-A01F-29F4DAEB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44">
            <a:extLst xmlns:a="http://schemas.openxmlformats.org/drawingml/2006/main">
              <a:ext uri="{FF2B5EF4-FFF2-40B4-BE49-F238E27FC236}">
                <a16:creationId xmlns:a16="http://schemas.microsoft.com/office/drawing/2014/main" id="{1AEDFAC0-F2FB-47C9-A204-1DF0D73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question can also be the beginning of a text to continue.</a:t>
            </a:r>
          </a:p>
        </p:txBody>
      </p:sp>
      <p:sp>
        <p:nvSpPr>
          <p:cNvPr id="5" name="c2-text-145">
            <a:extLst xmlns:a="http://schemas.openxmlformats.org/drawingml/2006/main">
              <a:ext uri="{FF2B5EF4-FFF2-40B4-BE49-F238E27FC236}">
                <a16:creationId xmlns:a16="http://schemas.microsoft.com/office/drawing/2014/main" id="{97B78F85-9363-469A-A97B-381A7F15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924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6" name="c2-shape-146">
            <a:extLst xmlns:a="http://schemas.openxmlformats.org/drawingml/2006/main">
              <a:ext uri="{FF2B5EF4-FFF2-40B4-BE49-F238E27FC236}">
                <a16:creationId xmlns:a16="http://schemas.microsoft.com/office/drawing/2014/main" id="{A92C8BF6-2559-48DD-87E3-5A183B03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7" name="c2-text-147">
            <a:extLst xmlns:a="http://schemas.openxmlformats.org/drawingml/2006/main">
              <a:ext uri="{FF2B5EF4-FFF2-40B4-BE49-F238E27FC236}">
                <a16:creationId xmlns:a16="http://schemas.microsoft.com/office/drawing/2014/main" id="{BF22F51B-D9DA-47A6-AFCE-3A0AED43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7543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Question: What is the capital of France?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Answer:</a:t>
            </a:r>
          </a:p>
        </p:txBody>
      </p:sp>
      <p:sp>
        <p:nvSpPr>
          <p:cNvPr id="8" name="c2-shape-148">
            <a:extLst xmlns:a="http://schemas.openxmlformats.org/drawingml/2006/main">
              <a:ext uri="{FF2B5EF4-FFF2-40B4-BE49-F238E27FC236}">
                <a16:creationId xmlns:a16="http://schemas.microsoft.com/office/drawing/2014/main" id="{4A1F1A29-3C11-4655-B905-9FFEF9D1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79248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9" name="c2-text-149">
            <a:extLst xmlns:a="http://schemas.openxmlformats.org/drawingml/2006/main">
              <a:ext uri="{FF2B5EF4-FFF2-40B4-BE49-F238E27FC236}">
                <a16:creationId xmlns:a16="http://schemas.microsoft.com/office/drawing/2014/main" id="{15D9490D-4228-4038-9A69-7AC27B16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Continuation</a:t>
            </a:r>
          </a:p>
        </p:txBody>
      </p:sp>
      <p:sp>
        <p:nvSpPr>
          <p:cNvPr id="10" name="c2-text-150">
            <a:extLst xmlns:a="http://schemas.openxmlformats.org/drawingml/2006/main">
              <a:ext uri="{FF2B5EF4-FFF2-40B4-BE49-F238E27FC236}">
                <a16:creationId xmlns:a16="http://schemas.microsoft.com/office/drawing/2014/main" id="{2419F925-2A6E-4F43-9D59-7F27A847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592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Paris.</a:t>
            </a:r>
          </a:p>
        </p:txBody>
      </p:sp>
      <p:sp>
        <p:nvSpPr>
          <p:cNvPr id="11" name="c2-text-287">
            <a:extLst xmlns:a="http://schemas.openxmlformats.org/drawingml/2006/main">
              <a:ext uri="{FF2B5EF4-FFF2-40B4-BE49-F238E27FC236}">
                <a16:creationId xmlns:a16="http://schemas.microsoft.com/office/drawing/2014/main" id="{BBB2F1D8-F32D-4A62-B1EF-7A17CCE0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029158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2-text-151">
            <a:extLst xmlns:a="http://schemas.openxmlformats.org/drawingml/2006/main">
              <a:ext uri="{FF2B5EF4-FFF2-40B4-BE49-F238E27FC236}">
                <a16:creationId xmlns:a16="http://schemas.microsoft.com/office/drawing/2014/main" id="{FEF2D0AF-6928-4C03-8A26-BF864A92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52">
            <a:extLst xmlns:a="http://schemas.openxmlformats.org/drawingml/2006/main">
              <a:ext uri="{FF2B5EF4-FFF2-40B4-BE49-F238E27FC236}">
                <a16:creationId xmlns:a16="http://schemas.microsoft.com/office/drawing/2014/main" id="{C8E5ACA2-1CC1-4815-9316-59CDC1C4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Conversation Is a Prompt [4] [7]</a:t>
            </a:r>
          </a:p>
        </p:txBody>
      </p:sp>
      <p:sp>
        <p:nvSpPr>
          <p:cNvPr id="3" name="c2-text-153">
            <a:extLst xmlns:a="http://schemas.openxmlformats.org/drawingml/2006/main">
              <a:ext uri="{FF2B5EF4-FFF2-40B4-BE49-F238E27FC236}">
                <a16:creationId xmlns:a16="http://schemas.microsoft.com/office/drawing/2014/main" id="{F0316F88-D9DF-4FB6-979F-173E28A8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54">
            <a:extLst xmlns:a="http://schemas.openxmlformats.org/drawingml/2006/main">
              <a:ext uri="{FF2B5EF4-FFF2-40B4-BE49-F238E27FC236}">
                <a16:creationId xmlns:a16="http://schemas.microsoft.com/office/drawing/2014/main" id="{C1F3B20A-436D-4F41-8326-AE22CB3D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Write a conversation and leave the next reply unfinished.</a:t>
            </a:r>
          </a:p>
        </p:txBody>
      </p:sp>
      <p:sp>
        <p:nvSpPr>
          <p:cNvPr id="5" name="c2-text-155">
            <a:extLst xmlns:a="http://schemas.openxmlformats.org/drawingml/2006/main">
              <a:ext uri="{FF2B5EF4-FFF2-40B4-BE49-F238E27FC236}">
                <a16:creationId xmlns:a16="http://schemas.microsoft.com/office/drawing/2014/main" id="{169D2E7A-E888-4963-BCB3-75A1CC0D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924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6" name="c2-shape-156">
            <a:extLst xmlns:a="http://schemas.openxmlformats.org/drawingml/2006/main">
              <a:ext uri="{FF2B5EF4-FFF2-40B4-BE49-F238E27FC236}">
                <a16:creationId xmlns:a16="http://schemas.microsoft.com/office/drawing/2014/main" id="{0AD3849E-5357-4810-87E8-A6D36FBF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7" name="c2-text-157">
            <a:extLst xmlns:a="http://schemas.openxmlformats.org/drawingml/2006/main">
              <a:ext uri="{FF2B5EF4-FFF2-40B4-BE49-F238E27FC236}">
                <a16:creationId xmlns:a16="http://schemas.microsoft.com/office/drawing/2014/main" id="{861F61FA-538F-4DEE-9360-9BF83BDC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7543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Complete the conversation.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Visitor: Hello!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Guide: Welcome to the museum.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Visitor: Can you help me find the entrance?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Guide:</a:t>
            </a:r>
          </a:p>
        </p:txBody>
      </p:sp>
      <p:sp>
        <p:nvSpPr>
          <p:cNvPr id="8" name="c2-shape-158">
            <a:extLst xmlns:a="http://schemas.openxmlformats.org/drawingml/2006/main">
              <a:ext uri="{FF2B5EF4-FFF2-40B4-BE49-F238E27FC236}">
                <a16:creationId xmlns:a16="http://schemas.microsoft.com/office/drawing/2014/main" id="{0C1C7A5B-A203-4842-8FC7-44FB4FBD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79248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9" name="c2-text-159">
            <a:extLst xmlns:a="http://schemas.openxmlformats.org/drawingml/2006/main">
              <a:ext uri="{FF2B5EF4-FFF2-40B4-BE49-F238E27FC236}">
                <a16:creationId xmlns:a16="http://schemas.microsoft.com/office/drawing/2014/main" id="{DCA81ECE-98A2-49AE-A15A-D25FD403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Continuation</a:t>
            </a:r>
          </a:p>
        </p:txBody>
      </p:sp>
      <p:sp>
        <p:nvSpPr>
          <p:cNvPr id="10" name="c2-text-160">
            <a:extLst xmlns:a="http://schemas.openxmlformats.org/drawingml/2006/main">
              <a:ext uri="{FF2B5EF4-FFF2-40B4-BE49-F238E27FC236}">
                <a16:creationId xmlns:a16="http://schemas.microsoft.com/office/drawing/2014/main" id="{45ADEB11-2204-436F-BB92-E7D0B123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592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 course! Let me show you the way.</a:t>
            </a:r>
          </a:p>
        </p:txBody>
      </p:sp>
      <p:sp>
        <p:nvSpPr>
          <p:cNvPr id="11" name="c2-text-288">
            <a:extLst xmlns:a="http://schemas.openxmlformats.org/drawingml/2006/main">
              <a:ext uri="{FF2B5EF4-FFF2-40B4-BE49-F238E27FC236}">
                <a16:creationId xmlns:a16="http://schemas.microsoft.com/office/drawing/2014/main" id="{E65FAFF7-0951-491C-AD44-7AEAE6DB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041460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2-text-161">
            <a:extLst xmlns:a="http://schemas.openxmlformats.org/drawingml/2006/main">
              <a:ext uri="{FF2B5EF4-FFF2-40B4-BE49-F238E27FC236}">
                <a16:creationId xmlns:a16="http://schemas.microsoft.com/office/drawing/2014/main" id="{64328349-138C-4019-8651-4CBC45E1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62">
            <a:extLst xmlns:a="http://schemas.openxmlformats.org/drawingml/2006/main">
              <a:ext uri="{FF2B5EF4-FFF2-40B4-BE49-F238E27FC236}">
                <a16:creationId xmlns:a16="http://schemas.microsoft.com/office/drawing/2014/main" id="{264D54F6-183F-40C0-890A-EBBAA14C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Adding Facts to the Prompt [8]</a:t>
            </a:r>
          </a:p>
        </p:txBody>
      </p:sp>
      <p:sp>
        <p:nvSpPr>
          <p:cNvPr id="3" name="c2-text-163">
            <a:extLst xmlns:a="http://schemas.openxmlformats.org/drawingml/2006/main">
              <a:ext uri="{FF2B5EF4-FFF2-40B4-BE49-F238E27FC236}">
                <a16:creationId xmlns:a16="http://schemas.microsoft.com/office/drawing/2014/main" id="{9FF9FA92-5724-4190-B069-163C42F9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64">
            <a:extLst xmlns:a="http://schemas.openxmlformats.org/drawingml/2006/main">
              <a:ext uri="{FF2B5EF4-FFF2-40B4-BE49-F238E27FC236}">
                <a16:creationId xmlns:a16="http://schemas.microsoft.com/office/drawing/2014/main" id="{5127ECDA-3B8E-4C23-9301-B218B1EE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application can supply information for the current reply.</a:t>
            </a:r>
          </a:p>
        </p:txBody>
      </p:sp>
      <p:sp>
        <p:nvSpPr>
          <p:cNvPr id="5" name="c2-text-165">
            <a:extLst xmlns:a="http://schemas.openxmlformats.org/drawingml/2006/main">
              <a:ext uri="{FF2B5EF4-FFF2-40B4-BE49-F238E27FC236}">
                <a16:creationId xmlns:a16="http://schemas.microsoft.com/office/drawing/2014/main" id="{A9D75AE9-1448-4785-852C-929B6311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924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6" name="c2-shape-166">
            <a:extLst xmlns:a="http://schemas.openxmlformats.org/drawingml/2006/main">
              <a:ext uri="{FF2B5EF4-FFF2-40B4-BE49-F238E27FC236}">
                <a16:creationId xmlns:a16="http://schemas.microsoft.com/office/drawing/2014/main" id="{D4FF1BAA-B3E8-4956-926D-ED34E324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792480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7" name="c2-text-167">
            <a:extLst xmlns:a="http://schemas.openxmlformats.org/drawingml/2006/main">
              <a:ext uri="{FF2B5EF4-FFF2-40B4-BE49-F238E27FC236}">
                <a16:creationId xmlns:a16="http://schemas.microsoft.com/office/drawing/2014/main" id="{9CE42EB6-D781-480D-A94D-7E0C7577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7543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Complete the conversation.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Context: The guide is called PippoBot.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current local time is 14:30.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Visitor: What is your name, and what time is it?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Guide:</a:t>
            </a:r>
          </a:p>
        </p:txBody>
      </p:sp>
      <p:sp>
        <p:nvSpPr>
          <p:cNvPr id="8" name="c2-shape-168">
            <a:extLst xmlns:a="http://schemas.openxmlformats.org/drawingml/2006/main">
              <a:ext uri="{FF2B5EF4-FFF2-40B4-BE49-F238E27FC236}">
                <a16:creationId xmlns:a16="http://schemas.microsoft.com/office/drawing/2014/main" id="{3A608554-518C-438D-8A2B-135B536B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79248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9" name="c2-text-169">
            <a:extLst xmlns:a="http://schemas.openxmlformats.org/drawingml/2006/main">
              <a:ext uri="{FF2B5EF4-FFF2-40B4-BE49-F238E27FC236}">
                <a16:creationId xmlns:a16="http://schemas.microsoft.com/office/drawing/2014/main" id="{CF8F4B82-D3B2-415E-A9BB-8A73E95C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Continuation</a:t>
            </a:r>
          </a:p>
        </p:txBody>
      </p:sp>
      <p:sp>
        <p:nvSpPr>
          <p:cNvPr id="10" name="c2-text-170">
            <a:extLst xmlns:a="http://schemas.openxmlformats.org/drawingml/2006/main">
              <a:ext uri="{FF2B5EF4-FFF2-40B4-BE49-F238E27FC236}">
                <a16:creationId xmlns:a16="http://schemas.microsoft.com/office/drawing/2014/main" id="{F2297533-08AF-4B53-814C-FEA2B99A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592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I'm PippoBot. It is 14:30.</a:t>
            </a:r>
          </a:p>
        </p:txBody>
      </p:sp>
      <p:sp>
        <p:nvSpPr>
          <p:cNvPr id="11" name="c2-text-289">
            <a:extLst xmlns:a="http://schemas.openxmlformats.org/drawingml/2006/main">
              <a:ext uri="{FF2B5EF4-FFF2-40B4-BE49-F238E27FC236}">
                <a16:creationId xmlns:a16="http://schemas.microsoft.com/office/drawing/2014/main" id="{DF4869FE-F624-407A-B6EC-99E1F919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16306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2-text-171">
            <a:extLst xmlns:a="http://schemas.openxmlformats.org/drawingml/2006/main">
              <a:ext uri="{FF2B5EF4-FFF2-40B4-BE49-F238E27FC236}">
                <a16:creationId xmlns:a16="http://schemas.microsoft.com/office/drawing/2014/main" id="{D0E6332C-C702-4221-B272-29B12B37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72">
            <a:extLst xmlns:a="http://schemas.openxmlformats.org/drawingml/2006/main">
              <a:ext uri="{FF2B5EF4-FFF2-40B4-BE49-F238E27FC236}">
                <a16:creationId xmlns:a16="http://schemas.microsoft.com/office/drawing/2014/main" id="{0583CBB8-5295-45D7-A735-8698194E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Bringing a Memory into the Prompt [8]</a:t>
            </a:r>
          </a:p>
        </p:txBody>
      </p:sp>
      <p:sp>
        <p:nvSpPr>
          <p:cNvPr id="3" name="c2-text-173">
            <a:extLst xmlns:a="http://schemas.openxmlformats.org/drawingml/2006/main">
              <a:ext uri="{FF2B5EF4-FFF2-40B4-BE49-F238E27FC236}">
                <a16:creationId xmlns:a16="http://schemas.microsoft.com/office/drawing/2014/main" id="{9A072042-D6BD-4EB5-AD27-ABBE828D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74">
            <a:extLst xmlns:a="http://schemas.openxmlformats.org/drawingml/2006/main">
              <a:ext uri="{FF2B5EF4-FFF2-40B4-BE49-F238E27FC236}">
                <a16:creationId xmlns:a16="http://schemas.microsoft.com/office/drawing/2014/main" id="{AD833B5D-2624-46A7-BCB1-FECBCAA3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can retrieve a stored fact and include it in the input.</a:t>
            </a:r>
          </a:p>
        </p:txBody>
      </p:sp>
      <p:sp>
        <p:nvSpPr>
          <p:cNvPr id="5" name="c2-shape-175">
            <a:extLst xmlns:a="http://schemas.openxmlformats.org/drawingml/2006/main">
              <a:ext uri="{FF2B5EF4-FFF2-40B4-BE49-F238E27FC236}">
                <a16:creationId xmlns:a16="http://schemas.microsoft.com/office/drawing/2014/main" id="{C002B7D8-D868-4270-AE44-64FA7909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2209800" cy="1724025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6" name="c2-text-176">
            <a:extLst xmlns:a="http://schemas.openxmlformats.org/drawingml/2006/main">
              <a:ext uri="{FF2B5EF4-FFF2-40B4-BE49-F238E27FC236}">
                <a16:creationId xmlns:a16="http://schemas.microsoft.com/office/drawing/2014/main" id="{2AE02D88-4584-4516-A90F-CFA7E67A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828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Long-term memory</a:t>
            </a:r>
          </a:p>
        </p:txBody>
      </p:sp>
      <p:sp>
        <p:nvSpPr>
          <p:cNvPr id="7" name="c2-text-177">
            <a:extLst xmlns:a="http://schemas.openxmlformats.org/drawingml/2006/main">
              <a:ext uri="{FF2B5EF4-FFF2-40B4-BE49-F238E27FC236}">
                <a16:creationId xmlns:a16="http://schemas.microsoft.com/office/drawing/2014/main" id="{D1B54119-04AF-43F7-8FD7-D7FF0171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 #42</a:t>
            </a:r>
          </a:p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Prefers Italian</a:t>
            </a:r>
          </a:p>
        </p:txBody>
      </p:sp>
      <p:sp>
        <p:nvSpPr>
          <p:cNvPr id="8" name="c2-shape-178">
            <a:extLst xmlns:a="http://schemas.openxmlformats.org/drawingml/2006/main">
              <a:ext uri="{FF2B5EF4-FFF2-40B4-BE49-F238E27FC236}">
                <a16:creationId xmlns:a16="http://schemas.microsoft.com/office/drawing/2014/main" id="{1F61EFE2-0F39-450C-95A4-5698620F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105150"/>
            <a:ext cx="4191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9" name="c2-shape-179">
            <a:extLst xmlns:a="http://schemas.openxmlformats.org/drawingml/2006/main">
              <a:ext uri="{FF2B5EF4-FFF2-40B4-BE49-F238E27FC236}">
                <a16:creationId xmlns:a16="http://schemas.microsoft.com/office/drawing/2014/main" id="{D4E0C8AE-1340-47ED-96B8-F9FF248D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24100"/>
            <a:ext cx="4953000" cy="1724025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10" name="c2-text-180">
            <a:extLst xmlns:a="http://schemas.openxmlformats.org/drawingml/2006/main">
              <a:ext uri="{FF2B5EF4-FFF2-40B4-BE49-F238E27FC236}">
                <a16:creationId xmlns:a16="http://schemas.microsoft.com/office/drawing/2014/main" id="{D8251764-9FE3-47A4-99B7-76C5DE42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19350"/>
            <a:ext cx="4572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1" name="c2-text-181">
            <a:extLst xmlns:a="http://schemas.openxmlformats.org/drawingml/2006/main">
              <a:ext uri="{FF2B5EF4-FFF2-40B4-BE49-F238E27FC236}">
                <a16:creationId xmlns:a16="http://schemas.microsoft.com/office/drawing/2014/main" id="{899A1477-6AB6-4E4B-BCDA-C2A1AD5A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76550"/>
            <a:ext cx="457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Context: Visitor prefers Italian.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Visitor: Can we continue?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Guide:</a:t>
            </a:r>
          </a:p>
        </p:txBody>
      </p:sp>
      <p:sp>
        <p:nvSpPr>
          <p:cNvPr id="12" name="c2-shape-182">
            <a:extLst xmlns:a="http://schemas.openxmlformats.org/drawingml/2006/main">
              <a:ext uri="{FF2B5EF4-FFF2-40B4-BE49-F238E27FC236}">
                <a16:creationId xmlns:a16="http://schemas.microsoft.com/office/drawing/2014/main" id="{D4B56A72-7094-4F03-A86A-A4A0EBD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79248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3" name="c2-text-183">
            <a:extLst xmlns:a="http://schemas.openxmlformats.org/drawingml/2006/main">
              <a:ext uri="{FF2B5EF4-FFF2-40B4-BE49-F238E27FC236}">
                <a16:creationId xmlns:a16="http://schemas.microsoft.com/office/drawing/2014/main" id="{2AAE944F-2714-4A63-9586-FBFC2F2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52925"/>
            <a:ext cx="1438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Continuation</a:t>
            </a:r>
          </a:p>
        </p:txBody>
      </p:sp>
      <p:sp>
        <p:nvSpPr>
          <p:cNvPr id="14" name="c2-text-184">
            <a:extLst xmlns:a="http://schemas.openxmlformats.org/drawingml/2006/main">
              <a:ext uri="{FF2B5EF4-FFF2-40B4-BE49-F238E27FC236}">
                <a16:creationId xmlns:a16="http://schemas.microsoft.com/office/drawing/2014/main" id="{8DEA89EC-F595-4A64-9A5B-1BF728A0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592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Certo, continuiamo la visita.</a:t>
            </a:r>
          </a:p>
        </p:txBody>
      </p:sp>
      <p:sp>
        <p:nvSpPr>
          <p:cNvPr id="15" name="c2-text-290">
            <a:extLst xmlns:a="http://schemas.openxmlformats.org/drawingml/2006/main">
              <a:ext uri="{FF2B5EF4-FFF2-40B4-BE49-F238E27FC236}">
                <a16:creationId xmlns:a16="http://schemas.microsoft.com/office/drawing/2014/main" id="{D4507739-002D-478F-81BB-9D5D81C2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577722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c2-text-185">
            <a:extLst xmlns:a="http://schemas.openxmlformats.org/drawingml/2006/main">
              <a:ext uri="{FF2B5EF4-FFF2-40B4-BE49-F238E27FC236}">
                <a16:creationId xmlns:a16="http://schemas.microsoft.com/office/drawing/2014/main" id="{9094A162-7C1B-4671-9F18-E74DE54D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186">
            <a:extLst xmlns:a="http://schemas.openxmlformats.org/drawingml/2006/main">
              <a:ext uri="{FF2B5EF4-FFF2-40B4-BE49-F238E27FC236}">
                <a16:creationId xmlns:a16="http://schemas.microsoft.com/office/drawing/2014/main" id="{C16172D8-BB76-4B7B-B617-F6CE7E45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Context Window Is Limited [4] [8]</a:t>
            </a:r>
          </a:p>
        </p:txBody>
      </p:sp>
      <p:sp>
        <p:nvSpPr>
          <p:cNvPr id="3" name="c2-text-187">
            <a:extLst xmlns:a="http://schemas.openxmlformats.org/drawingml/2006/main">
              <a:ext uri="{FF2B5EF4-FFF2-40B4-BE49-F238E27FC236}">
                <a16:creationId xmlns:a16="http://schemas.microsoft.com/office/drawing/2014/main" id="{02E38456-50B1-44F6-8424-C1F2254D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188">
            <a:extLst xmlns:a="http://schemas.openxmlformats.org/drawingml/2006/main">
              <a:ext uri="{FF2B5EF4-FFF2-40B4-BE49-F238E27FC236}">
                <a16:creationId xmlns:a16="http://schemas.microsoft.com/office/drawing/2014/main" id="{CEB1AFCB-40C2-4D0D-8CB3-2E76A6E9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a finite amount of text can be available in one call.</a:t>
            </a:r>
          </a:p>
        </p:txBody>
      </p:sp>
      <p:sp>
        <p:nvSpPr>
          <p:cNvPr id="5" name="c2-shape-189">
            <a:extLst xmlns:a="http://schemas.openxmlformats.org/drawingml/2006/main">
              <a:ext uri="{FF2B5EF4-FFF2-40B4-BE49-F238E27FC236}">
                <a16:creationId xmlns:a16="http://schemas.microsoft.com/office/drawing/2014/main" id="{D341140A-E877-445F-AFAA-D49C3C2E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7924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6" name="c2-shape-190">
            <a:extLst xmlns:a="http://schemas.openxmlformats.org/drawingml/2006/main">
              <a:ext uri="{FF2B5EF4-FFF2-40B4-BE49-F238E27FC236}">
                <a16:creationId xmlns:a16="http://schemas.microsoft.com/office/drawing/2014/main" id="{978EB156-54D9-44E1-8B98-9291FF22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7" name="c2-text-191">
            <a:extLst xmlns:a="http://schemas.openxmlformats.org/drawingml/2006/main">
              <a:ext uri="{FF2B5EF4-FFF2-40B4-BE49-F238E27FC236}">
                <a16:creationId xmlns:a16="http://schemas.microsoft.com/office/drawing/2014/main" id="{B9F6E780-9A0B-4C97-8AA4-A2964C5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23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Instructions</a:t>
            </a:r>
          </a:p>
        </p:txBody>
      </p:sp>
      <p:sp>
        <p:nvSpPr>
          <p:cNvPr id="8" name="c2-shape-192">
            <a:extLst xmlns:a="http://schemas.openxmlformats.org/drawingml/2006/main">
              <a:ext uri="{FF2B5EF4-FFF2-40B4-BE49-F238E27FC236}">
                <a16:creationId xmlns:a16="http://schemas.microsoft.com/office/drawing/2014/main" id="{8E564032-BFFE-44A3-B08A-DA19DDA1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05075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9" name="c2-text-193">
            <a:extLst xmlns:a="http://schemas.openxmlformats.org/drawingml/2006/main">
              <a:ext uri="{FF2B5EF4-FFF2-40B4-BE49-F238E27FC236}">
                <a16:creationId xmlns:a16="http://schemas.microsoft.com/office/drawing/2014/main" id="{E91B3B4C-E2C9-407A-AB55-50314A91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23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Examples</a:t>
            </a:r>
          </a:p>
        </p:txBody>
      </p:sp>
      <p:sp>
        <p:nvSpPr>
          <p:cNvPr id="10" name="c2-shape-194">
            <a:extLst xmlns:a="http://schemas.openxmlformats.org/drawingml/2006/main">
              <a:ext uri="{FF2B5EF4-FFF2-40B4-BE49-F238E27FC236}">
                <a16:creationId xmlns:a16="http://schemas.microsoft.com/office/drawing/2014/main" id="{0CC0F6BA-C0D7-4763-8A71-B4174498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05075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1" name="c2-text-195">
            <a:extLst xmlns:a="http://schemas.openxmlformats.org/drawingml/2006/main">
              <a:ext uri="{FF2B5EF4-FFF2-40B4-BE49-F238E27FC236}">
                <a16:creationId xmlns:a16="http://schemas.microsoft.com/office/drawing/2014/main" id="{D9C7A800-EC21-4917-9CDC-2DD7890A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52700"/>
            <a:ext cx="123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History</a:t>
            </a:r>
          </a:p>
        </p:txBody>
      </p:sp>
      <p:sp>
        <p:nvSpPr>
          <p:cNvPr id="12" name="c2-shape-196">
            <a:extLst xmlns:a="http://schemas.openxmlformats.org/drawingml/2006/main">
              <a:ext uri="{FF2B5EF4-FFF2-40B4-BE49-F238E27FC236}">
                <a16:creationId xmlns:a16="http://schemas.microsoft.com/office/drawing/2014/main" id="{9FC735FD-7D5A-45FE-A292-DED8D0D4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505075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3" name="c2-text-197">
            <a:extLst xmlns:a="http://schemas.openxmlformats.org/drawingml/2006/main">
              <a:ext uri="{FF2B5EF4-FFF2-40B4-BE49-F238E27FC236}">
                <a16:creationId xmlns:a16="http://schemas.microsoft.com/office/drawing/2014/main" id="{F065DB15-387F-47CA-AC4A-DFDD14D5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52700"/>
            <a:ext cx="123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Retrieved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facts</a:t>
            </a:r>
          </a:p>
        </p:txBody>
      </p:sp>
      <p:sp>
        <p:nvSpPr>
          <p:cNvPr id="14" name="c2-shape-198">
            <a:extLst xmlns:a="http://schemas.openxmlformats.org/drawingml/2006/main">
              <a:ext uri="{FF2B5EF4-FFF2-40B4-BE49-F238E27FC236}">
                <a16:creationId xmlns:a16="http://schemas.microsoft.com/office/drawing/2014/main" id="{85F11673-5D47-474C-B613-024A52E3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05075"/>
            <a:ext cx="1428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5" name="c2-text-199">
            <a:extLst xmlns:a="http://schemas.openxmlformats.org/drawingml/2006/main">
              <a:ext uri="{FF2B5EF4-FFF2-40B4-BE49-F238E27FC236}">
                <a16:creationId xmlns:a16="http://schemas.microsoft.com/office/drawing/2014/main" id="{42EE6F83-BCBB-47F9-82E4-3AB1EC1E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52700"/>
            <a:ext cx="123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request</a:t>
            </a:r>
          </a:p>
        </p:txBody>
      </p:sp>
      <p:sp>
        <p:nvSpPr>
          <p:cNvPr id="16" name="c2-text-200">
            <a:extLst xmlns:a="http://schemas.openxmlformats.org/drawingml/2006/main">
              <a:ext uri="{FF2B5EF4-FFF2-40B4-BE49-F238E27FC236}">
                <a16:creationId xmlns:a16="http://schemas.microsoft.com/office/drawing/2014/main" id="{A07A2429-779E-401C-B13A-54DD5C75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application chooses what to keep, retrieve or summarise.</a:t>
            </a:r>
          </a:p>
        </p:txBody>
      </p:sp>
      <p:sp>
        <p:nvSpPr>
          <p:cNvPr id="17" name="c2-shape-201">
            <a:extLst xmlns:a="http://schemas.openxmlformats.org/drawingml/2006/main">
              <a:ext uri="{FF2B5EF4-FFF2-40B4-BE49-F238E27FC236}">
                <a16:creationId xmlns:a16="http://schemas.microsoft.com/office/drawing/2014/main" id="{BE512E46-08F5-45F3-B517-370AED37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8" name="c2-text-202">
            <a:extLst xmlns:a="http://schemas.openxmlformats.org/drawingml/2006/main">
              <a:ext uri="{FF2B5EF4-FFF2-40B4-BE49-F238E27FC236}">
                <a16:creationId xmlns:a16="http://schemas.microsoft.com/office/drawing/2014/main" id="{A1F599D8-973C-4DF9-93B8-050CCC9A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7543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Like working memory, this is a limited active workspace.</a:t>
            </a:r>
          </a:p>
        </p:txBody>
      </p:sp>
      <p:sp>
        <p:nvSpPr>
          <p:cNvPr id="19" name="c2-text-291">
            <a:extLst xmlns:a="http://schemas.openxmlformats.org/drawingml/2006/main">
              <a:ext uri="{FF2B5EF4-FFF2-40B4-BE49-F238E27FC236}">
                <a16:creationId xmlns:a16="http://schemas.microsoft.com/office/drawing/2014/main" id="{39F9A627-3D8D-45C1-B132-E3094923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970342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2-text-203">
            <a:extLst xmlns:a="http://schemas.openxmlformats.org/drawingml/2006/main">
              <a:ext uri="{FF2B5EF4-FFF2-40B4-BE49-F238E27FC236}">
                <a16:creationId xmlns:a16="http://schemas.microsoft.com/office/drawing/2014/main" id="{001FAE86-93E2-4E85-8DD9-BC024637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204">
            <a:extLst xmlns:a="http://schemas.openxmlformats.org/drawingml/2006/main">
              <a:ext uri="{FF2B5EF4-FFF2-40B4-BE49-F238E27FC236}">
                <a16:creationId xmlns:a16="http://schemas.microsoft.com/office/drawing/2014/main" id="{799876EB-9BED-4D0F-8F7A-0F9D0B1E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Implementing Working Memory [8]</a:t>
            </a:r>
          </a:p>
        </p:txBody>
      </p:sp>
      <p:sp>
        <p:nvSpPr>
          <p:cNvPr id="3" name="c2-text-205">
            <a:extLst xmlns:a="http://schemas.openxmlformats.org/drawingml/2006/main">
              <a:ext uri="{FF2B5EF4-FFF2-40B4-BE49-F238E27FC236}">
                <a16:creationId xmlns:a16="http://schemas.microsoft.com/office/drawing/2014/main" id="{439A04F6-8666-45FC-A9A4-6A0F1101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206">
            <a:extLst xmlns:a="http://schemas.openxmlformats.org/drawingml/2006/main">
              <a:ext uri="{FF2B5EF4-FFF2-40B4-BE49-F238E27FC236}">
                <a16:creationId xmlns:a16="http://schemas.microsoft.com/office/drawing/2014/main" id="{228C4986-EC81-4EEF-AD31-F70332BA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code selects and updates the active context.</a:t>
            </a:r>
          </a:p>
        </p:txBody>
      </p:sp>
      <p:sp>
        <p:nvSpPr>
          <p:cNvPr id="5" name="c2-shape-207">
            <a:extLst xmlns:a="http://schemas.openxmlformats.org/drawingml/2006/main">
              <a:ext uri="{FF2B5EF4-FFF2-40B4-BE49-F238E27FC236}">
                <a16:creationId xmlns:a16="http://schemas.microsoft.com/office/drawing/2014/main" id="{8E3C67CE-47E4-4DB7-AF1B-89685B3F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79248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6" name="c2-text-208">
            <a:extLst xmlns:a="http://schemas.openxmlformats.org/drawingml/2006/main">
              <a:ext uri="{FF2B5EF4-FFF2-40B4-BE49-F238E27FC236}">
                <a16:creationId xmlns:a16="http://schemas.microsoft.com/office/drawing/2014/main" id="{A60F9AB8-8AA5-4402-B5C4-525C5925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7543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Working-memory system</a:t>
            </a:r>
          </a:p>
        </p:txBody>
      </p:sp>
      <p:sp>
        <p:nvSpPr>
          <p:cNvPr id="7" name="c2-shape-209">
            <a:extLst xmlns:a="http://schemas.openxmlformats.org/drawingml/2006/main">
              <a:ext uri="{FF2B5EF4-FFF2-40B4-BE49-F238E27FC236}">
                <a16:creationId xmlns:a16="http://schemas.microsoft.com/office/drawing/2014/main" id="{CA8D74B6-9044-42EF-9D28-DBBE50BB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45148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8" name="c2-text-210">
            <a:extLst xmlns:a="http://schemas.openxmlformats.org/drawingml/2006/main">
              <a:ext uri="{FF2B5EF4-FFF2-40B4-BE49-F238E27FC236}">
                <a16:creationId xmlns:a16="http://schemas.microsoft.com/office/drawing/2014/main" id="{A5AA1F45-EE53-4DAC-9E20-7DFC4850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4324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active information</a:t>
            </a:r>
          </a:p>
        </p:txBody>
      </p:sp>
      <p:sp>
        <p:nvSpPr>
          <p:cNvPr id="9" name="c2-shape-211">
            <a:extLst xmlns:a="http://schemas.openxmlformats.org/drawingml/2006/main">
              <a:ext uri="{FF2B5EF4-FFF2-40B4-BE49-F238E27FC236}">
                <a16:creationId xmlns:a16="http://schemas.microsoft.com/office/drawing/2014/main" id="{106EB2CA-9651-40C3-AB95-570B60B3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2004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0" name="c2-shape-212">
            <a:extLst xmlns:a="http://schemas.openxmlformats.org/drawingml/2006/main">
              <a:ext uri="{FF2B5EF4-FFF2-40B4-BE49-F238E27FC236}">
                <a16:creationId xmlns:a16="http://schemas.microsoft.com/office/drawing/2014/main" id="{9F5A5BF5-8F4D-4160-8347-FE10D1DF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57500"/>
            <a:ext cx="2190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1" name="c2-text-213">
            <a:extLst xmlns:a="http://schemas.openxmlformats.org/drawingml/2006/main">
              <a:ext uri="{FF2B5EF4-FFF2-40B4-BE49-F238E27FC236}">
                <a16:creationId xmlns:a16="http://schemas.microsoft.com/office/drawing/2014/main" id="{9DCEDFDF-552C-4531-8597-8063179D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05125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LLM: processing</a:t>
            </a:r>
          </a:p>
        </p:txBody>
      </p:sp>
      <p:sp>
        <p:nvSpPr>
          <p:cNvPr id="12" name="c2-text-214">
            <a:extLst xmlns:a="http://schemas.openxmlformats.org/drawingml/2006/main">
              <a:ext uri="{FF2B5EF4-FFF2-40B4-BE49-F238E27FC236}">
                <a16:creationId xmlns:a16="http://schemas.microsoft.com/office/drawing/2014/main" id="{C313D909-D686-4C1E-A0D0-2CF8D235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754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Request, conversation, examples and retrieved facts</a:t>
            </a:r>
          </a:p>
        </p:txBody>
      </p:sp>
      <p:sp>
        <p:nvSpPr>
          <p:cNvPr id="13" name="c2-shape-215">
            <a:extLst xmlns:a="http://schemas.openxmlformats.org/drawingml/2006/main">
              <a:ext uri="{FF2B5EF4-FFF2-40B4-BE49-F238E27FC236}">
                <a16:creationId xmlns:a16="http://schemas.microsoft.com/office/drawing/2014/main" id="{EFBEFAC3-496B-462A-9358-AD288E4B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4" name="c2-text-216">
            <a:extLst xmlns:a="http://schemas.openxmlformats.org/drawingml/2006/main">
              <a:ext uri="{FF2B5EF4-FFF2-40B4-BE49-F238E27FC236}">
                <a16:creationId xmlns:a16="http://schemas.microsoft.com/office/drawing/2014/main" id="{CA98C569-135B-4EE5-95CF-CB3BB450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7543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code can be seen as a dynamic prompt manager.</a:t>
            </a:r>
          </a:p>
        </p:txBody>
      </p:sp>
      <p:sp>
        <p:nvSpPr>
          <p:cNvPr id="15" name="c2-text-292">
            <a:extLst xmlns:a="http://schemas.openxmlformats.org/drawingml/2006/main">
              <a:ext uri="{FF2B5EF4-FFF2-40B4-BE49-F238E27FC236}">
                <a16:creationId xmlns:a16="http://schemas.microsoft.com/office/drawing/2014/main" id="{BF9DD351-6CF2-4757-BB4F-1DDA7196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7185353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c2-text-217">
            <a:extLst xmlns:a="http://schemas.openxmlformats.org/drawingml/2006/main">
              <a:ext uri="{FF2B5EF4-FFF2-40B4-BE49-F238E27FC236}">
                <a16:creationId xmlns:a16="http://schemas.microsoft.com/office/drawing/2014/main" id="{473BDD51-2F5D-496A-9E7F-0ABF0768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218">
            <a:extLst xmlns:a="http://schemas.openxmlformats.org/drawingml/2006/main">
              <a:ext uri="{FF2B5EF4-FFF2-40B4-BE49-F238E27FC236}">
                <a16:creationId xmlns:a16="http://schemas.microsoft.com/office/drawing/2014/main" id="{3C493F87-F8F4-40D5-819C-E0C459BC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Computational Cognitive Architecture [8]</a:t>
            </a:r>
          </a:p>
        </p:txBody>
      </p:sp>
      <p:sp>
        <p:nvSpPr>
          <p:cNvPr id="3" name="c2-text-219">
            <a:extLst xmlns:a="http://schemas.openxmlformats.org/drawingml/2006/main">
              <a:ext uri="{FF2B5EF4-FFF2-40B4-BE49-F238E27FC236}">
                <a16:creationId xmlns:a16="http://schemas.microsoft.com/office/drawing/2014/main" id="{9864646C-E801-4D4A-9CAA-26411A70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220">
            <a:extLst xmlns:a="http://schemas.openxmlformats.org/drawingml/2006/main">
              <a:ext uri="{FF2B5EF4-FFF2-40B4-BE49-F238E27FC236}">
                <a16:creationId xmlns:a16="http://schemas.microsoft.com/office/drawing/2014/main" id="{6352315F-E81D-4354-A2A9-4A60BC6D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 coordinates the LLM, working memory and other subsystems.</a:t>
            </a:r>
          </a:p>
        </p:txBody>
      </p:sp>
      <p:sp>
        <p:nvSpPr>
          <p:cNvPr id="5" name="c2-shape-221">
            <a:extLst xmlns:a="http://schemas.openxmlformats.org/drawingml/2006/main">
              <a:ext uri="{FF2B5EF4-FFF2-40B4-BE49-F238E27FC236}">
                <a16:creationId xmlns:a16="http://schemas.microsoft.com/office/drawing/2014/main" id="{0EDADEFF-2E80-45E1-8EDC-0BD36874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981200"/>
            <a:ext cx="1524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6" name="c2-text-222">
            <a:extLst xmlns:a="http://schemas.openxmlformats.org/drawingml/2006/main">
              <a:ext uri="{FF2B5EF4-FFF2-40B4-BE49-F238E27FC236}">
                <a16:creationId xmlns:a16="http://schemas.microsoft.com/office/drawing/2014/main" id="{DC6CEC11-993F-42E3-B1FB-F5C1714F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028825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Long-term</a:t>
            </a:r>
          </a:p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</a:t>
            </a:r>
          </a:p>
        </p:txBody>
      </p:sp>
      <p:sp>
        <p:nvSpPr>
          <p:cNvPr id="7" name="c2-shape-223">
            <a:extLst xmlns:a="http://schemas.openxmlformats.org/drawingml/2006/main">
              <a:ext uri="{FF2B5EF4-FFF2-40B4-BE49-F238E27FC236}">
                <a16:creationId xmlns:a16="http://schemas.microsoft.com/office/drawing/2014/main" id="{06E1B616-413D-438E-975B-3B0A9178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47950"/>
            <a:ext cx="1524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8" name="c2-text-224">
            <a:extLst xmlns:a="http://schemas.openxmlformats.org/drawingml/2006/main">
              <a:ext uri="{FF2B5EF4-FFF2-40B4-BE49-F238E27FC236}">
                <a16:creationId xmlns:a16="http://schemas.microsoft.com/office/drawing/2014/main" id="{F77062E9-9E18-4A8A-B19D-8CE7F032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003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Retrieval</a:t>
            </a:r>
          </a:p>
        </p:txBody>
      </p:sp>
      <p:sp>
        <p:nvSpPr>
          <p:cNvPr id="9" name="c2-shape-225">
            <a:extLst xmlns:a="http://schemas.openxmlformats.org/drawingml/2006/main">
              <a:ext uri="{FF2B5EF4-FFF2-40B4-BE49-F238E27FC236}">
                <a16:creationId xmlns:a16="http://schemas.microsoft.com/office/drawing/2014/main" id="{A39425A8-5FEB-40BB-B74A-A4A3FC13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57500"/>
            <a:ext cx="4114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10" name="c2-text-226">
            <a:extLst xmlns:a="http://schemas.openxmlformats.org/drawingml/2006/main">
              <a:ext uri="{FF2B5EF4-FFF2-40B4-BE49-F238E27FC236}">
                <a16:creationId xmlns:a16="http://schemas.microsoft.com/office/drawing/2014/main" id="{638809E3-3163-425D-BAB6-B6017709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527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Working memory</a:t>
            </a:r>
          </a:p>
        </p:txBody>
      </p:sp>
      <p:sp>
        <p:nvSpPr>
          <p:cNvPr id="11" name="c2-shape-227">
            <a:extLst xmlns:a="http://schemas.openxmlformats.org/drawingml/2006/main">
              <a:ext uri="{FF2B5EF4-FFF2-40B4-BE49-F238E27FC236}">
                <a16:creationId xmlns:a16="http://schemas.microsoft.com/office/drawing/2014/main" id="{C6BB3F73-51FD-4117-A3DF-238ECC9B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28975"/>
            <a:ext cx="1524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D9A06B"/>
            </a:solidFill>
          </a:ln>
        </p:spPr>
      </p:sp>
      <p:sp>
        <p:nvSpPr>
          <p:cNvPr id="12" name="c2-text-228">
            <a:extLst xmlns:a="http://schemas.openxmlformats.org/drawingml/2006/main">
              <a:ext uri="{FF2B5EF4-FFF2-40B4-BE49-F238E27FC236}">
                <a16:creationId xmlns:a16="http://schemas.microsoft.com/office/drawing/2014/main" id="{C8D40410-84D0-4779-826B-A69ED335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3" name="c2-shape-229">
            <a:extLst xmlns:a="http://schemas.openxmlformats.org/drawingml/2006/main">
              <a:ext uri="{FF2B5EF4-FFF2-40B4-BE49-F238E27FC236}">
                <a16:creationId xmlns:a16="http://schemas.microsoft.com/office/drawing/2014/main" id="{E0888CCB-B777-4BA9-A370-55AADC7C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1947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4" name="c2-shape-230">
            <a:extLst xmlns:a="http://schemas.openxmlformats.org/drawingml/2006/main">
              <a:ext uri="{FF2B5EF4-FFF2-40B4-BE49-F238E27FC236}">
                <a16:creationId xmlns:a16="http://schemas.microsoft.com/office/drawing/2014/main" id="{9E28B5C9-3D60-415E-962D-C890928A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28975"/>
            <a:ext cx="1524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5" name="c2-text-231">
            <a:extLst xmlns:a="http://schemas.openxmlformats.org/drawingml/2006/main">
              <a:ext uri="{FF2B5EF4-FFF2-40B4-BE49-F238E27FC236}">
                <a16:creationId xmlns:a16="http://schemas.microsoft.com/office/drawing/2014/main" id="{118839DA-5C94-493E-9B0A-51C11DC2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766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LLM</a:t>
            </a:r>
          </a:p>
        </p:txBody>
      </p:sp>
      <p:sp>
        <p:nvSpPr>
          <p:cNvPr id="16" name="c2-shape-232">
            <a:extLst xmlns:a="http://schemas.openxmlformats.org/drawingml/2006/main">
              <a:ext uri="{FF2B5EF4-FFF2-40B4-BE49-F238E27FC236}">
                <a16:creationId xmlns:a16="http://schemas.microsoft.com/office/drawing/2014/main" id="{788F6232-FC05-48DC-9771-1C581B23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1485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7" name="c2-text-233">
            <a:extLst xmlns:a="http://schemas.openxmlformats.org/drawingml/2006/main">
              <a:ext uri="{FF2B5EF4-FFF2-40B4-BE49-F238E27FC236}">
                <a16:creationId xmlns:a16="http://schemas.microsoft.com/office/drawing/2014/main" id="{643179CA-1FD3-4FD1-B7F4-DF0C9E2E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295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Perception</a:t>
            </a:r>
          </a:p>
        </p:txBody>
      </p:sp>
      <p:sp>
        <p:nvSpPr>
          <p:cNvPr id="18" name="c2-shape-234">
            <a:extLst xmlns:a="http://schemas.openxmlformats.org/drawingml/2006/main">
              <a:ext uri="{FF2B5EF4-FFF2-40B4-BE49-F238E27FC236}">
                <a16:creationId xmlns:a16="http://schemas.microsoft.com/office/drawing/2014/main" id="{8BD6F529-CCF6-4D10-A33D-9DEF88A9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28975"/>
            <a:ext cx="1485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19" name="c2-text-235">
            <a:extLst xmlns:a="http://schemas.openxmlformats.org/drawingml/2006/main">
              <a:ext uri="{FF2B5EF4-FFF2-40B4-BE49-F238E27FC236}">
                <a16:creationId xmlns:a16="http://schemas.microsoft.com/office/drawing/2014/main" id="{C2D8218F-3F88-493A-A80D-7F3CE112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76600"/>
            <a:ext cx="1295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Action</a:t>
            </a:r>
          </a:p>
        </p:txBody>
      </p:sp>
      <p:sp>
        <p:nvSpPr>
          <p:cNvPr id="20" name="c2-shape-236">
            <a:extLst xmlns:a="http://schemas.openxmlformats.org/drawingml/2006/main">
              <a:ext uri="{FF2B5EF4-FFF2-40B4-BE49-F238E27FC236}">
                <a16:creationId xmlns:a16="http://schemas.microsoft.com/office/drawing/2014/main" id="{C0388383-EEA7-432D-B574-BFC4C28B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419475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21" name="c2-shape-237">
            <a:extLst xmlns:a="http://schemas.openxmlformats.org/drawingml/2006/main">
              <a:ext uri="{FF2B5EF4-FFF2-40B4-BE49-F238E27FC236}">
                <a16:creationId xmlns:a16="http://schemas.microsoft.com/office/drawing/2014/main" id="{9563AF2A-C7ED-47C6-BD48-AC2EDD07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19475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22" name="c2-shape-238">
            <a:extLst xmlns:a="http://schemas.openxmlformats.org/drawingml/2006/main">
              <a:ext uri="{FF2B5EF4-FFF2-40B4-BE49-F238E27FC236}">
                <a16:creationId xmlns:a16="http://schemas.microsoft.com/office/drawing/2014/main" id="{DFB183C7-DBA5-44FD-9558-37C8077A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762375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23" name="c2-shape-239">
            <a:extLst xmlns:a="http://schemas.openxmlformats.org/drawingml/2006/main">
              <a:ext uri="{FF2B5EF4-FFF2-40B4-BE49-F238E27FC236}">
                <a16:creationId xmlns:a16="http://schemas.microsoft.com/office/drawing/2014/main" id="{EEF59B7A-BFF9-413A-820B-6F0E463F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76700"/>
            <a:ext cx="64484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24" name="c2-shape-240">
            <a:extLst xmlns:a="http://schemas.openxmlformats.org/drawingml/2006/main">
              <a:ext uri="{FF2B5EF4-FFF2-40B4-BE49-F238E27FC236}">
                <a16:creationId xmlns:a16="http://schemas.microsoft.com/office/drawing/2014/main" id="{D310AD56-74B8-4D4B-9F0A-22711C0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62375"/>
            <a:ext cx="152400" cy="3238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11430">
            <a:solidFill>
              <a:srgbClr val="7FA8E3"/>
            </a:solidFill>
          </a:ln>
        </p:spPr>
      </p:sp>
      <p:sp>
        <p:nvSpPr>
          <p:cNvPr id="25" name="c2-shape-241">
            <a:extLst xmlns:a="http://schemas.openxmlformats.org/drawingml/2006/main">
              <a:ext uri="{FF2B5EF4-FFF2-40B4-BE49-F238E27FC236}">
                <a16:creationId xmlns:a16="http://schemas.microsoft.com/office/drawing/2014/main" id="{73E9EF20-5182-445E-B1D8-FA67343F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26" name="c2-text-242">
            <a:extLst xmlns:a="http://schemas.openxmlformats.org/drawingml/2006/main">
              <a:ext uri="{FF2B5EF4-FFF2-40B4-BE49-F238E27FC236}">
                <a16:creationId xmlns:a16="http://schemas.microsoft.com/office/drawing/2014/main" id="{77419FC3-C3E7-468B-BBB3-F4C1192F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7543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architecture is the code that controls the whole loop.</a:t>
            </a:r>
          </a:p>
        </p:txBody>
      </p:sp>
      <p:sp>
        <p:nvSpPr>
          <p:cNvPr id="27" name="c2-text-293">
            <a:extLst xmlns:a="http://schemas.openxmlformats.org/drawingml/2006/main">
              <a:ext uri="{FF2B5EF4-FFF2-40B4-BE49-F238E27FC236}">
                <a16:creationId xmlns:a16="http://schemas.microsoft.com/office/drawing/2014/main" id="{F7400220-6A19-42E1-9716-024E5C35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8121645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c2-text-243">
            <a:extLst xmlns:a="http://schemas.openxmlformats.org/drawingml/2006/main">
              <a:ext uri="{FF2B5EF4-FFF2-40B4-BE49-F238E27FC236}">
                <a16:creationId xmlns:a16="http://schemas.microsoft.com/office/drawing/2014/main" id="{BB7839A2-9C96-40E0-9A16-CC89C1D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2-text-244">
            <a:extLst xmlns:a="http://schemas.openxmlformats.org/drawingml/2006/main">
              <a:ext uri="{FF2B5EF4-FFF2-40B4-BE49-F238E27FC236}">
                <a16:creationId xmlns:a16="http://schemas.microsoft.com/office/drawing/2014/main" id="{47E122D3-ACA2-4823-8428-F2A0EC02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2-text-245">
            <a:extLst xmlns:a="http://schemas.openxmlformats.org/drawingml/2006/main">
              <a:ext uri="{FF2B5EF4-FFF2-40B4-BE49-F238E27FC236}">
                <a16:creationId xmlns:a16="http://schemas.microsoft.com/office/drawing/2014/main" id="{9E62043D-5DC6-4EF2-87CE-C9D87105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· Chapter 02</a:t>
            </a:r>
          </a:p>
        </p:txBody>
      </p:sp>
      <p:sp>
        <p:nvSpPr>
          <p:cNvPr id="4" name="c2-text-246">
            <a:extLst xmlns:a="http://schemas.openxmlformats.org/drawingml/2006/main">
              <a:ext uri="{FF2B5EF4-FFF2-40B4-BE49-F238E27FC236}">
                <a16:creationId xmlns:a16="http://schemas.microsoft.com/office/drawing/2014/main" id="{5BD61D6D-B9B2-4697-B659-C34088ED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Vaswani et al. (2017)</a:t>
            </a:r>
          </a:p>
        </p:txBody>
      </p:sp>
      <p:sp>
        <p:nvSpPr>
          <p:cNvPr id="5" name="c2-text-247">
            <a:hlinkClick xmlns:r="http://schemas.openxmlformats.org/officeDocument/2006/relationships" xmlns:a="http://schemas.openxmlformats.org/drawingml/2006/main" r:id="R1e12ee6d3de04800"/>
            <a:extLst xmlns:a="http://schemas.openxmlformats.org/drawingml/2006/main">
              <a:ext uri="{FF2B5EF4-FFF2-40B4-BE49-F238E27FC236}">
                <a16:creationId xmlns:a16="http://schemas.microsoft.com/office/drawing/2014/main" id="{DF68AECA-BC94-4026-8A23-15F453D0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Attention Is All You Need</a:t>
            </a:r>
          </a:p>
        </p:txBody>
      </p:sp>
      <p:sp>
        <p:nvSpPr>
          <p:cNvPr id="6" name="c2-shape-248">
            <a:extLst xmlns:a="http://schemas.openxmlformats.org/drawingml/2006/main">
              <a:ext uri="{FF2B5EF4-FFF2-40B4-BE49-F238E27FC236}">
                <a16:creationId xmlns:a16="http://schemas.microsoft.com/office/drawing/2014/main" id="{C9D0FC29-D84C-4E53-886C-CAE91240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7" name="c2-text-249">
            <a:extLst xmlns:a="http://schemas.openxmlformats.org/drawingml/2006/main">
              <a:ext uri="{FF2B5EF4-FFF2-40B4-BE49-F238E27FC236}">
                <a16:creationId xmlns:a16="http://schemas.microsoft.com/office/drawing/2014/main" id="{ACD4FCDF-4A12-48B1-AEFD-2D9223B7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Radford et al. (2019)</a:t>
            </a:r>
          </a:p>
        </p:txBody>
      </p:sp>
      <p:sp>
        <p:nvSpPr>
          <p:cNvPr id="8" name="c2-text-250">
            <a:hlinkClick xmlns:r="http://schemas.openxmlformats.org/officeDocument/2006/relationships" xmlns:a="http://schemas.openxmlformats.org/drawingml/2006/main" r:id="Rfcba13ca126c4220"/>
            <a:extLst xmlns:a="http://schemas.openxmlformats.org/drawingml/2006/main">
              <a:ext uri="{FF2B5EF4-FFF2-40B4-BE49-F238E27FC236}">
                <a16:creationId xmlns:a16="http://schemas.microsoft.com/office/drawing/2014/main" id="{E6EF9293-3D7B-407B-B326-C479E29A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Language Models are Unsupervised</a:t>
            </a:r>
          </a:p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Multitask Learners</a:t>
            </a:r>
          </a:p>
        </p:txBody>
      </p:sp>
      <p:sp>
        <p:nvSpPr>
          <p:cNvPr id="9" name="c2-shape-251">
            <a:extLst xmlns:a="http://schemas.openxmlformats.org/drawingml/2006/main">
              <a:ext uri="{FF2B5EF4-FFF2-40B4-BE49-F238E27FC236}">
                <a16:creationId xmlns:a16="http://schemas.microsoft.com/office/drawing/2014/main" id="{6F49617B-0288-44BC-ADF3-40B206F3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0" name="c2-text-252">
            <a:extLst xmlns:a="http://schemas.openxmlformats.org/drawingml/2006/main">
              <a:ext uri="{FF2B5EF4-FFF2-40B4-BE49-F238E27FC236}">
                <a16:creationId xmlns:a16="http://schemas.microsoft.com/office/drawing/2014/main" id="{8A4DE5FF-6515-4DF3-8C55-063F26C1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Kaplan et al. (2020)</a:t>
            </a:r>
          </a:p>
        </p:txBody>
      </p:sp>
      <p:sp>
        <p:nvSpPr>
          <p:cNvPr id="11" name="c2-text-253">
            <a:hlinkClick xmlns:r="http://schemas.openxmlformats.org/officeDocument/2006/relationships" xmlns:a="http://schemas.openxmlformats.org/drawingml/2006/main" r:id="Raf6a706219ed43f9"/>
            <a:extLst xmlns:a="http://schemas.openxmlformats.org/drawingml/2006/main">
              <a:ext uri="{FF2B5EF4-FFF2-40B4-BE49-F238E27FC236}">
                <a16:creationId xmlns:a16="http://schemas.microsoft.com/office/drawing/2014/main" id="{711B0277-1F57-46E1-BD4D-5D47F83C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Scaling Laws for Neural Language Models</a:t>
            </a:r>
          </a:p>
        </p:txBody>
      </p:sp>
      <p:sp>
        <p:nvSpPr>
          <p:cNvPr id="12" name="c2-shape-254">
            <a:extLst xmlns:a="http://schemas.openxmlformats.org/drawingml/2006/main">
              <a:ext uri="{FF2B5EF4-FFF2-40B4-BE49-F238E27FC236}">
                <a16:creationId xmlns:a16="http://schemas.microsoft.com/office/drawing/2014/main" id="{A4DD828E-3D4F-48D2-8D1C-D4DE60AF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3" name="c2-text-255">
            <a:extLst xmlns:a="http://schemas.openxmlformats.org/drawingml/2006/main">
              <a:ext uri="{FF2B5EF4-FFF2-40B4-BE49-F238E27FC236}">
                <a16:creationId xmlns:a16="http://schemas.microsoft.com/office/drawing/2014/main" id="{88345F3B-1F84-4DB2-BCA0-6E53486C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Brown et al. (2020)</a:t>
            </a:r>
          </a:p>
        </p:txBody>
      </p:sp>
      <p:sp>
        <p:nvSpPr>
          <p:cNvPr id="14" name="c2-text-256">
            <a:hlinkClick xmlns:r="http://schemas.openxmlformats.org/officeDocument/2006/relationships" xmlns:a="http://schemas.openxmlformats.org/drawingml/2006/main" r:id="R3157d20cb2674c90"/>
            <a:extLst xmlns:a="http://schemas.openxmlformats.org/drawingml/2006/main">
              <a:ext uri="{FF2B5EF4-FFF2-40B4-BE49-F238E27FC236}">
                <a16:creationId xmlns:a16="http://schemas.microsoft.com/office/drawing/2014/main" id="{8C10E970-9CC4-40B4-A5AE-B80F8F8A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Language Models are Few-Shot Learners</a:t>
            </a:r>
          </a:p>
        </p:txBody>
      </p:sp>
      <p:sp>
        <p:nvSpPr>
          <p:cNvPr id="15" name="c2-shape-257">
            <a:extLst xmlns:a="http://schemas.openxmlformats.org/drawingml/2006/main">
              <a:ext uri="{FF2B5EF4-FFF2-40B4-BE49-F238E27FC236}">
                <a16:creationId xmlns:a16="http://schemas.microsoft.com/office/drawing/2014/main" id="{5AAD101D-FF22-4F9F-A497-CF0E8E51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16" name="c2-text-258">
            <a:extLst xmlns:a="http://schemas.openxmlformats.org/drawingml/2006/main">
              <a:ext uri="{FF2B5EF4-FFF2-40B4-BE49-F238E27FC236}">
                <a16:creationId xmlns:a16="http://schemas.microsoft.com/office/drawing/2014/main" id="{2002AF4F-F1E8-43D1-9EC6-B51380DF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Financial Times (2023)</a:t>
            </a:r>
          </a:p>
        </p:txBody>
      </p:sp>
      <p:sp>
        <p:nvSpPr>
          <p:cNvPr id="17" name="c2-text-259">
            <a:hlinkClick xmlns:r="http://schemas.openxmlformats.org/officeDocument/2006/relationships" xmlns:a="http://schemas.openxmlformats.org/drawingml/2006/main" r:id="R2a06300f49934f8a"/>
            <a:extLst xmlns:a="http://schemas.openxmlformats.org/drawingml/2006/main">
              <a:ext uri="{FF2B5EF4-FFF2-40B4-BE49-F238E27FC236}">
                <a16:creationId xmlns:a16="http://schemas.microsoft.com/office/drawing/2014/main" id="{3CA76876-D863-404C-98F1-1275308C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Generative AI exists because</a:t>
            </a:r>
          </a:p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 the transformer</a:t>
            </a:r>
          </a:p>
        </p:txBody>
      </p:sp>
      <p:sp>
        <p:nvSpPr>
          <p:cNvPr id="18" name="c2-text-260">
            <a:extLst xmlns:a="http://schemas.openxmlformats.org/drawingml/2006/main">
              <a:ext uri="{FF2B5EF4-FFF2-40B4-BE49-F238E27FC236}">
                <a16:creationId xmlns:a16="http://schemas.microsoft.com/office/drawing/2014/main" id="{FB9F2AF9-BA3B-4694-B834-9E8B3D44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38275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Dong et al. (2024 revision)</a:t>
            </a:r>
          </a:p>
        </p:txBody>
      </p:sp>
      <p:sp>
        <p:nvSpPr>
          <p:cNvPr id="19" name="c2-text-261">
            <a:hlinkClick xmlns:r="http://schemas.openxmlformats.org/officeDocument/2006/relationships" xmlns:a="http://schemas.openxmlformats.org/drawingml/2006/main" r:id="Re1e3d77b1dda49ea"/>
            <a:extLst xmlns:a="http://schemas.openxmlformats.org/drawingml/2006/main">
              <a:ext uri="{FF2B5EF4-FFF2-40B4-BE49-F238E27FC236}">
                <a16:creationId xmlns:a16="http://schemas.microsoft.com/office/drawing/2014/main" id="{2F0D1384-73C1-4451-ACD5-58380291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573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Survey on In-context Learning</a:t>
            </a:r>
          </a:p>
        </p:txBody>
      </p:sp>
      <p:sp>
        <p:nvSpPr>
          <p:cNvPr id="20" name="c2-shape-262">
            <a:extLst xmlns:a="http://schemas.openxmlformats.org/drawingml/2006/main">
              <a:ext uri="{FF2B5EF4-FFF2-40B4-BE49-F238E27FC236}">
                <a16:creationId xmlns:a16="http://schemas.microsoft.com/office/drawing/2014/main" id="{EC76ADB7-F12A-471A-9D92-90E6A041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478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21" name="c2-text-263">
            <a:extLst xmlns:a="http://schemas.openxmlformats.org/drawingml/2006/main">
              <a:ext uri="{FF2B5EF4-FFF2-40B4-BE49-F238E27FC236}">
                <a16:creationId xmlns:a16="http://schemas.microsoft.com/office/drawing/2014/main" id="{77C4710A-F5F3-4F5B-ABA8-DE82596D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76450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Ouyang et al. (2022)</a:t>
            </a:r>
          </a:p>
        </p:txBody>
      </p:sp>
      <p:sp>
        <p:nvSpPr>
          <p:cNvPr id="22" name="c2-text-264">
            <a:hlinkClick xmlns:r="http://schemas.openxmlformats.org/officeDocument/2006/relationships" xmlns:a="http://schemas.openxmlformats.org/drawingml/2006/main" r:id="R7d1d461f26514097"/>
            <a:extLst xmlns:a="http://schemas.openxmlformats.org/drawingml/2006/main">
              <a:ext uri="{FF2B5EF4-FFF2-40B4-BE49-F238E27FC236}">
                <a16:creationId xmlns:a16="http://schemas.microsoft.com/office/drawing/2014/main" id="{D10BF301-5F42-4C0F-B3AD-155C8FD4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95525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Training language models to follow</a:t>
            </a:r>
          </a:p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instructions with human feedback</a:t>
            </a:r>
          </a:p>
        </p:txBody>
      </p:sp>
      <p:sp>
        <p:nvSpPr>
          <p:cNvPr id="23" name="c2-shape-265">
            <a:extLst xmlns:a="http://schemas.openxmlformats.org/drawingml/2006/main">
              <a:ext uri="{FF2B5EF4-FFF2-40B4-BE49-F238E27FC236}">
                <a16:creationId xmlns:a16="http://schemas.microsoft.com/office/drawing/2014/main" id="{EA397DAC-E58C-47C8-A957-4FE43FBA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86050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24" name="c2-text-266">
            <a:extLst xmlns:a="http://schemas.openxmlformats.org/drawingml/2006/main">
              <a:ext uri="{FF2B5EF4-FFF2-40B4-BE49-F238E27FC236}">
                <a16:creationId xmlns:a16="http://schemas.microsoft.com/office/drawing/2014/main" id="{7F4C1587-DB70-4BAC-ABE4-FCB8E79D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14625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Sumers et al. (2024)</a:t>
            </a:r>
          </a:p>
        </p:txBody>
      </p:sp>
      <p:sp>
        <p:nvSpPr>
          <p:cNvPr id="25" name="c2-text-267">
            <a:hlinkClick xmlns:r="http://schemas.openxmlformats.org/officeDocument/2006/relationships" xmlns:a="http://schemas.openxmlformats.org/drawingml/2006/main" r:id="Rea90380724c34a23"/>
            <a:extLst xmlns:a="http://schemas.openxmlformats.org/drawingml/2006/main">
              <a:ext uri="{FF2B5EF4-FFF2-40B4-BE49-F238E27FC236}">
                <a16:creationId xmlns:a16="http://schemas.microsoft.com/office/drawing/2014/main" id="{9A7D6F65-CEFC-4171-8222-1FB4D6FF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337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Architectures for Language Agents</a:t>
            </a:r>
          </a:p>
        </p:txBody>
      </p:sp>
      <p:sp>
        <p:nvSpPr>
          <p:cNvPr id="26" name="c2-shape-268">
            <a:extLst xmlns:a="http://schemas.openxmlformats.org/drawingml/2006/main">
              <a:ext uri="{FF2B5EF4-FFF2-40B4-BE49-F238E27FC236}">
                <a16:creationId xmlns:a16="http://schemas.microsoft.com/office/drawing/2014/main" id="{1289F2D7-DF73-4825-8EA8-598E7AD3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242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27" name="c2-text-269">
            <a:extLst xmlns:a="http://schemas.openxmlformats.org/drawingml/2006/main">
              <a:ext uri="{FF2B5EF4-FFF2-40B4-BE49-F238E27FC236}">
                <a16:creationId xmlns:a16="http://schemas.microsoft.com/office/drawing/2014/main" id="{7190584F-143A-4C36-9734-D04BF57A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Goodfellow et al. (2016)</a:t>
            </a:r>
          </a:p>
        </p:txBody>
      </p:sp>
      <p:sp>
        <p:nvSpPr>
          <p:cNvPr id="28" name="c2-text-270">
            <a:hlinkClick xmlns:r="http://schemas.openxmlformats.org/officeDocument/2006/relationships" xmlns:a="http://schemas.openxmlformats.org/drawingml/2006/main" r:id="R65c66c21f3964d9c"/>
            <a:extLst xmlns:a="http://schemas.openxmlformats.org/drawingml/2006/main">
              <a:ext uri="{FF2B5EF4-FFF2-40B4-BE49-F238E27FC236}">
                <a16:creationId xmlns:a16="http://schemas.microsoft.com/office/drawing/2014/main" id="{E1368E6C-C045-4A41-820A-1DA14E55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71875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Deep Learning: Introduction</a:t>
            </a:r>
          </a:p>
        </p:txBody>
      </p:sp>
      <p:sp>
        <p:nvSpPr>
          <p:cNvPr id="29" name="c2-shape-271">
            <a:extLst xmlns:a="http://schemas.openxmlformats.org/drawingml/2006/main">
              <a:ext uri="{FF2B5EF4-FFF2-40B4-BE49-F238E27FC236}">
                <a16:creationId xmlns:a16="http://schemas.microsoft.com/office/drawing/2014/main" id="{4CD5EDFB-9168-47B7-824B-064D137B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62400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11430">
            <a:solidFill>
              <a:srgbClr val="3A4458"/>
            </a:solidFill>
          </a:ln>
        </p:spPr>
      </p:sp>
      <p:sp>
        <p:nvSpPr>
          <p:cNvPr id="30" name="c2-text-272">
            <a:extLst xmlns:a="http://schemas.openxmlformats.org/drawingml/2006/main">
              <a:ext uri="{FF2B5EF4-FFF2-40B4-BE49-F238E27FC236}">
                <a16:creationId xmlns:a16="http://schemas.microsoft.com/office/drawing/2014/main" id="{49C2AC7C-BA5B-487C-A53A-AF2EB487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90975"/>
            <a:ext cx="3771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Zhao et al.</a:t>
            </a:r>
          </a:p>
        </p:txBody>
      </p:sp>
      <p:sp>
        <p:nvSpPr>
          <p:cNvPr id="31" name="c2-text-273">
            <a:hlinkClick xmlns:r="http://schemas.openxmlformats.org/officeDocument/2006/relationships" xmlns:a="http://schemas.openxmlformats.org/drawingml/2006/main" r:id="R977ec893c6e5420e"/>
            <a:extLst xmlns:a="http://schemas.openxmlformats.org/drawingml/2006/main">
              <a:ext uri="{FF2B5EF4-FFF2-40B4-BE49-F238E27FC236}">
                <a16:creationId xmlns:a16="http://schemas.microsoft.com/office/drawing/2014/main" id="{D7BADF6A-D927-406C-AAC2-DF949D9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275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Survey of Large Language Models</a:t>
            </a:r>
          </a:p>
        </p:txBody>
      </p:sp>
      <p:sp>
        <p:nvSpPr>
          <p:cNvPr id="32" name="c2-text-294">
            <a:extLst xmlns:a="http://schemas.openxmlformats.org/drawingml/2006/main">
              <a:ext uri="{FF2B5EF4-FFF2-40B4-BE49-F238E27FC236}">
                <a16:creationId xmlns:a16="http://schemas.microsoft.com/office/drawing/2014/main" id="{B13EC5AB-95AB-49B5-BD54-09FB3BC7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2940277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2026-10-30T12:26:27.9270000Z</dcterms:created>
  <dcterms:modified xsi:type="dcterms:W3CDTF">2026-10-30T12:26:27.9270000Z</dcterms:modified>
</coreProperties>
</file>