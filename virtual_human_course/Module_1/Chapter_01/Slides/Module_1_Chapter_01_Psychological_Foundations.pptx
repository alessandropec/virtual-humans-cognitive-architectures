
<file path=[Content_Types].xml><?xml version="1.0" encoding="utf-8"?>
<ns0:Types xmlns:ns0="http://schemas.openxmlformats.org/package/2006/content-types">
  <ns0:Default Extension="jpeg" ContentType="image/jpeg"/>
  <ns0:Default Extension="mp4" ContentType="video/mp4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  <ns0:sldId id="271" ns1:id="rId17"/>
    <ns0:sldId id="272" ns1:id="rId18"/>
    <ns0:sldId id="273" ns1:id="rId19"/>
    <ns0:sldId id="274" ns1:id="rId20"/>
    <ns0:sldId id="275" ns1:id="rId21"/>
    <ns0:sldId id="276" ns1:id="rId22"/>
    <ns0:sldId id="277" ns1:id="rId23"/>
    <ns0:sldId id="278" ns1:id="rId24"/>
    <ns0:sldId id="279" ns1:id="rId25"/>
    <ns0:sldId id="280" ns1:id="rId26"/>
    <ns0:sldId id="281" ns1:id="rId27"/>
    <ns0:sldId id="282" ns1:id="rId28"/>
    <ns0:sldId id="283" ns1:id="rId29"/>
    <ns0:sldId id="284" ns1:id="rId30"/>
    <ns0:sldId id="285" ns1:id="rId31"/>
    <ns0:sldId id="286" ns1:id="rId32"/>
    <ns0:sldId id="287" ns1:id="rId33"/>
  </ns0:sldIdLst>
  <ns0:sldSz cx="9144000" cy="5143500" type="screen16x9"/>
  <ns0:notesSz cx="6858000" cy="9144000"/>
  <ns0:defaultTextStyle>
    <ns2:defPPr>
      <ns2:defRPr lang="it-IT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26" Type="http://schemas.openxmlformats.org/officeDocument/2006/relationships/slide" Target="slides/slide25.xml" /><ns0:Relationship Id="rId21" Type="http://schemas.openxmlformats.org/officeDocument/2006/relationships/slide" Target="slides/slide20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slide" Target="slides/slide24.xml" /><ns0:Relationship Id="rId33" Type="http://schemas.openxmlformats.org/officeDocument/2006/relationships/slide" Target="slides/slide32.xml" /><ns0:Relationship Id="rId38" Type="http://schemas.openxmlformats.org/officeDocument/2006/relationships/tableStyles" Target="tableStyles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slide" Target="slides/slide19.xml" /><ns0:Relationship Id="rId29" Type="http://schemas.openxmlformats.org/officeDocument/2006/relationships/slide" Target="slides/slide28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slide" Target="slides/slide23.xml" /><ns0:Relationship Id="rId32" Type="http://schemas.openxmlformats.org/officeDocument/2006/relationships/slide" Target="slides/slide31.xml" /><ns0:Relationship Id="rId37" Type="http://schemas.openxmlformats.org/officeDocument/2006/relationships/theme" Target="theme/theme1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23" Type="http://schemas.openxmlformats.org/officeDocument/2006/relationships/slide" Target="slides/slide22.xml" /><ns0:Relationship Id="rId28" Type="http://schemas.openxmlformats.org/officeDocument/2006/relationships/slide" Target="slides/slide27.xml" /><ns0:Relationship Id="rId36" Type="http://schemas.openxmlformats.org/officeDocument/2006/relationships/viewProps" Target="viewProps.xml" /><ns0:Relationship Id="rId10" Type="http://schemas.openxmlformats.org/officeDocument/2006/relationships/slide" Target="slides/slide9.xml" /><ns0:Relationship Id="rId19" Type="http://schemas.openxmlformats.org/officeDocument/2006/relationships/slide" Target="slides/slide18.xml" /><ns0:Relationship Id="rId31" Type="http://schemas.openxmlformats.org/officeDocument/2006/relationships/slide" Target="slides/slide30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2" Type="http://schemas.openxmlformats.org/officeDocument/2006/relationships/slide" Target="slides/slide21.xml" /><ns0:Relationship Id="rId27" Type="http://schemas.openxmlformats.org/officeDocument/2006/relationships/slide" Target="slides/slide26.xml" /><ns0:Relationship Id="rId30" Type="http://schemas.openxmlformats.org/officeDocument/2006/relationships/slide" Target="slides/slide29.xml" /><ns0:Relationship Id="rId35" Type="http://schemas.openxmlformats.org/officeDocument/2006/relationships/presProps" Target="presProps.xml" /><ns0:Relationship Id="rId8" Type="http://schemas.openxmlformats.org/officeDocument/2006/relationships/slide" Target="slides/slide7.xml" /><ns0:Relationship Id="rId3" Type="http://schemas.openxmlformats.org/officeDocument/2006/relationships/slide" Target="slides/slide2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2C0C468-DD8D-42CE-9703-9124004283DD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8206A51-9884-47AF-BBFD-C8274C1DE76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EFE10B1-D29C-431F-814C-6C01505A46A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371D3E2-ACF0-4A8F-9178-4664A3C63E5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7FBDFF-5F5B-4805-98DE-170850C29772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DB60F50-3101-4B86-B2D9-7510C1BC475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ADDF8E-27E2-4915-BD24-E2386C76129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A03D98-B609-4B7E-9E34-954DC337511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FCC43A6-9C77-4DDB-A57D-D1C0AC1B336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52FFF5-D4F4-4F15-8FB3-EBE215F95B7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DB674C-9519-4FB7-ADA6-D0A69FF4A98F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77C5B33-808E-45E5-9DCC-9E265EDA0E4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49F46E-688C-42F5-86B4-52AAB36D6DBD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41E6F2-AA6F-40E5-9C87-369769E35A3E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C180B79-D8E9-45E2-B4EB-FF96B24F53A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03C26D-C7D4-43CF-BDB2-7DFADDB2CEB4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BFA949F-71A3-4F44-BBA9-467D2FF90E6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C535F80-2A07-4672-A9E6-8A8EC1193FB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3.xml" /></ns0: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image" Target="../media/image4.png" /><ns0:Relationship Id="rId1" Type="http://schemas.openxmlformats.org/officeDocument/2006/relationships/slideLayout" Target="../slideLayouts/slideLayout5.xml" /></ns0:Relationships>
</file>

<file path=ppt/slides/_rels/slide3.xml.rels><?xml version='1.0' encoding='utf-8'?>
<ns0:Relationships xmlns:ns0="http://schemas.openxmlformats.org/package/2006/relationships"><ns0:Relationship Id="rId3" Type="http://schemas.openxmlformats.org/officeDocument/2006/relationships/image" Target="../media/image5.png" /><ns0:Relationship Id="rId1" Type="http://schemas.openxmlformats.org/officeDocument/2006/relationships/slideLayout" Target="../slideLayouts/slideLayout5.xml" /><ns0:Relationship Id="rId4" Type="http://schemas.openxmlformats.org/officeDocument/2006/relationships/image" Target="../media/image6.png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7.png" /><ns0:Relationship Id="rId1" Type="http://schemas.openxmlformats.org/officeDocument/2006/relationships/slideLayout" Target="../slideLayouts/slideLayout5.xml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image8.png" /><ns0:Relationship Id="rId1" Type="http://schemas.openxmlformats.org/officeDocument/2006/relationships/slideLayout" Target="../slideLayouts/slideLayout5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9.png" /><ns0:Relationship Id="rId1" Type="http://schemas.openxmlformats.org/officeDocument/2006/relationships/slideLayout" Target="../slideLayouts/slideLayout5.xml" /></ns0:Relationships>
</file>

<file path=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1" Type="http://schemas.openxmlformats.org/officeDocument/2006/relationships/slideLayout" Target="../slideLayouts/slideLayout5.xml" /><ns0:Relationship Id="rId5" Type="http://schemas.openxmlformats.org/officeDocument/2006/relationships/image" Target="../media/image12.png" /><ns0:Relationship Id="rId4" Type="http://schemas.openxmlformats.org/officeDocument/2006/relationships/image" Target="../media/image11.png" /></ns0:Relationships>
</file>

<file path=ppt/slides/_rels/slide8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1" Type="http://schemas.openxmlformats.org/officeDocument/2006/relationships/slideLayout" Target="../slideLayouts/slideLayout5.xml" /></ns0:Relationships>
</file>

<file path=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11.png" /><ns0:Relationship Id="rId1" Type="http://schemas.openxmlformats.org/officeDocument/2006/relationships/slideLayout" Target="../slideLayouts/slideLayout5.xml" /></ns0: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12.png" /><ns0:Relationship Id="rId1" Type="http://schemas.openxmlformats.org/officeDocument/2006/relationships/slideLayout" Target="../slideLayouts/slideLayout5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3.png" /><ns0:Relationship Id="rId1" Type="http://schemas.openxmlformats.org/officeDocument/2006/relationships/slideLayout" Target="../slideLayouts/slideLayout5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14.png" /><ns0:Relationship Id="rId1" Type="http://schemas.openxmlformats.org/officeDocument/2006/relationships/slideLayout" Target="../slideLayouts/slideLayout5.xml" /></ns0:Relationships>
</file>

<file path=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5.png" /><ns0:Relationship Id="rId1" Type="http://schemas.openxmlformats.org/officeDocument/2006/relationships/slideLayout" Target="../slideLayouts/slideLayout5.xml" /></ns0:Relationships>
</file>

<file path=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16.png" /><ns0:Relationship Id="rId1" Type="http://schemas.openxmlformats.org/officeDocument/2006/relationships/slideLayout" Target="../slideLayouts/slideLayout5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7.png" /><ns0:Relationship Id="rId1" Type="http://schemas.openxmlformats.org/officeDocument/2006/relationships/slideLayout" Target="../slideLayouts/slideLayout5.xml" /></ns0:Relationships>
</file>

<file path=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18.png" /><ns0:Relationship Id="rId1" Type="http://schemas.openxmlformats.org/officeDocument/2006/relationships/slideLayout" Target="../slideLayouts/slideLayout5.xml" /></ns0:Relationships>
</file>

<file path=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19.png" /><ns0:Relationship Id="rId1" Type="http://schemas.openxmlformats.org/officeDocument/2006/relationships/slideLayout" Target="../slideLayouts/slideLayout5.xml" /></ns0:Relationships>
</file>

<file path=ppt/slides/_rels/slide26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5.xml" /><ns0:Relationship Id="rId2" Type="http://schemas.openxmlformats.org/officeDocument/2006/relationships/video" Target="../media/media1.mp4" /><ns0:Relationship Id="rId1" Type="http://schemas.microsoft.com/office/2007/relationships/media" Target="../media/media1.mp4" /><ns0:Relationship Id="rId5" Type="http://schemas.openxmlformats.org/officeDocument/2006/relationships/image" Target="../media/image20.png" /></ns0:Relationships>
</file>

<file path=ppt/slides/_rels/slide27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5.xml" /><ns0:Relationship Id="rId2" Type="http://schemas.openxmlformats.org/officeDocument/2006/relationships/video" Target="../media/media2.mp4" /><ns0:Relationship Id="rId1" Type="http://schemas.microsoft.com/office/2007/relationships/media" Target="../media/media2.mp4" /><ns0:Relationship Id="rId5" Type="http://schemas.openxmlformats.org/officeDocument/2006/relationships/image" Target="../media/image21.png" /></ns0:Relationships>
</file>

<file path=ppt/slides/_rels/slide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29.xml.rels><?xml version='1.0' encoding='utf-8'?>
<ns0:Relationships xmlns:ns0="http://schemas.openxmlformats.org/package/2006/relationships"><ns0:Relationship Id="rId8" Type="http://schemas.openxmlformats.org/officeDocument/2006/relationships/video" Target="../media/media6.mp4" /><ns0:Relationship Id="rId13" Type="http://schemas.openxmlformats.org/officeDocument/2006/relationships/image" Target="../media/image24.png" /><ns0:Relationship Id="rId3" Type="http://schemas.microsoft.com/office/2007/relationships/media" Target="../media/media4.mp4" /><ns0:Relationship Id="rId7" Type="http://schemas.microsoft.com/office/2007/relationships/media" Target="../media/media6.mp4" /><ns0:Relationship Id="rId12" Type="http://schemas.openxmlformats.org/officeDocument/2006/relationships/image" Target="../media/image23.png" /><ns0:Relationship Id="rId2" Type="http://schemas.openxmlformats.org/officeDocument/2006/relationships/video" Target="../media/media3.mp4" /><ns0:Relationship Id="rId1" Type="http://schemas.microsoft.com/office/2007/relationships/media" Target="../media/media3.mp4" /><ns0:Relationship Id="rId6" Type="http://schemas.openxmlformats.org/officeDocument/2006/relationships/video" Target="../media/media5.mp4" /><ns0:Relationship Id="rId11" Type="http://schemas.openxmlformats.org/officeDocument/2006/relationships/image" Target="../media/image22.png" /><ns0:Relationship Id="rId5" Type="http://schemas.microsoft.com/office/2007/relationships/media" Target="../media/media5.mp4" /><ns0:Relationship Id="rId15" Type="http://schemas.openxmlformats.org/officeDocument/2006/relationships/image" Target="../media/image26.png" /><ns0:Relationship Id="rId4" Type="http://schemas.openxmlformats.org/officeDocument/2006/relationships/video" Target="../media/media4.mp4" /><ns0:Relationship Id="rId9" Type="http://schemas.openxmlformats.org/officeDocument/2006/relationships/slideLayout" Target="../slideLayouts/slideLayout5.xml" /><ns0:Relationship Id="rId14" Type="http://schemas.openxmlformats.org/officeDocument/2006/relationships/image" Target="../media/image25.png" /></ns0:Relationships>
</file>

<file path=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27.png" /><ns0:Relationship Id="rId1" Type="http://schemas.openxmlformats.org/officeDocument/2006/relationships/slideLayout" Target="../slideLayouts/slideLayout5.xml" /></ns0:Relationships>
</file>

<file path=ppt/slides/_rels/slide31.xml.rels><?xml version='1.0' encoding='utf-8'?>
<ns0:Relationships xmlns:ns0="http://schemas.openxmlformats.org/package/2006/relationships"><ns0:Relationship Id="rId8" Type="http://schemas.openxmlformats.org/officeDocument/2006/relationships/video" Target="../media/media10.mp4" /><ns0:Relationship Id="rId13" Type="http://schemas.openxmlformats.org/officeDocument/2006/relationships/image" Target="../media/image30.png" /><ns0:Relationship Id="rId3" Type="http://schemas.microsoft.com/office/2007/relationships/media" Target="../media/media8.mp4" /><ns0:Relationship Id="rId7" Type="http://schemas.microsoft.com/office/2007/relationships/media" Target="../media/media10.mp4" /><ns0:Relationship Id="rId12" Type="http://schemas.openxmlformats.org/officeDocument/2006/relationships/image" Target="../media/image29.png" /><ns0:Relationship Id="rId2" Type="http://schemas.openxmlformats.org/officeDocument/2006/relationships/video" Target="../media/media7.mp4" /><ns0:Relationship Id="rId1" Type="http://schemas.microsoft.com/office/2007/relationships/media" Target="../media/media7.mp4" /><ns0:Relationship Id="rId6" Type="http://schemas.openxmlformats.org/officeDocument/2006/relationships/video" Target="../media/media9.mp4" /><ns0:Relationship Id="rId11" Type="http://schemas.openxmlformats.org/officeDocument/2006/relationships/image" Target="../media/image28.png" /><ns0:Relationship Id="rId5" Type="http://schemas.microsoft.com/office/2007/relationships/media" Target="../media/media9.mp4" /><ns0:Relationship Id="rId15" Type="http://schemas.openxmlformats.org/officeDocument/2006/relationships/hyperlink" Target="https://alessandropec.github.io/projects/lazarus/" TargetMode="External" /><ns0:Relationship Id="rId4" Type="http://schemas.openxmlformats.org/officeDocument/2006/relationships/video" Target="../media/media8.mp4" /><ns0:Relationship Id="rId9" Type="http://schemas.openxmlformats.org/officeDocument/2006/relationships/slideLayout" Target="../slideLayouts/slideLayout5.xml" /><ns0:Relationship Id="rId14" Type="http://schemas.openxmlformats.org/officeDocument/2006/relationships/image" Target="../media/image31.png" /></ns0:Relationships>
</file>

<file path=ppt/slides/_rels/slide32.xml.rels><?xml version='1.0' encoding='utf-8'?>
<ns0:Relationships xmlns:ns0="http://schemas.openxmlformats.org/package/2006/relationships"><ns0:Relationship Id="rId8" Type="http://schemas.openxmlformats.org/officeDocument/2006/relationships/hyperlink" Target="https://endeltulving.com/book-chapters" TargetMode="External" /><ns0:Relationship Id="rId13" Type="http://schemas.openxmlformats.org/officeDocument/2006/relationships/hyperlink" Target="https://arxiv.org/abs/2305.16291" TargetMode="External" /><ns0:Relationship Id="rId18" Type="http://schemas.openxmlformats.org/officeDocument/2006/relationships/hyperlink" Target="https://arxiv.org/abs/2406.09246" TargetMode="External" /><ns0:Relationship Id="rId3" Type="http://schemas.openxmlformats.org/officeDocument/2006/relationships/hyperlink" Target="https://faculty.sites.iastate.edu/tesfatsi/archive/tesfatsi/AgentOrProgram.SFranklin1996.htm" TargetMode="External" /><ns0:Relationship Id="rId7" Type="http://schemas.openxmlformats.org/officeDocument/2006/relationships/hyperlink" Target="https://doi.org/10.1016/S1364-6613(00)01538-2" TargetMode="External" /><ns0:Relationship Id="rId12" Type="http://schemas.openxmlformats.org/officeDocument/2006/relationships/hyperlink" Target="https://doi.org/10.1145/3586183.3606763" TargetMode="External" /><ns0:Relationship Id="rId17" Type="http://schemas.openxmlformats.org/officeDocument/2006/relationships/hyperlink" Target="https://arxiv.org/abs/2512.04797" TargetMode="External" /><ns0:Relationship Id="rId16" Type="http://schemas.openxmlformats.org/officeDocument/2006/relationships/hyperlink" Target="https://arxiv.org/abs/2411.00114" TargetMode="External" /><ns0:Relationship Id="rId1" Type="http://schemas.openxmlformats.org/officeDocument/2006/relationships/slideLayout" Target="../slideLayouts/slideLayout5.xml" /><ns0:Relationship Id="rId6" Type="http://schemas.openxmlformats.org/officeDocument/2006/relationships/hyperlink" Target="https://doi.org/10.1016/S0079-7421(08)60452-1" TargetMode="External" /><ns0:Relationship Id="rId11" Type="http://schemas.openxmlformats.org/officeDocument/2006/relationships/hyperlink" Target="https://doi.org/10.1037/h0061626" TargetMode="External" /><ns0:Relationship Id="rId5" Type="http://schemas.openxmlformats.org/officeDocument/2006/relationships/hyperlink" Target="https://doi.org/10.1016/S0079-7421(08)60422-3" TargetMode="External" /><ns0:Relationship Id="rId15" Type="http://schemas.openxmlformats.org/officeDocument/2006/relationships/hyperlink" Target="https://doi.org/10.1038/s41586-023-06792-0" TargetMode="External" /><ns0:Relationship Id="rId10" Type="http://schemas.openxmlformats.org/officeDocument/2006/relationships/hyperlink" Target="https://doi.org/10.1037/0033-295X.107.2.261" TargetMode="External" /><ns0:Relationship Id="rId4" Type="http://schemas.openxmlformats.org/officeDocument/2006/relationships/hyperlink" Target="https://iris.polito.it/handle/11583/3000653" TargetMode="External" /><ns0:Relationship Id="rId9" Type="http://schemas.openxmlformats.org/officeDocument/2006/relationships/hyperlink" Target="https://doi.org/10.1037/0003-066X.40.4.385" TargetMode="External" /><ns0:Relationship Id="rId14" Type="http://schemas.openxmlformats.org/officeDocument/2006/relationships/hyperlink" Target="https://arxiv.org/abs/2609.35463" TargetMode="Externa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7E6334-6C6E-4D47-965F-8C855C9277F4}"/>
              </a:ext>
            </a:extLst>
          </p:cNvPr>
          <p:cNvSpPr>
            <a:spLocks noGrp="1"/>
          </p:cNvSpPr>
          <p:nvPr/>
        </p:nvSpPr>
        <p:spPr>
          <a:xfrm>
            <a:off x="685800" y="4160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Alessandro Emmanuel Pecora · 29 October 2026</a:t>
            </a:r>
            <a:endParaRPr sz="11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BF05B19-50B2-483E-92A4-9DBD95C6E25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1</a:t>
            </a:fld>
            <a:endParaRPr/>
          </a:p>
        </p:txBody>
      </p:sp>
      <p:pic>
        <p:nvPicPr>
          <p:cNvPr id="32" name="Immagine 3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7" name="m0-text-1">
            <a:extLst>
              <a:ext uri="{FF2B5EF4-FFF2-40B4-BE49-F238E27FC236}">
                <a16:creationId xmlns:a16="http://schemas.microsoft.com/office/drawing/2014/main" id="{7B231A4A-A840-46C7-A86F-7B8BEA1FCEBE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4286250" cy="9525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buNone/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  <a:p>
            <a:pPr>
              <a:buNone/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Psychological Foundations</a:t>
            </a:r>
          </a:p>
          <a:p>
            <a:pPr>
              <a:buNone/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of Cognitive Architectures</a:t>
            </a:r>
          </a:p>
        </p:txBody>
      </p:sp>
      <p:sp>
        <p:nvSpPr>
          <p:cNvPr id="29" name="m1-text-277">
            <a:extLst>
              <a:ext uri="{FF2B5EF4-FFF2-40B4-BE49-F238E27FC236}">
                <a16:creationId xmlns:a16="http://schemas.microsoft.com/office/drawing/2014/main" id="{38A8CC96-0A43-4FC6-B668-6573F91D6DE2}"/>
              </a:ext>
            </a:extLst>
          </p:cNvPr>
          <p:cNvSpPr>
            <a:spLocks noGrp="1"/>
          </p:cNvSpPr>
          <p:nvPr/>
        </p:nvSpPr>
        <p:spPr>
          <a:xfrm>
            <a:off x="8334375" y="4914900"/>
            <a:ext cx="352425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5561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m1-text-1">
            <a:extLst>
              <a:ext uri="{FF2B5EF4-FFF2-40B4-BE49-F238E27FC236}">
                <a16:creationId xmlns:a16="http://schemas.microsoft.com/office/drawing/2014/main" id="{F6E0D70B-D53B-4639-80D3-3E32D618DFA5}"/>
              </a:ext>
            </a:extLst>
          </p:cNvPr>
          <p:cNvSpPr>
            <a:spLocks noGrp="1"/>
          </p:cNvSpPr>
          <p:nvPr/>
        </p:nvSpPr>
        <p:spPr>
          <a:xfrm>
            <a:off x="5443361" y="1781175"/>
            <a:ext cx="3091039" cy="15859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Virtual Agents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Virtual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Humans</a:t>
            </a:r>
          </a:p>
        </p:txBody>
      </p:sp>
      <p:sp>
        <p:nvSpPr>
          <p:cNvPr id="3" name="m1-text-278">
            <a:extLst>
              <a:ext uri="{FF2B5EF4-FFF2-40B4-BE49-F238E27FC236}">
                <a16:creationId xmlns:a16="http://schemas.microsoft.com/office/drawing/2014/main" id="{28DCE741-EAF6-4D8F-968E-9B397839316D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990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1-text-2">
            <a:extLst>
              <a:ext uri="{FF2B5EF4-FFF2-40B4-BE49-F238E27FC236}">
                <a16:creationId xmlns:a16="http://schemas.microsoft.com/office/drawing/2014/main" id="{FF9AB99D-3CD0-46EB-ABB0-8CC0A560DB7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3">
            <a:extLst>
              <a:ext uri="{FF2B5EF4-FFF2-40B4-BE49-F238E27FC236}">
                <a16:creationId xmlns:a16="http://schemas.microsoft.com/office/drawing/2014/main" id="{D96D169B-87D9-49B3-BB7E-50F3D2DDB8AA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4">
            <a:extLst>
              <a:ext uri="{FF2B5EF4-FFF2-40B4-BE49-F238E27FC236}">
                <a16:creationId xmlns:a16="http://schemas.microsoft.com/office/drawing/2014/main" id="{AAD60D99-E284-4B71-8DB9-35EC7FFFC75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Agents to Virtual Agents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C7DA328-B409-4D59-9F66-7CBF47AF52BA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4769556" cy="1560195"/>
          </a:xfrm>
          <a:prstGeom prst="roundRect">
            <a:avLst>
              <a:gd name="adj" fmla="val 4396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4DC6E5F-4B19-405D-8B91-287D6D98D29F}"/>
              </a:ext>
            </a:extLst>
          </p:cNvPr>
          <p:cNvSpPr>
            <a:spLocks noGrp="1"/>
          </p:cNvSpPr>
          <p:nvPr/>
        </p:nvSpPr>
        <p:spPr>
          <a:xfrm>
            <a:off x="3764844" y="3229928"/>
            <a:ext cx="4769556" cy="1277303"/>
          </a:xfrm>
          <a:prstGeom prst="roundRect">
            <a:avLst>
              <a:gd name="adj" fmla="val 536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subheading-5">
            <a:extLst>
              <a:ext uri="{FF2B5EF4-FFF2-40B4-BE49-F238E27FC236}">
                <a16:creationId xmlns:a16="http://schemas.microsoft.com/office/drawing/2014/main" id="{BE48E65D-FDBA-48ED-80B7-38670FA8D892}"/>
              </a:ext>
            </a:extLst>
          </p:cNvPr>
          <p:cNvSpPr>
            <a:spLocks noGrp="1"/>
          </p:cNvSpPr>
          <p:nvPr/>
        </p:nvSpPr>
        <p:spPr>
          <a:xfrm>
            <a:off x="793044" y="1618298"/>
            <a:ext cx="4402667" cy="3257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7" name="m1-text-6">
            <a:extLst>
              <a:ext uri="{FF2B5EF4-FFF2-40B4-BE49-F238E27FC236}">
                <a16:creationId xmlns:a16="http://schemas.microsoft.com/office/drawing/2014/main" id="{91BF9AFC-1AC7-4C71-BC28-1A6EDB204DF4}"/>
              </a:ext>
            </a:extLst>
          </p:cNvPr>
          <p:cNvSpPr>
            <a:spLocks noGrp="1"/>
          </p:cNvSpPr>
          <p:nvPr/>
        </p:nvSpPr>
        <p:spPr>
          <a:xfrm>
            <a:off x="793044" y="2038350"/>
            <a:ext cx="4402667" cy="9258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system that perceives its environment</a:t>
            </a:r>
          </a:p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acts autonomously over time</a:t>
            </a:r>
          </a:p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 pursue goals. [1]</a:t>
            </a:r>
          </a:p>
        </p:txBody>
      </p:sp>
      <p:sp>
        <p:nvSpPr>
          <p:cNvPr id="8" name="m1-subheading-7">
            <a:extLst>
              <a:ext uri="{FF2B5EF4-FFF2-40B4-BE49-F238E27FC236}">
                <a16:creationId xmlns:a16="http://schemas.microsoft.com/office/drawing/2014/main" id="{3ABEE8BE-0B8F-4FA5-920D-521724B5A237}"/>
              </a:ext>
            </a:extLst>
          </p:cNvPr>
          <p:cNvSpPr>
            <a:spLocks noGrp="1"/>
          </p:cNvSpPr>
          <p:nvPr/>
        </p:nvSpPr>
        <p:spPr>
          <a:xfrm>
            <a:off x="3948289" y="3367088"/>
            <a:ext cx="4402667" cy="3257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Virtual Agent</a:t>
            </a:r>
          </a:p>
        </p:txBody>
      </p:sp>
      <p:sp>
        <p:nvSpPr>
          <p:cNvPr id="9" name="m1-text-8">
            <a:extLst>
              <a:ext uri="{FF2B5EF4-FFF2-40B4-BE49-F238E27FC236}">
                <a16:creationId xmlns:a16="http://schemas.microsoft.com/office/drawing/2014/main" id="{6C5E66D4-8063-4DC3-8B52-4332B5DBB208}"/>
              </a:ext>
            </a:extLst>
          </p:cNvPr>
          <p:cNvSpPr>
            <a:spLocks noGrp="1"/>
          </p:cNvSpPr>
          <p:nvPr/>
        </p:nvSpPr>
        <p:spPr>
          <a:xfrm>
            <a:off x="3948289" y="3795713"/>
            <a:ext cx="4402667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 agent implemented in software. [2]</a:t>
            </a:r>
          </a:p>
        </p:txBody>
      </p:sp>
      <p:pic>
        <p:nvPicPr>
          <p:cNvPr id="22" name="Immagin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92019" y="1472565"/>
            <a:ext cx="2443163" cy="1628775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9553" y="3144203"/>
            <a:ext cx="2121694" cy="1414463"/>
          </a:xfrm>
          <a:prstGeom prst="rect">
            <a:avLst/>
          </a:prstGeom>
        </p:spPr>
      </p:pic>
      <p:sp>
        <p:nvSpPr>
          <p:cNvPr id="12" name="m1-text-279">
            <a:extLst>
              <a:ext uri="{FF2B5EF4-FFF2-40B4-BE49-F238E27FC236}">
                <a16:creationId xmlns:a16="http://schemas.microsoft.com/office/drawing/2014/main" id="{4F3C0441-5B06-4DC3-9DDC-51B8425548E7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180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1-text-9">
            <a:extLst>
              <a:ext uri="{FF2B5EF4-FFF2-40B4-BE49-F238E27FC236}">
                <a16:creationId xmlns:a16="http://schemas.microsoft.com/office/drawing/2014/main" id="{51B325D1-6CD8-4AF1-9C4D-183BAD7869D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0">
            <a:extLst>
              <a:ext uri="{FF2B5EF4-FFF2-40B4-BE49-F238E27FC236}">
                <a16:creationId xmlns:a16="http://schemas.microsoft.com/office/drawing/2014/main" id="{74BFCD23-4AC3-493B-AB5C-F6B3FEAEF47C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1">
            <a:extLst>
              <a:ext uri="{FF2B5EF4-FFF2-40B4-BE49-F238E27FC236}">
                <a16:creationId xmlns:a16="http://schemas.microsoft.com/office/drawing/2014/main" id="{E7C7CFFD-E2D7-4FD9-AD56-BEED595103B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Using Tools</a:t>
            </a:r>
          </a:p>
        </p:txBody>
      </p:sp>
      <p:sp>
        <p:nvSpPr>
          <p:cNvPr id="4" name="m1-text-12">
            <a:extLst>
              <a:ext uri="{FF2B5EF4-FFF2-40B4-BE49-F238E27FC236}">
                <a16:creationId xmlns:a16="http://schemas.microsoft.com/office/drawing/2014/main" id="{A086E54D-A900-4630-8580-7D93944F2F5F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145844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Agents can use tools to pursue their goals.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B865D8D-0D3E-453A-9668-614B6A25CA73}"/>
              </a:ext>
            </a:extLst>
          </p:cNvPr>
          <p:cNvSpPr>
            <a:spLocks noGrp="1"/>
          </p:cNvSpPr>
          <p:nvPr/>
        </p:nvSpPr>
        <p:spPr>
          <a:xfrm>
            <a:off x="609600" y="2732723"/>
            <a:ext cx="4145844" cy="1423035"/>
          </a:xfrm>
          <a:prstGeom prst="roundRect">
            <a:avLst>
              <a:gd name="adj" fmla="val 48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text-13">
            <a:extLst>
              <a:ext uri="{FF2B5EF4-FFF2-40B4-BE49-F238E27FC236}">
                <a16:creationId xmlns:a16="http://schemas.microsoft.com/office/drawing/2014/main" id="{6E0306D4-CBCC-479B-B4A0-6EF1ED564268}"/>
              </a:ext>
            </a:extLst>
          </p:cNvPr>
          <p:cNvSpPr>
            <a:spLocks noGrp="1"/>
          </p:cNvSpPr>
          <p:nvPr/>
        </p:nvSpPr>
        <p:spPr>
          <a:xfrm>
            <a:off x="793044" y="2887028"/>
            <a:ext cx="3778956" cy="11658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For virtual agents, tools are functions:</a:t>
            </a:r>
          </a:p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software calling other software to achieve a goal.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40955" y="1369695"/>
            <a:ext cx="3128963" cy="3128963"/>
          </a:xfrm>
          <a:prstGeom prst="rect">
            <a:avLst/>
          </a:prstGeom>
        </p:spPr>
      </p:pic>
      <p:sp>
        <p:nvSpPr>
          <p:cNvPr id="8" name="m1-text-280">
            <a:extLst>
              <a:ext uri="{FF2B5EF4-FFF2-40B4-BE49-F238E27FC236}">
                <a16:creationId xmlns:a16="http://schemas.microsoft.com/office/drawing/2014/main" id="{8381A587-CDD9-4ECF-B116-2068675F59A3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374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1-text-14">
            <a:extLst>
              <a:ext uri="{FF2B5EF4-FFF2-40B4-BE49-F238E27FC236}">
                <a16:creationId xmlns:a16="http://schemas.microsoft.com/office/drawing/2014/main" id="{1AA91246-3228-42C0-8BB8-9B63D9C6472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5">
            <a:extLst>
              <a:ext uri="{FF2B5EF4-FFF2-40B4-BE49-F238E27FC236}">
                <a16:creationId xmlns:a16="http://schemas.microsoft.com/office/drawing/2014/main" id="{91E0E592-C0BB-4D55-A04C-6C070585FFD4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6">
            <a:extLst>
              <a:ext uri="{FF2B5EF4-FFF2-40B4-BE49-F238E27FC236}">
                <a16:creationId xmlns:a16="http://schemas.microsoft.com/office/drawing/2014/main" id="{C8F2ED44-7B07-40EA-869D-2F239177DE6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Virtual Agents to Virtual Humans</a:t>
            </a:r>
          </a:p>
        </p:txBody>
      </p:sp>
      <p:sp>
        <p:nvSpPr>
          <p:cNvPr id="4" name="m1-text-17">
            <a:extLst>
              <a:ext uri="{FF2B5EF4-FFF2-40B4-BE49-F238E27FC236}">
                <a16:creationId xmlns:a16="http://schemas.microsoft.com/office/drawing/2014/main" id="{94269CDA-BAAB-4289-A727-913E28B00E39}"/>
              </a:ext>
            </a:extLst>
          </p:cNvPr>
          <p:cNvSpPr>
            <a:spLocks noGrp="1"/>
          </p:cNvSpPr>
          <p:nvPr/>
        </p:nvSpPr>
        <p:spPr>
          <a:xfrm>
            <a:off x="4205111" y="1524000"/>
            <a:ext cx="4329289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Virtual humans are a specialized class of virtual agents that mimic human presence and behaviour. [2]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8BC5C78-087A-4BC4-BB4A-976187B4FA80}"/>
              </a:ext>
            </a:extLst>
          </p:cNvPr>
          <p:cNvSpPr>
            <a:spLocks noGrp="1"/>
          </p:cNvSpPr>
          <p:nvPr/>
        </p:nvSpPr>
        <p:spPr>
          <a:xfrm>
            <a:off x="4058356" y="2758440"/>
            <a:ext cx="4476044" cy="1783080"/>
          </a:xfrm>
          <a:prstGeom prst="roundRect">
            <a:avLst>
              <a:gd name="adj" fmla="val 3846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text-18">
            <a:extLst>
              <a:ext uri="{FF2B5EF4-FFF2-40B4-BE49-F238E27FC236}">
                <a16:creationId xmlns:a16="http://schemas.microsoft.com/office/drawing/2014/main" id="{DBAB2A8D-D9AB-4D4E-B6EE-3C72C1325DD3}"/>
              </a:ext>
            </a:extLst>
          </p:cNvPr>
          <p:cNvSpPr>
            <a:spLocks noGrp="1"/>
          </p:cNvSpPr>
          <p:nvPr/>
        </p:nvSpPr>
        <p:spPr>
          <a:xfrm>
            <a:off x="4205111" y="2895600"/>
            <a:ext cx="4329289" cy="16116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203200" indent="-127000">
              <a:spcAft>
                <a:spcPts val="5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Human-like embodiment</a:t>
            </a:r>
          </a:p>
          <a:p>
            <a:pPr marL="203200" indent="-127000">
              <a:spcAft>
                <a:spcPts val="5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Perception and action</a:t>
            </a:r>
          </a:p>
          <a:p>
            <a:pPr marL="203200" indent="-127000">
              <a:spcAft>
                <a:spcPts val="5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>
                <a:solidFill>
                  <a:srgbClr val="D9A06B"/>
                </a:solidFill>
              </a:rPr>
              <a:t>Cognitive capabilities</a:t>
            </a:r>
          </a:p>
          <a:p>
            <a:pPr marL="203200" indent="-127000">
              <a:spcAft>
                <a:spcPts val="5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Social and emotional capabilities</a:t>
            </a:r>
          </a:p>
          <a:p>
            <a:pPr marL="203200" indent="-127000">
              <a:spcAft>
                <a:spcPts val="5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Verbal and non-verbal communication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68753" y="1472565"/>
            <a:ext cx="2000250" cy="3000375"/>
          </a:xfrm>
          <a:prstGeom prst="rect">
            <a:avLst/>
          </a:prstGeom>
        </p:spPr>
      </p:pic>
      <p:sp>
        <p:nvSpPr>
          <p:cNvPr id="8" name="m1-text-281">
            <a:extLst>
              <a:ext uri="{FF2B5EF4-FFF2-40B4-BE49-F238E27FC236}">
                <a16:creationId xmlns:a16="http://schemas.microsoft.com/office/drawing/2014/main" id="{B6B4A210-D36D-44DE-B2CF-6C5F5D69AD1D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6530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m1-text-19">
            <a:extLst>
              <a:ext uri="{FF2B5EF4-FFF2-40B4-BE49-F238E27FC236}">
                <a16:creationId xmlns:a16="http://schemas.microsoft.com/office/drawing/2014/main" id="{5025039F-D15C-4480-A77C-C184F301A460}"/>
              </a:ext>
            </a:extLst>
          </p:cNvPr>
          <p:cNvSpPr>
            <a:spLocks noGrp="1"/>
          </p:cNvSpPr>
          <p:nvPr/>
        </p:nvSpPr>
        <p:spPr>
          <a:xfrm>
            <a:off x="609600" y="1481138"/>
            <a:ext cx="4907139" cy="16716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Computational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Cognitive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Architectures</a:t>
            </a:r>
          </a:p>
        </p:txBody>
      </p:sp>
      <p:sp>
        <p:nvSpPr>
          <p:cNvPr id="3" name="m1-subheading-20">
            <a:extLst>
              <a:ext uri="{FF2B5EF4-FFF2-40B4-BE49-F238E27FC236}">
                <a16:creationId xmlns:a16="http://schemas.microsoft.com/office/drawing/2014/main" id="{F5D0AD84-60FD-4BD1-A42F-F0A3C254F685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4907139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Perceive–Reason–Act Loop</a:t>
            </a:r>
          </a:p>
        </p:txBody>
      </p:sp>
      <p:sp>
        <p:nvSpPr>
          <p:cNvPr id="4" name="m1-text-282">
            <a:extLst>
              <a:ext uri="{FF2B5EF4-FFF2-40B4-BE49-F238E27FC236}">
                <a16:creationId xmlns:a16="http://schemas.microsoft.com/office/drawing/2014/main" id="{5E4E40B1-9ED5-4B38-8C5A-818AAE690626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04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1-text-21">
            <a:extLst>
              <a:ext uri="{FF2B5EF4-FFF2-40B4-BE49-F238E27FC236}">
                <a16:creationId xmlns:a16="http://schemas.microsoft.com/office/drawing/2014/main" id="{DEDFB7D1-077E-4AC5-8A11-3B5A6377002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2">
            <a:extLst>
              <a:ext uri="{FF2B5EF4-FFF2-40B4-BE49-F238E27FC236}">
                <a16:creationId xmlns:a16="http://schemas.microsoft.com/office/drawing/2014/main" id="{4317E5B4-312C-4276-93FA-D298BB8739F2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23">
            <a:extLst>
              <a:ext uri="{FF2B5EF4-FFF2-40B4-BE49-F238E27FC236}">
                <a16:creationId xmlns:a16="http://schemas.microsoft.com/office/drawing/2014/main" id="{860884EE-5420-4849-B3F8-DC465D9C9C1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What Is Cognition?</a:t>
            </a:r>
          </a:p>
        </p:txBody>
      </p:sp>
      <p:sp>
        <p:nvSpPr>
          <p:cNvPr id="4" name="m1-text-24">
            <a:extLst>
              <a:ext uri="{FF2B5EF4-FFF2-40B4-BE49-F238E27FC236}">
                <a16:creationId xmlns:a16="http://schemas.microsoft.com/office/drawing/2014/main" id="{C5021AEA-E25D-4552-B959-19CF9242521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924800" cy="702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processes through which a system acquires, processes, and uses information to guide behaviour. [2]</a:t>
            </a:r>
          </a:p>
        </p:txBody>
      </p:sp>
      <p:sp>
        <p:nvSpPr>
          <p:cNvPr id="5" name="cognition-card-1">
            <a:extLst>
              <a:ext uri="{FF2B5EF4-FFF2-40B4-BE49-F238E27FC236}">
                <a16:creationId xmlns:a16="http://schemas.microsoft.com/office/drawing/2014/main" id="{AEAB5EB6-27F5-4D0D-8680-553862FF2550}"/>
              </a:ext>
            </a:extLst>
          </p:cNvPr>
          <p:cNvSpPr>
            <a:spLocks noGrp="1"/>
          </p:cNvSpPr>
          <p:nvPr/>
        </p:nvSpPr>
        <p:spPr>
          <a:xfrm>
            <a:off x="609600" y="2244090"/>
            <a:ext cx="2494844" cy="1697355"/>
          </a:xfrm>
          <a:prstGeom prst="roundRect">
            <a:avLst>
              <a:gd name="adj" fmla="val 4040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pic>
        <p:nvPicPr>
          <p:cNvPr id="20" name="Immagine 19"/>
          <p:cNvPicPr>
            <a:picLocks noChangeAspect="1"/>
          </p:cNvPicPr>
          <p:nvPr/>
        </p:nvPicPr>
        <p:blipFill>
          <a:blip r:embed="rId3"/>
          <a:srcRect t="11779" b="11779"/>
          <a:stretch>
            <a:fillRect/>
          </a:stretch>
        </p:blipFill>
        <p:spPr>
          <a:xfrm>
            <a:off x="701322" y="2329815"/>
            <a:ext cx="2311400" cy="994410"/>
          </a:xfrm>
          <a:prstGeom prst="rect">
            <a:avLst/>
          </a:prstGeom>
        </p:spPr>
      </p:pic>
      <p:sp>
        <p:nvSpPr>
          <p:cNvPr id="7" name="m1-text-25">
            <a:extLst>
              <a:ext uri="{FF2B5EF4-FFF2-40B4-BE49-F238E27FC236}">
                <a16:creationId xmlns:a16="http://schemas.microsoft.com/office/drawing/2014/main" id="{1A5C6BAE-332F-49F4-81F1-46F691519F92}"/>
              </a:ext>
            </a:extLst>
          </p:cNvPr>
          <p:cNvSpPr>
            <a:spLocks noGrp="1"/>
          </p:cNvSpPr>
          <p:nvPr/>
        </p:nvSpPr>
        <p:spPr>
          <a:xfrm>
            <a:off x="738011" y="3375660"/>
            <a:ext cx="2238022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Perception and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Attention</a:t>
            </a:r>
          </a:p>
        </p:txBody>
      </p:sp>
      <p:sp>
        <p:nvSpPr>
          <p:cNvPr id="8" name="cognition-card-2">
            <a:extLst>
              <a:ext uri="{FF2B5EF4-FFF2-40B4-BE49-F238E27FC236}">
                <a16:creationId xmlns:a16="http://schemas.microsoft.com/office/drawing/2014/main" id="{5CB8BEA4-0EC9-4560-ABDE-BC57A96475C8}"/>
              </a:ext>
            </a:extLst>
          </p:cNvPr>
          <p:cNvSpPr>
            <a:spLocks noGrp="1"/>
          </p:cNvSpPr>
          <p:nvPr/>
        </p:nvSpPr>
        <p:spPr>
          <a:xfrm>
            <a:off x="3324578" y="2244090"/>
            <a:ext cx="2494844" cy="1697355"/>
          </a:xfrm>
          <a:prstGeom prst="roundRect">
            <a:avLst>
              <a:gd name="adj" fmla="val 4040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pic>
        <p:nvPicPr>
          <p:cNvPr id="23" name="Immagine 22"/>
          <p:cNvPicPr>
            <a:picLocks noChangeAspect="1"/>
          </p:cNvPicPr>
          <p:nvPr/>
        </p:nvPicPr>
        <p:blipFill>
          <a:blip r:embed="rId4"/>
          <a:srcRect t="11779" b="11779"/>
          <a:stretch>
            <a:fillRect/>
          </a:stretch>
        </p:blipFill>
        <p:spPr>
          <a:xfrm>
            <a:off x="3416300" y="2329815"/>
            <a:ext cx="2311400" cy="994410"/>
          </a:xfrm>
          <a:prstGeom prst="rect">
            <a:avLst/>
          </a:prstGeom>
        </p:spPr>
      </p:pic>
      <p:sp>
        <p:nvSpPr>
          <p:cNvPr id="10" name="m1-text-26">
            <a:extLst>
              <a:ext uri="{FF2B5EF4-FFF2-40B4-BE49-F238E27FC236}">
                <a16:creationId xmlns:a16="http://schemas.microsoft.com/office/drawing/2014/main" id="{97A49400-16F1-470D-86E2-B983E13DB97E}"/>
              </a:ext>
            </a:extLst>
          </p:cNvPr>
          <p:cNvSpPr>
            <a:spLocks noGrp="1"/>
          </p:cNvSpPr>
          <p:nvPr/>
        </p:nvSpPr>
        <p:spPr>
          <a:xfrm>
            <a:off x="3452989" y="3375660"/>
            <a:ext cx="2238022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Memory, Learning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Reasoning</a:t>
            </a:r>
          </a:p>
        </p:txBody>
      </p:sp>
      <p:sp>
        <p:nvSpPr>
          <p:cNvPr id="11" name="cognition-card-3">
            <a:extLst>
              <a:ext uri="{FF2B5EF4-FFF2-40B4-BE49-F238E27FC236}">
                <a16:creationId xmlns:a16="http://schemas.microsoft.com/office/drawing/2014/main" id="{F3D2297F-5CCF-49BA-AEC0-B7CA2B8A68F7}"/>
              </a:ext>
            </a:extLst>
          </p:cNvPr>
          <p:cNvSpPr>
            <a:spLocks noGrp="1"/>
          </p:cNvSpPr>
          <p:nvPr/>
        </p:nvSpPr>
        <p:spPr>
          <a:xfrm>
            <a:off x="6039556" y="2244090"/>
            <a:ext cx="2494844" cy="1697355"/>
          </a:xfrm>
          <a:prstGeom prst="roundRect">
            <a:avLst>
              <a:gd name="adj" fmla="val 4040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pic>
        <p:nvPicPr>
          <p:cNvPr id="26" name="Immagine 25"/>
          <p:cNvPicPr>
            <a:picLocks noChangeAspect="1"/>
          </p:cNvPicPr>
          <p:nvPr/>
        </p:nvPicPr>
        <p:blipFill>
          <a:blip r:embed="rId5"/>
          <a:srcRect t="11779" b="11779"/>
          <a:stretch>
            <a:fillRect/>
          </a:stretch>
        </p:blipFill>
        <p:spPr>
          <a:xfrm>
            <a:off x="6131278" y="2329815"/>
            <a:ext cx="2311400" cy="994410"/>
          </a:xfrm>
          <a:prstGeom prst="rect">
            <a:avLst/>
          </a:prstGeom>
        </p:spPr>
      </p:pic>
      <p:sp>
        <p:nvSpPr>
          <p:cNvPr id="13" name="m1-text-27">
            <a:extLst>
              <a:ext uri="{FF2B5EF4-FFF2-40B4-BE49-F238E27FC236}">
                <a16:creationId xmlns:a16="http://schemas.microsoft.com/office/drawing/2014/main" id="{021B48DD-344A-45D6-BBD7-90D5C7BD0779}"/>
              </a:ext>
            </a:extLst>
          </p:cNvPr>
          <p:cNvSpPr>
            <a:spLocks noGrp="1"/>
          </p:cNvSpPr>
          <p:nvPr/>
        </p:nvSpPr>
        <p:spPr>
          <a:xfrm>
            <a:off x="6167967" y="3375660"/>
            <a:ext cx="2238022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Decision-Making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Action</a:t>
            </a:r>
          </a:p>
        </p:txBody>
      </p:sp>
      <p:sp>
        <p:nvSpPr>
          <p:cNvPr id="14" name="m1-text-283">
            <a:extLst>
              <a:ext uri="{FF2B5EF4-FFF2-40B4-BE49-F238E27FC236}">
                <a16:creationId xmlns:a16="http://schemas.microsoft.com/office/drawing/2014/main" id="{95FB0118-C0E1-48E0-AAE2-1DC02C0D69DF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27500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1-text-28">
            <a:extLst>
              <a:ext uri="{FF2B5EF4-FFF2-40B4-BE49-F238E27FC236}">
                <a16:creationId xmlns:a16="http://schemas.microsoft.com/office/drawing/2014/main" id="{CFF9EBE8-0B0B-45FF-88DD-2AE46BC4691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9">
            <a:extLst>
              <a:ext uri="{FF2B5EF4-FFF2-40B4-BE49-F238E27FC236}">
                <a16:creationId xmlns:a16="http://schemas.microsoft.com/office/drawing/2014/main" id="{2E3D2C75-3703-4E46-A5F0-0C7FCF18C244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30">
            <a:extLst>
              <a:ext uri="{FF2B5EF4-FFF2-40B4-BE49-F238E27FC236}">
                <a16:creationId xmlns:a16="http://schemas.microsoft.com/office/drawing/2014/main" id="{CE26409F-43A3-40BD-8771-B9A7D03BE1D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Perception and Attention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1030D8C-0793-459C-8714-141C684D688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4109156" cy="900113"/>
          </a:xfrm>
          <a:prstGeom prst="roundRect">
            <a:avLst>
              <a:gd name="adj" fmla="val 76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5" name="m1-text-31">
            <a:extLst>
              <a:ext uri="{FF2B5EF4-FFF2-40B4-BE49-F238E27FC236}">
                <a16:creationId xmlns:a16="http://schemas.microsoft.com/office/drawing/2014/main" id="{36FD305D-07B6-44A0-8E7D-F5D5E72F17A5}"/>
              </a:ext>
            </a:extLst>
          </p:cNvPr>
          <p:cNvSpPr>
            <a:spLocks noGrp="1"/>
          </p:cNvSpPr>
          <p:nvPr/>
        </p:nvSpPr>
        <p:spPr>
          <a:xfrm>
            <a:off x="793044" y="2038350"/>
            <a:ext cx="3742267" cy="72866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Perception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interprets incoming signals.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273FBC77-05E4-4FEC-B131-8565890EB4CC}"/>
              </a:ext>
            </a:extLst>
          </p:cNvPr>
          <p:cNvSpPr>
            <a:spLocks noGrp="1"/>
          </p:cNvSpPr>
          <p:nvPr/>
        </p:nvSpPr>
        <p:spPr>
          <a:xfrm>
            <a:off x="609600" y="3024188"/>
            <a:ext cx="4109156" cy="900113"/>
          </a:xfrm>
          <a:prstGeom prst="roundRect">
            <a:avLst>
              <a:gd name="adj" fmla="val 76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32">
            <a:extLst>
              <a:ext uri="{FF2B5EF4-FFF2-40B4-BE49-F238E27FC236}">
                <a16:creationId xmlns:a16="http://schemas.microsoft.com/office/drawing/2014/main" id="{32B45A57-785F-4F5B-B9D4-E8494DBE395A}"/>
              </a:ext>
            </a:extLst>
          </p:cNvPr>
          <p:cNvSpPr>
            <a:spLocks noGrp="1"/>
          </p:cNvSpPr>
          <p:nvPr/>
        </p:nvSpPr>
        <p:spPr>
          <a:xfrm>
            <a:off x="793044" y="3109913"/>
            <a:ext cx="3742267" cy="72866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selects relevant information.</a:t>
            </a: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30611" y="1952498"/>
            <a:ext cx="3503789" cy="1971929"/>
          </a:xfrm>
          <a:prstGeom prst="rect">
            <a:avLst/>
          </a:prstGeom>
        </p:spPr>
      </p:pic>
      <p:sp>
        <p:nvSpPr>
          <p:cNvPr id="9" name="m1-text-284">
            <a:extLst>
              <a:ext uri="{FF2B5EF4-FFF2-40B4-BE49-F238E27FC236}">
                <a16:creationId xmlns:a16="http://schemas.microsoft.com/office/drawing/2014/main" id="{B7491501-E758-4B84-AB57-F14A95AE28F3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836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1-text-33">
            <a:extLst>
              <a:ext uri="{FF2B5EF4-FFF2-40B4-BE49-F238E27FC236}">
                <a16:creationId xmlns:a16="http://schemas.microsoft.com/office/drawing/2014/main" id="{9559A985-2CDF-490D-8070-24B00D79174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34">
            <a:extLst>
              <a:ext uri="{FF2B5EF4-FFF2-40B4-BE49-F238E27FC236}">
                <a16:creationId xmlns:a16="http://schemas.microsoft.com/office/drawing/2014/main" id="{3DC6E794-739C-4796-97D1-2C19CC918FBB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35">
            <a:extLst>
              <a:ext uri="{FF2B5EF4-FFF2-40B4-BE49-F238E27FC236}">
                <a16:creationId xmlns:a16="http://schemas.microsoft.com/office/drawing/2014/main" id="{198D3CB6-3301-4BF3-A821-2EFBFFB20F4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Memory, Learning and Reasoning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05EA514-0448-4DCA-A4BA-04F12F7ADAFD}"/>
              </a:ext>
            </a:extLst>
          </p:cNvPr>
          <p:cNvSpPr>
            <a:spLocks noGrp="1"/>
          </p:cNvSpPr>
          <p:nvPr/>
        </p:nvSpPr>
        <p:spPr>
          <a:xfrm>
            <a:off x="609600" y="1729740"/>
            <a:ext cx="4109156" cy="805815"/>
          </a:xfrm>
          <a:prstGeom prst="roundRect">
            <a:avLst>
              <a:gd name="adj" fmla="val 851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5" name="m1-text-36">
            <a:extLst>
              <a:ext uri="{FF2B5EF4-FFF2-40B4-BE49-F238E27FC236}">
                <a16:creationId xmlns:a16="http://schemas.microsoft.com/office/drawing/2014/main" id="{4E7BE5BB-074F-42BB-A4E5-F6E1035FABA2}"/>
              </a:ext>
            </a:extLst>
          </p:cNvPr>
          <p:cNvSpPr>
            <a:spLocks noGrp="1"/>
          </p:cNvSpPr>
          <p:nvPr/>
        </p:nvSpPr>
        <p:spPr>
          <a:xfrm>
            <a:off x="793044" y="1815465"/>
            <a:ext cx="3742267" cy="6343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Memory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retains information.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32EDCDF-0325-4ACF-993A-ED79B73D7155}"/>
              </a:ext>
            </a:extLst>
          </p:cNvPr>
          <p:cNvSpPr>
            <a:spLocks noGrp="1"/>
          </p:cNvSpPr>
          <p:nvPr/>
        </p:nvSpPr>
        <p:spPr>
          <a:xfrm>
            <a:off x="609600" y="2655570"/>
            <a:ext cx="4109156" cy="805815"/>
          </a:xfrm>
          <a:prstGeom prst="roundRect">
            <a:avLst>
              <a:gd name="adj" fmla="val 851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37">
            <a:extLst>
              <a:ext uri="{FF2B5EF4-FFF2-40B4-BE49-F238E27FC236}">
                <a16:creationId xmlns:a16="http://schemas.microsoft.com/office/drawing/2014/main" id="{9895E933-9F8C-4386-9A03-B4F679EF64B8}"/>
              </a:ext>
            </a:extLst>
          </p:cNvPr>
          <p:cNvSpPr>
            <a:spLocks noGrp="1"/>
          </p:cNvSpPr>
          <p:nvPr/>
        </p:nvSpPr>
        <p:spPr>
          <a:xfrm>
            <a:off x="793044" y="2741295"/>
            <a:ext cx="3742267" cy="6343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Learning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updates knowledge and skills.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477E58B-965A-4F51-9DBB-8B505C8CB910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4109156" cy="805815"/>
          </a:xfrm>
          <a:prstGeom prst="roundRect">
            <a:avLst>
              <a:gd name="adj" fmla="val 851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9" name="m1-text-38">
            <a:extLst>
              <a:ext uri="{FF2B5EF4-FFF2-40B4-BE49-F238E27FC236}">
                <a16:creationId xmlns:a16="http://schemas.microsoft.com/office/drawing/2014/main" id="{33B1EBC3-59FC-426E-938B-1D217BBCAFD3}"/>
              </a:ext>
            </a:extLst>
          </p:cNvPr>
          <p:cNvSpPr>
            <a:spLocks noGrp="1"/>
          </p:cNvSpPr>
          <p:nvPr/>
        </p:nvSpPr>
        <p:spPr>
          <a:xfrm>
            <a:off x="793044" y="3667125"/>
            <a:ext cx="3742267" cy="6343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Reasoning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uses information to draw conclusions.</a:t>
            </a:r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30611" y="1952498"/>
            <a:ext cx="3503789" cy="1971929"/>
          </a:xfrm>
          <a:prstGeom prst="rect">
            <a:avLst/>
          </a:prstGeom>
        </p:spPr>
      </p:pic>
      <p:sp>
        <p:nvSpPr>
          <p:cNvPr id="11" name="m1-text-285">
            <a:extLst>
              <a:ext uri="{FF2B5EF4-FFF2-40B4-BE49-F238E27FC236}">
                <a16:creationId xmlns:a16="http://schemas.microsoft.com/office/drawing/2014/main" id="{A32BD00D-EC2B-4A0F-B35E-92D3189C3C80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1527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1-text-39">
            <a:extLst>
              <a:ext uri="{FF2B5EF4-FFF2-40B4-BE49-F238E27FC236}">
                <a16:creationId xmlns:a16="http://schemas.microsoft.com/office/drawing/2014/main" id="{67D74973-D238-4DA9-A69E-28251D8E449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40">
            <a:extLst>
              <a:ext uri="{FF2B5EF4-FFF2-40B4-BE49-F238E27FC236}">
                <a16:creationId xmlns:a16="http://schemas.microsoft.com/office/drawing/2014/main" id="{91DC9230-FD84-4257-A538-3D1BD991E3E7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41">
            <a:extLst>
              <a:ext uri="{FF2B5EF4-FFF2-40B4-BE49-F238E27FC236}">
                <a16:creationId xmlns:a16="http://schemas.microsoft.com/office/drawing/2014/main" id="{718EB5C2-3993-4D57-AA18-BE0174AC423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Decision-Making and Action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0968AEDE-5E31-499E-A83F-3D00ADFDA63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4109156" cy="900113"/>
          </a:xfrm>
          <a:prstGeom prst="roundRect">
            <a:avLst>
              <a:gd name="adj" fmla="val 76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5" name="m1-text-42">
            <a:extLst>
              <a:ext uri="{FF2B5EF4-FFF2-40B4-BE49-F238E27FC236}">
                <a16:creationId xmlns:a16="http://schemas.microsoft.com/office/drawing/2014/main" id="{9A9FED45-0036-4AFC-B12E-2969251C7A53}"/>
              </a:ext>
            </a:extLst>
          </p:cNvPr>
          <p:cNvSpPr>
            <a:spLocks noGrp="1"/>
          </p:cNvSpPr>
          <p:nvPr/>
        </p:nvSpPr>
        <p:spPr>
          <a:xfrm>
            <a:off x="793044" y="2038350"/>
            <a:ext cx="3742267" cy="72866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Decision-making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selects a course of action.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9F65DB1-D25B-4D7A-A7FD-A8808AE33897}"/>
              </a:ext>
            </a:extLst>
          </p:cNvPr>
          <p:cNvSpPr>
            <a:spLocks noGrp="1"/>
          </p:cNvSpPr>
          <p:nvPr/>
        </p:nvSpPr>
        <p:spPr>
          <a:xfrm>
            <a:off x="609600" y="3024188"/>
            <a:ext cx="4109156" cy="900113"/>
          </a:xfrm>
          <a:prstGeom prst="roundRect">
            <a:avLst>
              <a:gd name="adj" fmla="val 76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43">
            <a:extLst>
              <a:ext uri="{FF2B5EF4-FFF2-40B4-BE49-F238E27FC236}">
                <a16:creationId xmlns:a16="http://schemas.microsoft.com/office/drawing/2014/main" id="{BF97F48F-4F35-4C95-A160-50DAACE7B11A}"/>
              </a:ext>
            </a:extLst>
          </p:cNvPr>
          <p:cNvSpPr>
            <a:spLocks noGrp="1"/>
          </p:cNvSpPr>
          <p:nvPr/>
        </p:nvSpPr>
        <p:spPr>
          <a:xfrm>
            <a:off x="793044" y="3109913"/>
            <a:ext cx="3742267" cy="72866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Action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carries it out in the environment.</a:t>
            </a:r>
          </a:p>
        </p:txBody>
      </p:sp>
      <p:pic>
        <p:nvPicPr>
          <p:cNvPr id="18" name="Immagin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30611" y="1866773"/>
            <a:ext cx="3503789" cy="1971929"/>
          </a:xfrm>
          <a:prstGeom prst="rect">
            <a:avLst/>
          </a:prstGeom>
        </p:spPr>
      </p:pic>
      <p:sp>
        <p:nvSpPr>
          <p:cNvPr id="9" name="organization-question-sticker">
            <a:extLst>
              <a:ext uri="{FF2B5EF4-FFF2-40B4-BE49-F238E27FC236}">
                <a16:creationId xmlns:a16="http://schemas.microsoft.com/office/drawing/2014/main" id="{509C9EDF-E0F7-41EB-BDB2-DDE1194C3F49}"/>
              </a:ext>
            </a:extLst>
          </p:cNvPr>
          <p:cNvSpPr>
            <a:spLocks noGrp="1"/>
          </p:cNvSpPr>
          <p:nvPr/>
        </p:nvSpPr>
        <p:spPr>
          <a:xfrm>
            <a:off x="1270000" y="4010025"/>
            <a:ext cx="6604000" cy="514350"/>
          </a:xfrm>
          <a:prstGeom prst="roundRect">
            <a:avLst>
              <a:gd name="adj" fmla="val 10000"/>
            </a:avLst>
          </a:prstGeom>
          <a:solidFill>
            <a:srgbClr val="D9A06B"/>
          </a:solidFill>
          <a:ln w="9525">
            <a:solidFill>
              <a:srgbClr val="D9A06B"/>
            </a:solidFill>
          </a:ln>
        </p:spPr>
        <p:txBody>
          <a:bodyPr wrap="square" lIns="152400" tIns="19050" rIns="152400" bIns="19050" anchor="ctr">
            <a:noAutofit/>
          </a:bodyPr>
          <a:lstStyle/>
          <a:p>
            <a:pPr algn="ctr">
              <a:defRPr sz="1650" b="0">
                <a:solidFill>
                  <a:srgbClr val="0A0D1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A0D14"/>
                </a:solidFill>
                <a:latin typeface="Calibri"/>
                <a:ea typeface="Calibri"/>
                <a:cs typeface="Calibri"/>
              </a:rPr>
              <a:t>How can we organize these processes</a:t>
            </a:r>
          </a:p>
          <a:p>
            <a:pPr algn="ctr">
              <a:defRPr sz="1650" b="0">
                <a:solidFill>
                  <a:srgbClr val="0A0D1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A0D14"/>
                </a:solidFill>
                <a:latin typeface="Calibri"/>
                <a:ea typeface="Calibri"/>
                <a:cs typeface="Calibri"/>
              </a:rPr>
              <a:t>in virtual agents and humans?</a:t>
            </a:r>
          </a:p>
        </p:txBody>
      </p:sp>
      <p:sp>
        <p:nvSpPr>
          <p:cNvPr id="10" name="m1-text-286">
            <a:extLst>
              <a:ext uri="{FF2B5EF4-FFF2-40B4-BE49-F238E27FC236}">
                <a16:creationId xmlns:a16="http://schemas.microsoft.com/office/drawing/2014/main" id="{AFBE857F-9F76-4AF4-9DFB-BD114B600A7E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740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1-text-44">
            <a:extLst>
              <a:ext uri="{FF2B5EF4-FFF2-40B4-BE49-F238E27FC236}">
                <a16:creationId xmlns:a16="http://schemas.microsoft.com/office/drawing/2014/main" id="{A438009A-46F9-4086-BDFC-076072C5B79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45">
            <a:extLst>
              <a:ext uri="{FF2B5EF4-FFF2-40B4-BE49-F238E27FC236}">
                <a16:creationId xmlns:a16="http://schemas.microsoft.com/office/drawing/2014/main" id="{4F716488-D38B-497A-8B3E-EC6FD84219A4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46">
            <a:extLst>
              <a:ext uri="{FF2B5EF4-FFF2-40B4-BE49-F238E27FC236}">
                <a16:creationId xmlns:a16="http://schemas.microsoft.com/office/drawing/2014/main" id="{B3D98031-63A5-43B9-9D59-717552ADAB8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Perceive–Reason–Act Loop</a:t>
            </a:r>
          </a:p>
        </p:txBody>
      </p:sp>
      <p:sp>
        <p:nvSpPr>
          <p:cNvPr id="4" name="m1-text-47">
            <a:extLst>
              <a:ext uri="{FF2B5EF4-FFF2-40B4-BE49-F238E27FC236}">
                <a16:creationId xmlns:a16="http://schemas.microsoft.com/office/drawing/2014/main" id="{79004F27-7E7C-4BA6-A88C-1E5356ECA689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924800" cy="48863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cognitive architecture coordinates these processes over time. [2]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AD9A85E-35B7-47E9-BD46-0E3496563B6C}"/>
              </a:ext>
            </a:extLst>
          </p:cNvPr>
          <p:cNvSpPr>
            <a:spLocks noGrp="1"/>
          </p:cNvSpPr>
          <p:nvPr/>
        </p:nvSpPr>
        <p:spPr>
          <a:xfrm>
            <a:off x="609600" y="2046923"/>
            <a:ext cx="2256367" cy="1131570"/>
          </a:xfrm>
          <a:prstGeom prst="roundRect">
            <a:avLst>
              <a:gd name="adj" fmla="val 6061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6" name="m1-text-48">
            <a:extLst>
              <a:ext uri="{FF2B5EF4-FFF2-40B4-BE49-F238E27FC236}">
                <a16:creationId xmlns:a16="http://schemas.microsoft.com/office/drawing/2014/main" id="{A736E7BB-3E0B-4C54-BBEB-EE22C2B7875A}"/>
              </a:ext>
            </a:extLst>
          </p:cNvPr>
          <p:cNvSpPr>
            <a:spLocks noGrp="1"/>
          </p:cNvSpPr>
          <p:nvPr/>
        </p:nvSpPr>
        <p:spPr>
          <a:xfrm>
            <a:off x="756356" y="2158365"/>
            <a:ext cx="1962856" cy="3000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Perceive</a:t>
            </a:r>
          </a:p>
        </p:txBody>
      </p:sp>
      <p:sp>
        <p:nvSpPr>
          <p:cNvPr id="7" name="m1-text-49">
            <a:extLst>
              <a:ext uri="{FF2B5EF4-FFF2-40B4-BE49-F238E27FC236}">
                <a16:creationId xmlns:a16="http://schemas.microsoft.com/office/drawing/2014/main" id="{46A7E1BD-3DE1-4AB5-96CE-EE4CD7F0F8B3}"/>
              </a:ext>
            </a:extLst>
          </p:cNvPr>
          <p:cNvSpPr>
            <a:spLocks noGrp="1"/>
          </p:cNvSpPr>
          <p:nvPr/>
        </p:nvSpPr>
        <p:spPr>
          <a:xfrm>
            <a:off x="756356" y="2518410"/>
            <a:ext cx="1962856" cy="6172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Voice, text and</a:t>
            </a:r>
          </a:p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world-state input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48399BE1-0227-4ABA-B775-D4B2048225A8}"/>
              </a:ext>
            </a:extLst>
          </p:cNvPr>
          <p:cNvSpPr>
            <a:spLocks noGrp="1"/>
          </p:cNvSpPr>
          <p:nvPr/>
        </p:nvSpPr>
        <p:spPr>
          <a:xfrm>
            <a:off x="3443817" y="2046923"/>
            <a:ext cx="2256367" cy="1131570"/>
          </a:xfrm>
          <a:prstGeom prst="roundRect">
            <a:avLst>
              <a:gd name="adj" fmla="val 6061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9" name="m1-text-50">
            <a:extLst>
              <a:ext uri="{FF2B5EF4-FFF2-40B4-BE49-F238E27FC236}">
                <a16:creationId xmlns:a16="http://schemas.microsoft.com/office/drawing/2014/main" id="{EC69859E-AA5E-4458-B83E-45B34D5F6850}"/>
              </a:ext>
            </a:extLst>
          </p:cNvPr>
          <p:cNvSpPr>
            <a:spLocks noGrp="1"/>
          </p:cNvSpPr>
          <p:nvPr/>
        </p:nvSpPr>
        <p:spPr>
          <a:xfrm>
            <a:off x="3590572" y="2158365"/>
            <a:ext cx="1962856" cy="3000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Reason</a:t>
            </a:r>
          </a:p>
        </p:txBody>
      </p:sp>
      <p:sp>
        <p:nvSpPr>
          <p:cNvPr id="10" name="m1-text-51">
            <a:extLst>
              <a:ext uri="{FF2B5EF4-FFF2-40B4-BE49-F238E27FC236}">
                <a16:creationId xmlns:a16="http://schemas.microsoft.com/office/drawing/2014/main" id="{74289CB6-13AD-481A-854E-4C7EE465C90A}"/>
              </a:ext>
            </a:extLst>
          </p:cNvPr>
          <p:cNvSpPr>
            <a:spLocks noGrp="1"/>
          </p:cNvSpPr>
          <p:nvPr/>
        </p:nvSpPr>
        <p:spPr>
          <a:xfrm>
            <a:off x="3590572" y="2518410"/>
            <a:ext cx="1962856" cy="6172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Interpret information</a:t>
            </a:r>
          </a:p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decide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524F26E-AD17-43DC-89E4-7D4260DF349C}"/>
              </a:ext>
            </a:extLst>
          </p:cNvPr>
          <p:cNvSpPr>
            <a:spLocks noGrp="1"/>
          </p:cNvSpPr>
          <p:nvPr/>
        </p:nvSpPr>
        <p:spPr>
          <a:xfrm>
            <a:off x="6278033" y="2046923"/>
            <a:ext cx="2256367" cy="1131570"/>
          </a:xfrm>
          <a:prstGeom prst="roundRect">
            <a:avLst>
              <a:gd name="adj" fmla="val 6061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12" name="m1-text-52">
            <a:extLst>
              <a:ext uri="{FF2B5EF4-FFF2-40B4-BE49-F238E27FC236}">
                <a16:creationId xmlns:a16="http://schemas.microsoft.com/office/drawing/2014/main" id="{1365CF17-8D5C-4068-B073-A004382E649E}"/>
              </a:ext>
            </a:extLst>
          </p:cNvPr>
          <p:cNvSpPr>
            <a:spLocks noGrp="1"/>
          </p:cNvSpPr>
          <p:nvPr/>
        </p:nvSpPr>
        <p:spPr>
          <a:xfrm>
            <a:off x="6424789" y="2158365"/>
            <a:ext cx="1962856" cy="3000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Act</a:t>
            </a:r>
          </a:p>
        </p:txBody>
      </p:sp>
      <p:sp>
        <p:nvSpPr>
          <p:cNvPr id="13" name="m1-text-53">
            <a:extLst>
              <a:ext uri="{FF2B5EF4-FFF2-40B4-BE49-F238E27FC236}">
                <a16:creationId xmlns:a16="http://schemas.microsoft.com/office/drawing/2014/main" id="{1E188288-6380-4EE3-B525-2F9CE77FD0E4}"/>
              </a:ext>
            </a:extLst>
          </p:cNvPr>
          <p:cNvSpPr>
            <a:spLocks noGrp="1"/>
          </p:cNvSpPr>
          <p:nvPr/>
        </p:nvSpPr>
        <p:spPr>
          <a:xfrm>
            <a:off x="6424789" y="2518410"/>
            <a:ext cx="1962856" cy="6172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Speech, gestures</a:t>
            </a:r>
          </a:p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tool calls</a:t>
            </a:r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F167C777-809F-4435-917E-6CD1DFFDD03D}"/>
              </a:ext>
            </a:extLst>
          </p:cNvPr>
          <p:cNvSpPr>
            <a:spLocks noGrp="1"/>
          </p:cNvSpPr>
          <p:nvPr/>
        </p:nvSpPr>
        <p:spPr>
          <a:xfrm>
            <a:off x="2985206" y="2552700"/>
            <a:ext cx="330200" cy="120015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111F2EAC-F4F3-4322-92B5-DA77B567D00B}"/>
              </a:ext>
            </a:extLst>
          </p:cNvPr>
          <p:cNvSpPr>
            <a:spLocks noGrp="1"/>
          </p:cNvSpPr>
          <p:nvPr/>
        </p:nvSpPr>
        <p:spPr>
          <a:xfrm>
            <a:off x="5819422" y="2552700"/>
            <a:ext cx="330200" cy="120015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6" name="Freccia in su 15">
            <a:extLst>
              <a:ext uri="{FF2B5EF4-FFF2-40B4-BE49-F238E27FC236}">
                <a16:creationId xmlns:a16="http://schemas.microsoft.com/office/drawing/2014/main" id="{3330EB63-E1FE-4FA4-89E5-407036024398}"/>
              </a:ext>
            </a:extLst>
          </p:cNvPr>
          <p:cNvSpPr>
            <a:spLocks noGrp="1"/>
          </p:cNvSpPr>
          <p:nvPr/>
        </p:nvSpPr>
        <p:spPr>
          <a:xfrm>
            <a:off x="1673578" y="3187065"/>
            <a:ext cx="146756" cy="634365"/>
          </a:xfrm>
          <a:prstGeom prst="up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754AD290-2DC4-4C4C-BA1A-32575AF26BED}"/>
              </a:ext>
            </a:extLst>
          </p:cNvPr>
          <p:cNvSpPr>
            <a:spLocks noGrp="1"/>
          </p:cNvSpPr>
          <p:nvPr/>
        </p:nvSpPr>
        <p:spPr>
          <a:xfrm>
            <a:off x="7323667" y="3187065"/>
            <a:ext cx="146756" cy="634365"/>
          </a:xfrm>
          <a:prstGeom prst="down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8" name="environment">
            <a:extLst>
              <a:ext uri="{FF2B5EF4-FFF2-40B4-BE49-F238E27FC236}">
                <a16:creationId xmlns:a16="http://schemas.microsoft.com/office/drawing/2014/main" id="{F4266587-F5F3-43EC-996E-4534D82F1DBE}"/>
              </a:ext>
            </a:extLst>
          </p:cNvPr>
          <p:cNvSpPr>
            <a:spLocks noGrp="1"/>
          </p:cNvSpPr>
          <p:nvPr/>
        </p:nvSpPr>
        <p:spPr>
          <a:xfrm>
            <a:off x="609600" y="3830003"/>
            <a:ext cx="7924800" cy="548640"/>
          </a:xfrm>
          <a:prstGeom prst="roundRect">
            <a:avLst>
              <a:gd name="adj" fmla="val 12500"/>
            </a:avLst>
          </a:prstGeom>
          <a:solidFill>
            <a:srgbClr val="141A26"/>
          </a:solidFill>
          <a:ln w="9525">
            <a:solidFill>
              <a:srgbClr val="B4BDCB"/>
            </a:solidFill>
          </a:ln>
        </p:spPr>
      </p:sp>
      <p:sp>
        <p:nvSpPr>
          <p:cNvPr id="19" name="m1-text-54">
            <a:extLst>
              <a:ext uri="{FF2B5EF4-FFF2-40B4-BE49-F238E27FC236}">
                <a16:creationId xmlns:a16="http://schemas.microsoft.com/office/drawing/2014/main" id="{80B23E96-6F31-40E0-92B8-E6C198433B2C}"/>
              </a:ext>
            </a:extLst>
          </p:cNvPr>
          <p:cNvSpPr>
            <a:spLocks noGrp="1"/>
          </p:cNvSpPr>
          <p:nvPr/>
        </p:nvSpPr>
        <p:spPr>
          <a:xfrm>
            <a:off x="793044" y="3958590"/>
            <a:ext cx="2201333" cy="30861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20" name="m1-text-55">
            <a:extLst>
              <a:ext uri="{FF2B5EF4-FFF2-40B4-BE49-F238E27FC236}">
                <a16:creationId xmlns:a16="http://schemas.microsoft.com/office/drawing/2014/main" id="{F756DA26-24F0-4DA0-8656-A9ADA2974B90}"/>
              </a:ext>
            </a:extLst>
          </p:cNvPr>
          <p:cNvSpPr>
            <a:spLocks noGrp="1"/>
          </p:cNvSpPr>
          <p:nvPr/>
        </p:nvSpPr>
        <p:spPr>
          <a:xfrm>
            <a:off x="3196167" y="4001453"/>
            <a:ext cx="5136444" cy="24860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Users, virtual worlds and connected tools</a:t>
            </a:r>
          </a:p>
        </p:txBody>
      </p:sp>
      <p:sp>
        <p:nvSpPr>
          <p:cNvPr id="21" name="m1-text-287">
            <a:extLst>
              <a:ext uri="{FF2B5EF4-FFF2-40B4-BE49-F238E27FC236}">
                <a16:creationId xmlns:a16="http://schemas.microsoft.com/office/drawing/2014/main" id="{FB91245F-189F-4F4D-ADFC-2A41B1F35B60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6406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m1-text-56">
            <a:extLst>
              <a:ext uri="{FF2B5EF4-FFF2-40B4-BE49-F238E27FC236}">
                <a16:creationId xmlns:a16="http://schemas.microsoft.com/office/drawing/2014/main" id="{37F12E05-93AB-4D05-AF51-41E3BFB2FD8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57">
            <a:extLst>
              <a:ext uri="{FF2B5EF4-FFF2-40B4-BE49-F238E27FC236}">
                <a16:creationId xmlns:a16="http://schemas.microsoft.com/office/drawing/2014/main" id="{E4DEFF3E-E676-44FA-AF90-25A39110FEAD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58">
            <a:extLst>
              <a:ext uri="{FF2B5EF4-FFF2-40B4-BE49-F238E27FC236}">
                <a16:creationId xmlns:a16="http://schemas.microsoft.com/office/drawing/2014/main" id="{32E8303E-A9A9-4775-AB18-F87A28921B6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 at the Core</a:t>
            </a:r>
          </a:p>
        </p:txBody>
      </p:sp>
      <p:sp>
        <p:nvSpPr>
          <p:cNvPr id="4" name="m1-text-59">
            <a:extLst>
              <a:ext uri="{FF2B5EF4-FFF2-40B4-BE49-F238E27FC236}">
                <a16:creationId xmlns:a16="http://schemas.microsoft.com/office/drawing/2014/main" id="{53243C38-0FE5-43B7-9096-4E754AC5C773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924800" cy="5314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Reasoning draws on active information and stored knowledge. [2, 4]</a:t>
            </a:r>
          </a:p>
        </p:txBody>
      </p:sp>
      <p:sp>
        <p:nvSpPr>
          <p:cNvPr id="5" name="memory-core">
            <a:extLst>
              <a:ext uri="{FF2B5EF4-FFF2-40B4-BE49-F238E27FC236}">
                <a16:creationId xmlns:a16="http://schemas.microsoft.com/office/drawing/2014/main" id="{B36C8D5C-E3C1-4EE2-BB44-B0FC7CE133CA}"/>
              </a:ext>
            </a:extLst>
          </p:cNvPr>
          <p:cNvSpPr>
            <a:spLocks noGrp="1"/>
          </p:cNvSpPr>
          <p:nvPr/>
        </p:nvSpPr>
        <p:spPr>
          <a:xfrm>
            <a:off x="2003778" y="2038350"/>
            <a:ext cx="5136444" cy="1860233"/>
          </a:xfrm>
          <a:prstGeom prst="roundRect">
            <a:avLst>
              <a:gd name="adj" fmla="val 3687"/>
            </a:avLst>
          </a:prstGeom>
          <a:solidFill>
            <a:srgbClr val="111722"/>
          </a:solidFill>
          <a:ln w="9525">
            <a:solidFill>
              <a:srgbClr val="D9A06B"/>
            </a:solidFill>
          </a:ln>
        </p:spPr>
      </p:sp>
      <p:sp>
        <p:nvSpPr>
          <p:cNvPr id="6" name="m1-text-60">
            <a:extLst>
              <a:ext uri="{FF2B5EF4-FFF2-40B4-BE49-F238E27FC236}">
                <a16:creationId xmlns:a16="http://schemas.microsoft.com/office/drawing/2014/main" id="{AAFB06C8-6C37-4DEA-A5DC-608FD4A34BE2}"/>
              </a:ext>
            </a:extLst>
          </p:cNvPr>
          <p:cNvSpPr>
            <a:spLocks noGrp="1"/>
          </p:cNvSpPr>
          <p:nvPr/>
        </p:nvSpPr>
        <p:spPr>
          <a:xfrm>
            <a:off x="2150533" y="2124075"/>
            <a:ext cx="4842933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 Models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9922757-FD0D-48B5-B52A-94DD3F3B5BA4}"/>
              </a:ext>
            </a:extLst>
          </p:cNvPr>
          <p:cNvSpPr>
            <a:spLocks noGrp="1"/>
          </p:cNvSpPr>
          <p:nvPr/>
        </p:nvSpPr>
        <p:spPr>
          <a:xfrm>
            <a:off x="609600" y="2595563"/>
            <a:ext cx="1210733" cy="960120"/>
          </a:xfrm>
          <a:prstGeom prst="roundRect">
            <a:avLst>
              <a:gd name="adj" fmla="val 7143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8" name="m1-text-61">
            <a:extLst>
              <a:ext uri="{FF2B5EF4-FFF2-40B4-BE49-F238E27FC236}">
                <a16:creationId xmlns:a16="http://schemas.microsoft.com/office/drawing/2014/main" id="{EA1F3672-311B-4923-8392-7E68F2866592}"/>
              </a:ext>
            </a:extLst>
          </p:cNvPr>
          <p:cNvSpPr>
            <a:spLocks noGrp="1"/>
          </p:cNvSpPr>
          <p:nvPr/>
        </p:nvSpPr>
        <p:spPr>
          <a:xfrm>
            <a:off x="719667" y="2707005"/>
            <a:ext cx="990600" cy="3000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Perceive</a:t>
            </a:r>
          </a:p>
        </p:txBody>
      </p:sp>
      <p:sp>
        <p:nvSpPr>
          <p:cNvPr id="9" name="m1-text-62">
            <a:extLst>
              <a:ext uri="{FF2B5EF4-FFF2-40B4-BE49-F238E27FC236}">
                <a16:creationId xmlns:a16="http://schemas.microsoft.com/office/drawing/2014/main" id="{100A4940-50B0-490F-88BF-70F4E41C64D6}"/>
              </a:ext>
            </a:extLst>
          </p:cNvPr>
          <p:cNvSpPr>
            <a:spLocks noGrp="1"/>
          </p:cNvSpPr>
          <p:nvPr/>
        </p:nvSpPr>
        <p:spPr>
          <a:xfrm>
            <a:off x="719667" y="3024188"/>
            <a:ext cx="990600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Incoming</a:t>
            </a:r>
          </a:p>
          <a:p>
            <a:pPr algn="ctr">
              <a:def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information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765CACFB-8FE4-4AA1-BA43-F83DEF1C9606}"/>
              </a:ext>
            </a:extLst>
          </p:cNvPr>
          <p:cNvSpPr>
            <a:spLocks noGrp="1"/>
          </p:cNvSpPr>
          <p:nvPr/>
        </p:nvSpPr>
        <p:spPr>
          <a:xfrm>
            <a:off x="7323667" y="2595563"/>
            <a:ext cx="1210733" cy="960120"/>
          </a:xfrm>
          <a:prstGeom prst="roundRect">
            <a:avLst>
              <a:gd name="adj" fmla="val 7143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11" name="m1-text-63">
            <a:extLst>
              <a:ext uri="{FF2B5EF4-FFF2-40B4-BE49-F238E27FC236}">
                <a16:creationId xmlns:a16="http://schemas.microsoft.com/office/drawing/2014/main" id="{119AA4AF-F424-406B-9E20-9E5B07CE4A39}"/>
              </a:ext>
            </a:extLst>
          </p:cNvPr>
          <p:cNvSpPr>
            <a:spLocks noGrp="1"/>
          </p:cNvSpPr>
          <p:nvPr/>
        </p:nvSpPr>
        <p:spPr>
          <a:xfrm>
            <a:off x="7433733" y="2707005"/>
            <a:ext cx="990600" cy="3000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Act</a:t>
            </a:r>
          </a:p>
        </p:txBody>
      </p:sp>
      <p:sp>
        <p:nvSpPr>
          <p:cNvPr id="12" name="m1-text-64">
            <a:extLst>
              <a:ext uri="{FF2B5EF4-FFF2-40B4-BE49-F238E27FC236}">
                <a16:creationId xmlns:a16="http://schemas.microsoft.com/office/drawing/2014/main" id="{CD894A00-6E22-4E8B-BB8C-43E6C1C5F64F}"/>
              </a:ext>
            </a:extLst>
          </p:cNvPr>
          <p:cNvSpPr>
            <a:spLocks noGrp="1"/>
          </p:cNvSpPr>
          <p:nvPr/>
        </p:nvSpPr>
        <p:spPr>
          <a:xfrm>
            <a:off x="7433733" y="3024188"/>
            <a:ext cx="990600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Responses</a:t>
            </a:r>
          </a:p>
          <a:p>
            <a:pPr algn="ctr">
              <a:def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and actions</a:t>
            </a: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3DD89EDA-4ECE-4A79-8A6F-0B99DF8F5351}"/>
              </a:ext>
            </a:extLst>
          </p:cNvPr>
          <p:cNvSpPr>
            <a:spLocks noGrp="1"/>
          </p:cNvSpPr>
          <p:nvPr/>
        </p:nvSpPr>
        <p:spPr>
          <a:xfrm>
            <a:off x="1857022" y="2989898"/>
            <a:ext cx="201789" cy="111443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DCC89ECC-0107-42F4-AEB5-DB53C95F7040}"/>
              </a:ext>
            </a:extLst>
          </p:cNvPr>
          <p:cNvSpPr>
            <a:spLocks noGrp="1"/>
          </p:cNvSpPr>
          <p:nvPr/>
        </p:nvSpPr>
        <p:spPr>
          <a:xfrm>
            <a:off x="7158567" y="2989898"/>
            <a:ext cx="146756" cy="111443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41C7DCB1-B8CB-43EB-8177-758B86BFC17A}"/>
              </a:ext>
            </a:extLst>
          </p:cNvPr>
          <p:cNvSpPr>
            <a:spLocks noGrp="1"/>
          </p:cNvSpPr>
          <p:nvPr/>
        </p:nvSpPr>
        <p:spPr>
          <a:xfrm>
            <a:off x="2132189" y="2466975"/>
            <a:ext cx="2072922" cy="1328738"/>
          </a:xfrm>
          <a:prstGeom prst="roundRect">
            <a:avLst>
              <a:gd name="adj" fmla="val 3871"/>
            </a:avLst>
          </a:prstGeom>
          <a:solidFill>
            <a:srgbClr val="1B2330"/>
          </a:solidFill>
          <a:ln w="9525">
            <a:solidFill>
              <a:srgbClr val="D9A06B"/>
            </a:solidFill>
          </a:ln>
        </p:spPr>
      </p:sp>
      <p:sp>
        <p:nvSpPr>
          <p:cNvPr id="16" name="m1-text-65">
            <a:extLst>
              <a:ext uri="{FF2B5EF4-FFF2-40B4-BE49-F238E27FC236}">
                <a16:creationId xmlns:a16="http://schemas.microsoft.com/office/drawing/2014/main" id="{DDEF0EA6-47AC-4D14-B3E0-DF27E76E46AE}"/>
              </a:ext>
            </a:extLst>
          </p:cNvPr>
          <p:cNvSpPr>
            <a:spLocks noGrp="1"/>
          </p:cNvSpPr>
          <p:nvPr/>
        </p:nvSpPr>
        <p:spPr>
          <a:xfrm>
            <a:off x="2223911" y="2561273"/>
            <a:ext cx="1889478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Working Memory</a:t>
            </a:r>
          </a:p>
        </p:txBody>
      </p:sp>
      <p:sp>
        <p:nvSpPr>
          <p:cNvPr id="17" name="m1-text-66">
            <a:extLst>
              <a:ext uri="{FF2B5EF4-FFF2-40B4-BE49-F238E27FC236}">
                <a16:creationId xmlns:a16="http://schemas.microsoft.com/office/drawing/2014/main" id="{683F1407-93D6-4512-86D2-6A0F215D161B}"/>
              </a:ext>
            </a:extLst>
          </p:cNvPr>
          <p:cNvSpPr>
            <a:spLocks noGrp="1"/>
          </p:cNvSpPr>
          <p:nvPr/>
        </p:nvSpPr>
        <p:spPr>
          <a:xfrm>
            <a:off x="2223911" y="2835593"/>
            <a:ext cx="1889478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Active information</a:t>
            </a:r>
          </a:p>
        </p:txBody>
      </p:sp>
      <p:sp>
        <p:nvSpPr>
          <p:cNvPr id="18" name="reason-process-loop">
            <a:extLst>
              <a:ext uri="{FF2B5EF4-FFF2-40B4-BE49-F238E27FC236}">
                <a16:creationId xmlns:a16="http://schemas.microsoft.com/office/drawing/2014/main" id="{8209DE85-5B1A-4D79-B67F-EC2E06C15E68}"/>
              </a:ext>
            </a:extLst>
          </p:cNvPr>
          <p:cNvSpPr>
            <a:spLocks noGrp="1"/>
          </p:cNvSpPr>
          <p:nvPr/>
        </p:nvSpPr>
        <p:spPr>
          <a:xfrm>
            <a:off x="2801761" y="3058478"/>
            <a:ext cx="733778" cy="685800"/>
          </a:xfrm>
          <a:custGeom>
            <a:avLst/>
            <a:gdLst/>
            <a:ahLst/>
            <a:cxnLst/>
            <a:rect l="0" t="0" r="0" b="0"/>
            <a:pathLst>
              <a:path w="971550" h="971550">
                <a:moveTo>
                  <a:pt x="890595" y="594246"/>
                </a:moveTo>
                <a:lnTo>
                  <a:pt x="879600" y="629116"/>
                </a:lnTo>
                <a:lnTo>
                  <a:pt x="865609" y="662894"/>
                </a:lnTo>
                <a:lnTo>
                  <a:pt x="848726" y="695325"/>
                </a:lnTo>
                <a:lnTo>
                  <a:pt x="829082" y="726161"/>
                </a:lnTo>
                <a:lnTo>
                  <a:pt x="806824" y="755167"/>
                </a:lnTo>
                <a:lnTo>
                  <a:pt x="782123" y="782123"/>
                </a:lnTo>
                <a:lnTo>
                  <a:pt x="755167" y="806824"/>
                </a:lnTo>
                <a:lnTo>
                  <a:pt x="726161" y="829082"/>
                </a:lnTo>
                <a:lnTo>
                  <a:pt x="695325" y="848726"/>
                </a:lnTo>
                <a:lnTo>
                  <a:pt x="662894" y="865609"/>
                </a:lnTo>
                <a:lnTo>
                  <a:pt x="629116" y="879600"/>
                </a:lnTo>
                <a:lnTo>
                  <a:pt x="594246" y="890595"/>
                </a:lnTo>
                <a:lnTo>
                  <a:pt x="558551" y="898508"/>
                </a:lnTo>
                <a:lnTo>
                  <a:pt x="522302" y="903280"/>
                </a:lnTo>
                <a:lnTo>
                  <a:pt x="485775" y="904875"/>
                </a:lnTo>
                <a:lnTo>
                  <a:pt x="449248" y="903280"/>
                </a:lnTo>
                <a:lnTo>
                  <a:pt x="412999" y="898508"/>
                </a:lnTo>
                <a:lnTo>
                  <a:pt x="377304" y="890595"/>
                </a:lnTo>
                <a:lnTo>
                  <a:pt x="342434" y="879600"/>
                </a:lnTo>
                <a:lnTo>
                  <a:pt x="308656" y="865609"/>
                </a:lnTo>
                <a:lnTo>
                  <a:pt x="276225" y="848726"/>
                </a:lnTo>
                <a:lnTo>
                  <a:pt x="245389" y="829082"/>
                </a:lnTo>
                <a:lnTo>
                  <a:pt x="216383" y="806824"/>
                </a:lnTo>
                <a:lnTo>
                  <a:pt x="189427" y="782123"/>
                </a:lnTo>
                <a:lnTo>
                  <a:pt x="164726" y="755167"/>
                </a:lnTo>
                <a:lnTo>
                  <a:pt x="142468" y="726161"/>
                </a:lnTo>
                <a:lnTo>
                  <a:pt x="122824" y="695325"/>
                </a:lnTo>
                <a:lnTo>
                  <a:pt x="105941" y="662894"/>
                </a:lnTo>
                <a:lnTo>
                  <a:pt x="91950" y="629116"/>
                </a:lnTo>
                <a:lnTo>
                  <a:pt x="80955" y="594246"/>
                </a:lnTo>
                <a:lnTo>
                  <a:pt x="73042" y="558551"/>
                </a:lnTo>
                <a:lnTo>
                  <a:pt x="68270" y="522302"/>
                </a:lnTo>
                <a:lnTo>
                  <a:pt x="66675" y="485775"/>
                </a:lnTo>
                <a:lnTo>
                  <a:pt x="68270" y="449248"/>
                </a:lnTo>
                <a:lnTo>
                  <a:pt x="73042" y="412999"/>
                </a:lnTo>
                <a:lnTo>
                  <a:pt x="80955" y="377304"/>
                </a:lnTo>
                <a:lnTo>
                  <a:pt x="91950" y="342434"/>
                </a:lnTo>
                <a:lnTo>
                  <a:pt x="105941" y="308656"/>
                </a:lnTo>
                <a:lnTo>
                  <a:pt x="122824" y="276225"/>
                </a:lnTo>
                <a:lnTo>
                  <a:pt x="142468" y="245389"/>
                </a:lnTo>
                <a:lnTo>
                  <a:pt x="164726" y="216383"/>
                </a:lnTo>
                <a:lnTo>
                  <a:pt x="189427" y="189427"/>
                </a:lnTo>
                <a:lnTo>
                  <a:pt x="216383" y="164726"/>
                </a:lnTo>
                <a:lnTo>
                  <a:pt x="245389" y="142468"/>
                </a:lnTo>
                <a:lnTo>
                  <a:pt x="276225" y="122824"/>
                </a:lnTo>
                <a:lnTo>
                  <a:pt x="308656" y="105941"/>
                </a:lnTo>
                <a:lnTo>
                  <a:pt x="342434" y="91950"/>
                </a:lnTo>
                <a:lnTo>
                  <a:pt x="377304" y="80955"/>
                </a:lnTo>
                <a:lnTo>
                  <a:pt x="412999" y="73042"/>
                </a:lnTo>
                <a:lnTo>
                  <a:pt x="449248" y="68270"/>
                </a:lnTo>
                <a:lnTo>
                  <a:pt x="485775" y="66675"/>
                </a:lnTo>
                <a:lnTo>
                  <a:pt x="522302" y="68270"/>
                </a:lnTo>
                <a:lnTo>
                  <a:pt x="558551" y="73042"/>
                </a:lnTo>
                <a:lnTo>
                  <a:pt x="594246" y="80955"/>
                </a:lnTo>
                <a:lnTo>
                  <a:pt x="629116" y="91950"/>
                </a:lnTo>
                <a:lnTo>
                  <a:pt x="662894" y="105941"/>
                </a:lnTo>
                <a:lnTo>
                  <a:pt x="695325" y="122824"/>
                </a:lnTo>
                <a:lnTo>
                  <a:pt x="726161" y="142468"/>
                </a:lnTo>
                <a:lnTo>
                  <a:pt x="755167" y="164726"/>
                </a:lnTo>
                <a:lnTo>
                  <a:pt x="782123" y="189427"/>
                </a:lnTo>
                <a:lnTo>
                  <a:pt x="806824" y="216383"/>
                </a:lnTo>
                <a:lnTo>
                  <a:pt x="829082" y="245389"/>
                </a:lnTo>
                <a:lnTo>
                  <a:pt x="848726" y="276225"/>
                </a:lnTo>
                <a:lnTo>
                  <a:pt x="865609" y="308656"/>
                </a:lnTo>
                <a:lnTo>
                  <a:pt x="879600" y="342434"/>
                </a:lnTo>
                <a:lnTo>
                  <a:pt x="890595" y="377304"/>
                </a:lnTo>
              </a:path>
            </a:pathLst>
          </a:custGeom>
          <a:noFill/>
          <a:ln w="28575">
            <a:solidFill>
              <a:srgbClr val="7FA8E3"/>
            </a:solidFill>
          </a:ln>
        </p:spPr>
      </p:sp>
      <p:sp>
        <p:nvSpPr>
          <p:cNvPr id="19" name="reason-process-loop-head">
            <a:extLst>
              <a:ext uri="{FF2B5EF4-FFF2-40B4-BE49-F238E27FC236}">
                <a16:creationId xmlns:a16="http://schemas.microsoft.com/office/drawing/2014/main" id="{C6134F3F-D51D-45D9-B65F-46D226B859F1}"/>
              </a:ext>
            </a:extLst>
          </p:cNvPr>
          <p:cNvSpPr>
            <a:spLocks noGrp="1"/>
          </p:cNvSpPr>
          <p:nvPr/>
        </p:nvSpPr>
        <p:spPr>
          <a:xfrm>
            <a:off x="2801761" y="3058478"/>
            <a:ext cx="733778" cy="685800"/>
          </a:xfrm>
          <a:custGeom>
            <a:avLst/>
            <a:gdLst/>
            <a:ahLst/>
            <a:cxnLst/>
            <a:rect l="0" t="0" r="0" b="0"/>
            <a:pathLst>
              <a:path w="971550" h="971550">
                <a:moveTo>
                  <a:pt x="904875" y="495300"/>
                </a:moveTo>
                <a:lnTo>
                  <a:pt x="800100" y="342900"/>
                </a:lnTo>
                <a:lnTo>
                  <a:pt x="962025" y="304800"/>
                </a:lnTo>
                <a:close/>
              </a:path>
            </a:pathLst>
          </a:custGeom>
          <a:solidFill>
            <a:srgbClr val="7FA8E3"/>
          </a:solidFill>
          <a:ln w="0">
            <a:noFill/>
          </a:ln>
        </p:spPr>
      </p:sp>
      <p:sp>
        <p:nvSpPr>
          <p:cNvPr id="20" name="m1-text-67">
            <a:extLst>
              <a:ext uri="{FF2B5EF4-FFF2-40B4-BE49-F238E27FC236}">
                <a16:creationId xmlns:a16="http://schemas.microsoft.com/office/drawing/2014/main" id="{610FF10D-076F-41CE-BA8C-3431B9BD173D}"/>
              </a:ext>
            </a:extLst>
          </p:cNvPr>
          <p:cNvSpPr>
            <a:spLocks noGrp="1"/>
          </p:cNvSpPr>
          <p:nvPr/>
        </p:nvSpPr>
        <p:spPr>
          <a:xfrm>
            <a:off x="2774244" y="3229928"/>
            <a:ext cx="788811" cy="35147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Reasoning</a:t>
            </a:r>
          </a:p>
          <a:p>
            <a:pPr algn="ctr"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...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FA1F7E96-CAFE-4012-BFA5-488639992A0B}"/>
              </a:ext>
            </a:extLst>
          </p:cNvPr>
          <p:cNvSpPr>
            <a:spLocks noGrp="1"/>
          </p:cNvSpPr>
          <p:nvPr/>
        </p:nvSpPr>
        <p:spPr>
          <a:xfrm>
            <a:off x="4938889" y="2466975"/>
            <a:ext cx="2072922" cy="1328738"/>
          </a:xfrm>
          <a:prstGeom prst="roundRect">
            <a:avLst>
              <a:gd name="adj" fmla="val 3871"/>
            </a:avLst>
          </a:prstGeom>
          <a:solidFill>
            <a:srgbClr val="1B2330"/>
          </a:solidFill>
          <a:ln w="9525">
            <a:solidFill>
              <a:srgbClr val="D9A06B"/>
            </a:solidFill>
          </a:ln>
        </p:spPr>
      </p:sp>
      <p:sp>
        <p:nvSpPr>
          <p:cNvPr id="22" name="m1-text-68">
            <a:extLst>
              <a:ext uri="{FF2B5EF4-FFF2-40B4-BE49-F238E27FC236}">
                <a16:creationId xmlns:a16="http://schemas.microsoft.com/office/drawing/2014/main" id="{FC64303C-301B-48AD-86B8-CBC6F7ABA15D}"/>
              </a:ext>
            </a:extLst>
          </p:cNvPr>
          <p:cNvSpPr>
            <a:spLocks noGrp="1"/>
          </p:cNvSpPr>
          <p:nvPr/>
        </p:nvSpPr>
        <p:spPr>
          <a:xfrm>
            <a:off x="5030611" y="2561273"/>
            <a:ext cx="1889478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Long-Term Memory</a:t>
            </a:r>
          </a:p>
        </p:txBody>
      </p:sp>
      <p:sp>
        <p:nvSpPr>
          <p:cNvPr id="23" name="m1-text-69">
            <a:extLst>
              <a:ext uri="{FF2B5EF4-FFF2-40B4-BE49-F238E27FC236}">
                <a16:creationId xmlns:a16="http://schemas.microsoft.com/office/drawing/2014/main" id="{FCD2A20F-9579-46B1-AD69-801993EAB9F2}"/>
              </a:ext>
            </a:extLst>
          </p:cNvPr>
          <p:cNvSpPr>
            <a:spLocks noGrp="1"/>
          </p:cNvSpPr>
          <p:nvPr/>
        </p:nvSpPr>
        <p:spPr>
          <a:xfrm>
            <a:off x="5030611" y="3041333"/>
            <a:ext cx="1889478" cy="48863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Knowledge and</a:t>
            </a:r>
          </a:p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experience</a:t>
            </a:r>
          </a:p>
        </p:txBody>
      </p:sp>
      <p:sp>
        <p:nvSpPr>
          <p:cNvPr id="24" name="m1-text-70">
            <a:extLst>
              <a:ext uri="{FF2B5EF4-FFF2-40B4-BE49-F238E27FC236}">
                <a16:creationId xmlns:a16="http://schemas.microsoft.com/office/drawing/2014/main" id="{DA1E4A0F-E99D-429D-B235-8CD495629F1D}"/>
              </a:ext>
            </a:extLst>
          </p:cNvPr>
          <p:cNvSpPr>
            <a:spLocks noGrp="1"/>
          </p:cNvSpPr>
          <p:nvPr/>
        </p:nvSpPr>
        <p:spPr>
          <a:xfrm>
            <a:off x="4214283" y="2621280"/>
            <a:ext cx="715433" cy="2057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67C30C79-3CD2-43C9-8805-F1AADF4C479F}"/>
              </a:ext>
            </a:extLst>
          </p:cNvPr>
          <p:cNvSpPr>
            <a:spLocks noGrp="1"/>
          </p:cNvSpPr>
          <p:nvPr/>
        </p:nvSpPr>
        <p:spPr>
          <a:xfrm rot="10800000">
            <a:off x="4333522" y="2887028"/>
            <a:ext cx="476956" cy="120015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6540A3D3-5BFE-47DE-84DC-6FF2F6C3EBA2}"/>
              </a:ext>
            </a:extLst>
          </p:cNvPr>
          <p:cNvSpPr>
            <a:spLocks noGrp="1"/>
          </p:cNvSpPr>
          <p:nvPr/>
        </p:nvSpPr>
        <p:spPr>
          <a:xfrm>
            <a:off x="4333522" y="3341370"/>
            <a:ext cx="476956" cy="120015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27" name="m1-text-71">
            <a:extLst>
              <a:ext uri="{FF2B5EF4-FFF2-40B4-BE49-F238E27FC236}">
                <a16:creationId xmlns:a16="http://schemas.microsoft.com/office/drawing/2014/main" id="{78C8EAC1-D535-4593-994E-4870534CFCF6}"/>
              </a:ext>
            </a:extLst>
          </p:cNvPr>
          <p:cNvSpPr>
            <a:spLocks noGrp="1"/>
          </p:cNvSpPr>
          <p:nvPr/>
        </p:nvSpPr>
        <p:spPr>
          <a:xfrm>
            <a:off x="4214283" y="3521393"/>
            <a:ext cx="715433" cy="2057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Transfer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7004A36B-1C7F-49E6-A7A4-9EB6DEBB96C1}"/>
              </a:ext>
            </a:extLst>
          </p:cNvPr>
          <p:cNvSpPr>
            <a:spLocks noGrp="1"/>
          </p:cNvSpPr>
          <p:nvPr/>
        </p:nvSpPr>
        <p:spPr>
          <a:xfrm>
            <a:off x="609600" y="3992880"/>
            <a:ext cx="7924800" cy="582930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29" name="m1-text-72">
            <a:extLst>
              <a:ext uri="{FF2B5EF4-FFF2-40B4-BE49-F238E27FC236}">
                <a16:creationId xmlns:a16="http://schemas.microsoft.com/office/drawing/2014/main" id="{D66CBA8E-DAD2-48BD-BA54-44B66593335C}"/>
              </a:ext>
            </a:extLst>
          </p:cNvPr>
          <p:cNvSpPr>
            <a:spLocks noGrp="1"/>
          </p:cNvSpPr>
          <p:nvPr/>
        </p:nvSpPr>
        <p:spPr>
          <a:xfrm>
            <a:off x="756356" y="3992880"/>
            <a:ext cx="7631289" cy="5829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 models form a core part of the cognitive loop.</a:t>
            </a:r>
          </a:p>
          <a:p>
            <a:pPr algn="ctr"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Psychology provides inspiration for their design.</a:t>
            </a:r>
          </a:p>
        </p:txBody>
      </p:sp>
      <p:sp>
        <p:nvSpPr>
          <p:cNvPr id="30" name="m1-text-288">
            <a:extLst>
              <a:ext uri="{FF2B5EF4-FFF2-40B4-BE49-F238E27FC236}">
                <a16:creationId xmlns:a16="http://schemas.microsoft.com/office/drawing/2014/main" id="{9AF89108-CCA0-4850-8D67-394E6781E066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0099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m1-text-73">
            <a:extLst>
              <a:ext uri="{FF2B5EF4-FFF2-40B4-BE49-F238E27FC236}">
                <a16:creationId xmlns:a16="http://schemas.microsoft.com/office/drawing/2014/main" id="{3EFA19AC-5529-4370-9145-54C3EF9EB039}"/>
              </a:ext>
            </a:extLst>
          </p:cNvPr>
          <p:cNvSpPr>
            <a:spLocks noGrp="1"/>
          </p:cNvSpPr>
          <p:nvPr/>
        </p:nvSpPr>
        <p:spPr>
          <a:xfrm>
            <a:off x="609600" y="1549718"/>
            <a:ext cx="4907139" cy="16716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Psychological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Foundations of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Cognitive Architectures</a:t>
            </a:r>
          </a:p>
        </p:txBody>
      </p:sp>
      <p:sp>
        <p:nvSpPr>
          <p:cNvPr id="3" name="m1-subheading-74">
            <a:extLst>
              <a:ext uri="{FF2B5EF4-FFF2-40B4-BE49-F238E27FC236}">
                <a16:creationId xmlns:a16="http://schemas.microsoft.com/office/drawing/2014/main" id="{8E6FF487-755A-4DBD-B012-36296A8635E9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4907139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Memory Models</a:t>
            </a:r>
          </a:p>
        </p:txBody>
      </p:sp>
      <p:sp>
        <p:nvSpPr>
          <p:cNvPr id="4" name="m1-text-289">
            <a:extLst>
              <a:ext uri="{FF2B5EF4-FFF2-40B4-BE49-F238E27FC236}">
                <a16:creationId xmlns:a16="http://schemas.microsoft.com/office/drawing/2014/main" id="{DA132F6F-D3B8-4836-BD49-C47568B593F4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1156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1-text-75">
            <a:extLst>
              <a:ext uri="{FF2B5EF4-FFF2-40B4-BE49-F238E27FC236}">
                <a16:creationId xmlns:a16="http://schemas.microsoft.com/office/drawing/2014/main" id="{15685204-4959-4B7D-91E2-217539ADE88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76">
            <a:extLst>
              <a:ext uri="{FF2B5EF4-FFF2-40B4-BE49-F238E27FC236}">
                <a16:creationId xmlns:a16="http://schemas.microsoft.com/office/drawing/2014/main" id="{802ED63C-70EB-42A3-814F-FC3F7019FC20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77">
            <a:extLst>
              <a:ext uri="{FF2B5EF4-FFF2-40B4-BE49-F238E27FC236}">
                <a16:creationId xmlns:a16="http://schemas.microsoft.com/office/drawing/2014/main" id="{2F8C0584-5833-4B57-9CFE-4CB2FD7E338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Multi-Store Model [3]</a:t>
            </a:r>
          </a:p>
        </p:txBody>
      </p:sp>
      <p:sp>
        <p:nvSpPr>
          <p:cNvPr id="4" name="m1-text-78">
            <a:extLst>
              <a:ext uri="{FF2B5EF4-FFF2-40B4-BE49-F238E27FC236}">
                <a16:creationId xmlns:a16="http://schemas.microsoft.com/office/drawing/2014/main" id="{A119EE99-E085-49C4-945C-AD2BA3F96AB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924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Atkinson and Shiffrin describe three memory stores and their control processes.</a:t>
            </a:r>
          </a:p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stores differ in duration and capacity.</a:t>
            </a:r>
          </a:p>
        </p:txBody>
      </p:sp>
      <p:sp>
        <p:nvSpPr>
          <p:cNvPr id="5" name="m1-text-79">
            <a:extLst>
              <a:ext uri="{FF2B5EF4-FFF2-40B4-BE49-F238E27FC236}">
                <a16:creationId xmlns:a16="http://schemas.microsoft.com/office/drawing/2014/main" id="{DFDA8926-3B0E-4C84-9309-1028D5805E1A}"/>
              </a:ext>
            </a:extLst>
          </p:cNvPr>
          <p:cNvSpPr>
            <a:spLocks noGrp="1"/>
          </p:cNvSpPr>
          <p:nvPr/>
        </p:nvSpPr>
        <p:spPr>
          <a:xfrm>
            <a:off x="609600" y="2089785"/>
            <a:ext cx="79248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Memory stores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123062D-F5BB-4B29-A018-F5DD499537B3}"/>
              </a:ext>
            </a:extLst>
          </p:cNvPr>
          <p:cNvSpPr>
            <a:spLocks noGrp="1"/>
          </p:cNvSpPr>
          <p:nvPr/>
        </p:nvSpPr>
        <p:spPr>
          <a:xfrm>
            <a:off x="609600" y="2406968"/>
            <a:ext cx="2017889" cy="1097280"/>
          </a:xfrm>
          <a:prstGeom prst="roundRect">
            <a:avLst>
              <a:gd name="adj" fmla="val 6250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80">
            <a:extLst>
              <a:ext uri="{FF2B5EF4-FFF2-40B4-BE49-F238E27FC236}">
                <a16:creationId xmlns:a16="http://schemas.microsoft.com/office/drawing/2014/main" id="{7AF7EF1B-D50C-44D8-ABEF-D585493806EB}"/>
              </a:ext>
            </a:extLst>
          </p:cNvPr>
          <p:cNvSpPr>
            <a:spLocks noGrp="1"/>
          </p:cNvSpPr>
          <p:nvPr/>
        </p:nvSpPr>
        <p:spPr>
          <a:xfrm>
            <a:off x="756356" y="2698433"/>
            <a:ext cx="1724378" cy="5572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Sensory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Register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CFE0784B-11AB-4674-8DCE-0BA1A472CA29}"/>
              </a:ext>
            </a:extLst>
          </p:cNvPr>
          <p:cNvSpPr>
            <a:spLocks noGrp="1"/>
          </p:cNvSpPr>
          <p:nvPr/>
        </p:nvSpPr>
        <p:spPr>
          <a:xfrm>
            <a:off x="3563056" y="2406968"/>
            <a:ext cx="2017889" cy="1097280"/>
          </a:xfrm>
          <a:prstGeom prst="roundRect">
            <a:avLst>
              <a:gd name="adj" fmla="val 6250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9" name="m1-text-81">
            <a:extLst>
              <a:ext uri="{FF2B5EF4-FFF2-40B4-BE49-F238E27FC236}">
                <a16:creationId xmlns:a16="http://schemas.microsoft.com/office/drawing/2014/main" id="{E64C814E-32FC-4DBB-BFF7-D995EFB1D2A7}"/>
              </a:ext>
            </a:extLst>
          </p:cNvPr>
          <p:cNvSpPr>
            <a:spLocks noGrp="1"/>
          </p:cNvSpPr>
          <p:nvPr/>
        </p:nvSpPr>
        <p:spPr>
          <a:xfrm>
            <a:off x="3709811" y="2569845"/>
            <a:ext cx="1724378" cy="5572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5ED82C2-F6AB-4AD9-90A2-099BA5B13D0E}"/>
              </a:ext>
            </a:extLst>
          </p:cNvPr>
          <p:cNvSpPr>
            <a:spLocks noGrp="1"/>
          </p:cNvSpPr>
          <p:nvPr/>
        </p:nvSpPr>
        <p:spPr>
          <a:xfrm>
            <a:off x="6516511" y="2406968"/>
            <a:ext cx="2017889" cy="1097280"/>
          </a:xfrm>
          <a:prstGeom prst="roundRect">
            <a:avLst>
              <a:gd name="adj" fmla="val 6250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1" name="m1-text-82">
            <a:extLst>
              <a:ext uri="{FF2B5EF4-FFF2-40B4-BE49-F238E27FC236}">
                <a16:creationId xmlns:a16="http://schemas.microsoft.com/office/drawing/2014/main" id="{BAD9AEB7-1B7B-4E6C-BFB3-56CA772437A3}"/>
              </a:ext>
            </a:extLst>
          </p:cNvPr>
          <p:cNvSpPr>
            <a:spLocks noGrp="1"/>
          </p:cNvSpPr>
          <p:nvPr/>
        </p:nvSpPr>
        <p:spPr>
          <a:xfrm>
            <a:off x="6663267" y="2698433"/>
            <a:ext cx="1724378" cy="5572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Long-Term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12" name="m1-text-83">
            <a:extLst>
              <a:ext uri="{FF2B5EF4-FFF2-40B4-BE49-F238E27FC236}">
                <a16:creationId xmlns:a16="http://schemas.microsoft.com/office/drawing/2014/main" id="{75666202-F83F-44D8-971D-F43DA3875380}"/>
              </a:ext>
            </a:extLst>
          </p:cNvPr>
          <p:cNvSpPr>
            <a:spLocks noGrp="1"/>
          </p:cNvSpPr>
          <p:nvPr/>
        </p:nvSpPr>
        <p:spPr>
          <a:xfrm>
            <a:off x="2664178" y="2715578"/>
            <a:ext cx="862189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</a:t>
            </a: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BE2AC159-3E5A-4961-BE3F-E32FC90AB3F5}"/>
              </a:ext>
            </a:extLst>
          </p:cNvPr>
          <p:cNvSpPr>
            <a:spLocks noGrp="1"/>
          </p:cNvSpPr>
          <p:nvPr/>
        </p:nvSpPr>
        <p:spPr>
          <a:xfrm>
            <a:off x="2792589" y="3007043"/>
            <a:ext cx="605367" cy="137160"/>
          </a:xfrm>
          <a:prstGeom prst="rightArrow">
            <a:avLst/>
          </a:prstGeom>
          <a:solidFill>
            <a:srgbClr val="D9A06B"/>
          </a:solidFill>
          <a:ln w="0">
            <a:noFill/>
          </a:ln>
        </p:spPr>
      </p:sp>
      <p:sp>
        <p:nvSpPr>
          <p:cNvPr id="14" name="m1-text-84">
            <a:extLst>
              <a:ext uri="{FF2B5EF4-FFF2-40B4-BE49-F238E27FC236}">
                <a16:creationId xmlns:a16="http://schemas.microsoft.com/office/drawing/2014/main" id="{DE7034BC-8C14-40E4-9B92-32A7884576F8}"/>
              </a:ext>
            </a:extLst>
          </p:cNvPr>
          <p:cNvSpPr>
            <a:spLocks noGrp="1"/>
          </p:cNvSpPr>
          <p:nvPr/>
        </p:nvSpPr>
        <p:spPr>
          <a:xfrm>
            <a:off x="5617633" y="2552700"/>
            <a:ext cx="862189" cy="2057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Transfer</a:t>
            </a: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9E91B07E-6D63-427A-A7D5-1AAFB3BB9FA6}"/>
              </a:ext>
            </a:extLst>
          </p:cNvPr>
          <p:cNvSpPr>
            <a:spLocks noGrp="1"/>
          </p:cNvSpPr>
          <p:nvPr/>
        </p:nvSpPr>
        <p:spPr>
          <a:xfrm>
            <a:off x="5764389" y="2844165"/>
            <a:ext cx="568678" cy="128588"/>
          </a:xfrm>
          <a:prstGeom prst="rightArrow">
            <a:avLst/>
          </a:prstGeom>
          <a:solidFill>
            <a:srgbClr val="D9A06B"/>
          </a:solidFill>
          <a:ln w="0">
            <a:noFill/>
          </a:ln>
        </p:spPr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480D22C7-D7B0-41BB-8675-D0718FCBF7EB}"/>
              </a:ext>
            </a:extLst>
          </p:cNvPr>
          <p:cNvSpPr>
            <a:spLocks noGrp="1"/>
          </p:cNvSpPr>
          <p:nvPr/>
        </p:nvSpPr>
        <p:spPr>
          <a:xfrm rot="10800000">
            <a:off x="5764389" y="3247073"/>
            <a:ext cx="568678" cy="128588"/>
          </a:xfrm>
          <a:prstGeom prst="rightArrow">
            <a:avLst/>
          </a:prstGeom>
          <a:solidFill>
            <a:srgbClr val="D9A06B"/>
          </a:solidFill>
          <a:ln w="0">
            <a:noFill/>
          </a:ln>
        </p:spPr>
      </p:sp>
      <p:sp>
        <p:nvSpPr>
          <p:cNvPr id="17" name="m1-text-85">
            <a:extLst>
              <a:ext uri="{FF2B5EF4-FFF2-40B4-BE49-F238E27FC236}">
                <a16:creationId xmlns:a16="http://schemas.microsoft.com/office/drawing/2014/main" id="{A7DDF5EA-AC60-40CC-934F-AC6E08FC17A4}"/>
              </a:ext>
            </a:extLst>
          </p:cNvPr>
          <p:cNvSpPr>
            <a:spLocks noGrp="1"/>
          </p:cNvSpPr>
          <p:nvPr/>
        </p:nvSpPr>
        <p:spPr>
          <a:xfrm>
            <a:off x="5617633" y="3409950"/>
            <a:ext cx="862189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56984A9-9455-4788-B133-DB2AECD71E6B}"/>
              </a:ext>
            </a:extLst>
          </p:cNvPr>
          <p:cNvSpPr>
            <a:spLocks noGrp="1"/>
          </p:cNvSpPr>
          <p:nvPr/>
        </p:nvSpPr>
        <p:spPr>
          <a:xfrm>
            <a:off x="3893256" y="3401378"/>
            <a:ext cx="1357489" cy="17145"/>
          </a:xfrm>
          <a:prstGeom prst="rect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96190D62-20C6-4739-A215-2149B7DA4C4B}"/>
              </a:ext>
            </a:extLst>
          </p:cNvPr>
          <p:cNvSpPr>
            <a:spLocks noGrp="1"/>
          </p:cNvSpPr>
          <p:nvPr/>
        </p:nvSpPr>
        <p:spPr>
          <a:xfrm>
            <a:off x="5241572" y="3238500"/>
            <a:ext cx="18344" cy="171450"/>
          </a:xfrm>
          <a:prstGeom prst="rect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E8E5AF14-8FBB-469D-AA4F-D93D32F827D9}"/>
              </a:ext>
            </a:extLst>
          </p:cNvPr>
          <p:cNvSpPr>
            <a:spLocks noGrp="1"/>
          </p:cNvSpPr>
          <p:nvPr/>
        </p:nvSpPr>
        <p:spPr>
          <a:xfrm rot="16200000">
            <a:off x="3829050" y="3229928"/>
            <a:ext cx="146756" cy="188595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21" name="m1-text-86">
            <a:extLst>
              <a:ext uri="{FF2B5EF4-FFF2-40B4-BE49-F238E27FC236}">
                <a16:creationId xmlns:a16="http://schemas.microsoft.com/office/drawing/2014/main" id="{9B3071B1-9782-4CCA-9ABC-35ECDB229B0F}"/>
              </a:ext>
            </a:extLst>
          </p:cNvPr>
          <p:cNvSpPr>
            <a:spLocks noGrp="1"/>
          </p:cNvSpPr>
          <p:nvPr/>
        </p:nvSpPr>
        <p:spPr>
          <a:xfrm>
            <a:off x="3902428" y="3144203"/>
            <a:ext cx="1339144" cy="2057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Rehearsal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3A051481-722A-48C5-BDEB-204B4A3C7CDB}"/>
              </a:ext>
            </a:extLst>
          </p:cNvPr>
          <p:cNvSpPr>
            <a:spLocks noGrp="1"/>
          </p:cNvSpPr>
          <p:nvPr/>
        </p:nvSpPr>
        <p:spPr>
          <a:xfrm>
            <a:off x="609600" y="3709988"/>
            <a:ext cx="7924800" cy="874395"/>
          </a:xfrm>
          <a:prstGeom prst="roundRect">
            <a:avLst>
              <a:gd name="adj" fmla="val 784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23" name="m1-text-87">
            <a:extLst>
              <a:ext uri="{FF2B5EF4-FFF2-40B4-BE49-F238E27FC236}">
                <a16:creationId xmlns:a16="http://schemas.microsoft.com/office/drawing/2014/main" id="{46113F0D-1681-411E-861B-871F2085C593}"/>
              </a:ext>
            </a:extLst>
          </p:cNvPr>
          <p:cNvSpPr>
            <a:spLocks noGrp="1"/>
          </p:cNvSpPr>
          <p:nvPr/>
        </p:nvSpPr>
        <p:spPr>
          <a:xfrm>
            <a:off x="756356" y="3795713"/>
            <a:ext cx="7631289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Control processes</a:t>
            </a:r>
          </a:p>
        </p:txBody>
      </p:sp>
      <p:sp>
        <p:nvSpPr>
          <p:cNvPr id="24" name="m1-text-88">
            <a:extLst>
              <a:ext uri="{FF2B5EF4-FFF2-40B4-BE49-F238E27FC236}">
                <a16:creationId xmlns:a16="http://schemas.microsoft.com/office/drawing/2014/main" id="{DAE42F13-F548-419C-A579-83A18EE56C53}"/>
              </a:ext>
            </a:extLst>
          </p:cNvPr>
          <p:cNvSpPr>
            <a:spLocks noGrp="1"/>
          </p:cNvSpPr>
          <p:nvPr/>
        </p:nvSpPr>
        <p:spPr>
          <a:xfrm>
            <a:off x="756356" y="4052888"/>
            <a:ext cx="7631289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Regulate the selection, maintenance and use of information.</a:t>
            </a:r>
          </a:p>
        </p:txBody>
      </p:sp>
      <p:sp>
        <p:nvSpPr>
          <p:cNvPr id="25" name="m1-text-89">
            <a:extLst>
              <a:ext uri="{FF2B5EF4-FFF2-40B4-BE49-F238E27FC236}">
                <a16:creationId xmlns:a16="http://schemas.microsoft.com/office/drawing/2014/main" id="{F9D06FF1-2FF1-4352-AB1E-28BDD94212F8}"/>
              </a:ext>
            </a:extLst>
          </p:cNvPr>
          <p:cNvSpPr>
            <a:spLocks noGrp="1"/>
          </p:cNvSpPr>
          <p:nvPr/>
        </p:nvSpPr>
        <p:spPr>
          <a:xfrm>
            <a:off x="756356" y="4335780"/>
            <a:ext cx="15225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</a:t>
            </a:r>
          </a:p>
        </p:txBody>
      </p:sp>
      <p:sp>
        <p:nvSpPr>
          <p:cNvPr id="26" name="m1-text-90">
            <a:extLst>
              <a:ext uri="{FF2B5EF4-FFF2-40B4-BE49-F238E27FC236}">
                <a16:creationId xmlns:a16="http://schemas.microsoft.com/office/drawing/2014/main" id="{17EF318E-C368-4B3E-8948-8CB62DA2346C}"/>
              </a:ext>
            </a:extLst>
          </p:cNvPr>
          <p:cNvSpPr>
            <a:spLocks noGrp="1"/>
          </p:cNvSpPr>
          <p:nvPr/>
        </p:nvSpPr>
        <p:spPr>
          <a:xfrm>
            <a:off x="2499078" y="4335780"/>
            <a:ext cx="15225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Rehearsal</a:t>
            </a:r>
          </a:p>
        </p:txBody>
      </p:sp>
      <p:sp>
        <p:nvSpPr>
          <p:cNvPr id="27" name="m1-text-91">
            <a:extLst>
              <a:ext uri="{FF2B5EF4-FFF2-40B4-BE49-F238E27FC236}">
                <a16:creationId xmlns:a16="http://schemas.microsoft.com/office/drawing/2014/main" id="{1482A0B3-A70C-43DF-81B5-771DC2FE70B6}"/>
              </a:ext>
            </a:extLst>
          </p:cNvPr>
          <p:cNvSpPr>
            <a:spLocks noGrp="1"/>
          </p:cNvSpPr>
          <p:nvPr/>
        </p:nvSpPr>
        <p:spPr>
          <a:xfrm>
            <a:off x="4241800" y="4335780"/>
            <a:ext cx="2256367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Transfer / encoding</a:t>
            </a:r>
          </a:p>
        </p:txBody>
      </p:sp>
      <p:sp>
        <p:nvSpPr>
          <p:cNvPr id="28" name="m1-text-92">
            <a:extLst>
              <a:ext uri="{FF2B5EF4-FFF2-40B4-BE49-F238E27FC236}">
                <a16:creationId xmlns:a16="http://schemas.microsoft.com/office/drawing/2014/main" id="{2C419442-EB3A-4B99-825E-124DD9A09414}"/>
              </a:ext>
            </a:extLst>
          </p:cNvPr>
          <p:cNvSpPr>
            <a:spLocks noGrp="1"/>
          </p:cNvSpPr>
          <p:nvPr/>
        </p:nvSpPr>
        <p:spPr>
          <a:xfrm>
            <a:off x="6810022" y="4335780"/>
            <a:ext cx="1577622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29" name="m1-text-290">
            <a:extLst>
              <a:ext uri="{FF2B5EF4-FFF2-40B4-BE49-F238E27FC236}">
                <a16:creationId xmlns:a16="http://schemas.microsoft.com/office/drawing/2014/main" id="{B83C223B-155E-4918-BB56-4CB4AD403B03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3814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1-text-93">
            <a:extLst>
              <a:ext uri="{FF2B5EF4-FFF2-40B4-BE49-F238E27FC236}">
                <a16:creationId xmlns:a16="http://schemas.microsoft.com/office/drawing/2014/main" id="{6A5A5D56-73A6-4307-86C5-43DC465E033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94">
            <a:extLst>
              <a:ext uri="{FF2B5EF4-FFF2-40B4-BE49-F238E27FC236}">
                <a16:creationId xmlns:a16="http://schemas.microsoft.com/office/drawing/2014/main" id="{357DCA7F-DB99-4EF6-9F4A-910311CE9C09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95">
            <a:extLst>
              <a:ext uri="{FF2B5EF4-FFF2-40B4-BE49-F238E27FC236}">
                <a16:creationId xmlns:a16="http://schemas.microsoft.com/office/drawing/2014/main" id="{AF31043C-0B80-48B8-A8CA-0EAB49553EA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Sensory Register [3]</a:t>
            </a:r>
          </a:p>
        </p:txBody>
      </p:sp>
      <p:sp>
        <p:nvSpPr>
          <p:cNvPr id="4" name="m1-subheading-96">
            <a:extLst>
              <a:ext uri="{FF2B5EF4-FFF2-40B4-BE49-F238E27FC236}">
                <a16:creationId xmlns:a16="http://schemas.microsoft.com/office/drawing/2014/main" id="{5434E39A-6A20-4093-85DB-A3ABA6F4FF1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357033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 brief sensory trace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D44DD37-444D-4F95-9FA3-D572EC563F27}"/>
              </a:ext>
            </a:extLst>
          </p:cNvPr>
          <p:cNvSpPr>
            <a:spLocks noGrp="1"/>
          </p:cNvSpPr>
          <p:nvPr/>
        </p:nvSpPr>
        <p:spPr>
          <a:xfrm>
            <a:off x="609600" y="2406968"/>
            <a:ext cx="3357033" cy="1234440"/>
          </a:xfrm>
          <a:prstGeom prst="roundRect">
            <a:avLst>
              <a:gd name="adj" fmla="val 5556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text-97">
            <a:extLst>
              <a:ext uri="{FF2B5EF4-FFF2-40B4-BE49-F238E27FC236}">
                <a16:creationId xmlns:a16="http://schemas.microsoft.com/office/drawing/2014/main" id="{012DCCE0-3BFC-4BF7-84AC-2570146D7D26}"/>
              </a:ext>
            </a:extLst>
          </p:cNvPr>
          <p:cNvSpPr>
            <a:spLocks noGrp="1"/>
          </p:cNvSpPr>
          <p:nvPr/>
        </p:nvSpPr>
        <p:spPr>
          <a:xfrm>
            <a:off x="756356" y="2552700"/>
            <a:ext cx="3063522" cy="10458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Briefly retains incoming sensory information before further selection and processing.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FBBAE8BE-CA2E-40C2-91CD-E9B9D8368C0A}"/>
              </a:ext>
            </a:extLst>
          </p:cNvPr>
          <p:cNvSpPr>
            <a:spLocks noGrp="1"/>
          </p:cNvSpPr>
          <p:nvPr/>
        </p:nvSpPr>
        <p:spPr>
          <a:xfrm>
            <a:off x="609600" y="3718560"/>
            <a:ext cx="7924800" cy="865823"/>
          </a:xfrm>
          <a:prstGeom prst="roundRect">
            <a:avLst>
              <a:gd name="adj" fmla="val 792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8" name="m1-text-98">
            <a:extLst>
              <a:ext uri="{FF2B5EF4-FFF2-40B4-BE49-F238E27FC236}">
                <a16:creationId xmlns:a16="http://schemas.microsoft.com/office/drawing/2014/main" id="{F94F5B3E-1D3F-4E55-94E7-5941016A9A4F}"/>
              </a:ext>
            </a:extLst>
          </p:cNvPr>
          <p:cNvSpPr>
            <a:spLocks noGrp="1"/>
          </p:cNvSpPr>
          <p:nvPr/>
        </p:nvSpPr>
        <p:spPr>
          <a:xfrm>
            <a:off x="756356" y="3787140"/>
            <a:ext cx="76312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Control process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37FC9FA-D31A-4AA3-9B6A-59649E2EB62C}"/>
              </a:ext>
            </a:extLst>
          </p:cNvPr>
          <p:cNvSpPr>
            <a:spLocks noGrp="1"/>
          </p:cNvSpPr>
          <p:nvPr/>
        </p:nvSpPr>
        <p:spPr>
          <a:xfrm>
            <a:off x="756356" y="4052888"/>
            <a:ext cx="7631289" cy="17145"/>
          </a:xfrm>
          <a:prstGeom prst="rect">
            <a:avLst/>
          </a:prstGeom>
          <a:solidFill>
            <a:srgbClr val="3A4458"/>
          </a:solidFill>
          <a:ln w="0">
            <a:noFill/>
          </a:ln>
        </p:spPr>
      </p:sp>
      <p:sp>
        <p:nvSpPr>
          <p:cNvPr id="10" name="m1-text-99">
            <a:extLst>
              <a:ext uri="{FF2B5EF4-FFF2-40B4-BE49-F238E27FC236}">
                <a16:creationId xmlns:a16="http://schemas.microsoft.com/office/drawing/2014/main" id="{F663446B-18B4-4265-8195-4386F32017C8}"/>
              </a:ext>
            </a:extLst>
          </p:cNvPr>
          <p:cNvSpPr>
            <a:spLocks noGrp="1"/>
          </p:cNvSpPr>
          <p:nvPr/>
        </p:nvSpPr>
        <p:spPr>
          <a:xfrm>
            <a:off x="756356" y="4121468"/>
            <a:ext cx="76312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152400" indent="-114300">
              <a:spcAft>
                <a:spcPts val="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</a:t>
            </a:r>
            <a:r>
              <a:t>: selects information for short-term memory.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CB42E11-6F44-49F2-B4DF-6ED2D6CC3EC7}"/>
              </a:ext>
            </a:extLst>
          </p:cNvPr>
          <p:cNvSpPr>
            <a:spLocks noGrp="1"/>
          </p:cNvSpPr>
          <p:nvPr/>
        </p:nvSpPr>
        <p:spPr>
          <a:xfrm>
            <a:off x="4278489" y="2072640"/>
            <a:ext cx="1687689" cy="1423035"/>
          </a:xfrm>
          <a:prstGeom prst="roundRect">
            <a:avLst>
              <a:gd name="adj" fmla="val 48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2" name="m1-text-100">
            <a:extLst>
              <a:ext uri="{FF2B5EF4-FFF2-40B4-BE49-F238E27FC236}">
                <a16:creationId xmlns:a16="http://schemas.microsoft.com/office/drawing/2014/main" id="{A3281529-EF70-4013-B01D-11C88B20171F}"/>
              </a:ext>
            </a:extLst>
          </p:cNvPr>
          <p:cNvSpPr>
            <a:spLocks noGrp="1"/>
          </p:cNvSpPr>
          <p:nvPr/>
        </p:nvSpPr>
        <p:spPr>
          <a:xfrm>
            <a:off x="4397728" y="2184083"/>
            <a:ext cx="1449211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Sensory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Register</a:t>
            </a:r>
          </a:p>
        </p:txBody>
      </p:sp>
      <p:sp>
        <p:nvSpPr>
          <p:cNvPr id="13" name="m1-text-101">
            <a:extLst>
              <a:ext uri="{FF2B5EF4-FFF2-40B4-BE49-F238E27FC236}">
                <a16:creationId xmlns:a16="http://schemas.microsoft.com/office/drawing/2014/main" id="{244F73AC-DEA7-4EC1-9037-699B47B96682}"/>
              </a:ext>
            </a:extLst>
          </p:cNvPr>
          <p:cNvSpPr>
            <a:spLocks noGrp="1"/>
          </p:cNvSpPr>
          <p:nvPr/>
        </p:nvSpPr>
        <p:spPr>
          <a:xfrm>
            <a:off x="4397728" y="2767013"/>
            <a:ext cx="1449211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Incoming signals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C56B72E6-5B90-46B9-AE73-B0DDCEE0EA2F}"/>
              </a:ext>
            </a:extLst>
          </p:cNvPr>
          <p:cNvSpPr>
            <a:spLocks noGrp="1"/>
          </p:cNvSpPr>
          <p:nvPr/>
        </p:nvSpPr>
        <p:spPr>
          <a:xfrm>
            <a:off x="6846711" y="2072640"/>
            <a:ext cx="1687689" cy="1423035"/>
          </a:xfrm>
          <a:prstGeom prst="roundRect">
            <a:avLst>
              <a:gd name="adj" fmla="val 481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5" name="m1-text-102">
            <a:extLst>
              <a:ext uri="{FF2B5EF4-FFF2-40B4-BE49-F238E27FC236}">
                <a16:creationId xmlns:a16="http://schemas.microsoft.com/office/drawing/2014/main" id="{F02E8B87-3C48-4EB6-91DB-8884F6B3CD11}"/>
              </a:ext>
            </a:extLst>
          </p:cNvPr>
          <p:cNvSpPr>
            <a:spLocks noGrp="1"/>
          </p:cNvSpPr>
          <p:nvPr/>
        </p:nvSpPr>
        <p:spPr>
          <a:xfrm>
            <a:off x="6965950" y="2184083"/>
            <a:ext cx="1449211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16" name="m1-text-103">
            <a:extLst>
              <a:ext uri="{FF2B5EF4-FFF2-40B4-BE49-F238E27FC236}">
                <a16:creationId xmlns:a16="http://schemas.microsoft.com/office/drawing/2014/main" id="{EECFE380-C6A8-4CA7-BE6A-0AF78B292D60}"/>
              </a:ext>
            </a:extLst>
          </p:cNvPr>
          <p:cNvSpPr>
            <a:spLocks noGrp="1"/>
          </p:cNvSpPr>
          <p:nvPr/>
        </p:nvSpPr>
        <p:spPr>
          <a:xfrm>
            <a:off x="6965950" y="2767013"/>
            <a:ext cx="1449211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Selected input</a:t>
            </a:r>
          </a:p>
        </p:txBody>
      </p:sp>
      <p:sp>
        <p:nvSpPr>
          <p:cNvPr id="17" name="m1-text-104">
            <a:extLst>
              <a:ext uri="{FF2B5EF4-FFF2-40B4-BE49-F238E27FC236}">
                <a16:creationId xmlns:a16="http://schemas.microsoft.com/office/drawing/2014/main" id="{8DEEDC39-CE4E-4BD7-890A-92B2BCC5B1A3}"/>
              </a:ext>
            </a:extLst>
          </p:cNvPr>
          <p:cNvSpPr>
            <a:spLocks noGrp="1"/>
          </p:cNvSpPr>
          <p:nvPr/>
        </p:nvSpPr>
        <p:spPr>
          <a:xfrm>
            <a:off x="5975350" y="2364105"/>
            <a:ext cx="8621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</a:t>
            </a:r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E9D7B5FE-05F7-4659-A09F-F5F9F3410700}"/>
              </a:ext>
            </a:extLst>
          </p:cNvPr>
          <p:cNvSpPr>
            <a:spLocks noGrp="1"/>
          </p:cNvSpPr>
          <p:nvPr/>
        </p:nvSpPr>
        <p:spPr>
          <a:xfrm>
            <a:off x="6140450" y="2741295"/>
            <a:ext cx="531989" cy="137160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9" name="m1-text-291">
            <a:extLst>
              <a:ext uri="{FF2B5EF4-FFF2-40B4-BE49-F238E27FC236}">
                <a16:creationId xmlns:a16="http://schemas.microsoft.com/office/drawing/2014/main" id="{E10452B1-69F6-47B1-9DAB-DF5A37CCDD0B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27979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1-text-105">
            <a:extLst>
              <a:ext uri="{FF2B5EF4-FFF2-40B4-BE49-F238E27FC236}">
                <a16:creationId xmlns:a16="http://schemas.microsoft.com/office/drawing/2014/main" id="{3BFB4AE2-9381-429C-A995-242FBC3DE20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06">
            <a:extLst>
              <a:ext uri="{FF2B5EF4-FFF2-40B4-BE49-F238E27FC236}">
                <a16:creationId xmlns:a16="http://schemas.microsoft.com/office/drawing/2014/main" id="{E2CDE9F0-1D6B-4213-AB43-6011A191CF43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07">
            <a:extLst>
              <a:ext uri="{FF2B5EF4-FFF2-40B4-BE49-F238E27FC236}">
                <a16:creationId xmlns:a16="http://schemas.microsoft.com/office/drawing/2014/main" id="{BBB54DEB-AF0C-4506-A849-6FE6F09DC75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 Memory [3]</a:t>
            </a:r>
          </a:p>
        </p:txBody>
      </p:sp>
      <p:sp>
        <p:nvSpPr>
          <p:cNvPr id="4" name="m1-subheading-108">
            <a:extLst>
              <a:ext uri="{FF2B5EF4-FFF2-40B4-BE49-F238E27FC236}">
                <a16:creationId xmlns:a16="http://schemas.microsoft.com/office/drawing/2014/main" id="{31D47F5E-30D1-42E0-B542-FF99B00F9F2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357033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Temporary storage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C3AD630D-1C71-426D-BFED-A353AE0887A0}"/>
              </a:ext>
            </a:extLst>
          </p:cNvPr>
          <p:cNvSpPr>
            <a:spLocks noGrp="1"/>
          </p:cNvSpPr>
          <p:nvPr/>
        </p:nvSpPr>
        <p:spPr>
          <a:xfrm>
            <a:off x="609600" y="2406968"/>
            <a:ext cx="3357033" cy="1234440"/>
          </a:xfrm>
          <a:prstGeom prst="roundRect">
            <a:avLst>
              <a:gd name="adj" fmla="val 5556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text-109">
            <a:extLst>
              <a:ext uri="{FF2B5EF4-FFF2-40B4-BE49-F238E27FC236}">
                <a16:creationId xmlns:a16="http://schemas.microsoft.com/office/drawing/2014/main" id="{17BA7032-F701-4FC4-974C-C312C5A64A5F}"/>
              </a:ext>
            </a:extLst>
          </p:cNvPr>
          <p:cNvSpPr>
            <a:spLocks noGrp="1"/>
          </p:cNvSpPr>
          <p:nvPr/>
        </p:nvSpPr>
        <p:spPr>
          <a:xfrm>
            <a:off x="756356" y="2552700"/>
            <a:ext cx="3063522" cy="10458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limited-capacity store that keeps information available over a short interval.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1611377-81B6-4BEA-956D-B5D056BE36CF}"/>
              </a:ext>
            </a:extLst>
          </p:cNvPr>
          <p:cNvSpPr>
            <a:spLocks noGrp="1"/>
          </p:cNvSpPr>
          <p:nvPr/>
        </p:nvSpPr>
        <p:spPr>
          <a:xfrm>
            <a:off x="609600" y="3718560"/>
            <a:ext cx="7924800" cy="865823"/>
          </a:xfrm>
          <a:prstGeom prst="roundRect">
            <a:avLst>
              <a:gd name="adj" fmla="val 792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8" name="m1-text-110">
            <a:extLst>
              <a:ext uri="{FF2B5EF4-FFF2-40B4-BE49-F238E27FC236}">
                <a16:creationId xmlns:a16="http://schemas.microsoft.com/office/drawing/2014/main" id="{20612D5E-BC9B-4ADE-BD66-6AC9206E4A07}"/>
              </a:ext>
            </a:extLst>
          </p:cNvPr>
          <p:cNvSpPr>
            <a:spLocks noGrp="1"/>
          </p:cNvSpPr>
          <p:nvPr/>
        </p:nvSpPr>
        <p:spPr>
          <a:xfrm>
            <a:off x="756356" y="3787140"/>
            <a:ext cx="76312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Control process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523880B-2DA6-4F4C-8450-AEF1DFFAE488}"/>
              </a:ext>
            </a:extLst>
          </p:cNvPr>
          <p:cNvSpPr>
            <a:spLocks noGrp="1"/>
          </p:cNvSpPr>
          <p:nvPr/>
        </p:nvSpPr>
        <p:spPr>
          <a:xfrm>
            <a:off x="756356" y="4052888"/>
            <a:ext cx="7631289" cy="17145"/>
          </a:xfrm>
          <a:prstGeom prst="rect">
            <a:avLst/>
          </a:prstGeom>
          <a:solidFill>
            <a:srgbClr val="3A4458"/>
          </a:solidFill>
          <a:ln w="0">
            <a:noFill/>
          </a:ln>
        </p:spPr>
      </p:sp>
      <p:sp>
        <p:nvSpPr>
          <p:cNvPr id="10" name="m1-text-111">
            <a:extLst>
              <a:ext uri="{FF2B5EF4-FFF2-40B4-BE49-F238E27FC236}">
                <a16:creationId xmlns:a16="http://schemas.microsoft.com/office/drawing/2014/main" id="{9B38E5D2-D37F-471C-B185-7666A7D3437F}"/>
              </a:ext>
            </a:extLst>
          </p:cNvPr>
          <p:cNvSpPr>
            <a:spLocks noGrp="1"/>
          </p:cNvSpPr>
          <p:nvPr/>
        </p:nvSpPr>
        <p:spPr>
          <a:xfrm>
            <a:off x="756356" y="4121468"/>
            <a:ext cx="76312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152400" indent="-114300">
              <a:spcAft>
                <a:spcPts val="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Rehearsal</a:t>
            </a:r>
            <a:r>
              <a:t>: maintains information through repetition.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6CBEF801-0EF2-4738-B04C-88DE387D3E49}"/>
              </a:ext>
            </a:extLst>
          </p:cNvPr>
          <p:cNvSpPr>
            <a:spLocks noGrp="1"/>
          </p:cNvSpPr>
          <p:nvPr/>
        </p:nvSpPr>
        <p:spPr>
          <a:xfrm>
            <a:off x="4700411" y="1866900"/>
            <a:ext cx="3412067" cy="1140143"/>
          </a:xfrm>
          <a:prstGeom prst="roundRect">
            <a:avLst>
              <a:gd name="adj" fmla="val 6015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2" name="m1-text-112">
            <a:extLst>
              <a:ext uri="{FF2B5EF4-FFF2-40B4-BE49-F238E27FC236}">
                <a16:creationId xmlns:a16="http://schemas.microsoft.com/office/drawing/2014/main" id="{E79144E4-C20D-44DF-BE42-6B4B7F973ABC}"/>
              </a:ext>
            </a:extLst>
          </p:cNvPr>
          <p:cNvSpPr>
            <a:spLocks noGrp="1"/>
          </p:cNvSpPr>
          <p:nvPr/>
        </p:nvSpPr>
        <p:spPr>
          <a:xfrm>
            <a:off x="4819650" y="1978343"/>
            <a:ext cx="3173589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 Memory</a:t>
            </a:r>
          </a:p>
        </p:txBody>
      </p:sp>
      <p:sp>
        <p:nvSpPr>
          <p:cNvPr id="13" name="m1-text-113">
            <a:extLst>
              <a:ext uri="{FF2B5EF4-FFF2-40B4-BE49-F238E27FC236}">
                <a16:creationId xmlns:a16="http://schemas.microsoft.com/office/drawing/2014/main" id="{11578D67-9966-4133-B5FF-4CDA488D849A}"/>
              </a:ext>
            </a:extLst>
          </p:cNvPr>
          <p:cNvSpPr>
            <a:spLocks noGrp="1"/>
          </p:cNvSpPr>
          <p:nvPr/>
        </p:nvSpPr>
        <p:spPr>
          <a:xfrm>
            <a:off x="4819650" y="2561273"/>
            <a:ext cx="3173589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+39 011 123 4567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223A933-4EF7-4636-A7AA-AAF609B7CE97}"/>
              </a:ext>
            </a:extLst>
          </p:cNvPr>
          <p:cNvSpPr>
            <a:spLocks noGrp="1"/>
          </p:cNvSpPr>
          <p:nvPr/>
        </p:nvSpPr>
        <p:spPr>
          <a:xfrm>
            <a:off x="4902200" y="3161348"/>
            <a:ext cx="3008489" cy="17145"/>
          </a:xfrm>
          <a:prstGeom prst="rect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0D8EE55-47EE-4A12-8E3F-7355D71BD3DB}"/>
              </a:ext>
            </a:extLst>
          </p:cNvPr>
          <p:cNvSpPr>
            <a:spLocks noGrp="1"/>
          </p:cNvSpPr>
          <p:nvPr/>
        </p:nvSpPr>
        <p:spPr>
          <a:xfrm>
            <a:off x="7901517" y="3015615"/>
            <a:ext cx="18344" cy="162878"/>
          </a:xfrm>
          <a:prstGeom prst="rect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3357BD35-92F4-452B-9C6A-459E13300087}"/>
              </a:ext>
            </a:extLst>
          </p:cNvPr>
          <p:cNvSpPr>
            <a:spLocks noGrp="1"/>
          </p:cNvSpPr>
          <p:nvPr/>
        </p:nvSpPr>
        <p:spPr>
          <a:xfrm rot="16200000">
            <a:off x="4837994" y="2989898"/>
            <a:ext cx="146756" cy="205740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7" name="m1-text-114">
            <a:extLst>
              <a:ext uri="{FF2B5EF4-FFF2-40B4-BE49-F238E27FC236}">
                <a16:creationId xmlns:a16="http://schemas.microsoft.com/office/drawing/2014/main" id="{71626F0B-91C4-460F-8F50-ABB0D5EE8D2A}"/>
              </a:ext>
            </a:extLst>
          </p:cNvPr>
          <p:cNvSpPr>
            <a:spLocks noGrp="1"/>
          </p:cNvSpPr>
          <p:nvPr/>
        </p:nvSpPr>
        <p:spPr>
          <a:xfrm>
            <a:off x="5195711" y="3315653"/>
            <a:ext cx="2421467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Rehearsal</a:t>
            </a:r>
          </a:p>
        </p:txBody>
      </p:sp>
      <p:sp>
        <p:nvSpPr>
          <p:cNvPr id="18" name="m1-text-292">
            <a:extLst>
              <a:ext uri="{FF2B5EF4-FFF2-40B4-BE49-F238E27FC236}">
                <a16:creationId xmlns:a16="http://schemas.microsoft.com/office/drawing/2014/main" id="{14E24F16-D514-4797-8C27-48B280C2C42F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680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1-text-115">
            <a:extLst>
              <a:ext uri="{FF2B5EF4-FFF2-40B4-BE49-F238E27FC236}">
                <a16:creationId xmlns:a16="http://schemas.microsoft.com/office/drawing/2014/main" id="{2D243859-A787-47E8-9EF9-F2627C6C869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16">
            <a:extLst>
              <a:ext uri="{FF2B5EF4-FFF2-40B4-BE49-F238E27FC236}">
                <a16:creationId xmlns:a16="http://schemas.microsoft.com/office/drawing/2014/main" id="{34BF71A1-5F55-45C4-8975-1E66A857DD2D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17">
            <a:extLst>
              <a:ext uri="{FF2B5EF4-FFF2-40B4-BE49-F238E27FC236}">
                <a16:creationId xmlns:a16="http://schemas.microsoft.com/office/drawing/2014/main" id="{C8586DE0-7258-4DFC-BBD9-3C303F7E1BC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Working Memory Model [4, 5]</a:t>
            </a:r>
          </a:p>
        </p:txBody>
      </p:sp>
      <p:sp>
        <p:nvSpPr>
          <p:cNvPr id="4" name="m1-subheading-118">
            <a:extLst>
              <a:ext uri="{FF2B5EF4-FFF2-40B4-BE49-F238E27FC236}">
                <a16:creationId xmlns:a16="http://schemas.microsoft.com/office/drawing/2014/main" id="{F82FA6AA-AE82-4CC5-AD4D-1AC26498028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357033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An extension of short-term memory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33B34E3-8D46-4240-89A0-0B1B5F9C6C91}"/>
              </a:ext>
            </a:extLst>
          </p:cNvPr>
          <p:cNvSpPr>
            <a:spLocks noGrp="1"/>
          </p:cNvSpPr>
          <p:nvPr/>
        </p:nvSpPr>
        <p:spPr>
          <a:xfrm>
            <a:off x="609600" y="2406968"/>
            <a:ext cx="3357033" cy="1234440"/>
          </a:xfrm>
          <a:prstGeom prst="roundRect">
            <a:avLst>
              <a:gd name="adj" fmla="val 5556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text-119">
            <a:extLst>
              <a:ext uri="{FF2B5EF4-FFF2-40B4-BE49-F238E27FC236}">
                <a16:creationId xmlns:a16="http://schemas.microsoft.com/office/drawing/2014/main" id="{A924F16A-ECF8-4B80-AD05-68201B2177F5}"/>
              </a:ext>
            </a:extLst>
          </p:cNvPr>
          <p:cNvSpPr>
            <a:spLocks noGrp="1"/>
          </p:cNvSpPr>
          <p:nvPr/>
        </p:nvSpPr>
        <p:spPr>
          <a:xfrm>
            <a:off x="756356" y="2552700"/>
            <a:ext cx="3063522" cy="10458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Baddeley and Hitch proposed specialized stores under central executive control.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E3D75DA-C1B6-49DF-AA86-124CC963E93F}"/>
              </a:ext>
            </a:extLst>
          </p:cNvPr>
          <p:cNvSpPr>
            <a:spLocks noGrp="1"/>
          </p:cNvSpPr>
          <p:nvPr/>
        </p:nvSpPr>
        <p:spPr>
          <a:xfrm>
            <a:off x="609600" y="3718560"/>
            <a:ext cx="7924800" cy="865823"/>
          </a:xfrm>
          <a:prstGeom prst="roundRect">
            <a:avLst>
              <a:gd name="adj" fmla="val 792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8" name="m1-text-120">
            <a:extLst>
              <a:ext uri="{FF2B5EF4-FFF2-40B4-BE49-F238E27FC236}">
                <a16:creationId xmlns:a16="http://schemas.microsoft.com/office/drawing/2014/main" id="{1D8D2612-5C19-4082-AE7E-A10B74AC8FD2}"/>
              </a:ext>
            </a:extLst>
          </p:cNvPr>
          <p:cNvSpPr>
            <a:spLocks noGrp="1"/>
          </p:cNvSpPr>
          <p:nvPr/>
        </p:nvSpPr>
        <p:spPr>
          <a:xfrm>
            <a:off x="756356" y="3787140"/>
            <a:ext cx="76312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Control processes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AA3661C-8CA3-4932-A707-B6AC504681CC}"/>
              </a:ext>
            </a:extLst>
          </p:cNvPr>
          <p:cNvSpPr>
            <a:spLocks noGrp="1"/>
          </p:cNvSpPr>
          <p:nvPr/>
        </p:nvSpPr>
        <p:spPr>
          <a:xfrm>
            <a:off x="756356" y="4052888"/>
            <a:ext cx="7631289" cy="17145"/>
          </a:xfrm>
          <a:prstGeom prst="rect">
            <a:avLst/>
          </a:prstGeom>
          <a:solidFill>
            <a:srgbClr val="3A4458"/>
          </a:solidFill>
          <a:ln w="0">
            <a:noFill/>
          </a:ln>
        </p:spPr>
      </p:sp>
      <p:sp>
        <p:nvSpPr>
          <p:cNvPr id="10" name="m1-text-121">
            <a:extLst>
              <a:ext uri="{FF2B5EF4-FFF2-40B4-BE49-F238E27FC236}">
                <a16:creationId xmlns:a16="http://schemas.microsoft.com/office/drawing/2014/main" id="{E8495463-04D2-4568-A001-4C16A2450B9B}"/>
              </a:ext>
            </a:extLst>
          </p:cNvPr>
          <p:cNvSpPr>
            <a:spLocks noGrp="1"/>
          </p:cNvSpPr>
          <p:nvPr/>
        </p:nvSpPr>
        <p:spPr>
          <a:xfrm>
            <a:off x="756356" y="4121468"/>
            <a:ext cx="76312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152400" indent="-114300">
              <a:spcAft>
                <a:spcPts val="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</a:t>
            </a:r>
            <a:r>
              <a:t>: focuses resources on relevant information.</a:t>
            </a:r>
          </a:p>
          <a:p>
            <a:pPr marL="152400" indent="-114300">
              <a:spcAft>
                <a:spcPts val="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Coordination</a:t>
            </a:r>
            <a:r>
              <a:t>: manages storage and processing across subsystems.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F5617A0C-26DB-4A9A-9ED3-6BC5578AF687}"/>
              </a:ext>
            </a:extLst>
          </p:cNvPr>
          <p:cNvSpPr>
            <a:spLocks noGrp="1"/>
          </p:cNvSpPr>
          <p:nvPr/>
        </p:nvSpPr>
        <p:spPr>
          <a:xfrm>
            <a:off x="4902200" y="1558290"/>
            <a:ext cx="3008489" cy="771525"/>
          </a:xfrm>
          <a:prstGeom prst="roundRect">
            <a:avLst>
              <a:gd name="adj" fmla="val 888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2" name="m1-text-122">
            <a:extLst>
              <a:ext uri="{FF2B5EF4-FFF2-40B4-BE49-F238E27FC236}">
                <a16:creationId xmlns:a16="http://schemas.microsoft.com/office/drawing/2014/main" id="{6B6B93F1-A268-4540-82EB-1F6BBCDEF7B5}"/>
              </a:ext>
            </a:extLst>
          </p:cNvPr>
          <p:cNvSpPr>
            <a:spLocks noGrp="1"/>
          </p:cNvSpPr>
          <p:nvPr/>
        </p:nvSpPr>
        <p:spPr>
          <a:xfrm>
            <a:off x="5021439" y="1669733"/>
            <a:ext cx="2770011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Central Executive</a:t>
            </a:r>
          </a:p>
        </p:txBody>
      </p:sp>
      <p:sp>
        <p:nvSpPr>
          <p:cNvPr id="13" name="m1-text-123">
            <a:extLst>
              <a:ext uri="{FF2B5EF4-FFF2-40B4-BE49-F238E27FC236}">
                <a16:creationId xmlns:a16="http://schemas.microsoft.com/office/drawing/2014/main" id="{ECAADA60-4498-4645-8964-E530F797837B}"/>
              </a:ext>
            </a:extLst>
          </p:cNvPr>
          <p:cNvSpPr>
            <a:spLocks noGrp="1"/>
          </p:cNvSpPr>
          <p:nvPr/>
        </p:nvSpPr>
        <p:spPr>
          <a:xfrm>
            <a:off x="5030611" y="1978343"/>
            <a:ext cx="2751667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Attention and coordination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D75A279-3560-43EB-B30F-24057AC316A9}"/>
              </a:ext>
            </a:extLst>
          </p:cNvPr>
          <p:cNvSpPr>
            <a:spLocks noGrp="1"/>
          </p:cNvSpPr>
          <p:nvPr/>
        </p:nvSpPr>
        <p:spPr>
          <a:xfrm>
            <a:off x="4883856" y="2518410"/>
            <a:ext cx="3045178" cy="17145"/>
          </a:xfrm>
          <a:prstGeom prst="rect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C1A0767-7A0C-4FC8-87D3-CDD5CF5DCAA1}"/>
              </a:ext>
            </a:extLst>
          </p:cNvPr>
          <p:cNvSpPr>
            <a:spLocks noGrp="1"/>
          </p:cNvSpPr>
          <p:nvPr/>
        </p:nvSpPr>
        <p:spPr>
          <a:xfrm>
            <a:off x="6397272" y="2329815"/>
            <a:ext cx="18344" cy="197168"/>
          </a:xfrm>
          <a:prstGeom prst="rect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B3EDAEE9-AA71-482F-920E-7C8E369B6352}"/>
              </a:ext>
            </a:extLst>
          </p:cNvPr>
          <p:cNvSpPr>
            <a:spLocks noGrp="1"/>
          </p:cNvSpPr>
          <p:nvPr/>
        </p:nvSpPr>
        <p:spPr>
          <a:xfrm rot="5400000">
            <a:off x="4828822" y="2569845"/>
            <a:ext cx="183444" cy="111443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975989FE-A0B8-4E6B-BAF5-00E51FFA1945}"/>
              </a:ext>
            </a:extLst>
          </p:cNvPr>
          <p:cNvSpPr>
            <a:spLocks noGrp="1"/>
          </p:cNvSpPr>
          <p:nvPr/>
        </p:nvSpPr>
        <p:spPr>
          <a:xfrm rot="5400000">
            <a:off x="6314722" y="2569845"/>
            <a:ext cx="183444" cy="111443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4EB0E8DA-3B86-402E-BDE4-DB48802F5BDE}"/>
              </a:ext>
            </a:extLst>
          </p:cNvPr>
          <p:cNvSpPr>
            <a:spLocks noGrp="1"/>
          </p:cNvSpPr>
          <p:nvPr/>
        </p:nvSpPr>
        <p:spPr>
          <a:xfrm rot="5400000">
            <a:off x="7800622" y="2569845"/>
            <a:ext cx="183444" cy="111443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857315CF-2250-48D6-B6CB-BCEA890F4730}"/>
              </a:ext>
            </a:extLst>
          </p:cNvPr>
          <p:cNvSpPr>
            <a:spLocks noGrp="1"/>
          </p:cNvSpPr>
          <p:nvPr/>
        </p:nvSpPr>
        <p:spPr>
          <a:xfrm>
            <a:off x="4278489" y="2784158"/>
            <a:ext cx="1320800" cy="840105"/>
          </a:xfrm>
          <a:prstGeom prst="roundRect">
            <a:avLst>
              <a:gd name="adj" fmla="val 816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20" name="m1-text-124">
            <a:extLst>
              <a:ext uri="{FF2B5EF4-FFF2-40B4-BE49-F238E27FC236}">
                <a16:creationId xmlns:a16="http://schemas.microsoft.com/office/drawing/2014/main" id="{F434EC9A-2BEB-4A56-9068-2BFB002AE1BB}"/>
              </a:ext>
            </a:extLst>
          </p:cNvPr>
          <p:cNvSpPr>
            <a:spLocks noGrp="1"/>
          </p:cNvSpPr>
          <p:nvPr/>
        </p:nvSpPr>
        <p:spPr>
          <a:xfrm>
            <a:off x="4342694" y="2989898"/>
            <a:ext cx="11923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Phonological</a:t>
            </a:r>
          </a:p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Loop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75B48AB3-7C09-4803-8666-D380CAFE374A}"/>
              </a:ext>
            </a:extLst>
          </p:cNvPr>
          <p:cNvSpPr>
            <a:spLocks noGrp="1"/>
          </p:cNvSpPr>
          <p:nvPr/>
        </p:nvSpPr>
        <p:spPr>
          <a:xfrm>
            <a:off x="5746044" y="2784158"/>
            <a:ext cx="1320800" cy="840105"/>
          </a:xfrm>
          <a:prstGeom prst="roundRect">
            <a:avLst>
              <a:gd name="adj" fmla="val 816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22" name="m1-text-125">
            <a:extLst>
              <a:ext uri="{FF2B5EF4-FFF2-40B4-BE49-F238E27FC236}">
                <a16:creationId xmlns:a16="http://schemas.microsoft.com/office/drawing/2014/main" id="{47050FF8-60E6-4E21-9E24-DD681E3F7830}"/>
              </a:ext>
            </a:extLst>
          </p:cNvPr>
          <p:cNvSpPr>
            <a:spLocks noGrp="1"/>
          </p:cNvSpPr>
          <p:nvPr/>
        </p:nvSpPr>
        <p:spPr>
          <a:xfrm>
            <a:off x="5810250" y="2989898"/>
            <a:ext cx="11923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Episodic</a:t>
            </a:r>
          </a:p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Buffer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C5EDA091-29C6-4383-A933-8F1F26489455}"/>
              </a:ext>
            </a:extLst>
          </p:cNvPr>
          <p:cNvSpPr>
            <a:spLocks noGrp="1"/>
          </p:cNvSpPr>
          <p:nvPr/>
        </p:nvSpPr>
        <p:spPr>
          <a:xfrm>
            <a:off x="7213600" y="2784158"/>
            <a:ext cx="1320800" cy="840105"/>
          </a:xfrm>
          <a:prstGeom prst="roundRect">
            <a:avLst>
              <a:gd name="adj" fmla="val 816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24" name="m1-text-126">
            <a:extLst>
              <a:ext uri="{FF2B5EF4-FFF2-40B4-BE49-F238E27FC236}">
                <a16:creationId xmlns:a16="http://schemas.microsoft.com/office/drawing/2014/main" id="{95AA66F7-0C05-4B77-BAE3-2114EFAF49D7}"/>
              </a:ext>
            </a:extLst>
          </p:cNvPr>
          <p:cNvSpPr>
            <a:spLocks noGrp="1"/>
          </p:cNvSpPr>
          <p:nvPr/>
        </p:nvSpPr>
        <p:spPr>
          <a:xfrm>
            <a:off x="7277806" y="2989898"/>
            <a:ext cx="11923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Visuospatial</a:t>
            </a:r>
          </a:p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Sketchpad</a:t>
            </a:r>
          </a:p>
        </p:txBody>
      </p:sp>
      <p:sp>
        <p:nvSpPr>
          <p:cNvPr id="25" name="m1-text-293">
            <a:extLst>
              <a:ext uri="{FF2B5EF4-FFF2-40B4-BE49-F238E27FC236}">
                <a16:creationId xmlns:a16="http://schemas.microsoft.com/office/drawing/2014/main" id="{517AE858-0D8F-4D56-B0FF-6DCED833B1C7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31620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1-text-127">
            <a:extLst>
              <a:ext uri="{FF2B5EF4-FFF2-40B4-BE49-F238E27FC236}">
                <a16:creationId xmlns:a16="http://schemas.microsoft.com/office/drawing/2014/main" id="{9016667D-A4E6-41D2-97CC-F81CD6F5EDF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28">
            <a:extLst>
              <a:ext uri="{FF2B5EF4-FFF2-40B4-BE49-F238E27FC236}">
                <a16:creationId xmlns:a16="http://schemas.microsoft.com/office/drawing/2014/main" id="{35045A5C-2EED-4C89-96E2-1E28F656185E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29">
            <a:extLst>
              <a:ext uri="{FF2B5EF4-FFF2-40B4-BE49-F238E27FC236}">
                <a16:creationId xmlns:a16="http://schemas.microsoft.com/office/drawing/2014/main" id="{28ABFDC3-8F38-4A52-ABF5-D21D497057A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Long-Term Memory [3]</a:t>
            </a:r>
          </a:p>
        </p:txBody>
      </p:sp>
      <p:sp>
        <p:nvSpPr>
          <p:cNvPr id="4" name="m1-subheading-130">
            <a:extLst>
              <a:ext uri="{FF2B5EF4-FFF2-40B4-BE49-F238E27FC236}">
                <a16:creationId xmlns:a16="http://schemas.microsoft.com/office/drawing/2014/main" id="{3BA95F3F-5A29-4B78-91FF-0AEBF1AC7BA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357033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Retention beyond the present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8221188-C8E6-44A0-B5F9-513D0F2AA59B}"/>
              </a:ext>
            </a:extLst>
          </p:cNvPr>
          <p:cNvSpPr>
            <a:spLocks noGrp="1"/>
          </p:cNvSpPr>
          <p:nvPr/>
        </p:nvSpPr>
        <p:spPr>
          <a:xfrm>
            <a:off x="609600" y="2406968"/>
            <a:ext cx="3357033" cy="1234440"/>
          </a:xfrm>
          <a:prstGeom prst="roundRect">
            <a:avLst>
              <a:gd name="adj" fmla="val 5556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6" name="m1-text-131">
            <a:extLst>
              <a:ext uri="{FF2B5EF4-FFF2-40B4-BE49-F238E27FC236}">
                <a16:creationId xmlns:a16="http://schemas.microsoft.com/office/drawing/2014/main" id="{0299DA45-F7D5-4DF4-A73C-53B5E5E00A03}"/>
              </a:ext>
            </a:extLst>
          </p:cNvPr>
          <p:cNvSpPr>
            <a:spLocks noGrp="1"/>
          </p:cNvSpPr>
          <p:nvPr/>
        </p:nvSpPr>
        <p:spPr>
          <a:xfrm>
            <a:off x="756356" y="2552700"/>
            <a:ext cx="3063522" cy="10458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Atkinson and Shiffrin describe a long-term store for knowledge and experience.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FC0391A-D26E-4B8F-AF2C-D848733874C9}"/>
              </a:ext>
            </a:extLst>
          </p:cNvPr>
          <p:cNvSpPr>
            <a:spLocks noGrp="1"/>
          </p:cNvSpPr>
          <p:nvPr/>
        </p:nvSpPr>
        <p:spPr>
          <a:xfrm>
            <a:off x="609600" y="3718560"/>
            <a:ext cx="7924800" cy="865823"/>
          </a:xfrm>
          <a:prstGeom prst="roundRect">
            <a:avLst>
              <a:gd name="adj" fmla="val 792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8" name="m1-text-132">
            <a:extLst>
              <a:ext uri="{FF2B5EF4-FFF2-40B4-BE49-F238E27FC236}">
                <a16:creationId xmlns:a16="http://schemas.microsoft.com/office/drawing/2014/main" id="{120894D3-EB06-499B-B426-D03062F0DD63}"/>
              </a:ext>
            </a:extLst>
          </p:cNvPr>
          <p:cNvSpPr>
            <a:spLocks noGrp="1"/>
          </p:cNvSpPr>
          <p:nvPr/>
        </p:nvSpPr>
        <p:spPr>
          <a:xfrm>
            <a:off x="756356" y="3787140"/>
            <a:ext cx="7631289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Control processes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47A3832-21C5-4714-AB2E-EEF7AA784364}"/>
              </a:ext>
            </a:extLst>
          </p:cNvPr>
          <p:cNvSpPr>
            <a:spLocks noGrp="1"/>
          </p:cNvSpPr>
          <p:nvPr/>
        </p:nvSpPr>
        <p:spPr>
          <a:xfrm>
            <a:off x="756356" y="4052888"/>
            <a:ext cx="7631289" cy="17145"/>
          </a:xfrm>
          <a:prstGeom prst="rect">
            <a:avLst/>
          </a:prstGeom>
          <a:solidFill>
            <a:srgbClr val="3A4458"/>
          </a:solidFill>
          <a:ln w="0">
            <a:noFill/>
          </a:ln>
        </p:spPr>
      </p:sp>
      <p:sp>
        <p:nvSpPr>
          <p:cNvPr id="10" name="m1-text-133">
            <a:extLst>
              <a:ext uri="{FF2B5EF4-FFF2-40B4-BE49-F238E27FC236}">
                <a16:creationId xmlns:a16="http://schemas.microsoft.com/office/drawing/2014/main" id="{1BF297F7-C912-48D0-8712-12261DBAB855}"/>
              </a:ext>
            </a:extLst>
          </p:cNvPr>
          <p:cNvSpPr>
            <a:spLocks noGrp="1"/>
          </p:cNvSpPr>
          <p:nvPr/>
        </p:nvSpPr>
        <p:spPr>
          <a:xfrm>
            <a:off x="756356" y="4121468"/>
            <a:ext cx="7631289" cy="4629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152400" indent="-114300">
              <a:spcAft>
                <a:spcPts val="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Transfer / encoding</a:t>
            </a:r>
            <a:r>
              <a:t>: supports long-term retention.</a:t>
            </a:r>
          </a:p>
          <a:p>
            <a:pPr marL="152400" indent="-114300">
              <a:spcAft>
                <a:spcPts val="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Retrieval</a:t>
            </a:r>
            <a:r>
              <a:t>: brings stored information back into use.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DD15D87-426C-44A3-8DE8-A6164A4848BA}"/>
              </a:ext>
            </a:extLst>
          </p:cNvPr>
          <p:cNvSpPr>
            <a:spLocks noGrp="1"/>
          </p:cNvSpPr>
          <p:nvPr/>
        </p:nvSpPr>
        <p:spPr>
          <a:xfrm>
            <a:off x="4278489" y="2124075"/>
            <a:ext cx="1339144" cy="1440180"/>
          </a:xfrm>
          <a:prstGeom prst="roundRect">
            <a:avLst>
              <a:gd name="adj" fmla="val 5479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2" name="m1-text-134">
            <a:extLst>
              <a:ext uri="{FF2B5EF4-FFF2-40B4-BE49-F238E27FC236}">
                <a16:creationId xmlns:a16="http://schemas.microsoft.com/office/drawing/2014/main" id="{EA078C34-FE74-4EDD-8458-73DD21013B1C}"/>
              </a:ext>
            </a:extLst>
          </p:cNvPr>
          <p:cNvSpPr>
            <a:spLocks noGrp="1"/>
          </p:cNvSpPr>
          <p:nvPr/>
        </p:nvSpPr>
        <p:spPr>
          <a:xfrm>
            <a:off x="4397728" y="2235518"/>
            <a:ext cx="1100667" cy="497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Working</a:t>
            </a:r>
          </a:p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13" name="m1-text-135">
            <a:extLst>
              <a:ext uri="{FF2B5EF4-FFF2-40B4-BE49-F238E27FC236}">
                <a16:creationId xmlns:a16="http://schemas.microsoft.com/office/drawing/2014/main" id="{CED96B43-0C0D-40F1-8C3E-7852C537E66B}"/>
              </a:ext>
            </a:extLst>
          </p:cNvPr>
          <p:cNvSpPr>
            <a:spLocks noGrp="1"/>
          </p:cNvSpPr>
          <p:nvPr/>
        </p:nvSpPr>
        <p:spPr>
          <a:xfrm>
            <a:off x="4397728" y="2818448"/>
            <a:ext cx="1100667" cy="702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Active</a:t>
            </a:r>
          </a:p>
          <a:p>
            <a:pPr algn="ctr"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information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0163FB1-3A6B-4A45-91E1-40F67AF535A7}"/>
              </a:ext>
            </a:extLst>
          </p:cNvPr>
          <p:cNvSpPr>
            <a:spLocks noGrp="1"/>
          </p:cNvSpPr>
          <p:nvPr/>
        </p:nvSpPr>
        <p:spPr>
          <a:xfrm>
            <a:off x="6479822" y="1704023"/>
            <a:ext cx="2054578" cy="1971675"/>
          </a:xfrm>
          <a:prstGeom prst="roundRect">
            <a:avLst>
              <a:gd name="adj" fmla="val 357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5" name="m1-text-136">
            <a:extLst>
              <a:ext uri="{FF2B5EF4-FFF2-40B4-BE49-F238E27FC236}">
                <a16:creationId xmlns:a16="http://schemas.microsoft.com/office/drawing/2014/main" id="{A4EA16C0-54A6-447D-A734-F4B995D5D6D4}"/>
              </a:ext>
            </a:extLst>
          </p:cNvPr>
          <p:cNvSpPr>
            <a:spLocks noGrp="1"/>
          </p:cNvSpPr>
          <p:nvPr/>
        </p:nvSpPr>
        <p:spPr>
          <a:xfrm>
            <a:off x="6599061" y="1824038"/>
            <a:ext cx="1816100" cy="2914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Long-Term Memory</a:t>
            </a:r>
          </a:p>
        </p:txBody>
      </p:sp>
      <p:sp>
        <p:nvSpPr>
          <p:cNvPr id="16" name="m1-text-137">
            <a:extLst>
              <a:ext uri="{FF2B5EF4-FFF2-40B4-BE49-F238E27FC236}">
                <a16:creationId xmlns:a16="http://schemas.microsoft.com/office/drawing/2014/main" id="{30FACC52-CB54-49FC-B4F2-04A38622F959}"/>
              </a:ext>
            </a:extLst>
          </p:cNvPr>
          <p:cNvSpPr>
            <a:spLocks noGrp="1"/>
          </p:cNvSpPr>
          <p:nvPr/>
        </p:nvSpPr>
        <p:spPr>
          <a:xfrm>
            <a:off x="6644922" y="2235518"/>
            <a:ext cx="1724378" cy="131159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152400" indent="-114300">
              <a:spcAft>
                <a:spcPts val="1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Semantic</a:t>
            </a:r>
          </a:p>
          <a:p>
            <a:pPr marL="152400" indent="-114300">
              <a:spcAft>
                <a:spcPts val="1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Episodic</a:t>
            </a:r>
          </a:p>
          <a:p>
            <a:pPr marL="152400" indent="-114300">
              <a:spcAft>
                <a:spcPts val="1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Procedural</a:t>
            </a:r>
          </a:p>
          <a:p>
            <a:pPr marL="152400" indent="-114300">
              <a:spcAft>
                <a:spcPts val="1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Autobiographical</a:t>
            </a:r>
          </a:p>
          <a:p>
            <a:pPr marL="152400" indent="-114300">
              <a:spcAft>
                <a:spcPts val="1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Spatial, ...</a:t>
            </a:r>
          </a:p>
        </p:txBody>
      </p:sp>
      <p:sp>
        <p:nvSpPr>
          <p:cNvPr id="17" name="m1-text-138">
            <a:extLst>
              <a:ext uri="{FF2B5EF4-FFF2-40B4-BE49-F238E27FC236}">
                <a16:creationId xmlns:a16="http://schemas.microsoft.com/office/drawing/2014/main" id="{22F20045-0605-4F47-BA6A-171E6E681075}"/>
              </a:ext>
            </a:extLst>
          </p:cNvPr>
          <p:cNvSpPr>
            <a:spLocks noGrp="1"/>
          </p:cNvSpPr>
          <p:nvPr/>
        </p:nvSpPr>
        <p:spPr>
          <a:xfrm>
            <a:off x="5635978" y="2269808"/>
            <a:ext cx="825500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Transfer</a:t>
            </a:r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76B8261F-9C74-4A7D-B9BA-18DE75570DFA}"/>
              </a:ext>
            </a:extLst>
          </p:cNvPr>
          <p:cNvSpPr>
            <a:spLocks noGrp="1"/>
          </p:cNvSpPr>
          <p:nvPr/>
        </p:nvSpPr>
        <p:spPr>
          <a:xfrm>
            <a:off x="5801078" y="2604135"/>
            <a:ext cx="504472" cy="128588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FD671058-37B5-4D84-8A4C-E3D3D4B29AD7}"/>
              </a:ext>
            </a:extLst>
          </p:cNvPr>
          <p:cNvSpPr>
            <a:spLocks noGrp="1"/>
          </p:cNvSpPr>
          <p:nvPr/>
        </p:nvSpPr>
        <p:spPr>
          <a:xfrm rot="10800000">
            <a:off x="5801078" y="3041333"/>
            <a:ext cx="504472" cy="128588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20" name="m1-text-139">
            <a:extLst>
              <a:ext uri="{FF2B5EF4-FFF2-40B4-BE49-F238E27FC236}">
                <a16:creationId xmlns:a16="http://schemas.microsoft.com/office/drawing/2014/main" id="{05D46A8E-7C50-4F86-AA25-DF982B73F34C}"/>
              </a:ext>
            </a:extLst>
          </p:cNvPr>
          <p:cNvSpPr>
            <a:spLocks noGrp="1"/>
          </p:cNvSpPr>
          <p:nvPr/>
        </p:nvSpPr>
        <p:spPr>
          <a:xfrm>
            <a:off x="5635978" y="3272790"/>
            <a:ext cx="825500" cy="23145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21" name="m1-text-294">
            <a:extLst>
              <a:ext uri="{FF2B5EF4-FFF2-40B4-BE49-F238E27FC236}">
                <a16:creationId xmlns:a16="http://schemas.microsoft.com/office/drawing/2014/main" id="{7029F21C-415B-4756-AC21-75635B9680E3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32857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1-text-140">
            <a:extLst>
              <a:ext uri="{FF2B5EF4-FFF2-40B4-BE49-F238E27FC236}">
                <a16:creationId xmlns:a16="http://schemas.microsoft.com/office/drawing/2014/main" id="{8C440807-F76B-4FE0-905C-7288E1F26AD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41">
            <a:extLst>
              <a:ext uri="{FF2B5EF4-FFF2-40B4-BE49-F238E27FC236}">
                <a16:creationId xmlns:a16="http://schemas.microsoft.com/office/drawing/2014/main" id="{D4173297-0A8C-4F4F-A4E5-0D28F58D5EF7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42">
            <a:extLst>
              <a:ext uri="{FF2B5EF4-FFF2-40B4-BE49-F238E27FC236}">
                <a16:creationId xmlns:a16="http://schemas.microsoft.com/office/drawing/2014/main" id="{8924479B-D9EF-4A05-82EC-C86FF96CBFA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LTM: Semantic Memory [6]</a:t>
            </a:r>
          </a:p>
        </p:txBody>
      </p:sp>
      <p:sp>
        <p:nvSpPr>
          <p:cNvPr id="4" name="m1-subheading-143">
            <a:extLst>
              <a:ext uri="{FF2B5EF4-FFF2-40B4-BE49-F238E27FC236}">
                <a16:creationId xmlns:a16="http://schemas.microsoft.com/office/drawing/2014/main" id="{31A38F0D-301F-40E0-8D9D-C54533545F99}"/>
              </a:ext>
            </a:extLst>
          </p:cNvPr>
          <p:cNvSpPr>
            <a:spLocks noGrp="1"/>
          </p:cNvSpPr>
          <p:nvPr/>
        </p:nvSpPr>
        <p:spPr>
          <a:xfrm>
            <a:off x="609600" y="1558290"/>
            <a:ext cx="3778956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Knowledge about the world</a:t>
            </a:r>
          </a:p>
        </p:txBody>
      </p:sp>
      <p:sp>
        <p:nvSpPr>
          <p:cNvPr id="5" name="m1-text-144">
            <a:extLst>
              <a:ext uri="{FF2B5EF4-FFF2-40B4-BE49-F238E27FC236}">
                <a16:creationId xmlns:a16="http://schemas.microsoft.com/office/drawing/2014/main" id="{A8D79880-D848-489C-AD68-18985026AC46}"/>
              </a:ext>
            </a:extLst>
          </p:cNvPr>
          <p:cNvSpPr>
            <a:spLocks noGrp="1"/>
          </p:cNvSpPr>
          <p:nvPr/>
        </p:nvSpPr>
        <p:spPr>
          <a:xfrm>
            <a:off x="609600" y="2561273"/>
            <a:ext cx="3778956" cy="10115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Facts, concepts and meanings, independent of a particular personal experience.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6B4F224-7AD6-4F05-B733-C7F836FF0EBC}"/>
              </a:ext>
            </a:extLst>
          </p:cNvPr>
          <p:cNvSpPr>
            <a:spLocks noGrp="1"/>
          </p:cNvSpPr>
          <p:nvPr/>
        </p:nvSpPr>
        <p:spPr>
          <a:xfrm>
            <a:off x="609600" y="3769995"/>
            <a:ext cx="3778956" cy="737235"/>
          </a:xfrm>
          <a:prstGeom prst="roundRect">
            <a:avLst>
              <a:gd name="adj" fmla="val 9302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145">
            <a:extLst>
              <a:ext uri="{FF2B5EF4-FFF2-40B4-BE49-F238E27FC236}">
                <a16:creationId xmlns:a16="http://schemas.microsoft.com/office/drawing/2014/main" id="{F90EE253-C1F3-4ECE-9B7B-E36938F08A36}"/>
              </a:ext>
            </a:extLst>
          </p:cNvPr>
          <p:cNvSpPr>
            <a:spLocks noGrp="1"/>
          </p:cNvSpPr>
          <p:nvPr/>
        </p:nvSpPr>
        <p:spPr>
          <a:xfrm>
            <a:off x="756356" y="3890010"/>
            <a:ext cx="3485444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Paris is the capital of France.</a:t>
            </a: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47605" y="1558290"/>
            <a:ext cx="2794635" cy="2794635"/>
          </a:xfrm>
          <a:prstGeom prst="rect">
            <a:avLst/>
          </a:prstGeom>
        </p:spPr>
      </p:pic>
      <p:sp>
        <p:nvSpPr>
          <p:cNvPr id="9" name="m1-text-295">
            <a:extLst>
              <a:ext uri="{FF2B5EF4-FFF2-40B4-BE49-F238E27FC236}">
                <a16:creationId xmlns:a16="http://schemas.microsoft.com/office/drawing/2014/main" id="{CDEB06CC-04CC-4575-86DE-0E0453372820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58016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1-text-146">
            <a:extLst>
              <a:ext uri="{FF2B5EF4-FFF2-40B4-BE49-F238E27FC236}">
                <a16:creationId xmlns:a16="http://schemas.microsoft.com/office/drawing/2014/main" id="{6ABB9D6F-1101-4518-8324-F156609880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47">
            <a:extLst>
              <a:ext uri="{FF2B5EF4-FFF2-40B4-BE49-F238E27FC236}">
                <a16:creationId xmlns:a16="http://schemas.microsoft.com/office/drawing/2014/main" id="{BB52F73C-0119-4C28-AE07-59308DE9ADE2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48">
            <a:extLst>
              <a:ext uri="{FF2B5EF4-FFF2-40B4-BE49-F238E27FC236}">
                <a16:creationId xmlns:a16="http://schemas.microsoft.com/office/drawing/2014/main" id="{162E2D98-E8C2-48D4-902B-80227141EF6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LTM: Episodic Memory [6]</a:t>
            </a:r>
          </a:p>
        </p:txBody>
      </p:sp>
      <p:sp>
        <p:nvSpPr>
          <p:cNvPr id="4" name="m1-subheading-149">
            <a:extLst>
              <a:ext uri="{FF2B5EF4-FFF2-40B4-BE49-F238E27FC236}">
                <a16:creationId xmlns:a16="http://schemas.microsoft.com/office/drawing/2014/main" id="{C3BEC4FC-0928-459C-8F24-4793092D3C90}"/>
              </a:ext>
            </a:extLst>
          </p:cNvPr>
          <p:cNvSpPr>
            <a:spLocks noGrp="1"/>
          </p:cNvSpPr>
          <p:nvPr/>
        </p:nvSpPr>
        <p:spPr>
          <a:xfrm>
            <a:off x="4755444" y="1558290"/>
            <a:ext cx="3778956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Experiences in time and place</a:t>
            </a:r>
          </a:p>
        </p:txBody>
      </p:sp>
      <p:sp>
        <p:nvSpPr>
          <p:cNvPr id="5" name="m1-text-150">
            <a:extLst>
              <a:ext uri="{FF2B5EF4-FFF2-40B4-BE49-F238E27FC236}">
                <a16:creationId xmlns:a16="http://schemas.microsoft.com/office/drawing/2014/main" id="{8FD62A06-C6A8-454A-B252-ED3D2ADE226C}"/>
              </a:ext>
            </a:extLst>
          </p:cNvPr>
          <p:cNvSpPr>
            <a:spLocks noGrp="1"/>
          </p:cNvSpPr>
          <p:nvPr/>
        </p:nvSpPr>
        <p:spPr>
          <a:xfrm>
            <a:off x="4755444" y="2561273"/>
            <a:ext cx="3778956" cy="10115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Personally experienced events, reconstructed with their context.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A5842AE-86BD-4A43-A650-8CD3BB70F42D}"/>
              </a:ext>
            </a:extLst>
          </p:cNvPr>
          <p:cNvSpPr>
            <a:spLocks noGrp="1"/>
          </p:cNvSpPr>
          <p:nvPr/>
        </p:nvSpPr>
        <p:spPr>
          <a:xfrm>
            <a:off x="4755444" y="3769995"/>
            <a:ext cx="3778956" cy="737235"/>
          </a:xfrm>
          <a:prstGeom prst="roundRect">
            <a:avLst>
              <a:gd name="adj" fmla="val 9302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151">
            <a:extLst>
              <a:ext uri="{FF2B5EF4-FFF2-40B4-BE49-F238E27FC236}">
                <a16:creationId xmlns:a16="http://schemas.microsoft.com/office/drawing/2014/main" id="{D2E2E106-6034-4728-96F2-D06D918FAF74}"/>
              </a:ext>
            </a:extLst>
          </p:cNvPr>
          <p:cNvSpPr>
            <a:spLocks noGrp="1"/>
          </p:cNvSpPr>
          <p:nvPr/>
        </p:nvSpPr>
        <p:spPr>
          <a:xfrm>
            <a:off x="4902200" y="3890010"/>
            <a:ext cx="3485444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 arrived in Paris last summer.</a:t>
            </a: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1760" y="1558290"/>
            <a:ext cx="2794635" cy="2794635"/>
          </a:xfrm>
          <a:prstGeom prst="rect">
            <a:avLst/>
          </a:prstGeom>
        </p:spPr>
      </p:pic>
      <p:sp>
        <p:nvSpPr>
          <p:cNvPr id="9" name="m1-text-296">
            <a:extLst>
              <a:ext uri="{FF2B5EF4-FFF2-40B4-BE49-F238E27FC236}">
                <a16:creationId xmlns:a16="http://schemas.microsoft.com/office/drawing/2014/main" id="{E8324441-3681-4763-BD10-E43FB4D6745D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29312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1-text-152">
            <a:extLst>
              <a:ext uri="{FF2B5EF4-FFF2-40B4-BE49-F238E27FC236}">
                <a16:creationId xmlns:a16="http://schemas.microsoft.com/office/drawing/2014/main" id="{5BE88CF5-04B0-4E4C-9F37-0FC67DF93DB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53">
            <a:extLst>
              <a:ext uri="{FF2B5EF4-FFF2-40B4-BE49-F238E27FC236}">
                <a16:creationId xmlns:a16="http://schemas.microsoft.com/office/drawing/2014/main" id="{41E894FB-E6BC-43FC-86D1-9D91137A388F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54">
            <a:extLst>
              <a:ext uri="{FF2B5EF4-FFF2-40B4-BE49-F238E27FC236}">
                <a16:creationId xmlns:a16="http://schemas.microsoft.com/office/drawing/2014/main" id="{B69C87D4-A65F-4851-A36C-45DAFBD7225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LTM: Procedural Memory [7]</a:t>
            </a:r>
          </a:p>
        </p:txBody>
      </p:sp>
      <p:sp>
        <p:nvSpPr>
          <p:cNvPr id="4" name="m1-subheading-155">
            <a:extLst>
              <a:ext uri="{FF2B5EF4-FFF2-40B4-BE49-F238E27FC236}">
                <a16:creationId xmlns:a16="http://schemas.microsoft.com/office/drawing/2014/main" id="{DD4DC65E-3078-466E-84E8-830A665C6F50}"/>
              </a:ext>
            </a:extLst>
          </p:cNvPr>
          <p:cNvSpPr>
            <a:spLocks noGrp="1"/>
          </p:cNvSpPr>
          <p:nvPr/>
        </p:nvSpPr>
        <p:spPr>
          <a:xfrm>
            <a:off x="609600" y="1558290"/>
            <a:ext cx="3778956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Knowing how to do something</a:t>
            </a:r>
          </a:p>
        </p:txBody>
      </p:sp>
      <p:sp>
        <p:nvSpPr>
          <p:cNvPr id="5" name="m1-text-156">
            <a:extLst>
              <a:ext uri="{FF2B5EF4-FFF2-40B4-BE49-F238E27FC236}">
                <a16:creationId xmlns:a16="http://schemas.microsoft.com/office/drawing/2014/main" id="{5635A971-774B-47DE-8586-609A39517D21}"/>
              </a:ext>
            </a:extLst>
          </p:cNvPr>
          <p:cNvSpPr>
            <a:spLocks noGrp="1"/>
          </p:cNvSpPr>
          <p:nvPr/>
        </p:nvSpPr>
        <p:spPr>
          <a:xfrm>
            <a:off x="609600" y="2561273"/>
            <a:ext cx="3778956" cy="10115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Learned skills and habits that become fluent with practice.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F392D91-C6E2-4821-A4BC-448FA208EC37}"/>
              </a:ext>
            </a:extLst>
          </p:cNvPr>
          <p:cNvSpPr>
            <a:spLocks noGrp="1"/>
          </p:cNvSpPr>
          <p:nvPr/>
        </p:nvSpPr>
        <p:spPr>
          <a:xfrm>
            <a:off x="609600" y="3769995"/>
            <a:ext cx="3778956" cy="737235"/>
          </a:xfrm>
          <a:prstGeom prst="roundRect">
            <a:avLst>
              <a:gd name="adj" fmla="val 9302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157">
            <a:extLst>
              <a:ext uri="{FF2B5EF4-FFF2-40B4-BE49-F238E27FC236}">
                <a16:creationId xmlns:a16="http://schemas.microsoft.com/office/drawing/2014/main" id="{194405BF-7384-4F11-8A6C-B744EC232BE9}"/>
              </a:ext>
            </a:extLst>
          </p:cNvPr>
          <p:cNvSpPr>
            <a:spLocks noGrp="1"/>
          </p:cNvSpPr>
          <p:nvPr/>
        </p:nvSpPr>
        <p:spPr>
          <a:xfrm>
            <a:off x="756356" y="3890010"/>
            <a:ext cx="3485444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Riding a bicycle.</a:t>
            </a: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47605" y="1558290"/>
            <a:ext cx="2794635" cy="2794635"/>
          </a:xfrm>
          <a:prstGeom prst="rect">
            <a:avLst/>
          </a:prstGeom>
        </p:spPr>
      </p:pic>
      <p:sp>
        <p:nvSpPr>
          <p:cNvPr id="9" name="m1-text-297">
            <a:extLst>
              <a:ext uri="{FF2B5EF4-FFF2-40B4-BE49-F238E27FC236}">
                <a16:creationId xmlns:a16="http://schemas.microsoft.com/office/drawing/2014/main" id="{01FBCC0D-4D9F-4B93-9271-FDE02870A5EB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11088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1-text-158">
            <a:extLst>
              <a:ext uri="{FF2B5EF4-FFF2-40B4-BE49-F238E27FC236}">
                <a16:creationId xmlns:a16="http://schemas.microsoft.com/office/drawing/2014/main" id="{5535D73E-C00E-48D1-B2F5-CC51E9A6ECF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59">
            <a:extLst>
              <a:ext uri="{FF2B5EF4-FFF2-40B4-BE49-F238E27FC236}">
                <a16:creationId xmlns:a16="http://schemas.microsoft.com/office/drawing/2014/main" id="{7DDE2B06-209F-4EA3-8C61-ABC3F6F04D7C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60">
            <a:extLst>
              <a:ext uri="{FF2B5EF4-FFF2-40B4-BE49-F238E27FC236}">
                <a16:creationId xmlns:a16="http://schemas.microsoft.com/office/drawing/2014/main" id="{EBF01D71-E99A-49DE-891E-A3A3E796132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LTM: Autobiographical Memory [8]</a:t>
            </a:r>
          </a:p>
        </p:txBody>
      </p:sp>
      <p:sp>
        <p:nvSpPr>
          <p:cNvPr id="4" name="m1-subheading-161">
            <a:extLst>
              <a:ext uri="{FF2B5EF4-FFF2-40B4-BE49-F238E27FC236}">
                <a16:creationId xmlns:a16="http://schemas.microsoft.com/office/drawing/2014/main" id="{908AEE33-C172-4799-B928-A615C37F6E9C}"/>
              </a:ext>
            </a:extLst>
          </p:cNvPr>
          <p:cNvSpPr>
            <a:spLocks noGrp="1"/>
          </p:cNvSpPr>
          <p:nvPr/>
        </p:nvSpPr>
        <p:spPr>
          <a:xfrm>
            <a:off x="4755444" y="1558290"/>
            <a:ext cx="3778956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Experiences become a life story</a:t>
            </a:r>
          </a:p>
        </p:txBody>
      </p:sp>
      <p:sp>
        <p:nvSpPr>
          <p:cNvPr id="5" name="m1-text-162">
            <a:extLst>
              <a:ext uri="{FF2B5EF4-FFF2-40B4-BE49-F238E27FC236}">
                <a16:creationId xmlns:a16="http://schemas.microsoft.com/office/drawing/2014/main" id="{86362987-2BB4-44B9-A096-E767B96A70D8}"/>
              </a:ext>
            </a:extLst>
          </p:cNvPr>
          <p:cNvSpPr>
            <a:spLocks noGrp="1"/>
          </p:cNvSpPr>
          <p:nvPr/>
        </p:nvSpPr>
        <p:spPr>
          <a:xfrm>
            <a:off x="4755444" y="2561273"/>
            <a:ext cx="3778956" cy="10115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Builds on episodic memory, connecting experiences with personal knowledge and identity.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5D02FB-C098-437D-A7C1-1F4A204433B7}"/>
              </a:ext>
            </a:extLst>
          </p:cNvPr>
          <p:cNvSpPr>
            <a:spLocks noGrp="1"/>
          </p:cNvSpPr>
          <p:nvPr/>
        </p:nvSpPr>
        <p:spPr>
          <a:xfrm>
            <a:off x="4755444" y="3769995"/>
            <a:ext cx="3778956" cy="737235"/>
          </a:xfrm>
          <a:prstGeom prst="roundRect">
            <a:avLst>
              <a:gd name="adj" fmla="val 9302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163">
            <a:extLst>
              <a:ext uri="{FF2B5EF4-FFF2-40B4-BE49-F238E27FC236}">
                <a16:creationId xmlns:a16="http://schemas.microsoft.com/office/drawing/2014/main" id="{A67427D8-F214-4F12-988F-C3CD57F0D470}"/>
              </a:ext>
            </a:extLst>
          </p:cNvPr>
          <p:cNvSpPr>
            <a:spLocks noGrp="1"/>
          </p:cNvSpPr>
          <p:nvPr/>
        </p:nvSpPr>
        <p:spPr>
          <a:xfrm>
            <a:off x="4902200" y="3890010"/>
            <a:ext cx="3485444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My university years</a:t>
            </a:r>
          </a:p>
          <a:p>
            <a:pPr>
              <a:def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shaped who I am.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D56C8FDB-8342-4C14-856F-BE2A0B6F995A}"/>
              </a:ext>
            </a:extLst>
          </p:cNvPr>
          <p:cNvSpPr>
            <a:spLocks noGrp="1"/>
          </p:cNvSpPr>
          <p:nvPr/>
        </p:nvSpPr>
        <p:spPr>
          <a:xfrm>
            <a:off x="609600" y="1558290"/>
            <a:ext cx="3778956" cy="780098"/>
          </a:xfrm>
          <a:prstGeom prst="roundRect">
            <a:avLst>
              <a:gd name="adj" fmla="val 8791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9" name="m1-text-164">
            <a:extLst>
              <a:ext uri="{FF2B5EF4-FFF2-40B4-BE49-F238E27FC236}">
                <a16:creationId xmlns:a16="http://schemas.microsoft.com/office/drawing/2014/main" id="{34FFF16E-B9F9-45E0-BD9D-202121D7F52C}"/>
              </a:ext>
            </a:extLst>
          </p:cNvPr>
          <p:cNvSpPr>
            <a:spLocks noGrp="1"/>
          </p:cNvSpPr>
          <p:nvPr/>
        </p:nvSpPr>
        <p:spPr>
          <a:xfrm>
            <a:off x="756356" y="1678305"/>
            <a:ext cx="3485444" cy="26574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Lifetime periods</a:t>
            </a:r>
          </a:p>
        </p:txBody>
      </p:sp>
      <p:sp>
        <p:nvSpPr>
          <p:cNvPr id="10" name="m1-text-165">
            <a:extLst>
              <a:ext uri="{FF2B5EF4-FFF2-40B4-BE49-F238E27FC236}">
                <a16:creationId xmlns:a16="http://schemas.microsoft.com/office/drawing/2014/main" id="{F3885AFF-9610-409A-98C9-A275E2C6DEB2}"/>
              </a:ext>
            </a:extLst>
          </p:cNvPr>
          <p:cNvSpPr>
            <a:spLocks noGrp="1"/>
          </p:cNvSpPr>
          <p:nvPr/>
        </p:nvSpPr>
        <p:spPr>
          <a:xfrm>
            <a:off x="756356" y="2021205"/>
            <a:ext cx="3485444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University years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FCF8E14-EA42-4B06-8435-B63E3A5ABFEC}"/>
              </a:ext>
            </a:extLst>
          </p:cNvPr>
          <p:cNvSpPr>
            <a:spLocks noGrp="1"/>
          </p:cNvSpPr>
          <p:nvPr/>
        </p:nvSpPr>
        <p:spPr>
          <a:xfrm>
            <a:off x="2489906" y="2346960"/>
            <a:ext cx="18344" cy="171450"/>
          </a:xfrm>
          <a:prstGeom prst="rect">
            <a:avLst/>
          </a:prstGeom>
          <a:solidFill>
            <a:srgbClr val="D9A06B"/>
          </a:solidFill>
          <a:ln w="0">
            <a:noFill/>
          </a:ln>
        </p:spPr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FFEB6DEB-5FFA-4A72-BCE7-4C23ED3D8CF4}"/>
              </a:ext>
            </a:extLst>
          </p:cNvPr>
          <p:cNvSpPr>
            <a:spLocks noGrp="1"/>
          </p:cNvSpPr>
          <p:nvPr/>
        </p:nvSpPr>
        <p:spPr>
          <a:xfrm>
            <a:off x="793044" y="2526983"/>
            <a:ext cx="3412067" cy="780098"/>
          </a:xfrm>
          <a:prstGeom prst="roundRect">
            <a:avLst>
              <a:gd name="adj" fmla="val 8791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13" name="m1-text-166">
            <a:extLst>
              <a:ext uri="{FF2B5EF4-FFF2-40B4-BE49-F238E27FC236}">
                <a16:creationId xmlns:a16="http://schemas.microsoft.com/office/drawing/2014/main" id="{85C13959-07D5-45D6-9558-E6F0BAA1A98E}"/>
              </a:ext>
            </a:extLst>
          </p:cNvPr>
          <p:cNvSpPr>
            <a:spLocks noGrp="1"/>
          </p:cNvSpPr>
          <p:nvPr/>
        </p:nvSpPr>
        <p:spPr>
          <a:xfrm>
            <a:off x="939800" y="2646998"/>
            <a:ext cx="3118556" cy="26574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General events</a:t>
            </a:r>
          </a:p>
        </p:txBody>
      </p:sp>
      <p:sp>
        <p:nvSpPr>
          <p:cNvPr id="14" name="m1-text-167">
            <a:extLst>
              <a:ext uri="{FF2B5EF4-FFF2-40B4-BE49-F238E27FC236}">
                <a16:creationId xmlns:a16="http://schemas.microsoft.com/office/drawing/2014/main" id="{1AA239E7-24C2-4167-A0C1-9C98FF1B3140}"/>
              </a:ext>
            </a:extLst>
          </p:cNvPr>
          <p:cNvSpPr>
            <a:spLocks noGrp="1"/>
          </p:cNvSpPr>
          <p:nvPr/>
        </p:nvSpPr>
        <p:spPr>
          <a:xfrm>
            <a:off x="939800" y="2989898"/>
            <a:ext cx="3118556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Working on my thesis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84C3702-559D-46FC-8F43-B1C40E5ED7D4}"/>
              </a:ext>
            </a:extLst>
          </p:cNvPr>
          <p:cNvSpPr>
            <a:spLocks noGrp="1"/>
          </p:cNvSpPr>
          <p:nvPr/>
        </p:nvSpPr>
        <p:spPr>
          <a:xfrm>
            <a:off x="2489906" y="3315653"/>
            <a:ext cx="18344" cy="171450"/>
          </a:xfrm>
          <a:prstGeom prst="rect">
            <a:avLst/>
          </a:prstGeom>
          <a:solidFill>
            <a:srgbClr val="D9A06B"/>
          </a:solidFill>
          <a:ln w="0">
            <a:noFill/>
          </a:ln>
        </p:spPr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243BF5B-4644-4904-9BC2-7746C38CCF22}"/>
              </a:ext>
            </a:extLst>
          </p:cNvPr>
          <p:cNvSpPr>
            <a:spLocks noGrp="1"/>
          </p:cNvSpPr>
          <p:nvPr/>
        </p:nvSpPr>
        <p:spPr>
          <a:xfrm>
            <a:off x="976489" y="3495675"/>
            <a:ext cx="3045178" cy="780098"/>
          </a:xfrm>
          <a:prstGeom prst="roundRect">
            <a:avLst>
              <a:gd name="adj" fmla="val 8791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17" name="m1-text-168">
            <a:extLst>
              <a:ext uri="{FF2B5EF4-FFF2-40B4-BE49-F238E27FC236}">
                <a16:creationId xmlns:a16="http://schemas.microsoft.com/office/drawing/2014/main" id="{1C8C83F4-E1FA-4641-A313-0B1FEF953E6B}"/>
              </a:ext>
            </a:extLst>
          </p:cNvPr>
          <p:cNvSpPr>
            <a:spLocks noGrp="1"/>
          </p:cNvSpPr>
          <p:nvPr/>
        </p:nvSpPr>
        <p:spPr>
          <a:xfrm>
            <a:off x="1123244" y="3615690"/>
            <a:ext cx="2751667" cy="26574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Specific experiences</a:t>
            </a:r>
          </a:p>
        </p:txBody>
      </p:sp>
      <p:sp>
        <p:nvSpPr>
          <p:cNvPr id="18" name="m1-text-169">
            <a:extLst>
              <a:ext uri="{FF2B5EF4-FFF2-40B4-BE49-F238E27FC236}">
                <a16:creationId xmlns:a16="http://schemas.microsoft.com/office/drawing/2014/main" id="{77ECCB72-6EBF-4A29-840E-F6DD55E1715E}"/>
              </a:ext>
            </a:extLst>
          </p:cNvPr>
          <p:cNvSpPr>
            <a:spLocks noGrp="1"/>
          </p:cNvSpPr>
          <p:nvPr/>
        </p:nvSpPr>
        <p:spPr>
          <a:xfrm>
            <a:off x="1123244" y="3958590"/>
            <a:ext cx="2751667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One supervisor meeting</a:t>
            </a:r>
          </a:p>
        </p:txBody>
      </p:sp>
      <p:sp>
        <p:nvSpPr>
          <p:cNvPr id="19" name="m1-text-298">
            <a:extLst>
              <a:ext uri="{FF2B5EF4-FFF2-40B4-BE49-F238E27FC236}">
                <a16:creationId xmlns:a16="http://schemas.microsoft.com/office/drawing/2014/main" id="{A6732FCB-4244-44FB-B4F5-33C079D6B764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18569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1-text-170">
            <a:extLst>
              <a:ext uri="{FF2B5EF4-FFF2-40B4-BE49-F238E27FC236}">
                <a16:creationId xmlns:a16="http://schemas.microsoft.com/office/drawing/2014/main" id="{F775A676-726B-4FE0-843A-8A3A0FBDC1C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71">
            <a:extLst>
              <a:ext uri="{FF2B5EF4-FFF2-40B4-BE49-F238E27FC236}">
                <a16:creationId xmlns:a16="http://schemas.microsoft.com/office/drawing/2014/main" id="{8E973C1C-D5D9-46AA-BAC8-0B4FC192E29B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72">
            <a:extLst>
              <a:ext uri="{FF2B5EF4-FFF2-40B4-BE49-F238E27FC236}">
                <a16:creationId xmlns:a16="http://schemas.microsoft.com/office/drawing/2014/main" id="{3B9CBF74-2768-4FAE-ADF9-2D86AAC32F3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LTM: Spatial Memory [2, 9]</a:t>
            </a:r>
          </a:p>
        </p:txBody>
      </p:sp>
      <p:sp>
        <p:nvSpPr>
          <p:cNvPr id="4" name="m1-subheading-173">
            <a:extLst>
              <a:ext uri="{FF2B5EF4-FFF2-40B4-BE49-F238E27FC236}">
                <a16:creationId xmlns:a16="http://schemas.microsoft.com/office/drawing/2014/main" id="{DED1E623-2AC0-4370-BDD2-7891F606196B}"/>
              </a:ext>
            </a:extLst>
          </p:cNvPr>
          <p:cNvSpPr>
            <a:spLocks noGrp="1"/>
          </p:cNvSpPr>
          <p:nvPr/>
        </p:nvSpPr>
        <p:spPr>
          <a:xfrm>
            <a:off x="609600" y="1558290"/>
            <a:ext cx="3778956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Remembering what is where</a:t>
            </a:r>
          </a:p>
        </p:txBody>
      </p:sp>
      <p:sp>
        <p:nvSpPr>
          <p:cNvPr id="5" name="m1-text-174">
            <a:extLst>
              <a:ext uri="{FF2B5EF4-FFF2-40B4-BE49-F238E27FC236}">
                <a16:creationId xmlns:a16="http://schemas.microsoft.com/office/drawing/2014/main" id="{E2430F31-6D36-4079-8D4A-075D75010DB6}"/>
              </a:ext>
            </a:extLst>
          </p:cNvPr>
          <p:cNvSpPr>
            <a:spLocks noGrp="1"/>
          </p:cNvSpPr>
          <p:nvPr/>
        </p:nvSpPr>
        <p:spPr>
          <a:xfrm>
            <a:off x="609600" y="2475548"/>
            <a:ext cx="3778956" cy="7886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Cognitive maps support object location, navigation and spatial reasoning.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95897D2-6604-42FD-969B-EB725CE03BC1}"/>
              </a:ext>
            </a:extLst>
          </p:cNvPr>
          <p:cNvSpPr>
            <a:spLocks noGrp="1"/>
          </p:cNvSpPr>
          <p:nvPr/>
        </p:nvSpPr>
        <p:spPr>
          <a:xfrm>
            <a:off x="609600" y="3307080"/>
            <a:ext cx="3778956" cy="565785"/>
          </a:xfrm>
          <a:prstGeom prst="roundRect">
            <a:avLst>
              <a:gd name="adj" fmla="val 1212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1ECD121-144D-40D7-8A5B-296DDA40E138}"/>
              </a:ext>
            </a:extLst>
          </p:cNvPr>
          <p:cNvSpPr>
            <a:spLocks noGrp="1"/>
          </p:cNvSpPr>
          <p:nvPr/>
        </p:nvSpPr>
        <p:spPr>
          <a:xfrm>
            <a:off x="609600" y="3958590"/>
            <a:ext cx="3778956" cy="565785"/>
          </a:xfrm>
          <a:prstGeom prst="roundRect">
            <a:avLst>
              <a:gd name="adj" fmla="val 1212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8" name="m1-text-175">
            <a:extLst>
              <a:ext uri="{FF2B5EF4-FFF2-40B4-BE49-F238E27FC236}">
                <a16:creationId xmlns:a16="http://schemas.microsoft.com/office/drawing/2014/main" id="{E9D36E7C-283E-4B83-8BE3-523C3069F624}"/>
              </a:ext>
            </a:extLst>
          </p:cNvPr>
          <p:cNvSpPr>
            <a:spLocks noGrp="1"/>
          </p:cNvSpPr>
          <p:nvPr/>
        </p:nvSpPr>
        <p:spPr>
          <a:xfrm>
            <a:off x="756356" y="3367088"/>
            <a:ext cx="3485444" cy="2057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35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Egocentric: relative to me</a:t>
            </a:r>
          </a:p>
        </p:txBody>
      </p:sp>
      <p:sp>
        <p:nvSpPr>
          <p:cNvPr id="9" name="m1-text-176">
            <a:extLst>
              <a:ext uri="{FF2B5EF4-FFF2-40B4-BE49-F238E27FC236}">
                <a16:creationId xmlns:a16="http://schemas.microsoft.com/office/drawing/2014/main" id="{7E324B99-7275-4148-A11E-91A8B0B9A8A0}"/>
              </a:ext>
            </a:extLst>
          </p:cNvPr>
          <p:cNvSpPr>
            <a:spLocks noGrp="1"/>
          </p:cNvSpPr>
          <p:nvPr/>
        </p:nvSpPr>
        <p:spPr>
          <a:xfrm>
            <a:off x="756356" y="3607118"/>
            <a:ext cx="3485444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keys are to my right.</a:t>
            </a:r>
          </a:p>
        </p:txBody>
      </p:sp>
      <p:sp>
        <p:nvSpPr>
          <p:cNvPr id="10" name="m1-text-177">
            <a:extLst>
              <a:ext uri="{FF2B5EF4-FFF2-40B4-BE49-F238E27FC236}">
                <a16:creationId xmlns:a16="http://schemas.microsoft.com/office/drawing/2014/main" id="{CF103FD5-1534-43A4-B098-28FCCD310565}"/>
              </a:ext>
            </a:extLst>
          </p:cNvPr>
          <p:cNvSpPr>
            <a:spLocks noGrp="1"/>
          </p:cNvSpPr>
          <p:nvPr/>
        </p:nvSpPr>
        <p:spPr>
          <a:xfrm>
            <a:off x="756356" y="4018598"/>
            <a:ext cx="3485444" cy="2057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35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Allocentric: relative to the room</a:t>
            </a:r>
          </a:p>
        </p:txBody>
      </p:sp>
      <p:sp>
        <p:nvSpPr>
          <p:cNvPr id="11" name="m1-text-178">
            <a:extLst>
              <a:ext uri="{FF2B5EF4-FFF2-40B4-BE49-F238E27FC236}">
                <a16:creationId xmlns:a16="http://schemas.microsoft.com/office/drawing/2014/main" id="{A4FAF251-EBC7-4F4F-8B9D-8F0737B605EE}"/>
              </a:ext>
            </a:extLst>
          </p:cNvPr>
          <p:cNvSpPr>
            <a:spLocks noGrp="1"/>
          </p:cNvSpPr>
          <p:nvPr/>
        </p:nvSpPr>
        <p:spPr>
          <a:xfrm>
            <a:off x="756356" y="4258628"/>
            <a:ext cx="3485444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keys are on the side table.</a:t>
            </a:r>
          </a:p>
        </p:txBody>
      </p:sp>
      <p:pic>
        <p:nvPicPr>
          <p:cNvPr id="25" name="Immagin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47605" y="1558290"/>
            <a:ext cx="2794635" cy="2794635"/>
          </a:xfrm>
          <a:prstGeom prst="rect">
            <a:avLst/>
          </a:prstGeom>
        </p:spPr>
      </p:pic>
      <p:sp>
        <p:nvSpPr>
          <p:cNvPr id="13" name="m1-text-299">
            <a:extLst>
              <a:ext uri="{FF2B5EF4-FFF2-40B4-BE49-F238E27FC236}">
                <a16:creationId xmlns:a16="http://schemas.microsoft.com/office/drawing/2014/main" id="{88C43E34-FAB9-416A-ABBB-FD7754CEB848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75006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m1-text-179">
            <a:extLst>
              <a:ext uri="{FF2B5EF4-FFF2-40B4-BE49-F238E27FC236}">
                <a16:creationId xmlns:a16="http://schemas.microsoft.com/office/drawing/2014/main" id="{D62D85BC-C445-447F-95D5-5D06A4603179}"/>
              </a:ext>
            </a:extLst>
          </p:cNvPr>
          <p:cNvSpPr>
            <a:spLocks noGrp="1"/>
          </p:cNvSpPr>
          <p:nvPr/>
        </p:nvSpPr>
        <p:spPr>
          <a:xfrm>
            <a:off x="609600" y="1635443"/>
            <a:ext cx="4182533" cy="167163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Some examples of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virtual agents</a:t>
            </a:r>
          </a:p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with memory</a:t>
            </a:r>
          </a:p>
        </p:txBody>
      </p:sp>
      <p:sp>
        <p:nvSpPr>
          <p:cNvPr id="3" name="m1-text-300">
            <a:extLst>
              <a:ext uri="{FF2B5EF4-FFF2-40B4-BE49-F238E27FC236}">
                <a16:creationId xmlns:a16="http://schemas.microsoft.com/office/drawing/2014/main" id="{BA987DE3-E87D-47C5-A904-EB5CFDC8B410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56276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1-text-180">
            <a:extLst>
              <a:ext uri="{FF2B5EF4-FFF2-40B4-BE49-F238E27FC236}">
                <a16:creationId xmlns:a16="http://schemas.microsoft.com/office/drawing/2014/main" id="{223E6F67-E24C-41FB-87C3-0257C6632D9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81">
            <a:extLst>
              <a:ext uri="{FF2B5EF4-FFF2-40B4-BE49-F238E27FC236}">
                <a16:creationId xmlns:a16="http://schemas.microsoft.com/office/drawing/2014/main" id="{336134B0-954A-40D8-B104-B9C0E734C3EB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82">
            <a:extLst>
              <a:ext uri="{FF2B5EF4-FFF2-40B4-BE49-F238E27FC236}">
                <a16:creationId xmlns:a16="http://schemas.microsoft.com/office/drawing/2014/main" id="{27486DA0-D5EF-4739-827A-ED19B51FC71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ADAMO: Cognitive Architecture [12]</a:t>
            </a:r>
          </a:p>
        </p:txBody>
      </p:sp>
      <p:sp>
        <p:nvSpPr>
          <p:cNvPr id="4" name="m1-subheading-183">
            <a:extLst>
              <a:ext uri="{FF2B5EF4-FFF2-40B4-BE49-F238E27FC236}">
                <a16:creationId xmlns:a16="http://schemas.microsoft.com/office/drawing/2014/main" id="{C85BF942-F6F2-4BB4-AA32-C0692E417FBD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7924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 virtual human that follows language instructions.</a:t>
            </a:r>
          </a:p>
        </p:txBody>
      </p:sp>
      <p:pic>
        <p:nvPicPr>
          <p:cNvPr id="23" name="Immagin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4384" y="1995488"/>
            <a:ext cx="4753498" cy="2486025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09397C0-03E0-47C3-A88F-31A5B33DCD64}"/>
              </a:ext>
            </a:extLst>
          </p:cNvPr>
          <p:cNvSpPr>
            <a:spLocks noGrp="1"/>
          </p:cNvSpPr>
          <p:nvPr/>
        </p:nvSpPr>
        <p:spPr>
          <a:xfrm>
            <a:off x="5966178" y="1995488"/>
            <a:ext cx="2568222" cy="634365"/>
          </a:xfrm>
          <a:prstGeom prst="roundRect">
            <a:avLst>
              <a:gd name="adj" fmla="val 1081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184">
            <a:extLst>
              <a:ext uri="{FF2B5EF4-FFF2-40B4-BE49-F238E27FC236}">
                <a16:creationId xmlns:a16="http://schemas.microsoft.com/office/drawing/2014/main" id="{9CFC17C9-BC02-41EA-8124-D4BB1C7103C8}"/>
              </a:ext>
            </a:extLst>
          </p:cNvPr>
          <p:cNvSpPr>
            <a:spLocks noGrp="1"/>
          </p:cNvSpPr>
          <p:nvPr/>
        </p:nvSpPr>
        <p:spPr>
          <a:xfrm>
            <a:off x="6112933" y="2081213"/>
            <a:ext cx="2274711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Observation / Perceive</a:t>
            </a:r>
          </a:p>
        </p:txBody>
      </p:sp>
      <p:sp>
        <p:nvSpPr>
          <p:cNvPr id="8" name="m1-text-185">
            <a:extLst>
              <a:ext uri="{FF2B5EF4-FFF2-40B4-BE49-F238E27FC236}">
                <a16:creationId xmlns:a16="http://schemas.microsoft.com/office/drawing/2014/main" id="{0E7DA9A5-A2FE-4FB6-921A-3D6B96B783C6}"/>
              </a:ext>
            </a:extLst>
          </p:cNvPr>
          <p:cNvSpPr>
            <a:spLocks noGrp="1"/>
          </p:cNvSpPr>
          <p:nvPr/>
        </p:nvSpPr>
        <p:spPr>
          <a:xfrm>
            <a:off x="6112933" y="2346960"/>
            <a:ext cx="2274711" cy="26574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Visual + symbolic input</a:t>
            </a:r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40ECA867-A3EB-4B27-8746-5DCCF9FE7B7B}"/>
              </a:ext>
            </a:extLst>
          </p:cNvPr>
          <p:cNvSpPr>
            <a:spLocks noGrp="1"/>
          </p:cNvSpPr>
          <p:nvPr/>
        </p:nvSpPr>
        <p:spPr>
          <a:xfrm>
            <a:off x="7176911" y="2689860"/>
            <a:ext cx="146756" cy="137160"/>
          </a:xfrm>
          <a:prstGeom prst="down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7BB05F78-A791-4E2C-83CB-471C2955BA59}"/>
              </a:ext>
            </a:extLst>
          </p:cNvPr>
          <p:cNvSpPr>
            <a:spLocks noGrp="1"/>
          </p:cNvSpPr>
          <p:nvPr/>
        </p:nvSpPr>
        <p:spPr>
          <a:xfrm>
            <a:off x="5966178" y="2895600"/>
            <a:ext cx="2568222" cy="634365"/>
          </a:xfrm>
          <a:prstGeom prst="roundRect">
            <a:avLst>
              <a:gd name="adj" fmla="val 1081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1" name="m1-text-186">
            <a:extLst>
              <a:ext uri="{FF2B5EF4-FFF2-40B4-BE49-F238E27FC236}">
                <a16:creationId xmlns:a16="http://schemas.microsoft.com/office/drawing/2014/main" id="{0967354D-9390-48BA-AECD-48B2C697668F}"/>
              </a:ext>
            </a:extLst>
          </p:cNvPr>
          <p:cNvSpPr>
            <a:spLocks noGrp="1"/>
          </p:cNvSpPr>
          <p:nvPr/>
        </p:nvSpPr>
        <p:spPr>
          <a:xfrm>
            <a:off x="6112933" y="2981325"/>
            <a:ext cx="2274711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Thought / Reason</a:t>
            </a:r>
          </a:p>
        </p:txBody>
      </p:sp>
      <p:sp>
        <p:nvSpPr>
          <p:cNvPr id="12" name="m1-text-187">
            <a:extLst>
              <a:ext uri="{FF2B5EF4-FFF2-40B4-BE49-F238E27FC236}">
                <a16:creationId xmlns:a16="http://schemas.microsoft.com/office/drawing/2014/main" id="{F6D83432-77F1-493F-A892-1DC6786FB0DE}"/>
              </a:ext>
            </a:extLst>
          </p:cNvPr>
          <p:cNvSpPr>
            <a:spLocks noGrp="1"/>
          </p:cNvSpPr>
          <p:nvPr/>
        </p:nvSpPr>
        <p:spPr>
          <a:xfrm>
            <a:off x="6112933" y="3247073"/>
            <a:ext cx="2274711" cy="26574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VLM + short-term memory</a:t>
            </a: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47FE28AA-15F4-4CBE-8710-BFCB4989D2AE}"/>
              </a:ext>
            </a:extLst>
          </p:cNvPr>
          <p:cNvSpPr>
            <a:spLocks noGrp="1"/>
          </p:cNvSpPr>
          <p:nvPr/>
        </p:nvSpPr>
        <p:spPr>
          <a:xfrm>
            <a:off x="7176911" y="3589973"/>
            <a:ext cx="146756" cy="137160"/>
          </a:xfrm>
          <a:prstGeom prst="down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6CEBB05-EA54-46B5-B43B-BC6C812D9EA7}"/>
              </a:ext>
            </a:extLst>
          </p:cNvPr>
          <p:cNvSpPr>
            <a:spLocks noGrp="1"/>
          </p:cNvSpPr>
          <p:nvPr/>
        </p:nvSpPr>
        <p:spPr>
          <a:xfrm>
            <a:off x="5966178" y="3795713"/>
            <a:ext cx="2568222" cy="634365"/>
          </a:xfrm>
          <a:prstGeom prst="roundRect">
            <a:avLst>
              <a:gd name="adj" fmla="val 10811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5" name="m1-text-188">
            <a:extLst>
              <a:ext uri="{FF2B5EF4-FFF2-40B4-BE49-F238E27FC236}">
                <a16:creationId xmlns:a16="http://schemas.microsoft.com/office/drawing/2014/main" id="{C7D81A7F-4C0C-4B23-8F84-5E2BD4B041B8}"/>
              </a:ext>
            </a:extLst>
          </p:cNvPr>
          <p:cNvSpPr>
            <a:spLocks noGrp="1"/>
          </p:cNvSpPr>
          <p:nvPr/>
        </p:nvSpPr>
        <p:spPr>
          <a:xfrm>
            <a:off x="6112933" y="3881438"/>
            <a:ext cx="2274711" cy="2228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Action / Act</a:t>
            </a:r>
          </a:p>
        </p:txBody>
      </p:sp>
      <p:sp>
        <p:nvSpPr>
          <p:cNvPr id="16" name="m1-text-189">
            <a:extLst>
              <a:ext uri="{FF2B5EF4-FFF2-40B4-BE49-F238E27FC236}">
                <a16:creationId xmlns:a16="http://schemas.microsoft.com/office/drawing/2014/main" id="{98F12A0F-8549-4DE7-A227-1A63BEE57B51}"/>
              </a:ext>
            </a:extLst>
          </p:cNvPr>
          <p:cNvSpPr>
            <a:spLocks noGrp="1"/>
          </p:cNvSpPr>
          <p:nvPr/>
        </p:nvSpPr>
        <p:spPr>
          <a:xfrm>
            <a:off x="6112933" y="4147185"/>
            <a:ext cx="2274711" cy="26574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Walk, Look, Pick / Drop</a:t>
            </a:r>
          </a:p>
        </p:txBody>
      </p:sp>
      <p:sp>
        <p:nvSpPr>
          <p:cNvPr id="17" name="m1-text-190">
            <a:extLst>
              <a:ext uri="{FF2B5EF4-FFF2-40B4-BE49-F238E27FC236}">
                <a16:creationId xmlns:a16="http://schemas.microsoft.com/office/drawing/2014/main" id="{25331378-E48F-4A33-A3D7-12105515102F}"/>
              </a:ext>
            </a:extLst>
          </p:cNvPr>
          <p:cNvSpPr>
            <a:spLocks noGrp="1"/>
          </p:cNvSpPr>
          <p:nvPr/>
        </p:nvSpPr>
        <p:spPr>
          <a:xfrm>
            <a:off x="5966178" y="4481513"/>
            <a:ext cx="2568222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0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Feedback starts the next cycle.</a:t>
            </a:r>
          </a:p>
        </p:txBody>
      </p:sp>
      <p:sp>
        <p:nvSpPr>
          <p:cNvPr id="18" name="m1-text-301">
            <a:extLst>
              <a:ext uri="{FF2B5EF4-FFF2-40B4-BE49-F238E27FC236}">
                <a16:creationId xmlns:a16="http://schemas.microsoft.com/office/drawing/2014/main" id="{330DC215-758D-402C-84ED-B173D4D65591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59092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1-text-191">
            <a:extLst>
              <a:ext uri="{FF2B5EF4-FFF2-40B4-BE49-F238E27FC236}">
                <a16:creationId xmlns:a16="http://schemas.microsoft.com/office/drawing/2014/main" id="{B99E5C92-E15F-4876-B3BE-03F02CEC3E4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92">
            <a:extLst>
              <a:ext uri="{FF2B5EF4-FFF2-40B4-BE49-F238E27FC236}">
                <a16:creationId xmlns:a16="http://schemas.microsoft.com/office/drawing/2014/main" id="{E9F88D28-8176-446D-805A-6B5D4F6499E7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93">
            <a:extLst>
              <a:ext uri="{FF2B5EF4-FFF2-40B4-BE49-F238E27FC236}">
                <a16:creationId xmlns:a16="http://schemas.microsoft.com/office/drawing/2014/main" id="{BF7D073D-7969-4036-8AD8-B6B4AD0E1DE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ADAMO: Virtual Human Demo [12]</a:t>
            </a:r>
          </a:p>
        </p:txBody>
      </p:sp>
      <p:pic>
        <p:nvPicPr>
          <p:cNvPr id="9" name="ADAMO demonstration - click to play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0231" y="1506855"/>
            <a:ext cx="5443538" cy="3061990"/>
          </a:xfrm>
          <a:prstGeom prst="rect">
            <a:avLst/>
          </a:prstGeom>
        </p:spPr>
      </p:pic>
      <p:sp>
        <p:nvSpPr>
          <p:cNvPr id="5" name="m1-text-302">
            <a:extLst>
              <a:ext uri="{FF2B5EF4-FFF2-40B4-BE49-F238E27FC236}">
                <a16:creationId xmlns:a16="http://schemas.microsoft.com/office/drawing/2014/main" id="{2000FA9F-FFE1-4EBF-A90C-A1F535EC1249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55232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1-text-194">
            <a:extLst>
              <a:ext uri="{FF2B5EF4-FFF2-40B4-BE49-F238E27FC236}">
                <a16:creationId xmlns:a16="http://schemas.microsoft.com/office/drawing/2014/main" id="{203C5779-88C8-4C5D-B7BC-8D02B5C7AC5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195">
            <a:extLst>
              <a:ext uri="{FF2B5EF4-FFF2-40B4-BE49-F238E27FC236}">
                <a16:creationId xmlns:a16="http://schemas.microsoft.com/office/drawing/2014/main" id="{15025A99-975D-4216-AC3B-B233FF7B7D88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196">
            <a:extLst>
              <a:ext uri="{FF2B5EF4-FFF2-40B4-BE49-F238E27FC236}">
                <a16:creationId xmlns:a16="http://schemas.microsoft.com/office/drawing/2014/main" id="{67B8B522-9253-4E14-9110-30EA4BC1431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Generative Agents (2023) [10]</a:t>
            </a:r>
          </a:p>
        </p:txBody>
      </p:sp>
      <p:sp>
        <p:nvSpPr>
          <p:cNvPr id="4" name="m1-subheading-197">
            <a:extLst>
              <a:ext uri="{FF2B5EF4-FFF2-40B4-BE49-F238E27FC236}">
                <a16:creationId xmlns:a16="http://schemas.microsoft.com/office/drawing/2014/main" id="{68997866-D7BD-463C-ABBD-9F38618AE199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79248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 simulated town with 25 social agents</a:t>
            </a:r>
          </a:p>
        </p:txBody>
      </p:sp>
      <p:sp>
        <p:nvSpPr>
          <p:cNvPr id="5" name="m1-text-198">
            <a:extLst>
              <a:ext uri="{FF2B5EF4-FFF2-40B4-BE49-F238E27FC236}">
                <a16:creationId xmlns:a16="http://schemas.microsoft.com/office/drawing/2014/main" id="{106F1797-FD2C-47A2-BE6D-9CC43F30A113}"/>
              </a:ext>
            </a:extLst>
          </p:cNvPr>
          <p:cNvSpPr>
            <a:spLocks noGrp="1"/>
          </p:cNvSpPr>
          <p:nvPr/>
        </p:nvSpPr>
        <p:spPr>
          <a:xfrm>
            <a:off x="609600" y="2004060"/>
            <a:ext cx="3668889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Agents with different identities live in Smallville, interact and plan their daily activities.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BA0BB5B-7134-4539-A871-22BD01B3E2E3}"/>
              </a:ext>
            </a:extLst>
          </p:cNvPr>
          <p:cNvSpPr>
            <a:spLocks noGrp="1"/>
          </p:cNvSpPr>
          <p:nvPr/>
        </p:nvSpPr>
        <p:spPr>
          <a:xfrm>
            <a:off x="609600" y="2929890"/>
            <a:ext cx="3668889" cy="1577340"/>
          </a:xfrm>
          <a:prstGeom prst="roundRect">
            <a:avLst>
              <a:gd name="adj" fmla="val 4348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199">
            <a:extLst>
              <a:ext uri="{FF2B5EF4-FFF2-40B4-BE49-F238E27FC236}">
                <a16:creationId xmlns:a16="http://schemas.microsoft.com/office/drawing/2014/main" id="{1EDEB4D9-EA7E-45E5-8457-C076801BC9DE}"/>
              </a:ext>
            </a:extLst>
          </p:cNvPr>
          <p:cNvSpPr>
            <a:spLocks noGrp="1"/>
          </p:cNvSpPr>
          <p:nvPr/>
        </p:nvSpPr>
        <p:spPr>
          <a:xfrm>
            <a:off x="756356" y="3049905"/>
            <a:ext cx="3375378" cy="1363028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marL="152400" indent="-114300">
              <a:spcAft>
                <a:spcPts val="3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Record events and conversations </a:t>
            </a:r>
            <a:r>
              <a:rPr sz="15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 the memory stream</a:t>
            </a:r>
            <a:r>
              <a:t>.</a:t>
            </a:r>
          </a:p>
          <a:p>
            <a:pPr marL="152400" indent="-114300">
              <a:spcAft>
                <a:spcPts val="3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Retrieve relevant memories.</a:t>
            </a:r>
          </a:p>
          <a:p>
            <a:pPr marL="152400" indent="-114300">
              <a:spcAft>
                <a:spcPts val="300"/>
              </a:spcAft>
              <a:buChar char="•"/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t>Use an LLM for planning, replies and reflection.</a:t>
            </a:r>
          </a:p>
        </p:txBody>
      </p:sp>
      <p:pic>
        <p:nvPicPr>
          <p:cNvPr id="17" name="Generative Agents map - silent loop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01540" y="2004060"/>
            <a:ext cx="3703320" cy="2083118"/>
          </a:xfrm>
          <a:prstGeom prst="rect">
            <a:avLst/>
          </a:prstGeom>
        </p:spPr>
      </p:pic>
      <p:sp>
        <p:nvSpPr>
          <p:cNvPr id="9" name="m1-text-303">
            <a:extLst>
              <a:ext uri="{FF2B5EF4-FFF2-40B4-BE49-F238E27FC236}">
                <a16:creationId xmlns:a16="http://schemas.microsoft.com/office/drawing/2014/main" id="{D0E49CBE-E9D3-4113-A549-3614A07673AF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036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1-text-200">
            <a:extLst>
              <a:ext uri="{FF2B5EF4-FFF2-40B4-BE49-F238E27FC236}">
                <a16:creationId xmlns:a16="http://schemas.microsoft.com/office/drawing/2014/main" id="{49CE48FE-F229-4F95-8A31-5CC93065E30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01">
            <a:extLst>
              <a:ext uri="{FF2B5EF4-FFF2-40B4-BE49-F238E27FC236}">
                <a16:creationId xmlns:a16="http://schemas.microsoft.com/office/drawing/2014/main" id="{10CE7D3D-C58A-4DA9-8A26-95D4515DFFE4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202">
            <a:extLst>
              <a:ext uri="{FF2B5EF4-FFF2-40B4-BE49-F238E27FC236}">
                <a16:creationId xmlns:a16="http://schemas.microsoft.com/office/drawing/2014/main" id="{ACBFF0E5-7C29-4190-A1BC-995942777C5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Generative Agents: Memory and Reflection [10]</a:t>
            </a:r>
          </a:p>
        </p:txBody>
      </p:sp>
      <p:sp>
        <p:nvSpPr>
          <p:cNvPr id="4" name="m1-subheading-203">
            <a:extLst>
              <a:ext uri="{FF2B5EF4-FFF2-40B4-BE49-F238E27FC236}">
                <a16:creationId xmlns:a16="http://schemas.microsoft.com/office/drawing/2014/main" id="{3F15C6AE-5775-4767-8DF2-BDCEDFFC982F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79248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Experiences become reusable abstract memories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D9124A9-EC4F-403F-976A-FB715CD3618A}"/>
              </a:ext>
            </a:extLst>
          </p:cNvPr>
          <p:cNvSpPr>
            <a:spLocks noGrp="1"/>
          </p:cNvSpPr>
          <p:nvPr/>
        </p:nvSpPr>
        <p:spPr>
          <a:xfrm>
            <a:off x="609600" y="1995488"/>
            <a:ext cx="2348089" cy="1097280"/>
          </a:xfrm>
          <a:prstGeom prst="roundRect">
            <a:avLst>
              <a:gd name="adj" fmla="val 6250"/>
            </a:avLst>
          </a:prstGeom>
          <a:solidFill>
            <a:srgbClr val="141A26"/>
          </a:solidFill>
          <a:ln w="9525">
            <a:solidFill>
              <a:srgbClr val="D9A06B"/>
            </a:solidFill>
          </a:ln>
        </p:spPr>
      </p:sp>
      <p:sp>
        <p:nvSpPr>
          <p:cNvPr id="6" name="m1-text-204">
            <a:extLst>
              <a:ext uri="{FF2B5EF4-FFF2-40B4-BE49-F238E27FC236}">
                <a16:creationId xmlns:a16="http://schemas.microsoft.com/office/drawing/2014/main" id="{CFBCB3A0-FB6D-4920-8EF7-1063DB311F59}"/>
              </a:ext>
            </a:extLst>
          </p:cNvPr>
          <p:cNvSpPr>
            <a:spLocks noGrp="1"/>
          </p:cNvSpPr>
          <p:nvPr/>
        </p:nvSpPr>
        <p:spPr>
          <a:xfrm>
            <a:off x="756356" y="2115503"/>
            <a:ext cx="2054578" cy="31718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Experience records</a:t>
            </a:r>
          </a:p>
        </p:txBody>
      </p:sp>
      <p:sp>
        <p:nvSpPr>
          <p:cNvPr id="7" name="m1-text-205">
            <a:extLst>
              <a:ext uri="{FF2B5EF4-FFF2-40B4-BE49-F238E27FC236}">
                <a16:creationId xmlns:a16="http://schemas.microsoft.com/office/drawing/2014/main" id="{13AE9291-51A8-455F-B3C1-124A6B2BC316}"/>
              </a:ext>
            </a:extLst>
          </p:cNvPr>
          <p:cNvSpPr>
            <a:spLocks noGrp="1"/>
          </p:cNvSpPr>
          <p:nvPr/>
        </p:nvSpPr>
        <p:spPr>
          <a:xfrm>
            <a:off x="756356" y="2535555"/>
            <a:ext cx="2054578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Events, conversations,</a:t>
            </a:r>
          </a:p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activities and encounters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87240BA3-CC0C-43DC-9193-280218FEB935}"/>
              </a:ext>
            </a:extLst>
          </p:cNvPr>
          <p:cNvSpPr>
            <a:spLocks noGrp="1"/>
          </p:cNvSpPr>
          <p:nvPr/>
        </p:nvSpPr>
        <p:spPr>
          <a:xfrm>
            <a:off x="3397956" y="1995488"/>
            <a:ext cx="2348089" cy="1097280"/>
          </a:xfrm>
          <a:prstGeom prst="roundRect">
            <a:avLst>
              <a:gd name="adj" fmla="val 6250"/>
            </a:avLst>
          </a:prstGeom>
          <a:solidFill>
            <a:srgbClr val="141A26"/>
          </a:solidFill>
          <a:ln w="9525">
            <a:solidFill>
              <a:srgbClr val="7FA8E3"/>
            </a:solidFill>
          </a:ln>
        </p:spPr>
      </p:sp>
      <p:sp>
        <p:nvSpPr>
          <p:cNvPr id="9" name="m1-text-206">
            <a:extLst>
              <a:ext uri="{FF2B5EF4-FFF2-40B4-BE49-F238E27FC236}">
                <a16:creationId xmlns:a16="http://schemas.microsoft.com/office/drawing/2014/main" id="{A4336456-E7DD-456E-B156-8F1C86BD4356}"/>
              </a:ext>
            </a:extLst>
          </p:cNvPr>
          <p:cNvSpPr>
            <a:spLocks noGrp="1"/>
          </p:cNvSpPr>
          <p:nvPr/>
        </p:nvSpPr>
        <p:spPr>
          <a:xfrm>
            <a:off x="3544711" y="2115503"/>
            <a:ext cx="2054578" cy="31718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Reflection</a:t>
            </a:r>
          </a:p>
        </p:txBody>
      </p:sp>
      <p:sp>
        <p:nvSpPr>
          <p:cNvPr id="10" name="m1-text-207">
            <a:extLst>
              <a:ext uri="{FF2B5EF4-FFF2-40B4-BE49-F238E27FC236}">
                <a16:creationId xmlns:a16="http://schemas.microsoft.com/office/drawing/2014/main" id="{4CFDB5C4-8400-4CE3-89B7-5AB6B0588474}"/>
              </a:ext>
            </a:extLst>
          </p:cNvPr>
          <p:cNvSpPr>
            <a:spLocks noGrp="1"/>
          </p:cNvSpPr>
          <p:nvPr/>
        </p:nvSpPr>
        <p:spPr>
          <a:xfrm>
            <a:off x="3544711" y="2535555"/>
            <a:ext cx="2054578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Find patterns in</a:t>
            </a:r>
          </a:p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important experiences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6C39891-E032-4F4F-BC80-FA329A6F7316}"/>
              </a:ext>
            </a:extLst>
          </p:cNvPr>
          <p:cNvSpPr>
            <a:spLocks noGrp="1"/>
          </p:cNvSpPr>
          <p:nvPr/>
        </p:nvSpPr>
        <p:spPr>
          <a:xfrm>
            <a:off x="6186311" y="1995488"/>
            <a:ext cx="2348089" cy="1097280"/>
          </a:xfrm>
          <a:prstGeom prst="roundRect">
            <a:avLst>
              <a:gd name="adj" fmla="val 6250"/>
            </a:avLst>
          </a:prstGeom>
          <a:solidFill>
            <a:srgbClr val="141A26"/>
          </a:solidFill>
          <a:ln w="9525">
            <a:solidFill>
              <a:srgbClr val="D9A06B"/>
            </a:solidFill>
          </a:ln>
        </p:spPr>
      </p:sp>
      <p:sp>
        <p:nvSpPr>
          <p:cNvPr id="12" name="m1-text-208">
            <a:extLst>
              <a:ext uri="{FF2B5EF4-FFF2-40B4-BE49-F238E27FC236}">
                <a16:creationId xmlns:a16="http://schemas.microsoft.com/office/drawing/2014/main" id="{265CDC3C-68BB-470E-AFD7-2E84FEEBA1B3}"/>
              </a:ext>
            </a:extLst>
          </p:cNvPr>
          <p:cNvSpPr>
            <a:spLocks noGrp="1"/>
          </p:cNvSpPr>
          <p:nvPr/>
        </p:nvSpPr>
        <p:spPr>
          <a:xfrm>
            <a:off x="6333067" y="2115503"/>
            <a:ext cx="2054578" cy="31718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Abstract memories</a:t>
            </a:r>
          </a:p>
        </p:txBody>
      </p:sp>
      <p:sp>
        <p:nvSpPr>
          <p:cNvPr id="13" name="m1-text-209">
            <a:extLst>
              <a:ext uri="{FF2B5EF4-FFF2-40B4-BE49-F238E27FC236}">
                <a16:creationId xmlns:a16="http://schemas.microsoft.com/office/drawing/2014/main" id="{A14A93C6-A9B8-4A8D-B1DA-24F95580A911}"/>
              </a:ext>
            </a:extLst>
          </p:cNvPr>
          <p:cNvSpPr>
            <a:spLocks noGrp="1"/>
          </p:cNvSpPr>
          <p:nvPr/>
        </p:nvSpPr>
        <p:spPr>
          <a:xfrm>
            <a:off x="6333067" y="2535555"/>
            <a:ext cx="2054578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Insights about people</a:t>
            </a:r>
          </a:p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their interests</a:t>
            </a:r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3A611A30-F793-451B-8722-2BD2FCB9F8AF}"/>
              </a:ext>
            </a:extLst>
          </p:cNvPr>
          <p:cNvSpPr>
            <a:spLocks noGrp="1"/>
          </p:cNvSpPr>
          <p:nvPr/>
        </p:nvSpPr>
        <p:spPr>
          <a:xfrm>
            <a:off x="3058583" y="2466975"/>
            <a:ext cx="229306" cy="137160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2B5493C2-5809-449A-890D-2ED003CF2588}"/>
              </a:ext>
            </a:extLst>
          </p:cNvPr>
          <p:cNvSpPr>
            <a:spLocks noGrp="1"/>
          </p:cNvSpPr>
          <p:nvPr/>
        </p:nvSpPr>
        <p:spPr>
          <a:xfrm>
            <a:off x="5846939" y="2466975"/>
            <a:ext cx="229306" cy="137160"/>
          </a:xfrm>
          <a:prstGeom prst="rightArrow">
            <a:avLst/>
          </a:prstGeom>
          <a:solidFill>
            <a:srgbClr val="7FA8E3"/>
          </a:solidFill>
          <a:ln w="0">
            <a:noFill/>
          </a:ln>
        </p:spPr>
      </p:sp>
      <p:sp>
        <p:nvSpPr>
          <p:cNvPr id="16" name="m1-text-210">
            <a:extLst>
              <a:ext uri="{FF2B5EF4-FFF2-40B4-BE49-F238E27FC236}">
                <a16:creationId xmlns:a16="http://schemas.microsoft.com/office/drawing/2014/main" id="{BF511E35-9296-49F4-A304-60886AF6FC09}"/>
              </a:ext>
            </a:extLst>
          </p:cNvPr>
          <p:cNvSpPr>
            <a:spLocks noGrp="1"/>
          </p:cNvSpPr>
          <p:nvPr/>
        </p:nvSpPr>
        <p:spPr>
          <a:xfrm>
            <a:off x="609600" y="3204210"/>
            <a:ext cx="7924800" cy="24860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Memory stream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93E1B2A-17A2-41F8-BB10-BBB9885A7A6B}"/>
              </a:ext>
            </a:extLst>
          </p:cNvPr>
          <p:cNvSpPr>
            <a:spLocks noGrp="1"/>
          </p:cNvSpPr>
          <p:nvPr/>
        </p:nvSpPr>
        <p:spPr>
          <a:xfrm>
            <a:off x="609600" y="3504248"/>
            <a:ext cx="7924800" cy="660083"/>
          </a:xfrm>
          <a:prstGeom prst="rect">
            <a:avLst/>
          </a:prstGeom>
          <a:solidFill>
            <a:srgbClr val="172438"/>
          </a:solidFill>
          <a:ln w="9525">
            <a:solidFill>
              <a:srgbClr val="7FA8E3"/>
            </a:solidFill>
          </a:ln>
        </p:spPr>
      </p:sp>
      <p:sp>
        <p:nvSpPr>
          <p:cNvPr id="18" name="m1-text-211">
            <a:extLst>
              <a:ext uri="{FF2B5EF4-FFF2-40B4-BE49-F238E27FC236}">
                <a16:creationId xmlns:a16="http://schemas.microsoft.com/office/drawing/2014/main" id="{005C707C-6CB0-4B31-AAA7-32E7139A5BDF}"/>
              </a:ext>
            </a:extLst>
          </p:cNvPr>
          <p:cNvSpPr>
            <a:spLocks noGrp="1"/>
          </p:cNvSpPr>
          <p:nvPr/>
        </p:nvSpPr>
        <p:spPr>
          <a:xfrm>
            <a:off x="756356" y="3555683"/>
            <a:ext cx="1284111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Experience</a:t>
            </a:r>
          </a:p>
        </p:txBody>
      </p:sp>
      <p:sp>
        <p:nvSpPr>
          <p:cNvPr id="19" name="m1-text-212">
            <a:extLst>
              <a:ext uri="{FF2B5EF4-FFF2-40B4-BE49-F238E27FC236}">
                <a16:creationId xmlns:a16="http://schemas.microsoft.com/office/drawing/2014/main" id="{BF309E67-42E3-4A25-840F-E6A7BDB5528D}"/>
              </a:ext>
            </a:extLst>
          </p:cNvPr>
          <p:cNvSpPr>
            <a:spLocks noGrp="1"/>
          </p:cNvSpPr>
          <p:nvPr/>
        </p:nvSpPr>
        <p:spPr>
          <a:xfrm>
            <a:off x="2187222" y="3555683"/>
            <a:ext cx="6200422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 helps me study and listens to my worries.</a:t>
            </a:r>
          </a:p>
        </p:txBody>
      </p:sp>
      <p:sp>
        <p:nvSpPr>
          <p:cNvPr id="20" name="m1-text-213">
            <a:extLst>
              <a:ext uri="{FF2B5EF4-FFF2-40B4-BE49-F238E27FC236}">
                <a16:creationId xmlns:a16="http://schemas.microsoft.com/office/drawing/2014/main" id="{124EE77C-5F08-4161-A74D-4EEF2595A758}"/>
              </a:ext>
            </a:extLst>
          </p:cNvPr>
          <p:cNvSpPr>
            <a:spLocks noGrp="1"/>
          </p:cNvSpPr>
          <p:nvPr/>
        </p:nvSpPr>
        <p:spPr>
          <a:xfrm>
            <a:off x="756356" y="3872865"/>
            <a:ext cx="1284111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Reflection</a:t>
            </a:r>
          </a:p>
        </p:txBody>
      </p:sp>
      <p:sp>
        <p:nvSpPr>
          <p:cNvPr id="21" name="m1-text-214">
            <a:extLst>
              <a:ext uri="{FF2B5EF4-FFF2-40B4-BE49-F238E27FC236}">
                <a16:creationId xmlns:a16="http://schemas.microsoft.com/office/drawing/2014/main" id="{0D1EC735-0177-436A-A1FE-73E508733950}"/>
              </a:ext>
            </a:extLst>
          </p:cNvPr>
          <p:cNvSpPr>
            <a:spLocks noGrp="1"/>
          </p:cNvSpPr>
          <p:nvPr/>
        </p:nvSpPr>
        <p:spPr>
          <a:xfrm>
            <a:off x="2187222" y="3872865"/>
            <a:ext cx="6200422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 is a supportive friend.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7FDEBCB4-33B9-41C4-8DFF-B132C25E5C5F}"/>
              </a:ext>
            </a:extLst>
          </p:cNvPr>
          <p:cNvSpPr>
            <a:spLocks noGrp="1"/>
          </p:cNvSpPr>
          <p:nvPr/>
        </p:nvSpPr>
        <p:spPr>
          <a:xfrm>
            <a:off x="609600" y="4258628"/>
            <a:ext cx="7924800" cy="325755"/>
          </a:xfrm>
          <a:prstGeom prst="roundRect">
            <a:avLst>
              <a:gd name="adj" fmla="val 2105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23" name="m1-text-215">
            <a:extLst>
              <a:ext uri="{FF2B5EF4-FFF2-40B4-BE49-F238E27FC236}">
                <a16:creationId xmlns:a16="http://schemas.microsoft.com/office/drawing/2014/main" id="{586BF477-505A-4729-9EC6-579462AE49FB}"/>
              </a:ext>
            </a:extLst>
          </p:cNvPr>
          <p:cNvSpPr>
            <a:spLocks noGrp="1"/>
          </p:cNvSpPr>
          <p:nvPr/>
        </p:nvSpPr>
        <p:spPr>
          <a:xfrm>
            <a:off x="756356" y="4258628"/>
            <a:ext cx="4402667" cy="3257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 i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Later: I ask Sam for advice before an exam.</a:t>
            </a:r>
          </a:p>
        </p:txBody>
      </p:sp>
      <p:sp>
        <p:nvSpPr>
          <p:cNvPr id="24" name="m1-text-216">
            <a:extLst>
              <a:ext uri="{FF2B5EF4-FFF2-40B4-BE49-F238E27FC236}">
                <a16:creationId xmlns:a16="http://schemas.microsoft.com/office/drawing/2014/main" id="{F83EFD82-EACF-48C0-8DD3-7E77021F385F}"/>
              </a:ext>
            </a:extLst>
          </p:cNvPr>
          <p:cNvSpPr>
            <a:spLocks noGrp="1"/>
          </p:cNvSpPr>
          <p:nvPr/>
        </p:nvSpPr>
        <p:spPr>
          <a:xfrm>
            <a:off x="5434189" y="4258628"/>
            <a:ext cx="2953456" cy="3257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Reflection: a </a:t>
            </a:r>
            <a:r>
              <a:rPr sz="150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control process</a:t>
            </a:r>
          </a:p>
        </p:txBody>
      </p:sp>
      <p:sp>
        <p:nvSpPr>
          <p:cNvPr id="25" name="m1-text-304">
            <a:extLst>
              <a:ext uri="{FF2B5EF4-FFF2-40B4-BE49-F238E27FC236}">
                <a16:creationId xmlns:a16="http://schemas.microsoft.com/office/drawing/2014/main" id="{E4BACCD3-A654-49A9-A73E-B7B4E12D575B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66188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1-text-217">
            <a:extLst>
              <a:ext uri="{FF2B5EF4-FFF2-40B4-BE49-F238E27FC236}">
                <a16:creationId xmlns:a16="http://schemas.microsoft.com/office/drawing/2014/main" id="{E876C621-DF46-4EBE-8554-1491DAC5667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18">
            <a:extLst>
              <a:ext uri="{FF2B5EF4-FFF2-40B4-BE49-F238E27FC236}">
                <a16:creationId xmlns:a16="http://schemas.microsoft.com/office/drawing/2014/main" id="{578E1A28-107C-4210-ACA9-13FDAA8A629C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219">
            <a:extLst>
              <a:ext uri="{FF2B5EF4-FFF2-40B4-BE49-F238E27FC236}">
                <a16:creationId xmlns:a16="http://schemas.microsoft.com/office/drawing/2014/main" id="{7E99A4C3-265A-4924-9CB5-45BF03E03A0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Voyager: Procedural Memory [11]</a:t>
            </a:r>
          </a:p>
        </p:txBody>
      </p:sp>
      <p:sp>
        <p:nvSpPr>
          <p:cNvPr id="4" name="m1-text-220">
            <a:extLst>
              <a:ext uri="{FF2B5EF4-FFF2-40B4-BE49-F238E27FC236}">
                <a16:creationId xmlns:a16="http://schemas.microsoft.com/office/drawing/2014/main" id="{61567EDA-70B2-4513-9B18-FE4D4391C39B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7924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Voyager is a general-purpose agent that explores and learns skills in Minecraft.</a:t>
            </a:r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09600" y="2167712"/>
            <a:ext cx="4769556" cy="2004416"/>
          </a:xfrm>
          <a:prstGeom prst="rect">
            <a:avLst/>
          </a:prstGeom>
        </p:spPr>
      </p:pic>
      <p:pic>
        <p:nvPicPr>
          <p:cNvPr id="22" name="Mining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718037" y="2115503"/>
            <a:ext cx="1266748" cy="713661"/>
          </a:xfrm>
          <a:prstGeom prst="rect">
            <a:avLst/>
          </a:prstGeom>
        </p:spPr>
      </p:pic>
      <p:sp>
        <p:nvSpPr>
          <p:cNvPr id="7" name="m1-text-221">
            <a:extLst>
              <a:ext uri="{FF2B5EF4-FFF2-40B4-BE49-F238E27FC236}">
                <a16:creationId xmlns:a16="http://schemas.microsoft.com/office/drawing/2014/main" id="{83AEE0A6-073C-4B89-A20F-930D49E7492B}"/>
              </a:ext>
            </a:extLst>
          </p:cNvPr>
          <p:cNvSpPr>
            <a:spLocks noGrp="1"/>
          </p:cNvSpPr>
          <p:nvPr/>
        </p:nvSpPr>
        <p:spPr>
          <a:xfrm>
            <a:off x="5672667" y="2869883"/>
            <a:ext cx="1357489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Mining</a:t>
            </a:r>
          </a:p>
        </p:txBody>
      </p:sp>
      <p:pic>
        <p:nvPicPr>
          <p:cNvPr id="24" name="Building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222282" y="2115503"/>
            <a:ext cx="1266748" cy="713661"/>
          </a:xfrm>
          <a:prstGeom prst="rect">
            <a:avLst/>
          </a:prstGeom>
        </p:spPr>
      </p:pic>
      <p:sp>
        <p:nvSpPr>
          <p:cNvPr id="9" name="m1-text-222">
            <a:extLst>
              <a:ext uri="{FF2B5EF4-FFF2-40B4-BE49-F238E27FC236}">
                <a16:creationId xmlns:a16="http://schemas.microsoft.com/office/drawing/2014/main" id="{0035E515-5966-476F-8469-DEA504031CD4}"/>
              </a:ext>
            </a:extLst>
          </p:cNvPr>
          <p:cNvSpPr>
            <a:spLocks noGrp="1"/>
          </p:cNvSpPr>
          <p:nvPr/>
        </p:nvSpPr>
        <p:spPr>
          <a:xfrm>
            <a:off x="7176911" y="2869883"/>
            <a:ext cx="1357489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Building</a:t>
            </a:r>
          </a:p>
        </p:txBody>
      </p:sp>
      <p:pic>
        <p:nvPicPr>
          <p:cNvPr id="26" name="Fishing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718037" y="3212783"/>
            <a:ext cx="1266748" cy="713661"/>
          </a:xfrm>
          <a:prstGeom prst="rect">
            <a:avLst/>
          </a:prstGeom>
        </p:spPr>
      </p:pic>
      <p:sp>
        <p:nvSpPr>
          <p:cNvPr id="11" name="m1-text-223">
            <a:extLst>
              <a:ext uri="{FF2B5EF4-FFF2-40B4-BE49-F238E27FC236}">
                <a16:creationId xmlns:a16="http://schemas.microsoft.com/office/drawing/2014/main" id="{40560149-FE55-490D-B548-1F4531F92A4A}"/>
              </a:ext>
            </a:extLst>
          </p:cNvPr>
          <p:cNvSpPr>
            <a:spLocks noGrp="1"/>
          </p:cNvSpPr>
          <p:nvPr/>
        </p:nvSpPr>
        <p:spPr>
          <a:xfrm>
            <a:off x="5672667" y="3967163"/>
            <a:ext cx="1357489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Fishing</a:t>
            </a:r>
          </a:p>
        </p:txBody>
      </p:sp>
      <p:pic>
        <p:nvPicPr>
          <p:cNvPr id="28" name="Combat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7222282" y="3212783"/>
            <a:ext cx="1266748" cy="713661"/>
          </a:xfrm>
          <a:prstGeom prst="rect">
            <a:avLst/>
          </a:prstGeom>
        </p:spPr>
      </p:pic>
      <p:sp>
        <p:nvSpPr>
          <p:cNvPr id="13" name="m1-text-224">
            <a:extLst>
              <a:ext uri="{FF2B5EF4-FFF2-40B4-BE49-F238E27FC236}">
                <a16:creationId xmlns:a16="http://schemas.microsoft.com/office/drawing/2014/main" id="{B2464288-E583-4893-BE56-B5651BA64E3B}"/>
              </a:ext>
            </a:extLst>
          </p:cNvPr>
          <p:cNvSpPr>
            <a:spLocks noGrp="1"/>
          </p:cNvSpPr>
          <p:nvPr/>
        </p:nvSpPr>
        <p:spPr>
          <a:xfrm>
            <a:off x="7176911" y="3967163"/>
            <a:ext cx="1357489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Combat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5F0C8603-AB3D-48FB-9593-20FCD234AC4A}"/>
              </a:ext>
            </a:extLst>
          </p:cNvPr>
          <p:cNvSpPr>
            <a:spLocks noGrp="1"/>
          </p:cNvSpPr>
          <p:nvPr/>
        </p:nvSpPr>
        <p:spPr>
          <a:xfrm>
            <a:off x="609600" y="4258628"/>
            <a:ext cx="7924800" cy="325755"/>
          </a:xfrm>
          <a:prstGeom prst="roundRect">
            <a:avLst>
              <a:gd name="adj" fmla="val 2105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15" name="m1-text-225">
            <a:extLst>
              <a:ext uri="{FF2B5EF4-FFF2-40B4-BE49-F238E27FC236}">
                <a16:creationId xmlns:a16="http://schemas.microsoft.com/office/drawing/2014/main" id="{294242D9-38DE-4629-B1CC-DA2DDD15AAAD}"/>
              </a:ext>
            </a:extLst>
          </p:cNvPr>
          <p:cNvSpPr>
            <a:spLocks noGrp="1"/>
          </p:cNvSpPr>
          <p:nvPr/>
        </p:nvSpPr>
        <p:spPr>
          <a:xfrm>
            <a:off x="756356" y="4258628"/>
            <a:ext cx="7631289" cy="3257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 learns, </a:t>
            </a:r>
            <a:r>
              <a:rPr sz="1800" b="1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accumulates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800" b="1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refines</a:t>
            </a: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skills over time.</a:t>
            </a:r>
          </a:p>
        </p:txBody>
      </p:sp>
      <p:sp>
        <p:nvSpPr>
          <p:cNvPr id="16" name="m1-text-305">
            <a:extLst>
              <a:ext uri="{FF2B5EF4-FFF2-40B4-BE49-F238E27FC236}">
                <a16:creationId xmlns:a16="http://schemas.microsoft.com/office/drawing/2014/main" id="{08BCE966-8B12-40E0-8B53-138D96E809FB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4982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00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00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37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1-text-226">
            <a:extLst>
              <a:ext uri="{FF2B5EF4-FFF2-40B4-BE49-F238E27FC236}">
                <a16:creationId xmlns:a16="http://schemas.microsoft.com/office/drawing/2014/main" id="{AFD7CF83-7875-40B1-A664-E7148B95827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27">
            <a:extLst>
              <a:ext uri="{FF2B5EF4-FFF2-40B4-BE49-F238E27FC236}">
                <a16:creationId xmlns:a16="http://schemas.microsoft.com/office/drawing/2014/main" id="{40102A9E-EF2F-476A-960E-B319AC7A7B2D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228">
            <a:extLst>
              <a:ext uri="{FF2B5EF4-FFF2-40B4-BE49-F238E27FC236}">
                <a16:creationId xmlns:a16="http://schemas.microsoft.com/office/drawing/2014/main" id="{E519F7D0-E87D-49A5-B02A-B418C78A961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Coscientist: Automated Chemistry [13]</a:t>
            </a:r>
          </a:p>
        </p:txBody>
      </p:sp>
      <p:sp>
        <p:nvSpPr>
          <p:cNvPr id="4" name="m1-text-229">
            <a:extLst>
              <a:ext uri="{FF2B5EF4-FFF2-40B4-BE49-F238E27FC236}">
                <a16:creationId xmlns:a16="http://schemas.microsoft.com/office/drawing/2014/main" id="{49B97594-9A98-4E1A-B416-9FC6B965A2DA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7924800" cy="5572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Coscientist is an LLM-based research agent that plans and runs chemistry experiments.</a:t>
            </a:r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232" y="2184083"/>
            <a:ext cx="6857535" cy="1920240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50C60C6-2A56-4C36-A81A-4C5B865D069F}"/>
              </a:ext>
            </a:extLst>
          </p:cNvPr>
          <p:cNvSpPr>
            <a:spLocks noGrp="1"/>
          </p:cNvSpPr>
          <p:nvPr/>
        </p:nvSpPr>
        <p:spPr>
          <a:xfrm>
            <a:off x="609600" y="4258628"/>
            <a:ext cx="7924800" cy="325755"/>
          </a:xfrm>
          <a:prstGeom prst="roundRect">
            <a:avLst>
              <a:gd name="adj" fmla="val 21053"/>
            </a:avLst>
          </a:prstGeom>
          <a:solidFill>
            <a:srgbClr val="141A26"/>
          </a:solidFill>
          <a:ln w="9525">
            <a:solidFill>
              <a:srgbClr val="3A4458"/>
            </a:solidFill>
          </a:ln>
        </p:spPr>
      </p:sp>
      <p:sp>
        <p:nvSpPr>
          <p:cNvPr id="7" name="m1-text-230">
            <a:extLst>
              <a:ext uri="{FF2B5EF4-FFF2-40B4-BE49-F238E27FC236}">
                <a16:creationId xmlns:a16="http://schemas.microsoft.com/office/drawing/2014/main" id="{53835D88-4049-4F2F-BBB3-012015184B81}"/>
              </a:ext>
            </a:extLst>
          </p:cNvPr>
          <p:cNvSpPr>
            <a:spLocks noGrp="1"/>
          </p:cNvSpPr>
          <p:nvPr/>
        </p:nvSpPr>
        <p:spPr>
          <a:xfrm>
            <a:off x="756356" y="4258628"/>
            <a:ext cx="7631289" cy="3257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Measured results help it choose the next experiment.</a:t>
            </a:r>
          </a:p>
        </p:txBody>
      </p:sp>
      <p:sp>
        <p:nvSpPr>
          <p:cNvPr id="8" name="m1-text-306">
            <a:extLst>
              <a:ext uri="{FF2B5EF4-FFF2-40B4-BE49-F238E27FC236}">
                <a16:creationId xmlns:a16="http://schemas.microsoft.com/office/drawing/2014/main" id="{45D4E27F-3576-4993-99E1-0E4FBA5F9C66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9825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1-text-231">
            <a:extLst>
              <a:ext uri="{FF2B5EF4-FFF2-40B4-BE49-F238E27FC236}">
                <a16:creationId xmlns:a16="http://schemas.microsoft.com/office/drawing/2014/main" id="{9B34BE62-D8D5-4135-9065-2F6A4F1700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32">
            <a:extLst>
              <a:ext uri="{FF2B5EF4-FFF2-40B4-BE49-F238E27FC236}">
                <a16:creationId xmlns:a16="http://schemas.microsoft.com/office/drawing/2014/main" id="{0F26561B-107A-4D79-A663-CC2250648DFF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233">
            <a:extLst>
              <a:ext uri="{FF2B5EF4-FFF2-40B4-BE49-F238E27FC236}">
                <a16:creationId xmlns:a16="http://schemas.microsoft.com/office/drawing/2014/main" id="{06450194-A744-4928-85AE-38B76A5947B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Other Agents and Applications</a:t>
            </a:r>
          </a:p>
        </p:txBody>
      </p:sp>
      <p:pic>
        <p:nvPicPr>
          <p:cNvPr id="20" name="Project Sid - social simulation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546578" y="1438275"/>
            <a:ext cx="1905000" cy="1071563"/>
          </a:xfrm>
          <a:prstGeom prst="rect">
            <a:avLst/>
          </a:prstGeom>
        </p:spPr>
      </p:pic>
      <p:sp>
        <p:nvSpPr>
          <p:cNvPr id="5" name="m1-text-234">
            <a:extLst>
              <a:ext uri="{FF2B5EF4-FFF2-40B4-BE49-F238E27FC236}">
                <a16:creationId xmlns:a16="http://schemas.microsoft.com/office/drawing/2014/main" id="{10CC05C7-522D-4506-B8C8-5CCA4165F3EA}"/>
              </a:ext>
            </a:extLst>
          </p:cNvPr>
          <p:cNvSpPr>
            <a:spLocks noGrp="1"/>
          </p:cNvSpPr>
          <p:nvPr/>
        </p:nvSpPr>
        <p:spPr>
          <a:xfrm>
            <a:off x="609600" y="2569845"/>
            <a:ext cx="3778956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Project Sid [14]</a:t>
            </a:r>
          </a:p>
        </p:txBody>
      </p:sp>
      <p:sp>
        <p:nvSpPr>
          <p:cNvPr id="6" name="m1-text-235">
            <a:extLst>
              <a:ext uri="{FF2B5EF4-FFF2-40B4-BE49-F238E27FC236}">
                <a16:creationId xmlns:a16="http://schemas.microsoft.com/office/drawing/2014/main" id="{5BFB06D2-71C1-4D8B-9DC9-17DF79F41F0F}"/>
              </a:ext>
            </a:extLst>
          </p:cNvPr>
          <p:cNvSpPr>
            <a:spLocks noGrp="1"/>
          </p:cNvSpPr>
          <p:nvPr/>
        </p:nvSpPr>
        <p:spPr>
          <a:xfrm>
            <a:off x="609600" y="2818448"/>
            <a:ext cx="3778956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Social simulation</a:t>
            </a:r>
          </a:p>
        </p:txBody>
      </p:sp>
      <p:pic>
        <p:nvPicPr>
          <p:cNvPr id="23" name="SIMA 2 - game-playing agent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692422" y="1438275"/>
            <a:ext cx="1905000" cy="1071563"/>
          </a:xfrm>
          <a:prstGeom prst="rect">
            <a:avLst/>
          </a:prstGeom>
        </p:spPr>
      </p:pic>
      <p:sp>
        <p:nvSpPr>
          <p:cNvPr id="8" name="m1-text-236">
            <a:extLst>
              <a:ext uri="{FF2B5EF4-FFF2-40B4-BE49-F238E27FC236}">
                <a16:creationId xmlns:a16="http://schemas.microsoft.com/office/drawing/2014/main" id="{B145B266-8F25-4BF0-BA82-CC56B58B921E}"/>
              </a:ext>
            </a:extLst>
          </p:cNvPr>
          <p:cNvSpPr>
            <a:spLocks noGrp="1"/>
          </p:cNvSpPr>
          <p:nvPr/>
        </p:nvSpPr>
        <p:spPr>
          <a:xfrm>
            <a:off x="4755444" y="2569845"/>
            <a:ext cx="3778956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SIMA 2 [15]</a:t>
            </a:r>
          </a:p>
        </p:txBody>
      </p:sp>
      <p:sp>
        <p:nvSpPr>
          <p:cNvPr id="9" name="m1-text-237">
            <a:extLst>
              <a:ext uri="{FF2B5EF4-FFF2-40B4-BE49-F238E27FC236}">
                <a16:creationId xmlns:a16="http://schemas.microsoft.com/office/drawing/2014/main" id="{0CBCFEEB-22FE-4970-AEE7-9B16337EADF0}"/>
              </a:ext>
            </a:extLst>
          </p:cNvPr>
          <p:cNvSpPr>
            <a:spLocks noGrp="1"/>
          </p:cNvSpPr>
          <p:nvPr/>
        </p:nvSpPr>
        <p:spPr>
          <a:xfrm>
            <a:off x="4755444" y="2818448"/>
            <a:ext cx="3778956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Video games</a:t>
            </a:r>
          </a:p>
        </p:txBody>
      </p:sp>
      <p:pic>
        <p:nvPicPr>
          <p:cNvPr id="26" name="OpenVLA - real-world robotics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546578" y="3075623"/>
            <a:ext cx="1905000" cy="1071563"/>
          </a:xfrm>
          <a:prstGeom prst="rect">
            <a:avLst/>
          </a:prstGeom>
        </p:spPr>
      </p:pic>
      <p:sp>
        <p:nvSpPr>
          <p:cNvPr id="11" name="m1-text-238">
            <a:extLst>
              <a:ext uri="{FF2B5EF4-FFF2-40B4-BE49-F238E27FC236}">
                <a16:creationId xmlns:a16="http://schemas.microsoft.com/office/drawing/2014/main" id="{82280A17-26ED-4DE8-B7D9-F353809E9CB4}"/>
              </a:ext>
            </a:extLst>
          </p:cNvPr>
          <p:cNvSpPr>
            <a:spLocks noGrp="1"/>
          </p:cNvSpPr>
          <p:nvPr/>
        </p:nvSpPr>
        <p:spPr>
          <a:xfrm>
            <a:off x="609600" y="4207193"/>
            <a:ext cx="3778956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OpenVLA [16]</a:t>
            </a:r>
          </a:p>
        </p:txBody>
      </p:sp>
      <p:sp>
        <p:nvSpPr>
          <p:cNvPr id="12" name="m1-text-239">
            <a:extLst>
              <a:ext uri="{FF2B5EF4-FFF2-40B4-BE49-F238E27FC236}">
                <a16:creationId xmlns:a16="http://schemas.microsoft.com/office/drawing/2014/main" id="{37346317-5AAC-438E-84F1-B334CA6CDFE6}"/>
              </a:ext>
            </a:extLst>
          </p:cNvPr>
          <p:cNvSpPr>
            <a:spLocks noGrp="1"/>
          </p:cNvSpPr>
          <p:nvPr/>
        </p:nvSpPr>
        <p:spPr>
          <a:xfrm>
            <a:off x="609600" y="4455795"/>
            <a:ext cx="3778956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Real-world robotics</a:t>
            </a:r>
          </a:p>
        </p:txBody>
      </p:sp>
      <p:pic>
        <p:nvPicPr>
          <p:cNvPr id="29" name="Project Lazarus - healthcare training">
            <a:extLst>
              <a:ext uri="{FF2B5EF4-FFF2-40B4-BE49-F238E27FC236}">
                <a16:creationId xmlns:a16="http://schemas.microsoft.com/office/drawing/2014/main" id="{B64FD599-2E4B-9684-53B1-A3C4C908B33F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692422" y="3075623"/>
            <a:ext cx="1905000" cy="1071563"/>
          </a:xfrm>
          <a:prstGeom prst="rect">
            <a:avLst/>
          </a:prstGeom>
        </p:spPr>
      </p:pic>
      <p:sp>
        <p:nvSpPr>
          <p:cNvPr id="14" name="m1-text-240">
            <a:hlinkClick r:id="rId15"/>
            <a:extLst>
              <a:ext uri="{FF2B5EF4-FFF2-40B4-BE49-F238E27FC236}">
                <a16:creationId xmlns:a16="http://schemas.microsoft.com/office/drawing/2014/main" id="{625752B5-4A72-4875-8ADA-1AFC501A1B47}"/>
              </a:ext>
            </a:extLst>
          </p:cNvPr>
          <p:cNvSpPr>
            <a:spLocks noGrp="1"/>
          </p:cNvSpPr>
          <p:nvPr/>
        </p:nvSpPr>
        <p:spPr>
          <a:xfrm>
            <a:off x="4755444" y="4207193"/>
            <a:ext cx="3778956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50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Project Lazarus</a:t>
            </a:r>
          </a:p>
        </p:txBody>
      </p:sp>
      <p:sp>
        <p:nvSpPr>
          <p:cNvPr id="15" name="m1-text-241">
            <a:extLst>
              <a:ext uri="{FF2B5EF4-FFF2-40B4-BE49-F238E27FC236}">
                <a16:creationId xmlns:a16="http://schemas.microsoft.com/office/drawing/2014/main" id="{A9B0FA6D-1A56-4B58-9284-785246317CC2}"/>
              </a:ext>
            </a:extLst>
          </p:cNvPr>
          <p:cNvSpPr>
            <a:spLocks noGrp="1"/>
          </p:cNvSpPr>
          <p:nvPr/>
        </p:nvSpPr>
        <p:spPr>
          <a:xfrm>
            <a:off x="4755444" y="4455795"/>
            <a:ext cx="3778956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ctr">
              <a:def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Healthcare training in VR</a:t>
            </a:r>
          </a:p>
        </p:txBody>
      </p:sp>
      <p:sp>
        <p:nvSpPr>
          <p:cNvPr id="16" name="m1-text-307">
            <a:extLst>
              <a:ext uri="{FF2B5EF4-FFF2-40B4-BE49-F238E27FC236}">
                <a16:creationId xmlns:a16="http://schemas.microsoft.com/office/drawing/2014/main" id="{A03A9E61-C02C-43F7-8844-70AA1DAB9116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178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0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97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5000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 vol="80000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37" repeatCount="indefinite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m1-text-242">
            <a:extLst>
              <a:ext uri="{FF2B5EF4-FFF2-40B4-BE49-F238E27FC236}">
                <a16:creationId xmlns:a16="http://schemas.microsoft.com/office/drawing/2014/main" id="{D0F69FCF-3182-4380-A863-53B75621B02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1-text-243">
            <a:extLst>
              <a:ext uri="{FF2B5EF4-FFF2-40B4-BE49-F238E27FC236}">
                <a16:creationId xmlns:a16="http://schemas.microsoft.com/office/drawing/2014/main" id="{B6453F00-BD24-42C6-90A2-A9C1CEC5D340}"/>
              </a:ext>
            </a:extLst>
          </p:cNvPr>
          <p:cNvSpPr>
            <a:spLocks noGrp="1"/>
          </p:cNvSpPr>
          <p:nvPr/>
        </p:nvSpPr>
        <p:spPr>
          <a:xfrm>
            <a:off x="5856111" y="4800600"/>
            <a:ext cx="1834444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01</a:t>
            </a:r>
          </a:p>
        </p:txBody>
      </p:sp>
      <p:sp>
        <p:nvSpPr>
          <p:cNvPr id="3" name="m1-text-244">
            <a:extLst>
              <a:ext uri="{FF2B5EF4-FFF2-40B4-BE49-F238E27FC236}">
                <a16:creationId xmlns:a16="http://schemas.microsoft.com/office/drawing/2014/main" id="{B47A5902-4A5B-48C6-933E-FE7B73BA11A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 i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4" name="m1-subheading-245">
            <a:hlinkClick r:id="rId3"/>
            <a:extLst>
              <a:ext uri="{FF2B5EF4-FFF2-40B4-BE49-F238E27FC236}">
                <a16:creationId xmlns:a16="http://schemas.microsoft.com/office/drawing/2014/main" id="{544C70E1-BC30-4B29-8DFB-6409FEAC1EB2}"/>
              </a:ext>
            </a:extLst>
          </p:cNvPr>
          <p:cNvSpPr>
            <a:spLocks noGrp="1"/>
          </p:cNvSpPr>
          <p:nvPr/>
        </p:nvSpPr>
        <p:spPr>
          <a:xfrm>
            <a:off x="609600" y="148971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Franklin &amp; Graesser (1996)</a:t>
            </a:r>
          </a:p>
        </p:txBody>
      </p:sp>
      <p:sp>
        <p:nvSpPr>
          <p:cNvPr id="5" name="m1-text-246">
            <a:hlinkClick r:id="rId3"/>
            <a:extLst>
              <a:ext uri="{FF2B5EF4-FFF2-40B4-BE49-F238E27FC236}">
                <a16:creationId xmlns:a16="http://schemas.microsoft.com/office/drawing/2014/main" id="{41D8BFE8-8109-486A-B3B1-E41AE376A07A}"/>
              </a:ext>
            </a:extLst>
          </p:cNvPr>
          <p:cNvSpPr>
            <a:spLocks noGrp="1"/>
          </p:cNvSpPr>
          <p:nvPr/>
        </p:nvSpPr>
        <p:spPr>
          <a:xfrm>
            <a:off x="609600" y="166116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Is it an Agent, or just a Program?</a:t>
            </a:r>
          </a:p>
        </p:txBody>
      </p:sp>
      <p:sp>
        <p:nvSpPr>
          <p:cNvPr id="6" name="m1-subheading-247">
            <a:hlinkClick r:id="rId4"/>
            <a:extLst>
              <a:ext uri="{FF2B5EF4-FFF2-40B4-BE49-F238E27FC236}">
                <a16:creationId xmlns:a16="http://schemas.microsoft.com/office/drawing/2014/main" id="{87089F12-C214-41A1-86D0-A75B07FA7B3D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Pecora, Strada &amp; Bottino (2026)</a:t>
            </a:r>
          </a:p>
        </p:txBody>
      </p:sp>
      <p:sp>
        <p:nvSpPr>
          <p:cNvPr id="7" name="m1-text-248">
            <a:hlinkClick r:id="rId4"/>
            <a:extLst>
              <a:ext uri="{FF2B5EF4-FFF2-40B4-BE49-F238E27FC236}">
                <a16:creationId xmlns:a16="http://schemas.microsoft.com/office/drawing/2014/main" id="{544003C8-700F-44DF-9E8E-71F9BBD21536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 Models for Virtual Agents and Humans</a:t>
            </a:r>
          </a:p>
        </p:txBody>
      </p:sp>
      <p:sp>
        <p:nvSpPr>
          <p:cNvPr id="8" name="m1-subheading-249">
            <a:hlinkClick r:id="rId5"/>
            <a:extLst>
              <a:ext uri="{FF2B5EF4-FFF2-40B4-BE49-F238E27FC236}">
                <a16:creationId xmlns:a16="http://schemas.microsoft.com/office/drawing/2014/main" id="{8FA61231-3038-412C-848A-FE78A7FEAE20}"/>
              </a:ext>
            </a:extLst>
          </p:cNvPr>
          <p:cNvSpPr>
            <a:spLocks noGrp="1"/>
          </p:cNvSpPr>
          <p:nvPr/>
        </p:nvSpPr>
        <p:spPr>
          <a:xfrm>
            <a:off x="609600" y="224409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Atkinson &amp; Shiffrin (1968)</a:t>
            </a:r>
          </a:p>
        </p:txBody>
      </p:sp>
      <p:sp>
        <p:nvSpPr>
          <p:cNvPr id="9" name="m1-text-250">
            <a:hlinkClick r:id="rId5"/>
            <a:extLst>
              <a:ext uri="{FF2B5EF4-FFF2-40B4-BE49-F238E27FC236}">
                <a16:creationId xmlns:a16="http://schemas.microsoft.com/office/drawing/2014/main" id="{C0B4FF05-2436-4BD4-BFF2-AD23E2D574E8}"/>
              </a:ext>
            </a:extLst>
          </p:cNvPr>
          <p:cNvSpPr>
            <a:spLocks noGrp="1"/>
          </p:cNvSpPr>
          <p:nvPr/>
        </p:nvSpPr>
        <p:spPr>
          <a:xfrm>
            <a:off x="609600" y="241554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Human Memory: System and Control Processes</a:t>
            </a:r>
          </a:p>
        </p:txBody>
      </p:sp>
      <p:sp>
        <p:nvSpPr>
          <p:cNvPr id="10" name="m1-subheading-251">
            <a:hlinkClick r:id="rId6"/>
            <a:extLst>
              <a:ext uri="{FF2B5EF4-FFF2-40B4-BE49-F238E27FC236}">
                <a16:creationId xmlns:a16="http://schemas.microsoft.com/office/drawing/2014/main" id="{951ACF78-B22E-4B28-A8FF-D6FAAC6FA62E}"/>
              </a:ext>
            </a:extLst>
          </p:cNvPr>
          <p:cNvSpPr>
            <a:spLocks noGrp="1"/>
          </p:cNvSpPr>
          <p:nvPr/>
        </p:nvSpPr>
        <p:spPr>
          <a:xfrm>
            <a:off x="609600" y="262128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Baddeley &amp; Hitch (1974)</a:t>
            </a:r>
          </a:p>
        </p:txBody>
      </p:sp>
      <p:sp>
        <p:nvSpPr>
          <p:cNvPr id="11" name="m1-text-252">
            <a:hlinkClick r:id="rId6"/>
            <a:extLst>
              <a:ext uri="{FF2B5EF4-FFF2-40B4-BE49-F238E27FC236}">
                <a16:creationId xmlns:a16="http://schemas.microsoft.com/office/drawing/2014/main" id="{44AFFED5-598A-41AA-9251-6EFD8FE2120F}"/>
              </a:ext>
            </a:extLst>
          </p:cNvPr>
          <p:cNvSpPr>
            <a:spLocks noGrp="1"/>
          </p:cNvSpPr>
          <p:nvPr/>
        </p:nvSpPr>
        <p:spPr>
          <a:xfrm>
            <a:off x="609600" y="279273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Working Memory</a:t>
            </a:r>
          </a:p>
        </p:txBody>
      </p:sp>
      <p:sp>
        <p:nvSpPr>
          <p:cNvPr id="12" name="m1-subheading-253">
            <a:hlinkClick r:id="rId7"/>
            <a:extLst>
              <a:ext uri="{FF2B5EF4-FFF2-40B4-BE49-F238E27FC236}">
                <a16:creationId xmlns:a16="http://schemas.microsoft.com/office/drawing/2014/main" id="{749A5CF6-B93B-4359-A289-DBC8394C2709}"/>
              </a:ext>
            </a:extLst>
          </p:cNvPr>
          <p:cNvSpPr>
            <a:spLocks noGrp="1"/>
          </p:cNvSpPr>
          <p:nvPr/>
        </p:nvSpPr>
        <p:spPr>
          <a:xfrm>
            <a:off x="609600" y="299847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Baddeley (2000)</a:t>
            </a:r>
          </a:p>
        </p:txBody>
      </p:sp>
      <p:sp>
        <p:nvSpPr>
          <p:cNvPr id="13" name="m1-text-254">
            <a:hlinkClick r:id="rId7"/>
            <a:extLst>
              <a:ext uri="{FF2B5EF4-FFF2-40B4-BE49-F238E27FC236}">
                <a16:creationId xmlns:a16="http://schemas.microsoft.com/office/drawing/2014/main" id="{C75520A1-0C48-4195-BCEC-A6CA6441DDBF}"/>
              </a:ext>
            </a:extLst>
          </p:cNvPr>
          <p:cNvSpPr>
            <a:spLocks noGrp="1"/>
          </p:cNvSpPr>
          <p:nvPr/>
        </p:nvSpPr>
        <p:spPr>
          <a:xfrm>
            <a:off x="609600" y="316992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episodic buffer</a:t>
            </a:r>
          </a:p>
        </p:txBody>
      </p:sp>
      <p:sp>
        <p:nvSpPr>
          <p:cNvPr id="14" name="m1-subheading-255">
            <a:hlinkClick r:id="rId8"/>
            <a:extLst>
              <a:ext uri="{FF2B5EF4-FFF2-40B4-BE49-F238E27FC236}">
                <a16:creationId xmlns:a16="http://schemas.microsoft.com/office/drawing/2014/main" id="{24B5A931-A8B1-49C5-8FE0-0C67908FA146}"/>
              </a:ext>
            </a:extLst>
          </p:cNvPr>
          <p:cNvSpPr>
            <a:spLocks noGrp="1"/>
          </p:cNvSpPr>
          <p:nvPr/>
        </p:nvSpPr>
        <p:spPr>
          <a:xfrm>
            <a:off x="609600" y="337566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[6] Tulving (1972)</a:t>
            </a:r>
          </a:p>
        </p:txBody>
      </p:sp>
      <p:sp>
        <p:nvSpPr>
          <p:cNvPr id="15" name="m1-text-256">
            <a:hlinkClick r:id="rId8"/>
            <a:extLst>
              <a:ext uri="{FF2B5EF4-FFF2-40B4-BE49-F238E27FC236}">
                <a16:creationId xmlns:a16="http://schemas.microsoft.com/office/drawing/2014/main" id="{648A2C8C-7272-4789-9D6B-79F735E1D61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Episodic and semantic memory</a:t>
            </a:r>
          </a:p>
        </p:txBody>
      </p:sp>
      <p:sp>
        <p:nvSpPr>
          <p:cNvPr id="16" name="m1-subheading-257">
            <a:hlinkClick r:id="rId9"/>
            <a:extLst>
              <a:ext uri="{FF2B5EF4-FFF2-40B4-BE49-F238E27FC236}">
                <a16:creationId xmlns:a16="http://schemas.microsoft.com/office/drawing/2014/main" id="{0B47A895-670A-4FD9-9444-E6ABAB650E24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[7] Tulving (1985)</a:t>
            </a:r>
          </a:p>
        </p:txBody>
      </p:sp>
      <p:sp>
        <p:nvSpPr>
          <p:cNvPr id="17" name="m1-text-258">
            <a:hlinkClick r:id="rId9"/>
            <a:extLst>
              <a:ext uri="{FF2B5EF4-FFF2-40B4-BE49-F238E27FC236}">
                <a16:creationId xmlns:a16="http://schemas.microsoft.com/office/drawing/2014/main" id="{FFD6B704-F400-4734-8AF1-E0D631FEF9F8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How many memory systems are there?</a:t>
            </a:r>
          </a:p>
        </p:txBody>
      </p:sp>
      <p:sp>
        <p:nvSpPr>
          <p:cNvPr id="18" name="m1-subheading-259">
            <a:hlinkClick r:id="rId10"/>
            <a:extLst>
              <a:ext uri="{FF2B5EF4-FFF2-40B4-BE49-F238E27FC236}">
                <a16:creationId xmlns:a16="http://schemas.microsoft.com/office/drawing/2014/main" id="{4E2652C2-001C-467A-8187-F524E1AC545D}"/>
              </a:ext>
            </a:extLst>
          </p:cNvPr>
          <p:cNvSpPr>
            <a:spLocks noGrp="1"/>
          </p:cNvSpPr>
          <p:nvPr/>
        </p:nvSpPr>
        <p:spPr>
          <a:xfrm>
            <a:off x="609600" y="413004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[8] Conway &amp; Pleydell-Pearce (2000)</a:t>
            </a:r>
          </a:p>
        </p:txBody>
      </p:sp>
      <p:sp>
        <p:nvSpPr>
          <p:cNvPr id="19" name="m1-text-260">
            <a:hlinkClick r:id="rId10"/>
            <a:extLst>
              <a:ext uri="{FF2B5EF4-FFF2-40B4-BE49-F238E27FC236}">
                <a16:creationId xmlns:a16="http://schemas.microsoft.com/office/drawing/2014/main" id="{F78890E1-EC16-4A1F-9964-3304DEFE552E}"/>
              </a:ext>
            </a:extLst>
          </p:cNvPr>
          <p:cNvSpPr>
            <a:spLocks noGrp="1"/>
          </p:cNvSpPr>
          <p:nvPr/>
        </p:nvSpPr>
        <p:spPr>
          <a:xfrm>
            <a:off x="609600" y="430149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Autobiographical memory and the self-memory system</a:t>
            </a:r>
          </a:p>
        </p:txBody>
      </p:sp>
      <p:sp>
        <p:nvSpPr>
          <p:cNvPr id="20" name="m1-subheading-261">
            <a:hlinkClick r:id="rId11"/>
            <a:extLst>
              <a:ext uri="{FF2B5EF4-FFF2-40B4-BE49-F238E27FC236}">
                <a16:creationId xmlns:a16="http://schemas.microsoft.com/office/drawing/2014/main" id="{017AF462-964C-4F30-8FF7-2BCA0431FA37}"/>
              </a:ext>
            </a:extLst>
          </p:cNvPr>
          <p:cNvSpPr>
            <a:spLocks noGrp="1"/>
          </p:cNvSpPr>
          <p:nvPr/>
        </p:nvSpPr>
        <p:spPr>
          <a:xfrm>
            <a:off x="4737100" y="148971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[9] Tolman (1948)</a:t>
            </a:r>
          </a:p>
        </p:txBody>
      </p:sp>
      <p:sp>
        <p:nvSpPr>
          <p:cNvPr id="21" name="m1-text-262">
            <a:hlinkClick r:id="rId11"/>
            <a:extLst>
              <a:ext uri="{FF2B5EF4-FFF2-40B4-BE49-F238E27FC236}">
                <a16:creationId xmlns:a16="http://schemas.microsoft.com/office/drawing/2014/main" id="{084900D7-D9A4-4735-BF8F-2B2B34BE96AA}"/>
              </a:ext>
            </a:extLst>
          </p:cNvPr>
          <p:cNvSpPr>
            <a:spLocks noGrp="1"/>
          </p:cNvSpPr>
          <p:nvPr/>
        </p:nvSpPr>
        <p:spPr>
          <a:xfrm>
            <a:off x="4737100" y="166116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Cognitive maps in rats and men</a:t>
            </a:r>
          </a:p>
        </p:txBody>
      </p:sp>
      <p:sp>
        <p:nvSpPr>
          <p:cNvPr id="22" name="m1-subheading-263">
            <a:hlinkClick r:id="rId12"/>
            <a:extLst>
              <a:ext uri="{FF2B5EF4-FFF2-40B4-BE49-F238E27FC236}">
                <a16:creationId xmlns:a16="http://schemas.microsoft.com/office/drawing/2014/main" id="{557AFB73-A6A1-4644-AA6C-11475A08E1FD}"/>
              </a:ext>
            </a:extLst>
          </p:cNvPr>
          <p:cNvSpPr>
            <a:spLocks noGrp="1"/>
          </p:cNvSpPr>
          <p:nvPr/>
        </p:nvSpPr>
        <p:spPr>
          <a:xfrm>
            <a:off x="4737100" y="186690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[10] Park et al. (2023)</a:t>
            </a:r>
          </a:p>
        </p:txBody>
      </p:sp>
      <p:sp>
        <p:nvSpPr>
          <p:cNvPr id="23" name="m1-text-264">
            <a:hlinkClick r:id="rId12"/>
            <a:extLst>
              <a:ext uri="{FF2B5EF4-FFF2-40B4-BE49-F238E27FC236}">
                <a16:creationId xmlns:a16="http://schemas.microsoft.com/office/drawing/2014/main" id="{0D9CD919-2D3B-408A-8425-0622DB5B9C1A}"/>
              </a:ext>
            </a:extLst>
          </p:cNvPr>
          <p:cNvSpPr>
            <a:spLocks noGrp="1"/>
          </p:cNvSpPr>
          <p:nvPr/>
        </p:nvSpPr>
        <p:spPr>
          <a:xfrm>
            <a:off x="4737100" y="203835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Generative Agents</a:t>
            </a:r>
          </a:p>
        </p:txBody>
      </p:sp>
      <p:sp>
        <p:nvSpPr>
          <p:cNvPr id="24" name="m1-subheading-265">
            <a:hlinkClick r:id="rId13"/>
            <a:extLst>
              <a:ext uri="{FF2B5EF4-FFF2-40B4-BE49-F238E27FC236}">
                <a16:creationId xmlns:a16="http://schemas.microsoft.com/office/drawing/2014/main" id="{FD4EDB8F-3508-4457-9631-8C855B1806E6}"/>
              </a:ext>
            </a:extLst>
          </p:cNvPr>
          <p:cNvSpPr>
            <a:spLocks noGrp="1"/>
          </p:cNvSpPr>
          <p:nvPr/>
        </p:nvSpPr>
        <p:spPr>
          <a:xfrm>
            <a:off x="4737100" y="224409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[11] Wang et al. (2023)</a:t>
            </a:r>
          </a:p>
        </p:txBody>
      </p:sp>
      <p:sp>
        <p:nvSpPr>
          <p:cNvPr id="25" name="m1-text-266">
            <a:hlinkClick r:id="rId13"/>
            <a:extLst>
              <a:ext uri="{FF2B5EF4-FFF2-40B4-BE49-F238E27FC236}">
                <a16:creationId xmlns:a16="http://schemas.microsoft.com/office/drawing/2014/main" id="{D18E58C7-8F3B-462D-B960-97DF7ECB4383}"/>
              </a:ext>
            </a:extLst>
          </p:cNvPr>
          <p:cNvSpPr>
            <a:spLocks noGrp="1"/>
          </p:cNvSpPr>
          <p:nvPr/>
        </p:nvSpPr>
        <p:spPr>
          <a:xfrm>
            <a:off x="4737100" y="241554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Voyager</a:t>
            </a:r>
          </a:p>
        </p:txBody>
      </p:sp>
      <p:sp>
        <p:nvSpPr>
          <p:cNvPr id="26" name="m1-subheading-267">
            <a:hlinkClick r:id="rId14"/>
            <a:extLst>
              <a:ext uri="{FF2B5EF4-FFF2-40B4-BE49-F238E27FC236}">
                <a16:creationId xmlns:a16="http://schemas.microsoft.com/office/drawing/2014/main" id="{AB6849A5-53ED-4C82-AFBE-68D8D29B7032}"/>
              </a:ext>
            </a:extLst>
          </p:cNvPr>
          <p:cNvSpPr>
            <a:spLocks noGrp="1"/>
          </p:cNvSpPr>
          <p:nvPr/>
        </p:nvSpPr>
        <p:spPr>
          <a:xfrm>
            <a:off x="4737100" y="262128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[12] Pecora et al. (2026)</a:t>
            </a:r>
          </a:p>
        </p:txBody>
      </p:sp>
      <p:sp>
        <p:nvSpPr>
          <p:cNvPr id="27" name="m1-text-268">
            <a:hlinkClick r:id="rId14"/>
            <a:extLst>
              <a:ext uri="{FF2B5EF4-FFF2-40B4-BE49-F238E27FC236}">
                <a16:creationId xmlns:a16="http://schemas.microsoft.com/office/drawing/2014/main" id="{184EC2AE-06D9-49EB-96F9-1DDD1DFC4E20}"/>
              </a:ext>
            </a:extLst>
          </p:cNvPr>
          <p:cNvSpPr>
            <a:spLocks noGrp="1"/>
          </p:cNvSpPr>
          <p:nvPr/>
        </p:nvSpPr>
        <p:spPr>
          <a:xfrm>
            <a:off x="4737100" y="279273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A.D.A.M.O.: A Visual-Symbolic Framework for Virtual Humans</a:t>
            </a:r>
          </a:p>
        </p:txBody>
      </p:sp>
      <p:sp>
        <p:nvSpPr>
          <p:cNvPr id="28" name="m1-subheading-269">
            <a:hlinkClick r:id="rId15"/>
            <a:extLst>
              <a:ext uri="{FF2B5EF4-FFF2-40B4-BE49-F238E27FC236}">
                <a16:creationId xmlns:a16="http://schemas.microsoft.com/office/drawing/2014/main" id="{C89D8D79-95D1-4161-9D6C-8BAE63425009}"/>
              </a:ext>
            </a:extLst>
          </p:cNvPr>
          <p:cNvSpPr>
            <a:spLocks noGrp="1"/>
          </p:cNvSpPr>
          <p:nvPr/>
        </p:nvSpPr>
        <p:spPr>
          <a:xfrm>
            <a:off x="4737100" y="299847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[13] Boiko et al. (2023)</a:t>
            </a:r>
          </a:p>
        </p:txBody>
      </p:sp>
      <p:sp>
        <p:nvSpPr>
          <p:cNvPr id="29" name="m1-text-270">
            <a:hlinkClick r:id="rId15"/>
            <a:extLst>
              <a:ext uri="{FF2B5EF4-FFF2-40B4-BE49-F238E27FC236}">
                <a16:creationId xmlns:a16="http://schemas.microsoft.com/office/drawing/2014/main" id="{24C97879-1392-4390-81D3-320BD4F82C4D}"/>
              </a:ext>
            </a:extLst>
          </p:cNvPr>
          <p:cNvSpPr>
            <a:spLocks noGrp="1"/>
          </p:cNvSpPr>
          <p:nvPr/>
        </p:nvSpPr>
        <p:spPr>
          <a:xfrm>
            <a:off x="4737100" y="316992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Autonomous chemical research with large language models</a:t>
            </a:r>
          </a:p>
        </p:txBody>
      </p:sp>
      <p:sp>
        <p:nvSpPr>
          <p:cNvPr id="30" name="m1-subheading-271">
            <a:hlinkClick r:id="rId16"/>
            <a:extLst>
              <a:ext uri="{FF2B5EF4-FFF2-40B4-BE49-F238E27FC236}">
                <a16:creationId xmlns:a16="http://schemas.microsoft.com/office/drawing/2014/main" id="{A5E79109-CF51-4B52-ADF1-7420F88E3A53}"/>
              </a:ext>
            </a:extLst>
          </p:cNvPr>
          <p:cNvSpPr>
            <a:spLocks noGrp="1"/>
          </p:cNvSpPr>
          <p:nvPr/>
        </p:nvSpPr>
        <p:spPr>
          <a:xfrm>
            <a:off x="4737100" y="337566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[14] Altera.AL et al. (2024)</a:t>
            </a:r>
          </a:p>
        </p:txBody>
      </p:sp>
      <p:sp>
        <p:nvSpPr>
          <p:cNvPr id="31" name="m1-text-272">
            <a:hlinkClick r:id="rId16"/>
            <a:extLst>
              <a:ext uri="{FF2B5EF4-FFF2-40B4-BE49-F238E27FC236}">
                <a16:creationId xmlns:a16="http://schemas.microsoft.com/office/drawing/2014/main" id="{2112A537-FD86-4E12-93E4-51E2345C7B92}"/>
              </a:ext>
            </a:extLst>
          </p:cNvPr>
          <p:cNvSpPr>
            <a:spLocks noGrp="1"/>
          </p:cNvSpPr>
          <p:nvPr/>
        </p:nvSpPr>
        <p:spPr>
          <a:xfrm>
            <a:off x="4737100" y="354711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Project Sid: Many-agent simulations toward AI civilization</a:t>
            </a:r>
          </a:p>
        </p:txBody>
      </p:sp>
      <p:sp>
        <p:nvSpPr>
          <p:cNvPr id="32" name="m1-subheading-273">
            <a:hlinkClick r:id="rId17"/>
            <a:extLst>
              <a:ext uri="{FF2B5EF4-FFF2-40B4-BE49-F238E27FC236}">
                <a16:creationId xmlns:a16="http://schemas.microsoft.com/office/drawing/2014/main" id="{44C8C739-2222-44B0-A560-B02C5E8E21E5}"/>
              </a:ext>
            </a:extLst>
          </p:cNvPr>
          <p:cNvSpPr>
            <a:spLocks noGrp="1"/>
          </p:cNvSpPr>
          <p:nvPr/>
        </p:nvSpPr>
        <p:spPr>
          <a:xfrm>
            <a:off x="4737100" y="375285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[15] SIMA Team (2025)</a:t>
            </a:r>
          </a:p>
        </p:txBody>
      </p:sp>
      <p:sp>
        <p:nvSpPr>
          <p:cNvPr id="33" name="m1-text-274">
            <a:hlinkClick r:id="rId17"/>
            <a:extLst>
              <a:ext uri="{FF2B5EF4-FFF2-40B4-BE49-F238E27FC236}">
                <a16:creationId xmlns:a16="http://schemas.microsoft.com/office/drawing/2014/main" id="{43D6CFD6-8B30-46ED-9B92-D303FA24A3F3}"/>
              </a:ext>
            </a:extLst>
          </p:cNvPr>
          <p:cNvSpPr>
            <a:spLocks noGrp="1"/>
          </p:cNvSpPr>
          <p:nvPr/>
        </p:nvSpPr>
        <p:spPr>
          <a:xfrm>
            <a:off x="4737100" y="392430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SIMA 2: A Generalist Embodied Agent for Virtual Worlds</a:t>
            </a:r>
          </a:p>
        </p:txBody>
      </p:sp>
      <p:sp>
        <p:nvSpPr>
          <p:cNvPr id="34" name="m1-subheading-275">
            <a:hlinkClick r:id="rId18"/>
            <a:extLst>
              <a:ext uri="{FF2B5EF4-FFF2-40B4-BE49-F238E27FC236}">
                <a16:creationId xmlns:a16="http://schemas.microsoft.com/office/drawing/2014/main" id="{AB04578C-7BD1-4726-990B-BF07AD13C82B}"/>
              </a:ext>
            </a:extLst>
          </p:cNvPr>
          <p:cNvSpPr>
            <a:spLocks noGrp="1"/>
          </p:cNvSpPr>
          <p:nvPr/>
        </p:nvSpPr>
        <p:spPr>
          <a:xfrm>
            <a:off x="4737100" y="4130040"/>
            <a:ext cx="379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[16] Kim et al. (2024)</a:t>
            </a:r>
          </a:p>
        </p:txBody>
      </p:sp>
      <p:sp>
        <p:nvSpPr>
          <p:cNvPr id="35" name="m1-text-276">
            <a:hlinkClick r:id="rId18"/>
            <a:extLst>
              <a:ext uri="{FF2B5EF4-FFF2-40B4-BE49-F238E27FC236}">
                <a16:creationId xmlns:a16="http://schemas.microsoft.com/office/drawing/2014/main" id="{CD7551DC-3839-4BC8-AA8E-EDC5DCB8A437}"/>
              </a:ext>
            </a:extLst>
          </p:cNvPr>
          <p:cNvSpPr>
            <a:spLocks noGrp="1"/>
          </p:cNvSpPr>
          <p:nvPr/>
        </p:nvSpPr>
        <p:spPr>
          <a:xfrm>
            <a:off x="4737100" y="4301490"/>
            <a:ext cx="3797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050" b="0" i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050" b="0" i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OpenVLA: An Open-Source Vision-Language-Action Model</a:t>
            </a:r>
          </a:p>
        </p:txBody>
      </p:sp>
      <p:sp>
        <p:nvSpPr>
          <p:cNvPr id="36" name="m1-text-308">
            <a:extLst>
              <a:ext uri="{FF2B5EF4-FFF2-40B4-BE49-F238E27FC236}">
                <a16:creationId xmlns:a16="http://schemas.microsoft.com/office/drawing/2014/main" id="{86E65E67-8794-4BE1-960D-6341A819A61C}"/>
              </a:ext>
            </a:extLst>
          </p:cNvPr>
          <p:cNvSpPr>
            <a:spLocks noGrp="1"/>
          </p:cNvSpPr>
          <p:nvPr/>
        </p:nvSpPr>
        <p:spPr>
          <a:xfrm>
            <a:off x="8195028" y="4800600"/>
            <a:ext cx="339372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def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7133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9513</Words>
  <Application>Microsoft Office PowerPoint</Application>
  <DocSecurity>0</DocSecurity>
  <PresentationFormat>Presentazione su schermo (16:9)</PresentationFormat>
  <Paragraphs>545</Paragraphs>
  <Slides>32</Slides>
  <Notes>32</Notes>
  <HiddenSlides>0</HiddenSlides>
  <MMClips>10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Alessandro Emmanuel  Pecora</cp:lastModifiedBy>
  <cp:revision>2</cp:revision>
  <dcterms:created xsi:type="dcterms:W3CDTF">2026-10-28T17:51:12Z</dcterms:created>
  <dcterms:modified xsi:type="dcterms:W3CDTF">2026-10-28T17:57:57Z</dcterms:modified>
</cp:coreProperties>
</file>