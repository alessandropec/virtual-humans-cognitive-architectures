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3" r:id="rId28"/>
    <p:sldId id="282" r:id="rId29"/>
  </p:sldIdLst>
  <p:sldSz cx="9144000" cy="5143500" type="screen16x9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 snapToObjects="1">
      <p:cViewPr>
        <p:scale>
          <a:sx n="1" d="1"/>
          <a:sy n="1" d="1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P1">
    <p:bg>
      <p:bgPr>
        <a:solidFill>
          <a:srgbClr val="0A0D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Image 0"/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55FC7451-64D3-4CB8-9AA0-48C8D9DAF0CB}"/>
              </a:ext>
            </a:extLst>
          </p:cNvPr>
          <p:cNvSpPr>
            <a:spLocks noGrp="1"/>
          </p:cNvSpPr>
          <p:nvPr/>
        </p:nvSpPr>
        <p:spPr>
          <a:xfrm>
            <a:off x="457200" y="4754880"/>
            <a:ext cx="548640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endParaRPr sz="800"/>
          </a:p>
        </p:txBody>
      </p:sp>
      <p:sp>
        <p:nvSpPr>
          <p:cNvPr id="25" name="Slide Number Placeholder 0">
            <a:extLst>
              <a:ext uri="{FF2B5EF4-FFF2-40B4-BE49-F238E27FC236}">
                <a16:creationId xmlns:a16="http://schemas.microsoft.com/office/drawing/2014/main" id="{CDF34BA1-73E7-4752-8D70-4FEFC7FA2B5E}"/>
              </a:ext>
            </a:extLst>
          </p:cNvPr>
          <p:cNvSpPr>
            <a:spLocks noGrp="1"/>
          </p:cNvSpPr>
          <p:nvPr>
            <p:ph type="sldNum" idx="4294967295"/>
          </p:nvPr>
        </p:nvSpPr>
        <p:spPr>
          <a:xfrm>
            <a:off x="8366760" y="4754880"/>
            <a:ext cx="365760" cy="228600"/>
          </a:xfrm>
          <a:prstGeom prst="rect">
            <a:avLst/>
          </a:prstGeom>
        </p:spPr>
        <p:txBody>
          <a:bodyPr/>
          <a:lstStyle>
            <a:lvl1pPr>
              <a:buNone/>
              <a:defRPr sz="800">
                <a:solidFill>
                  <a:srgbClr val="8E97A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>
              <a:buNone/>
            </a:pPr>
            <a:fld id="{69ADA83D-DF77-AA76-6DA0-7A70CD7A4D20}" type="slidenum">
              <a:rPr b="0"/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P2">
    <p:bg>
      <p:bgPr>
        <a:solidFill>
          <a:srgbClr val="0A0D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Image 0"/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079BB4D8-5B9D-4F65-BBDB-8D681C9A4764}"/>
              </a:ext>
            </a:extLst>
          </p:cNvPr>
          <p:cNvSpPr>
            <a:spLocks noGrp="1"/>
          </p:cNvSpPr>
          <p:nvPr/>
        </p:nvSpPr>
        <p:spPr>
          <a:xfrm>
            <a:off x="457200" y="4754880"/>
            <a:ext cx="548640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endParaRPr sz="800"/>
          </a:p>
        </p:txBody>
      </p:sp>
      <p:sp>
        <p:nvSpPr>
          <p:cNvPr id="25" name="Slide Number Placeholder 0">
            <a:extLst>
              <a:ext uri="{FF2B5EF4-FFF2-40B4-BE49-F238E27FC236}">
                <a16:creationId xmlns:a16="http://schemas.microsoft.com/office/drawing/2014/main" id="{393FC60A-EA91-4AC7-BC18-270D30866589}"/>
              </a:ext>
            </a:extLst>
          </p:cNvPr>
          <p:cNvSpPr>
            <a:spLocks noGrp="1"/>
          </p:cNvSpPr>
          <p:nvPr>
            <p:ph type="sldNum" idx="4294967295"/>
          </p:nvPr>
        </p:nvSpPr>
        <p:spPr>
          <a:xfrm>
            <a:off x="8366760" y="4754880"/>
            <a:ext cx="365760" cy="228600"/>
          </a:xfrm>
          <a:prstGeom prst="rect">
            <a:avLst/>
          </a:prstGeom>
        </p:spPr>
        <p:txBody>
          <a:bodyPr/>
          <a:lstStyle>
            <a:lvl1pPr>
              <a:buNone/>
              <a:defRPr sz="800">
                <a:solidFill>
                  <a:srgbClr val="8E97A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>
              <a:buNone/>
            </a:pPr>
            <a:fld id="{69ADA83D-DF77-AA76-6DA0-7A70CD7A4D20}" type="slidenum">
              <a:rPr b="0"/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">
    <p:bg>
      <p:bgPr>
        <a:solidFill>
          <a:srgbClr val="0A0D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62660B54-203F-42EC-A5A3-F2DC5C93C1F6}"/>
              </a:ext>
            </a:extLst>
          </p:cNvPr>
          <p:cNvSpPr>
            <a:spLocks noGrp="1"/>
          </p:cNvSpPr>
          <p:nvPr/>
        </p:nvSpPr>
        <p:spPr>
          <a:xfrm>
            <a:off x="457200" y="4754880"/>
            <a:ext cx="548640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endParaRPr sz="800"/>
          </a:p>
        </p:txBody>
      </p:sp>
      <p:sp>
        <p:nvSpPr>
          <p:cNvPr id="25" name="Slide Number Placeholder 0">
            <a:extLst>
              <a:ext uri="{FF2B5EF4-FFF2-40B4-BE49-F238E27FC236}">
                <a16:creationId xmlns:a16="http://schemas.microsoft.com/office/drawing/2014/main" id="{CC66AC75-C800-41C1-BA5A-9761923D22AF}"/>
              </a:ext>
            </a:extLst>
          </p:cNvPr>
          <p:cNvSpPr>
            <a:spLocks noGrp="1"/>
          </p:cNvSpPr>
          <p:nvPr>
            <p:ph type="sldNum" idx="4294967295"/>
          </p:nvPr>
        </p:nvSpPr>
        <p:spPr>
          <a:xfrm>
            <a:off x="8366760" y="4754880"/>
            <a:ext cx="365760" cy="228600"/>
          </a:xfrm>
          <a:prstGeom prst="rect">
            <a:avLst/>
          </a:prstGeom>
        </p:spPr>
        <p:txBody>
          <a:bodyPr/>
          <a:lstStyle>
            <a:lvl1pPr>
              <a:buNone/>
              <a:defRPr sz="800">
                <a:solidFill>
                  <a:srgbClr val="8E97A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>
              <a:buNone/>
            </a:pPr>
            <a:fld id="{69ADA83D-DF77-AA76-6DA0-7A70CD7A4D20}" type="slidenum">
              <a:rPr b="0"/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0A0D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61450B48-B37E-42BD-8A40-552BD5F2B9E6}"/>
              </a:ext>
            </a:extLst>
          </p:cNvPr>
          <p:cNvSpPr>
            <a:spLocks noGrp="1"/>
          </p:cNvSpPr>
          <p:nvPr/>
        </p:nvSpPr>
        <p:spPr>
          <a:xfrm>
            <a:off x="457200" y="228600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endParaRPr sz="90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105E3C3A-CD83-4BD1-8F19-7D30E2610215}"/>
              </a:ext>
            </a:extLst>
          </p:cNvPr>
          <p:cNvSpPr>
            <a:spLocks noGrp="1"/>
          </p:cNvSpPr>
          <p:nvPr/>
        </p:nvSpPr>
        <p:spPr>
          <a:xfrm>
            <a:off x="457200" y="4754880"/>
            <a:ext cx="548640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endParaRPr sz="800"/>
          </a:p>
        </p:txBody>
      </p:sp>
      <p:sp>
        <p:nvSpPr>
          <p:cNvPr id="25" name="Slide Number Placeholder 0">
            <a:extLst>
              <a:ext uri="{FF2B5EF4-FFF2-40B4-BE49-F238E27FC236}">
                <a16:creationId xmlns:a16="http://schemas.microsoft.com/office/drawing/2014/main" id="{BACBE0D7-4493-47F3-A3B0-8926F89D6ADB}"/>
              </a:ext>
            </a:extLst>
          </p:cNvPr>
          <p:cNvSpPr>
            <a:spLocks noGrp="1"/>
          </p:cNvSpPr>
          <p:nvPr>
            <p:ph type="sldNum" idx="4294967295"/>
          </p:nvPr>
        </p:nvSpPr>
        <p:spPr>
          <a:xfrm>
            <a:off x="8366760" y="4754880"/>
            <a:ext cx="365760" cy="228600"/>
          </a:xfrm>
          <a:prstGeom prst="rect">
            <a:avLst/>
          </a:prstGeom>
        </p:spPr>
        <p:txBody>
          <a:bodyPr/>
          <a:lstStyle>
            <a:lvl1pPr>
              <a:buNone/>
              <a:defRPr sz="800">
                <a:solidFill>
                  <a:srgbClr val="8E97A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>
              <a:buNone/>
            </a:pPr>
            <a:fld id="{69ADA83D-DF77-AA76-6DA0-7A70CD7A4D20}" type="slidenum">
              <a:rPr b="0"/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_P1">
    <p:bg>
      <p:bgPr>
        <a:solidFill>
          <a:srgbClr val="0A0D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E3AF5B2E-D90D-402D-998C-27509820E573}"/>
              </a:ext>
            </a:extLst>
          </p:cNvPr>
          <p:cNvSpPr>
            <a:spLocks noGrp="1"/>
          </p:cNvSpPr>
          <p:nvPr/>
        </p:nvSpPr>
        <p:spPr>
          <a:xfrm>
            <a:off x="457200" y="228600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900" b="1" spc="3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PART 1 · VIRTUAL HUMANS FOUNDATIONS</a:t>
            </a:r>
            <a:endParaRPr sz="90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D4270CFE-C9FB-4344-8B2C-69291004E8AB}"/>
              </a:ext>
            </a:extLst>
          </p:cNvPr>
          <p:cNvSpPr>
            <a:spLocks noGrp="1"/>
          </p:cNvSpPr>
          <p:nvPr/>
        </p:nvSpPr>
        <p:spPr>
          <a:xfrm>
            <a:off x="457200" y="4754880"/>
            <a:ext cx="548640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endParaRPr sz="800"/>
          </a:p>
        </p:txBody>
      </p:sp>
      <p:sp>
        <p:nvSpPr>
          <p:cNvPr id="25" name="Slide Number Placeholder 0">
            <a:extLst>
              <a:ext uri="{FF2B5EF4-FFF2-40B4-BE49-F238E27FC236}">
                <a16:creationId xmlns:a16="http://schemas.microsoft.com/office/drawing/2014/main" id="{D9532946-C1F9-48AE-995E-50C10B842843}"/>
              </a:ext>
            </a:extLst>
          </p:cNvPr>
          <p:cNvSpPr>
            <a:spLocks noGrp="1"/>
          </p:cNvSpPr>
          <p:nvPr>
            <p:ph type="sldNum" idx="4294967295"/>
          </p:nvPr>
        </p:nvSpPr>
        <p:spPr>
          <a:xfrm>
            <a:off x="8366760" y="4754880"/>
            <a:ext cx="365760" cy="228600"/>
          </a:xfrm>
          <a:prstGeom prst="rect">
            <a:avLst/>
          </a:prstGeom>
        </p:spPr>
        <p:txBody>
          <a:bodyPr/>
          <a:lstStyle>
            <a:lvl1pPr>
              <a:buNone/>
              <a:defRPr sz="800">
                <a:solidFill>
                  <a:srgbClr val="8E97A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>
              <a:buNone/>
            </a:pPr>
            <a:fld id="{69ADA83D-DF77-AA76-6DA0-7A70CD7A4D20}" type="slidenum">
              <a:rPr b="0"/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DE">
    <p:bg>
      <p:bgPr>
        <a:solidFill>
          <a:srgbClr val="0A0D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DFCB2DEA-1F6F-40AE-B1E2-0531D3467103}"/>
              </a:ext>
            </a:extLst>
          </p:cNvPr>
          <p:cNvSpPr>
            <a:spLocks noGrp="1"/>
          </p:cNvSpPr>
          <p:nvPr/>
        </p:nvSpPr>
        <p:spPr>
          <a:xfrm>
            <a:off x="457200" y="228600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900" b="1" spc="3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HANDS-ON</a:t>
            </a:r>
            <a:endParaRPr sz="90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FFCA723F-1C94-47D6-8CBD-26D7934752C1}"/>
              </a:ext>
            </a:extLst>
          </p:cNvPr>
          <p:cNvSpPr>
            <a:spLocks noGrp="1"/>
          </p:cNvSpPr>
          <p:nvPr/>
        </p:nvSpPr>
        <p:spPr>
          <a:xfrm>
            <a:off x="457200" y="4754880"/>
            <a:ext cx="548640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endParaRPr sz="800"/>
          </a:p>
        </p:txBody>
      </p:sp>
      <p:sp>
        <p:nvSpPr>
          <p:cNvPr id="25" name="Slide Number Placeholder 0">
            <a:extLst>
              <a:ext uri="{FF2B5EF4-FFF2-40B4-BE49-F238E27FC236}">
                <a16:creationId xmlns:a16="http://schemas.microsoft.com/office/drawing/2014/main" id="{E2A5C3D1-AC51-4DA6-AEE4-466D7F7C1DA6}"/>
              </a:ext>
            </a:extLst>
          </p:cNvPr>
          <p:cNvSpPr>
            <a:spLocks noGrp="1"/>
          </p:cNvSpPr>
          <p:nvPr>
            <p:ph type="sldNum" idx="4294967295"/>
          </p:nvPr>
        </p:nvSpPr>
        <p:spPr>
          <a:xfrm>
            <a:off x="8366760" y="4754880"/>
            <a:ext cx="365760" cy="228600"/>
          </a:xfrm>
          <a:prstGeom prst="rect">
            <a:avLst/>
          </a:prstGeom>
        </p:spPr>
        <p:txBody>
          <a:bodyPr/>
          <a:lstStyle>
            <a:lvl1pPr>
              <a:buNone/>
              <a:defRPr sz="800">
                <a:solidFill>
                  <a:srgbClr val="8E97A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>
              <a:buNone/>
            </a:pPr>
            <a:fld id="{69ADA83D-DF77-AA76-6DA0-7A70CD7A4D20}" type="slidenum">
              <a:rPr b="0"/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">
    <p:bg>
      <p:bgPr>
        <a:solidFill>
          <a:srgbClr val="0A0D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0A0ACBF4-7074-4ED0-A09E-3755A1AD682E}"/>
              </a:ext>
            </a:extLst>
          </p:cNvPr>
          <p:cNvSpPr>
            <a:spLocks noGrp="1"/>
          </p:cNvSpPr>
          <p:nvPr/>
        </p:nvSpPr>
        <p:spPr>
          <a:xfrm>
            <a:off x="457200" y="4754880"/>
            <a:ext cx="548640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endParaRPr sz="800"/>
          </a:p>
        </p:txBody>
      </p:sp>
      <p:sp>
        <p:nvSpPr>
          <p:cNvPr id="25" name="Slide Number Placeholder 0">
            <a:extLst>
              <a:ext uri="{FF2B5EF4-FFF2-40B4-BE49-F238E27FC236}">
                <a16:creationId xmlns:a16="http://schemas.microsoft.com/office/drawing/2014/main" id="{E1A20153-E490-422E-8D29-B810FEAC614D}"/>
              </a:ext>
            </a:extLst>
          </p:cNvPr>
          <p:cNvSpPr>
            <a:spLocks noGrp="1"/>
          </p:cNvSpPr>
          <p:nvPr>
            <p:ph type="sldNum" idx="4294967295"/>
          </p:nvPr>
        </p:nvSpPr>
        <p:spPr>
          <a:xfrm>
            <a:off x="8366760" y="4754880"/>
            <a:ext cx="365760" cy="228600"/>
          </a:xfrm>
          <a:prstGeom prst="rect">
            <a:avLst/>
          </a:prstGeom>
        </p:spPr>
        <p:txBody>
          <a:bodyPr/>
          <a:lstStyle>
            <a:lvl1pPr>
              <a:buNone/>
              <a:defRPr sz="800">
                <a:solidFill>
                  <a:srgbClr val="8E97A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>
              <a:buNone/>
            </a:pPr>
            <a:fld id="{69ADA83D-DF77-AA76-6DA0-7A70CD7A4D20}" type="slidenum">
              <a:rPr b="0"/>
              <a:t>‹N›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>
            <a:extLst>
              <a:ext uri="{FF2B5EF4-FFF2-40B4-BE49-F238E27FC236}">
                <a16:creationId xmlns:a16="http://schemas.microsoft.com/office/drawing/2014/main" id="{2F40BB06-55D8-4F61-8DB4-8F5ED2A813AF}"/>
              </a:ext>
            </a:extLst>
          </p:cNvPr>
          <p:cNvSpPr>
            <a:spLocks noGrp="1"/>
          </p:cNvSpPr>
          <p:nvPr>
            <p:ph type="sldNum" idx="4294967295"/>
          </p:nvPr>
        </p:nvSpPr>
        <p:spPr>
          <a:xfrm>
            <a:off x="8366760" y="4754880"/>
            <a:ext cx="365760" cy="228600"/>
          </a:xfrm>
          <a:prstGeom prst="rect">
            <a:avLst/>
          </a:prstGeom>
        </p:spPr>
        <p:txBody>
          <a:bodyPr/>
          <a:lstStyle>
            <a:lvl1pPr>
              <a:buNone/>
              <a:defRPr sz="800">
                <a:solidFill>
                  <a:srgbClr val="8E97A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>
              <a:buNone/>
            </a:pPr>
            <a:fld id="{F7021451-1387-4CA6-816F-3879F97B5CBC}" type="slidenum">
              <a:rPr b="0">
                <a:solidFill>
                  <a:srgbClr val="FFFFFF"/>
                </a:solidFill>
              </a:rPr>
              <a:t>‹N›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</p:sldLayoutIdLst>
  <p:hf sldNum="0" hdr="0" ftr="0" dt="0"/>
  <p:txStyles>
    <p:titleStyle>
      <a:lvl1pPr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hyperlink" Target="../Code/01_langchain.ipynb" TargetMode="Externa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hyperlink" Target="../Code/01_langchain.ipynb" TargetMode="Externa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hyperlink" Target="../Code/01_langchain.ipynb" TargetMode="Externa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hyperlink" Target="../Code/02_structured_output.ipynb" TargetMode="Externa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hyperlink" Target="../Code/02_structured_output.ipynb" TargetMode="Externa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hyperlink" Target="../Code/02_structured_output.ipynb" TargetMode="Externa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hyperlink" Target="../Code/02_structured_output.ipynb" TargetMode="Externa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hyperlink" Target="../../../../virtual_human_project/vh_cognitive_architecture_server/agents/Module_1/Chapter_03/langchain_structured_memory_agent.py" TargetMode="External"/><Relationship Id="rId2" Type="http://schemas.openxmlformats.org/officeDocument/2006/relationships/hyperlink" Target="../Code/02_structured_output.ipynb" TargetMode="Externa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hyperlink" Target="https://reference.langchain.com/python/langchain-ollama/chat_models/ChatOllama/with_structured_output" TargetMode="External"/><Relationship Id="rId3" Type="http://schemas.openxmlformats.org/officeDocument/2006/relationships/hyperlink" Target="https://docs.langchain.com/oss/python/integrations/chat/ollama" TargetMode="External"/><Relationship Id="rId7" Type="http://schemas.openxmlformats.org/officeDocument/2006/relationships/hyperlink" Target="https://reference.langchain.com/python/langchain-core/prompts/chat/ChatPromptTemplate" TargetMode="External"/><Relationship Id="rId2" Type="http://schemas.openxmlformats.org/officeDocument/2006/relationships/hyperlink" Target="https://docs.langchain.com/oss/python/langchain/models" TargetMode="Externa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docs.langchain.com/oss/python/langchain/messages" TargetMode="External"/><Relationship Id="rId5" Type="http://schemas.openxmlformats.org/officeDocument/2006/relationships/hyperlink" Target="https://huggingface.co/docs/transformers/main/chat_templating" TargetMode="External"/><Relationship Id="rId4" Type="http://schemas.openxmlformats.org/officeDocument/2006/relationships/hyperlink" Target="https://reference.langchain.com/python/langchain-core/runnables/base/RunnableSequence" TargetMode="External"/><Relationship Id="rId9" Type="http://schemas.openxmlformats.org/officeDocument/2006/relationships/hyperlink" Target="https://docs.ollama.com/capabilities/structured-outputs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723E2CA0-25C4-4FBC-91B7-70ECAD4851C5}"/>
              </a:ext>
            </a:extLst>
          </p:cNvPr>
          <p:cNvSpPr>
            <a:spLocks noGrp="1"/>
          </p:cNvSpPr>
          <p:nvPr/>
        </p:nvSpPr>
        <p:spPr>
          <a:xfrm>
            <a:off x="685800" y="416052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1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Alessandro Emmanuel Pecora · 29 October 2026</a:t>
            </a:r>
            <a:endParaRPr sz="1100"/>
          </a:p>
        </p:txBody>
      </p:sp>
      <p:sp>
        <p:nvSpPr>
          <p:cNvPr id="25" name="Slide Number Placeholder 0">
            <a:extLst>
              <a:ext uri="{FF2B5EF4-FFF2-40B4-BE49-F238E27FC236}">
                <a16:creationId xmlns:a16="http://schemas.microsoft.com/office/drawing/2014/main" id="{6671F37A-9C3B-4F2D-951B-FB8AADDF2EFA}"/>
              </a:ext>
            </a:extLst>
          </p:cNvPr>
          <p:cNvSpPr>
            <a:spLocks noGrp="1"/>
          </p:cNvSpPr>
          <p:nvPr>
            <p:ph type="sldNum" idx="4294967295"/>
          </p:nvPr>
        </p:nvSpPr>
        <p:spPr>
          <a:xfrm>
            <a:off x="8366760" y="4754880"/>
            <a:ext cx="365760" cy="228600"/>
          </a:xfrm>
          <a:prstGeom prst="rect">
            <a:avLst/>
          </a:prstGeom>
        </p:spPr>
        <p:txBody>
          <a:bodyPr/>
          <a:lstStyle>
            <a:lvl1pPr>
              <a:buNone/>
              <a:defRPr sz="800">
                <a:solidFill>
                  <a:srgbClr val="8E97A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>
              <a:buNone/>
            </a:pPr>
            <a:fld id="{69ADA83D-DF77-AA76-6DA0-7A70CD7A4D20}" type="slidenum">
              <a:rPr b="0"/>
              <a:t>1</a:t>
            </a:fld>
            <a:endParaRPr/>
          </a:p>
        </p:txBody>
      </p:sp>
      <p:pic>
        <p:nvPicPr>
          <p:cNvPr id="56" name="Immagine 55"/>
          <p:cNvPicPr>
            <a:picLocks noChangeAspect="1"/>
          </p:cNvPicPr>
          <p:nvPr/>
        </p:nvPicPr>
        <p:blipFill>
          <a:blip r:embed="rId2"/>
          <a:srcRect t="27" b="27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7" name="m0-text-1">
            <a:extLst>
              <a:ext uri="{FF2B5EF4-FFF2-40B4-BE49-F238E27FC236}">
                <a16:creationId xmlns:a16="http://schemas.microsoft.com/office/drawing/2014/main" id="{42240BCB-CB11-468E-AB0E-9B00F39E3BAA}"/>
              </a:ext>
            </a:extLst>
          </p:cNvPr>
          <p:cNvSpPr>
            <a:spLocks noGrp="1"/>
          </p:cNvSpPr>
          <p:nvPr/>
        </p:nvSpPr>
        <p:spPr>
          <a:xfrm>
            <a:off x="609600" y="3590925"/>
            <a:ext cx="4286250" cy="952500"/>
          </a:xfrm>
          <a:prstGeom prst="rect">
            <a:avLst/>
          </a:prstGeom>
          <a:noFill/>
          <a:ln w="0">
            <a:noFill/>
          </a:ln>
        </p:spPr>
        <p:txBody>
          <a:bodyPr wrap="square" lIns="9525" tIns="9525" rIns="9525" bIns="9525" anchor="t">
            <a:noAutofit/>
          </a:bodyPr>
          <a:lstStyle/>
          <a:p>
            <a:pPr>
              <a:buNone/>
              <a:defRPr sz="1650" b="0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Module 1 · Chapter 03</a:t>
            </a:r>
          </a:p>
          <a:p>
            <a:pPr>
              <a:buNone/>
              <a:defRPr sz="1650" b="0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Introduction to LangChain</a:t>
            </a:r>
          </a:p>
        </p:txBody>
      </p:sp>
      <p:sp>
        <p:nvSpPr>
          <p:cNvPr id="29" name="m1-text-266">
            <a:extLst>
              <a:ext uri="{FF2B5EF4-FFF2-40B4-BE49-F238E27FC236}">
                <a16:creationId xmlns:a16="http://schemas.microsoft.com/office/drawing/2014/main" id="{3BB0F476-8304-4F09-BB14-952D406D4399}"/>
              </a:ext>
            </a:extLst>
          </p:cNvPr>
          <p:cNvSpPr>
            <a:spLocks noGrp="1"/>
          </p:cNvSpPr>
          <p:nvPr/>
        </p:nvSpPr>
        <p:spPr>
          <a:xfrm>
            <a:off x="8334375" y="4914900"/>
            <a:ext cx="352425" cy="152400"/>
          </a:xfrm>
          <a:prstGeom prst="rect">
            <a:avLst/>
          </a:prstGeom>
          <a:noFill/>
          <a:ln w="0">
            <a:noFill/>
          </a:ln>
        </p:spPr>
        <p:txBody>
          <a:bodyPr wrap="square" lIns="9525" tIns="9525" rIns="9525" bIns="9525" anchor="t">
            <a:noAutofit/>
          </a:bodyPr>
          <a:lstStyle/>
          <a:p>
            <a:pPr algn="r">
              <a:buNone/>
              <a:defRPr sz="750" b="0" i="0">
                <a:solidFill>
                  <a:srgbClr val="8E97A8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31" name="c2-text-33">
            <a:extLst>
              <a:ext uri="{FF2B5EF4-FFF2-40B4-BE49-F238E27FC236}">
                <a16:creationId xmlns:a16="http://schemas.microsoft.com/office/drawing/2014/main" id="{BDE23DF7-EB72-4801-8530-87C0CD005BE8}"/>
              </a:ext>
            </a:extLst>
          </p:cNvPr>
          <p:cNvSpPr>
            <a:spLocks noGrp="1"/>
          </p:cNvSpPr>
          <p:nvPr/>
        </p:nvSpPr>
        <p:spPr>
          <a:xfrm>
            <a:off x="8181975" y="4781550"/>
            <a:ext cx="352425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9525" tIns="9525" rIns="9525" bIns="9525" anchor="ctr">
            <a:noAutofit/>
          </a:bodyPr>
          <a:lstStyle/>
          <a:p>
            <a:pPr algn="r">
              <a:buNone/>
              <a:defRPr sz="750" b="0">
                <a:solidFill>
                  <a:srgbClr val="8E97A8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33" name="c2-text-151">
            <a:extLst>
              <a:ext uri="{FF2B5EF4-FFF2-40B4-BE49-F238E27FC236}">
                <a16:creationId xmlns:a16="http://schemas.microsoft.com/office/drawing/2014/main" id="{6AFF5EB8-9E72-4719-9542-1566CA7765DE}"/>
              </a:ext>
            </a:extLst>
          </p:cNvPr>
          <p:cNvSpPr>
            <a:spLocks noGrp="1"/>
          </p:cNvSpPr>
          <p:nvPr/>
        </p:nvSpPr>
        <p:spPr>
          <a:xfrm>
            <a:off x="8181975" y="4781550"/>
            <a:ext cx="352425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9525" tIns="9525" rIns="9525" bIns="9525" anchor="ctr">
            <a:noAutofit/>
          </a:bodyPr>
          <a:lstStyle/>
          <a:p>
            <a:pPr algn="r">
              <a:buNone/>
              <a:defRPr sz="750" b="0">
                <a:solidFill>
                  <a:srgbClr val="8E97A8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35" name="c2-text-197">
            <a:extLst>
              <a:ext uri="{FF2B5EF4-FFF2-40B4-BE49-F238E27FC236}">
                <a16:creationId xmlns:a16="http://schemas.microsoft.com/office/drawing/2014/main" id="{873E902F-219A-4954-B177-DD955470A7DF}"/>
              </a:ext>
            </a:extLst>
          </p:cNvPr>
          <p:cNvSpPr>
            <a:spLocks noGrp="1"/>
          </p:cNvSpPr>
          <p:nvPr/>
        </p:nvSpPr>
        <p:spPr>
          <a:xfrm>
            <a:off x="8181975" y="4781550"/>
            <a:ext cx="352425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9525" tIns="9525" rIns="9525" bIns="9525" anchor="ctr">
            <a:noAutofit/>
          </a:bodyPr>
          <a:lstStyle/>
          <a:p>
            <a:pPr algn="r">
              <a:buNone/>
              <a:defRPr sz="750" b="0">
                <a:solidFill>
                  <a:srgbClr val="8E97A8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37" name="c2-text-223">
            <a:extLst>
              <a:ext uri="{FF2B5EF4-FFF2-40B4-BE49-F238E27FC236}">
                <a16:creationId xmlns:a16="http://schemas.microsoft.com/office/drawing/2014/main" id="{A305475C-F33A-453B-BD1E-35E07D3EDDDF}"/>
              </a:ext>
            </a:extLst>
          </p:cNvPr>
          <p:cNvSpPr>
            <a:spLocks noGrp="1"/>
          </p:cNvSpPr>
          <p:nvPr/>
        </p:nvSpPr>
        <p:spPr>
          <a:xfrm>
            <a:off x="8181975" y="4781550"/>
            <a:ext cx="352425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9525" tIns="9525" rIns="9525" bIns="9525" anchor="ctr">
            <a:noAutofit/>
          </a:bodyPr>
          <a:lstStyle/>
          <a:p>
            <a:pPr algn="r">
              <a:buNone/>
              <a:defRPr sz="750" b="0">
                <a:solidFill>
                  <a:srgbClr val="8E97A8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39" name="c2-text-217">
            <a:extLst>
              <a:ext uri="{FF2B5EF4-FFF2-40B4-BE49-F238E27FC236}">
                <a16:creationId xmlns:a16="http://schemas.microsoft.com/office/drawing/2014/main" id="{7B5494E3-495E-4E40-A97B-845CBC97CAC7}"/>
              </a:ext>
            </a:extLst>
          </p:cNvPr>
          <p:cNvSpPr>
            <a:spLocks noGrp="1"/>
          </p:cNvSpPr>
          <p:nvPr/>
        </p:nvSpPr>
        <p:spPr>
          <a:xfrm>
            <a:off x="8181975" y="4781550"/>
            <a:ext cx="352425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9525" tIns="9525" rIns="9525" bIns="9525" anchor="ctr">
            <a:noAutofit/>
          </a:bodyPr>
          <a:lstStyle/>
          <a:p>
            <a:pPr algn="r">
              <a:buNone/>
              <a:defRPr sz="750" b="0">
                <a:solidFill>
                  <a:srgbClr val="8E97A8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41" name="c2-text-198">
            <a:extLst>
              <a:ext uri="{FF2B5EF4-FFF2-40B4-BE49-F238E27FC236}">
                <a16:creationId xmlns:a16="http://schemas.microsoft.com/office/drawing/2014/main" id="{70AC672E-C96B-41A3-B850-987365D026FF}"/>
              </a:ext>
            </a:extLst>
          </p:cNvPr>
          <p:cNvSpPr>
            <a:spLocks noGrp="1"/>
          </p:cNvSpPr>
          <p:nvPr/>
        </p:nvSpPr>
        <p:spPr>
          <a:xfrm>
            <a:off x="8181975" y="4781550"/>
            <a:ext cx="352425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9525" tIns="9525" rIns="9525" bIns="9525" anchor="ctr">
            <a:noAutofit/>
          </a:bodyPr>
          <a:lstStyle/>
          <a:p>
            <a:pPr algn="r">
              <a:buNone/>
              <a:defRPr sz="750" b="0">
                <a:solidFill>
                  <a:srgbClr val="8E97A8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43" name="c2-text-211">
            <a:extLst>
              <a:ext uri="{FF2B5EF4-FFF2-40B4-BE49-F238E27FC236}">
                <a16:creationId xmlns:a16="http://schemas.microsoft.com/office/drawing/2014/main" id="{DCB5F5CB-2D5B-422D-B5DF-6E628156D72C}"/>
              </a:ext>
            </a:extLst>
          </p:cNvPr>
          <p:cNvSpPr>
            <a:spLocks noGrp="1"/>
          </p:cNvSpPr>
          <p:nvPr/>
        </p:nvSpPr>
        <p:spPr>
          <a:xfrm>
            <a:off x="8181975" y="4781550"/>
            <a:ext cx="352425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9525" tIns="9525" rIns="9525" bIns="9525" anchor="ctr">
            <a:noAutofit/>
          </a:bodyPr>
          <a:lstStyle/>
          <a:p>
            <a:pPr algn="r">
              <a:buNone/>
              <a:defRPr sz="750" b="0">
                <a:solidFill>
                  <a:srgbClr val="8E97A8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45" name="c2-text-220">
            <a:extLst>
              <a:ext uri="{FF2B5EF4-FFF2-40B4-BE49-F238E27FC236}">
                <a16:creationId xmlns:a16="http://schemas.microsoft.com/office/drawing/2014/main" id="{E51B7192-FD18-487B-8BD5-C7554404E1A1}"/>
              </a:ext>
            </a:extLst>
          </p:cNvPr>
          <p:cNvSpPr>
            <a:spLocks noGrp="1"/>
          </p:cNvSpPr>
          <p:nvPr/>
        </p:nvSpPr>
        <p:spPr>
          <a:xfrm>
            <a:off x="8181975" y="4781550"/>
            <a:ext cx="352425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9525" tIns="9525" rIns="9525" bIns="9525" anchor="ctr">
            <a:noAutofit/>
          </a:bodyPr>
          <a:lstStyle/>
          <a:p>
            <a:pPr algn="r">
              <a:buNone/>
              <a:defRPr sz="750" b="0">
                <a:solidFill>
                  <a:srgbClr val="B4BDCB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47" name="c2-text-265">
            <a:extLst>
              <a:ext uri="{FF2B5EF4-FFF2-40B4-BE49-F238E27FC236}">
                <a16:creationId xmlns:a16="http://schemas.microsoft.com/office/drawing/2014/main" id="{DDB11875-B60B-4CD9-87A5-5274469BB022}"/>
              </a:ext>
            </a:extLst>
          </p:cNvPr>
          <p:cNvSpPr>
            <a:spLocks noGrp="1"/>
          </p:cNvSpPr>
          <p:nvPr/>
        </p:nvSpPr>
        <p:spPr>
          <a:xfrm>
            <a:off x="8181975" y="4781550"/>
            <a:ext cx="352425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9525" tIns="9525" rIns="9525" bIns="9525" anchor="ctr">
            <a:noAutofit/>
          </a:bodyPr>
          <a:lstStyle/>
          <a:p>
            <a:pPr algn="r">
              <a:buNone/>
              <a:defRPr sz="750" b="0">
                <a:solidFill>
                  <a:srgbClr val="B4BDCB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49" name="c2-text-282">
            <a:extLst>
              <a:ext uri="{FF2B5EF4-FFF2-40B4-BE49-F238E27FC236}">
                <a16:creationId xmlns:a16="http://schemas.microsoft.com/office/drawing/2014/main" id="{F5485890-4DD9-408B-B0E0-2577FD1A8013}"/>
              </a:ext>
            </a:extLst>
          </p:cNvPr>
          <p:cNvSpPr>
            <a:spLocks noGrp="1"/>
          </p:cNvSpPr>
          <p:nvPr/>
        </p:nvSpPr>
        <p:spPr>
          <a:xfrm>
            <a:off x="8181975" y="4781550"/>
            <a:ext cx="352425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9525" tIns="9525" rIns="9525" bIns="9525" anchor="ctr">
            <a:noAutofit/>
          </a:bodyPr>
          <a:lstStyle/>
          <a:p>
            <a:pPr algn="r">
              <a:buNone/>
              <a:defRPr sz="750" b="0">
                <a:solidFill>
                  <a:srgbClr val="B4BDCB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51" name="c2-text-275">
            <a:extLst>
              <a:ext uri="{FF2B5EF4-FFF2-40B4-BE49-F238E27FC236}">
                <a16:creationId xmlns:a16="http://schemas.microsoft.com/office/drawing/2014/main" id="{2FADCB92-2930-4079-9725-B8A8EC752695}"/>
              </a:ext>
            </a:extLst>
          </p:cNvPr>
          <p:cNvSpPr>
            <a:spLocks noGrp="1"/>
          </p:cNvSpPr>
          <p:nvPr/>
        </p:nvSpPr>
        <p:spPr>
          <a:xfrm>
            <a:off x="8181975" y="4781550"/>
            <a:ext cx="352425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9525" tIns="9525" rIns="9525" bIns="9525" anchor="ctr">
            <a:noAutofit/>
          </a:bodyPr>
          <a:lstStyle/>
          <a:p>
            <a:pPr algn="r">
              <a:buNone/>
              <a:defRPr sz="750" b="0">
                <a:solidFill>
                  <a:srgbClr val="B4BDCB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53" name="c3-text-299">
            <a:extLst>
              <a:ext uri="{FF2B5EF4-FFF2-40B4-BE49-F238E27FC236}">
                <a16:creationId xmlns:a16="http://schemas.microsoft.com/office/drawing/2014/main" id="{E73A9915-527C-48AF-BDF2-21AEB4505B37}"/>
              </a:ext>
            </a:extLst>
          </p:cNvPr>
          <p:cNvSpPr>
            <a:spLocks noGrp="1"/>
          </p:cNvSpPr>
          <p:nvPr/>
        </p:nvSpPr>
        <p:spPr>
          <a:xfrm>
            <a:off x="8181975" y="4781550"/>
            <a:ext cx="352425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9525" tIns="9525" rIns="9525" bIns="9525" anchor="ctr">
            <a:noAutofit/>
          </a:bodyPr>
          <a:lstStyle/>
          <a:p>
            <a:pPr algn="r">
              <a:defRPr sz="750" b="0">
                <a:solidFill>
                  <a:srgbClr val="B4BDCB"/>
                </a:solidFill>
                <a:latin typeface="Calibri"/>
                <a:ea typeface="Calibri"/>
                <a:cs typeface="Calibri"/>
              </a:defRPr>
            </a:pPr>
            <a:r>
              <a:rPr sz="750" b="0">
                <a:solidFill>
                  <a:srgbClr val="B4BDCB"/>
                </a:solidFill>
                <a:latin typeface="Calibri"/>
                <a:ea typeface="Calibri"/>
                <a:cs typeface="Calibri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7486153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D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c3-text-1">
            <a:extLst>
              <a:ext uri="{FF2B5EF4-FFF2-40B4-BE49-F238E27FC236}">
                <a16:creationId xmlns:a16="http://schemas.microsoft.com/office/drawing/2014/main" id="{8C0CFF0E-1866-42F9-932C-936BF6D7C46D}"/>
              </a:ext>
            </a:extLst>
          </p:cNvPr>
          <p:cNvSpPr>
            <a:spLocks noGrp="1"/>
          </p:cNvSpPr>
          <p:nvPr/>
        </p:nvSpPr>
        <p:spPr>
          <a:xfrm>
            <a:off x="609600" y="238125"/>
            <a:ext cx="792480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9525" tIns="9525" rIns="9525" bIns="9525" anchor="ctr">
            <a:noAutofit/>
          </a:bodyPr>
          <a:lstStyle/>
          <a:p>
            <a:pPr>
              <a:defRPr sz="900" b="0">
                <a:solidFill>
                  <a:srgbClr val="B4BDCB"/>
                </a:solidFill>
                <a:latin typeface="Calibri"/>
                <a:ea typeface="Calibri"/>
                <a:cs typeface="Calibri"/>
              </a:defRPr>
            </a:pPr>
            <a:r>
              <a:rPr sz="900" b="0">
                <a:solidFill>
                  <a:srgbClr val="B4BDCB"/>
                </a:solidFill>
                <a:latin typeface="Calibri"/>
                <a:ea typeface="Calibri"/>
                <a:cs typeface="Calibri"/>
              </a:rPr>
              <a:t>AI-Powered Virtual Humans: LLM-Powered Cognitive Architectures</a:t>
            </a:r>
          </a:p>
        </p:txBody>
      </p:sp>
      <p:sp>
        <p:nvSpPr>
          <p:cNvPr id="2" name="c3-text-2">
            <a:extLst>
              <a:ext uri="{FF2B5EF4-FFF2-40B4-BE49-F238E27FC236}">
                <a16:creationId xmlns:a16="http://schemas.microsoft.com/office/drawing/2014/main" id="{533B98C3-DC47-41A0-8B8C-1E0E2FC94350}"/>
              </a:ext>
            </a:extLst>
          </p:cNvPr>
          <p:cNvSpPr>
            <a:spLocks noGrp="1"/>
          </p:cNvSpPr>
          <p:nvPr/>
        </p:nvSpPr>
        <p:spPr>
          <a:xfrm>
            <a:off x="609600" y="657225"/>
            <a:ext cx="792480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9525" tIns="9525" rIns="9525" bIns="9525" anchor="ctr">
            <a:noAutofit/>
          </a:bodyPr>
          <a:lstStyle/>
          <a:p>
            <a:pPr>
              <a:defRPr sz="2700" b="1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2700" b="1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From Prompt Management to LangChain</a:t>
            </a:r>
          </a:p>
        </p:txBody>
      </p:sp>
      <p:sp>
        <p:nvSpPr>
          <p:cNvPr id="3" name="c3-text-3">
            <a:extLst>
              <a:ext uri="{FF2B5EF4-FFF2-40B4-BE49-F238E27FC236}">
                <a16:creationId xmlns:a16="http://schemas.microsoft.com/office/drawing/2014/main" id="{357D5218-4AD3-4D93-B1FA-FAB17CF67E2D}"/>
              </a:ext>
            </a:extLst>
          </p:cNvPr>
          <p:cNvSpPr>
            <a:spLocks noGrp="1"/>
          </p:cNvSpPr>
          <p:nvPr/>
        </p:nvSpPr>
        <p:spPr>
          <a:xfrm>
            <a:off x="609600" y="1400175"/>
            <a:ext cx="7924800" cy="542925"/>
          </a:xfrm>
          <a:prstGeom prst="rect">
            <a:avLst/>
          </a:prstGeom>
          <a:noFill/>
          <a:ln w="0">
            <a:noFill/>
          </a:ln>
        </p:spPr>
        <p:txBody>
          <a:bodyPr wrap="square" lIns="9525" tIns="9525" rIns="9525" bIns="9525" anchor="ctr">
            <a:noAutofit/>
          </a:bodyPr>
          <a:lstStyle/>
          <a:p>
            <a:pPr>
              <a:defRPr sz="1875" b="0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1875" b="0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The cognitive architecture is implemented in code.</a:t>
            </a:r>
          </a:p>
        </p:txBody>
      </p:sp>
      <p:sp>
        <p:nvSpPr>
          <p:cNvPr id="4" name="c3-text-4">
            <a:extLst>
              <a:ext uri="{FF2B5EF4-FFF2-40B4-BE49-F238E27FC236}">
                <a16:creationId xmlns:a16="http://schemas.microsoft.com/office/drawing/2014/main" id="{BEEEDAE8-934A-4B9F-9862-A8A4BC796CD1}"/>
              </a:ext>
            </a:extLst>
          </p:cNvPr>
          <p:cNvSpPr>
            <a:spLocks noGrp="1"/>
          </p:cNvSpPr>
          <p:nvPr/>
        </p:nvSpPr>
        <p:spPr>
          <a:xfrm>
            <a:off x="6381750" y="4781550"/>
            <a:ext cx="17145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9525" tIns="9525" rIns="9525" bIns="9525" anchor="ctr">
            <a:noAutofit/>
          </a:bodyPr>
          <a:lstStyle/>
          <a:p>
            <a:pPr algn="r">
              <a:defRPr sz="750" b="0">
                <a:solidFill>
                  <a:srgbClr val="B4BDCB"/>
                </a:solidFill>
                <a:latin typeface="Calibri"/>
                <a:ea typeface="Calibri"/>
                <a:cs typeface="Calibri"/>
              </a:defRPr>
            </a:pPr>
            <a:r>
              <a:rPr sz="750" b="0">
                <a:solidFill>
                  <a:srgbClr val="B4BDCB"/>
                </a:solidFill>
                <a:latin typeface="Calibri"/>
                <a:ea typeface="Calibri"/>
                <a:cs typeface="Calibri"/>
              </a:rPr>
              <a:t>Module 1 · Chapter 03</a:t>
            </a:r>
          </a:p>
        </p:txBody>
      </p:sp>
      <p:sp>
        <p:nvSpPr>
          <p:cNvPr id="5" name="c3-shape-5">
            <a:extLst>
              <a:ext uri="{FF2B5EF4-FFF2-40B4-BE49-F238E27FC236}">
                <a16:creationId xmlns:a16="http://schemas.microsoft.com/office/drawing/2014/main" id="{1D8999E8-243D-4A97-A7A0-1BE44D1E6A6E}"/>
              </a:ext>
            </a:extLst>
          </p:cNvPr>
          <p:cNvSpPr>
            <a:spLocks noGrp="1"/>
          </p:cNvSpPr>
          <p:nvPr/>
        </p:nvSpPr>
        <p:spPr>
          <a:xfrm>
            <a:off x="609600" y="2152650"/>
            <a:ext cx="3771900" cy="1809750"/>
          </a:xfrm>
          <a:prstGeom prst="roundRect">
            <a:avLst>
              <a:gd name="adj" fmla="val 4211"/>
            </a:avLst>
          </a:prstGeom>
          <a:solidFill>
            <a:srgbClr val="121A27"/>
          </a:solidFill>
          <a:ln w="9525">
            <a:solidFill>
              <a:srgbClr val="3A4458"/>
            </a:solidFill>
          </a:ln>
        </p:spPr>
      </p:sp>
      <p:sp>
        <p:nvSpPr>
          <p:cNvPr id="6" name="c3-shape-6">
            <a:extLst>
              <a:ext uri="{FF2B5EF4-FFF2-40B4-BE49-F238E27FC236}">
                <a16:creationId xmlns:a16="http://schemas.microsoft.com/office/drawing/2014/main" id="{FEED0F73-73A9-4415-BDD6-C52B75F22C0D}"/>
              </a:ext>
            </a:extLst>
          </p:cNvPr>
          <p:cNvSpPr>
            <a:spLocks noGrp="1"/>
          </p:cNvSpPr>
          <p:nvPr/>
        </p:nvSpPr>
        <p:spPr>
          <a:xfrm>
            <a:off x="800100" y="2314575"/>
            <a:ext cx="342900" cy="9525"/>
          </a:xfrm>
          <a:prstGeom prst="rect">
            <a:avLst/>
          </a:prstGeom>
          <a:solidFill>
            <a:srgbClr val="D9A06B"/>
          </a:solidFill>
          <a:ln w="9525">
            <a:solidFill>
              <a:srgbClr val="D9A06B"/>
            </a:solidFill>
          </a:ln>
        </p:spPr>
      </p:sp>
      <p:sp>
        <p:nvSpPr>
          <p:cNvPr id="7" name="c3-text-7">
            <a:extLst>
              <a:ext uri="{FF2B5EF4-FFF2-40B4-BE49-F238E27FC236}">
                <a16:creationId xmlns:a16="http://schemas.microsoft.com/office/drawing/2014/main" id="{943B7765-D808-49AA-BEC5-3A2891A09C61}"/>
              </a:ext>
            </a:extLst>
          </p:cNvPr>
          <p:cNvSpPr>
            <a:spLocks noGrp="1"/>
          </p:cNvSpPr>
          <p:nvPr/>
        </p:nvSpPr>
        <p:spPr>
          <a:xfrm>
            <a:off x="800100" y="2409825"/>
            <a:ext cx="33909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9525" tIns="9525" rIns="9525" bIns="9525" anchor="ctr">
            <a:noAutofit/>
          </a:bodyPr>
          <a:lstStyle/>
          <a:p>
            <a:pPr>
              <a:defRPr sz="1350" b="0">
                <a:solidFill>
                  <a:srgbClr val="D9A06B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D9A06B"/>
                </a:solidFill>
                <a:latin typeface="Calibri"/>
                <a:ea typeface="Calibri"/>
                <a:cs typeface="Calibri"/>
              </a:rPr>
              <a:t>Our code</a:t>
            </a:r>
          </a:p>
        </p:txBody>
      </p:sp>
      <p:sp>
        <p:nvSpPr>
          <p:cNvPr id="8" name="c3-text-8">
            <a:extLst>
              <a:ext uri="{FF2B5EF4-FFF2-40B4-BE49-F238E27FC236}">
                <a16:creationId xmlns:a16="http://schemas.microsoft.com/office/drawing/2014/main" id="{6671E357-AD21-4E0F-B062-FB202E9DD713}"/>
              </a:ext>
            </a:extLst>
          </p:cNvPr>
          <p:cNvSpPr>
            <a:spLocks noGrp="1"/>
          </p:cNvSpPr>
          <p:nvPr/>
        </p:nvSpPr>
        <p:spPr>
          <a:xfrm>
            <a:off x="800100" y="2752725"/>
            <a:ext cx="3390900" cy="1085850"/>
          </a:xfrm>
          <a:prstGeom prst="rect">
            <a:avLst/>
          </a:prstGeom>
          <a:noFill/>
          <a:ln w="0">
            <a:noFill/>
          </a:ln>
        </p:spPr>
        <p:txBody>
          <a:bodyPr wrap="square" lIns="9525" tIns="9525" rIns="9525" bIns="9525" anchor="t">
            <a:noAutofit/>
          </a:bodyPr>
          <a:lstStyle/>
          <a:p>
            <a:pPr>
              <a:defRPr sz="1725" b="0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Prepare context, call the model</a:t>
            </a:r>
          </a:p>
          <a:p>
            <a:pPr>
              <a:defRPr sz="1725" b="0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and use its response.</a:t>
            </a:r>
          </a:p>
        </p:txBody>
      </p:sp>
      <p:sp>
        <p:nvSpPr>
          <p:cNvPr id="9" name="c3-shape-9">
            <a:extLst>
              <a:ext uri="{FF2B5EF4-FFF2-40B4-BE49-F238E27FC236}">
                <a16:creationId xmlns:a16="http://schemas.microsoft.com/office/drawing/2014/main" id="{F953A0F0-B448-4CF5-9E53-0B10ABBCA28E}"/>
              </a:ext>
            </a:extLst>
          </p:cNvPr>
          <p:cNvSpPr>
            <a:spLocks noGrp="1"/>
          </p:cNvSpPr>
          <p:nvPr/>
        </p:nvSpPr>
        <p:spPr>
          <a:xfrm>
            <a:off x="4762500" y="2152650"/>
            <a:ext cx="3771900" cy="1809750"/>
          </a:xfrm>
          <a:prstGeom prst="roundRect">
            <a:avLst>
              <a:gd name="adj" fmla="val 4211"/>
            </a:avLst>
          </a:prstGeom>
          <a:solidFill>
            <a:srgbClr val="121A27"/>
          </a:solidFill>
          <a:ln w="9525">
            <a:solidFill>
              <a:srgbClr val="3A4458"/>
            </a:solidFill>
          </a:ln>
        </p:spPr>
      </p:sp>
      <p:sp>
        <p:nvSpPr>
          <p:cNvPr id="10" name="c3-shape-10">
            <a:extLst>
              <a:ext uri="{FF2B5EF4-FFF2-40B4-BE49-F238E27FC236}">
                <a16:creationId xmlns:a16="http://schemas.microsoft.com/office/drawing/2014/main" id="{26B1E799-314B-4700-8B77-33A6E7DE2796}"/>
              </a:ext>
            </a:extLst>
          </p:cNvPr>
          <p:cNvSpPr>
            <a:spLocks noGrp="1"/>
          </p:cNvSpPr>
          <p:nvPr/>
        </p:nvSpPr>
        <p:spPr>
          <a:xfrm>
            <a:off x="4953000" y="2314575"/>
            <a:ext cx="342900" cy="9525"/>
          </a:xfrm>
          <a:prstGeom prst="rect">
            <a:avLst/>
          </a:prstGeom>
          <a:solidFill>
            <a:srgbClr val="7FA8E3"/>
          </a:solidFill>
          <a:ln w="9525">
            <a:solidFill>
              <a:srgbClr val="7FA8E3"/>
            </a:solidFill>
          </a:ln>
        </p:spPr>
      </p:sp>
      <p:sp>
        <p:nvSpPr>
          <p:cNvPr id="11" name="c3-text-11">
            <a:extLst>
              <a:ext uri="{FF2B5EF4-FFF2-40B4-BE49-F238E27FC236}">
                <a16:creationId xmlns:a16="http://schemas.microsoft.com/office/drawing/2014/main" id="{2E7B7850-725A-4B89-8635-BFA4A6D2C33D}"/>
              </a:ext>
            </a:extLst>
          </p:cNvPr>
          <p:cNvSpPr>
            <a:spLocks noGrp="1"/>
          </p:cNvSpPr>
          <p:nvPr/>
        </p:nvSpPr>
        <p:spPr>
          <a:xfrm>
            <a:off x="4953000" y="2409825"/>
            <a:ext cx="33909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9525" tIns="9525" rIns="9525" bIns="9525" anchor="ctr">
            <a:noAutofit/>
          </a:bodyPr>
          <a:lstStyle/>
          <a:p>
            <a:pPr>
              <a:defRPr sz="1350" b="0">
                <a:solidFill>
                  <a:srgbClr val="7FA8E3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7FA8E3"/>
                </a:solidFill>
                <a:latin typeface="Calibri"/>
                <a:ea typeface="Calibri"/>
                <a:cs typeface="Calibri"/>
              </a:rPr>
              <a:t>LangChain</a:t>
            </a:r>
          </a:p>
        </p:txBody>
      </p:sp>
      <p:sp>
        <p:nvSpPr>
          <p:cNvPr id="12" name="c3-text-12">
            <a:extLst>
              <a:ext uri="{FF2B5EF4-FFF2-40B4-BE49-F238E27FC236}">
                <a16:creationId xmlns:a16="http://schemas.microsoft.com/office/drawing/2014/main" id="{4EEEA383-E145-44FE-A3CA-79F23A3B3BFB}"/>
              </a:ext>
            </a:extLst>
          </p:cNvPr>
          <p:cNvSpPr>
            <a:spLocks noGrp="1"/>
          </p:cNvSpPr>
          <p:nvPr/>
        </p:nvSpPr>
        <p:spPr>
          <a:xfrm>
            <a:off x="4953000" y="2752725"/>
            <a:ext cx="3390900" cy="1085850"/>
          </a:xfrm>
          <a:prstGeom prst="rect">
            <a:avLst/>
          </a:prstGeom>
          <a:noFill/>
          <a:ln w="0">
            <a:noFill/>
          </a:ln>
        </p:spPr>
        <p:txBody>
          <a:bodyPr wrap="square" lIns="9525" tIns="9525" rIns="9525" bIns="9525" anchor="t">
            <a:noAutofit/>
          </a:bodyPr>
          <a:lstStyle/>
          <a:p>
            <a:pPr>
              <a:defRPr sz="1725" b="0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Model interfaces, prompt formatting</a:t>
            </a:r>
          </a:p>
          <a:p>
            <a:pPr>
              <a:defRPr sz="1725" b="0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and connected processing steps.</a:t>
            </a:r>
          </a:p>
        </p:txBody>
      </p:sp>
      <p:sp>
        <p:nvSpPr>
          <p:cNvPr id="13" name="c3-shape-13">
            <a:extLst>
              <a:ext uri="{FF2B5EF4-FFF2-40B4-BE49-F238E27FC236}">
                <a16:creationId xmlns:a16="http://schemas.microsoft.com/office/drawing/2014/main" id="{B3108D99-96AA-4120-B04B-7D799AD2959E}"/>
              </a:ext>
            </a:extLst>
          </p:cNvPr>
          <p:cNvSpPr>
            <a:spLocks noGrp="1"/>
          </p:cNvSpPr>
          <p:nvPr/>
        </p:nvSpPr>
        <p:spPr>
          <a:xfrm>
            <a:off x="609600" y="4191000"/>
            <a:ext cx="7924800" cy="504825"/>
          </a:xfrm>
          <a:prstGeom prst="roundRect">
            <a:avLst>
              <a:gd name="adj" fmla="val 15094"/>
            </a:avLst>
          </a:prstGeom>
          <a:solidFill>
            <a:srgbClr val="121A27"/>
          </a:solidFill>
          <a:ln w="9525">
            <a:solidFill>
              <a:srgbClr val="3A4458"/>
            </a:solidFill>
          </a:ln>
        </p:spPr>
      </p:sp>
      <p:sp>
        <p:nvSpPr>
          <p:cNvPr id="14" name="c3-text-14">
            <a:extLst>
              <a:ext uri="{FF2B5EF4-FFF2-40B4-BE49-F238E27FC236}">
                <a16:creationId xmlns:a16="http://schemas.microsoft.com/office/drawing/2014/main" id="{C5840BC9-7A77-4A7A-A5B5-C2ADA15DC38B}"/>
              </a:ext>
            </a:extLst>
          </p:cNvPr>
          <p:cNvSpPr>
            <a:spLocks noGrp="1"/>
          </p:cNvSpPr>
          <p:nvPr/>
        </p:nvSpPr>
        <p:spPr>
          <a:xfrm>
            <a:off x="800100" y="4276725"/>
            <a:ext cx="754380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9525" tIns="9525" rIns="9525" bIns="9525" anchor="ctr">
            <a:noAutofit/>
          </a:bodyPr>
          <a:lstStyle/>
          <a:p>
            <a:pPr>
              <a:defRPr sz="1725" b="0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LangChain helps us write the code that coordinates the loop.</a:t>
            </a:r>
          </a:p>
        </p:txBody>
      </p:sp>
      <p:sp>
        <p:nvSpPr>
          <p:cNvPr id="15" name="c3-text-300">
            <a:extLst>
              <a:ext uri="{FF2B5EF4-FFF2-40B4-BE49-F238E27FC236}">
                <a16:creationId xmlns:a16="http://schemas.microsoft.com/office/drawing/2014/main" id="{9797B8B5-05E3-4864-A093-88D16CFBDC6A}"/>
              </a:ext>
            </a:extLst>
          </p:cNvPr>
          <p:cNvSpPr>
            <a:spLocks noGrp="1"/>
          </p:cNvSpPr>
          <p:nvPr/>
        </p:nvSpPr>
        <p:spPr>
          <a:xfrm>
            <a:off x="8181975" y="4781550"/>
            <a:ext cx="352425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9525" tIns="9525" rIns="9525" bIns="9525" anchor="ctr">
            <a:noAutofit/>
          </a:bodyPr>
          <a:lstStyle/>
          <a:p>
            <a:pPr algn="r">
              <a:defRPr sz="750" b="0">
                <a:solidFill>
                  <a:srgbClr val="B4BDCB"/>
                </a:solidFill>
                <a:latin typeface="Calibri"/>
                <a:ea typeface="Calibri"/>
                <a:cs typeface="Calibri"/>
              </a:defRPr>
            </a:pPr>
            <a:r>
              <a:rPr sz="750" b="0">
                <a:solidFill>
                  <a:srgbClr val="B4BDCB"/>
                </a:solidFill>
                <a:latin typeface="Calibri"/>
                <a:ea typeface="Calibri"/>
                <a:cs typeface="Calibri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5045036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D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c3-text-15">
            <a:extLst>
              <a:ext uri="{FF2B5EF4-FFF2-40B4-BE49-F238E27FC236}">
                <a16:creationId xmlns:a16="http://schemas.microsoft.com/office/drawing/2014/main" id="{B6B78B26-6643-4F1A-A19C-2CF979FADBED}"/>
              </a:ext>
            </a:extLst>
          </p:cNvPr>
          <p:cNvSpPr>
            <a:spLocks noGrp="1"/>
          </p:cNvSpPr>
          <p:nvPr/>
        </p:nvSpPr>
        <p:spPr>
          <a:xfrm>
            <a:off x="609600" y="238125"/>
            <a:ext cx="792480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9525" tIns="9525" rIns="9525" bIns="9525" anchor="ctr">
            <a:noAutofit/>
          </a:bodyPr>
          <a:lstStyle/>
          <a:p>
            <a:pPr>
              <a:defRPr sz="900" b="0">
                <a:solidFill>
                  <a:srgbClr val="B4BDCB"/>
                </a:solidFill>
                <a:latin typeface="Calibri"/>
                <a:ea typeface="Calibri"/>
                <a:cs typeface="Calibri"/>
              </a:defRPr>
            </a:pPr>
            <a:r>
              <a:rPr sz="900" b="0">
                <a:solidFill>
                  <a:srgbClr val="B4BDCB"/>
                </a:solidFill>
                <a:latin typeface="Calibri"/>
                <a:ea typeface="Calibri"/>
                <a:cs typeface="Calibri"/>
              </a:rPr>
              <a:t>AI-Powered Virtual Humans: LLM-Powered Cognitive Architectures</a:t>
            </a:r>
          </a:p>
        </p:txBody>
      </p:sp>
      <p:sp>
        <p:nvSpPr>
          <p:cNvPr id="2" name="c3-text-16">
            <a:extLst>
              <a:ext uri="{FF2B5EF4-FFF2-40B4-BE49-F238E27FC236}">
                <a16:creationId xmlns:a16="http://schemas.microsoft.com/office/drawing/2014/main" id="{5321CCA6-F2DF-46F7-97D4-D5182F5CA683}"/>
              </a:ext>
            </a:extLst>
          </p:cNvPr>
          <p:cNvSpPr>
            <a:spLocks noGrp="1"/>
          </p:cNvSpPr>
          <p:nvPr/>
        </p:nvSpPr>
        <p:spPr>
          <a:xfrm>
            <a:off x="609600" y="657225"/>
            <a:ext cx="792480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9525" tIns="9525" rIns="9525" bIns="9525" anchor="ctr">
            <a:noAutofit/>
          </a:bodyPr>
          <a:lstStyle/>
          <a:p>
            <a:pPr>
              <a:defRPr sz="2700" b="1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2700" b="1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The Building Blocks</a:t>
            </a:r>
          </a:p>
        </p:txBody>
      </p:sp>
      <p:sp>
        <p:nvSpPr>
          <p:cNvPr id="3" name="c3-text-17">
            <a:extLst>
              <a:ext uri="{FF2B5EF4-FFF2-40B4-BE49-F238E27FC236}">
                <a16:creationId xmlns:a16="http://schemas.microsoft.com/office/drawing/2014/main" id="{962DA1B0-E57F-455D-9A6B-9C8CEB170560}"/>
              </a:ext>
            </a:extLst>
          </p:cNvPr>
          <p:cNvSpPr>
            <a:spLocks noGrp="1"/>
          </p:cNvSpPr>
          <p:nvPr/>
        </p:nvSpPr>
        <p:spPr>
          <a:xfrm>
            <a:off x="6381750" y="4781550"/>
            <a:ext cx="17145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9525" tIns="9525" rIns="9525" bIns="9525" anchor="ctr">
            <a:noAutofit/>
          </a:bodyPr>
          <a:lstStyle/>
          <a:p>
            <a:pPr algn="r">
              <a:defRPr sz="750" b="0">
                <a:solidFill>
                  <a:srgbClr val="B4BDCB"/>
                </a:solidFill>
                <a:latin typeface="Calibri"/>
                <a:ea typeface="Calibri"/>
                <a:cs typeface="Calibri"/>
              </a:defRPr>
            </a:pPr>
            <a:r>
              <a:rPr sz="750" b="0">
                <a:solidFill>
                  <a:srgbClr val="B4BDCB"/>
                </a:solidFill>
                <a:latin typeface="Calibri"/>
                <a:ea typeface="Calibri"/>
                <a:cs typeface="Calibri"/>
              </a:rPr>
              <a:t>Module 1 · Chapter 03</a:t>
            </a:r>
          </a:p>
        </p:txBody>
      </p:sp>
      <p:sp>
        <p:nvSpPr>
          <p:cNvPr id="4" name="c3-shape-18">
            <a:extLst>
              <a:ext uri="{FF2B5EF4-FFF2-40B4-BE49-F238E27FC236}">
                <a16:creationId xmlns:a16="http://schemas.microsoft.com/office/drawing/2014/main" id="{240F8975-8BA1-4C0B-A579-C1FF34C78E1E}"/>
              </a:ext>
            </a:extLst>
          </p:cNvPr>
          <p:cNvSpPr>
            <a:spLocks noGrp="1"/>
          </p:cNvSpPr>
          <p:nvPr/>
        </p:nvSpPr>
        <p:spPr>
          <a:xfrm>
            <a:off x="609600" y="1514475"/>
            <a:ext cx="3771900" cy="1285875"/>
          </a:xfrm>
          <a:prstGeom prst="roundRect">
            <a:avLst>
              <a:gd name="adj" fmla="val 5926"/>
            </a:avLst>
          </a:prstGeom>
          <a:solidFill>
            <a:srgbClr val="121A27"/>
          </a:solidFill>
          <a:ln w="9525">
            <a:solidFill>
              <a:srgbClr val="3A4458"/>
            </a:solidFill>
          </a:ln>
        </p:spPr>
      </p:sp>
      <p:sp>
        <p:nvSpPr>
          <p:cNvPr id="5" name="c3-shape-19">
            <a:extLst>
              <a:ext uri="{FF2B5EF4-FFF2-40B4-BE49-F238E27FC236}">
                <a16:creationId xmlns:a16="http://schemas.microsoft.com/office/drawing/2014/main" id="{521A7441-EBCC-46CD-8ACD-52AAE441FD18}"/>
              </a:ext>
            </a:extLst>
          </p:cNvPr>
          <p:cNvSpPr>
            <a:spLocks noGrp="1"/>
          </p:cNvSpPr>
          <p:nvPr/>
        </p:nvSpPr>
        <p:spPr>
          <a:xfrm>
            <a:off x="800100" y="1676400"/>
            <a:ext cx="342900" cy="9525"/>
          </a:xfrm>
          <a:prstGeom prst="rect">
            <a:avLst/>
          </a:prstGeom>
          <a:solidFill>
            <a:srgbClr val="D9A06B"/>
          </a:solidFill>
          <a:ln w="9525">
            <a:solidFill>
              <a:srgbClr val="D9A06B"/>
            </a:solidFill>
          </a:ln>
        </p:spPr>
      </p:sp>
      <p:sp>
        <p:nvSpPr>
          <p:cNvPr id="6" name="c3-text-20">
            <a:extLst>
              <a:ext uri="{FF2B5EF4-FFF2-40B4-BE49-F238E27FC236}">
                <a16:creationId xmlns:a16="http://schemas.microsoft.com/office/drawing/2014/main" id="{BEBFEDC8-8495-41F5-822D-D0CE417A8CB0}"/>
              </a:ext>
            </a:extLst>
          </p:cNvPr>
          <p:cNvSpPr>
            <a:spLocks noGrp="1"/>
          </p:cNvSpPr>
          <p:nvPr/>
        </p:nvSpPr>
        <p:spPr>
          <a:xfrm>
            <a:off x="800100" y="1771650"/>
            <a:ext cx="33909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9525" tIns="9525" rIns="9525" bIns="9525" anchor="ctr">
            <a:noAutofit/>
          </a:bodyPr>
          <a:lstStyle/>
          <a:p>
            <a:pPr>
              <a:defRPr sz="1350" b="0">
                <a:solidFill>
                  <a:srgbClr val="D9A06B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D9A06B"/>
                </a:solidFill>
                <a:latin typeface="Calibri"/>
                <a:ea typeface="Calibri"/>
                <a:cs typeface="Calibri"/>
              </a:rPr>
              <a:t>Model</a:t>
            </a:r>
          </a:p>
        </p:txBody>
      </p:sp>
      <p:sp>
        <p:nvSpPr>
          <p:cNvPr id="7" name="c3-text-21">
            <a:extLst>
              <a:ext uri="{FF2B5EF4-FFF2-40B4-BE49-F238E27FC236}">
                <a16:creationId xmlns:a16="http://schemas.microsoft.com/office/drawing/2014/main" id="{65EF5A73-F44D-4818-B3AE-F1943325F257}"/>
              </a:ext>
            </a:extLst>
          </p:cNvPr>
          <p:cNvSpPr>
            <a:spLocks noGrp="1"/>
          </p:cNvSpPr>
          <p:nvPr/>
        </p:nvSpPr>
        <p:spPr>
          <a:xfrm>
            <a:off x="800100" y="2114550"/>
            <a:ext cx="3390900" cy="561975"/>
          </a:xfrm>
          <a:prstGeom prst="rect">
            <a:avLst/>
          </a:prstGeom>
          <a:noFill/>
          <a:ln w="0">
            <a:noFill/>
          </a:ln>
        </p:spPr>
        <p:txBody>
          <a:bodyPr wrap="square" lIns="9525" tIns="9525" rIns="9525" bIns="9525" anchor="t">
            <a:noAutofit/>
          </a:bodyPr>
          <a:lstStyle/>
          <a:p>
            <a:pPr>
              <a:defRPr sz="1725" b="0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Call an LLM through a common interface.</a:t>
            </a:r>
          </a:p>
        </p:txBody>
      </p:sp>
      <p:sp>
        <p:nvSpPr>
          <p:cNvPr id="8" name="c3-shape-22">
            <a:extLst>
              <a:ext uri="{FF2B5EF4-FFF2-40B4-BE49-F238E27FC236}">
                <a16:creationId xmlns:a16="http://schemas.microsoft.com/office/drawing/2014/main" id="{68D25158-1974-4D4B-9187-9FEDF115869F}"/>
              </a:ext>
            </a:extLst>
          </p:cNvPr>
          <p:cNvSpPr>
            <a:spLocks noGrp="1"/>
          </p:cNvSpPr>
          <p:nvPr/>
        </p:nvSpPr>
        <p:spPr>
          <a:xfrm>
            <a:off x="4762500" y="1514475"/>
            <a:ext cx="3771900" cy="1285875"/>
          </a:xfrm>
          <a:prstGeom prst="roundRect">
            <a:avLst>
              <a:gd name="adj" fmla="val 5926"/>
            </a:avLst>
          </a:prstGeom>
          <a:solidFill>
            <a:srgbClr val="121A27"/>
          </a:solidFill>
          <a:ln w="9525">
            <a:solidFill>
              <a:srgbClr val="3A4458"/>
            </a:solidFill>
          </a:ln>
        </p:spPr>
      </p:sp>
      <p:sp>
        <p:nvSpPr>
          <p:cNvPr id="9" name="c3-shape-23">
            <a:extLst>
              <a:ext uri="{FF2B5EF4-FFF2-40B4-BE49-F238E27FC236}">
                <a16:creationId xmlns:a16="http://schemas.microsoft.com/office/drawing/2014/main" id="{F310E895-0C8E-4D6D-8AAF-FA319CAEC886}"/>
              </a:ext>
            </a:extLst>
          </p:cNvPr>
          <p:cNvSpPr>
            <a:spLocks noGrp="1"/>
          </p:cNvSpPr>
          <p:nvPr/>
        </p:nvSpPr>
        <p:spPr>
          <a:xfrm>
            <a:off x="4953000" y="1676400"/>
            <a:ext cx="342900" cy="9525"/>
          </a:xfrm>
          <a:prstGeom prst="rect">
            <a:avLst/>
          </a:prstGeom>
          <a:solidFill>
            <a:srgbClr val="7FA8E3"/>
          </a:solidFill>
          <a:ln w="9525">
            <a:solidFill>
              <a:srgbClr val="7FA8E3"/>
            </a:solidFill>
          </a:ln>
        </p:spPr>
      </p:sp>
      <p:sp>
        <p:nvSpPr>
          <p:cNvPr id="10" name="c3-text-24">
            <a:extLst>
              <a:ext uri="{FF2B5EF4-FFF2-40B4-BE49-F238E27FC236}">
                <a16:creationId xmlns:a16="http://schemas.microsoft.com/office/drawing/2014/main" id="{98E895D2-4ACA-4107-A27E-75AC6837753B}"/>
              </a:ext>
            </a:extLst>
          </p:cNvPr>
          <p:cNvSpPr>
            <a:spLocks noGrp="1"/>
          </p:cNvSpPr>
          <p:nvPr/>
        </p:nvSpPr>
        <p:spPr>
          <a:xfrm>
            <a:off x="4953000" y="1771650"/>
            <a:ext cx="33909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9525" tIns="9525" rIns="9525" bIns="9525" anchor="ctr">
            <a:noAutofit/>
          </a:bodyPr>
          <a:lstStyle/>
          <a:p>
            <a:pPr>
              <a:defRPr sz="1350" b="0">
                <a:solidFill>
                  <a:srgbClr val="7FA8E3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7FA8E3"/>
                </a:solidFill>
                <a:latin typeface="Calibri"/>
                <a:ea typeface="Calibri"/>
                <a:cs typeface="Calibri"/>
              </a:rPr>
              <a:t>Chain</a:t>
            </a:r>
          </a:p>
        </p:txBody>
      </p:sp>
      <p:sp>
        <p:nvSpPr>
          <p:cNvPr id="11" name="c3-text-25">
            <a:extLst>
              <a:ext uri="{FF2B5EF4-FFF2-40B4-BE49-F238E27FC236}">
                <a16:creationId xmlns:a16="http://schemas.microsoft.com/office/drawing/2014/main" id="{20227651-D8B6-440E-AB46-3BB8CED8E604}"/>
              </a:ext>
            </a:extLst>
          </p:cNvPr>
          <p:cNvSpPr>
            <a:spLocks noGrp="1"/>
          </p:cNvSpPr>
          <p:nvPr/>
        </p:nvSpPr>
        <p:spPr>
          <a:xfrm>
            <a:off x="4953000" y="2114550"/>
            <a:ext cx="3390900" cy="561975"/>
          </a:xfrm>
          <a:prstGeom prst="rect">
            <a:avLst/>
          </a:prstGeom>
          <a:noFill/>
          <a:ln w="0">
            <a:noFill/>
          </a:ln>
        </p:spPr>
        <p:txBody>
          <a:bodyPr wrap="square" lIns="9525" tIns="9525" rIns="9525" bIns="9525" anchor="t">
            <a:noAutofit/>
          </a:bodyPr>
          <a:lstStyle/>
          <a:p>
            <a:pPr>
              <a:defRPr sz="1725" b="0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Pass one output to the next component.</a:t>
            </a:r>
          </a:p>
        </p:txBody>
      </p:sp>
      <p:sp>
        <p:nvSpPr>
          <p:cNvPr id="12" name="c3-shape-26">
            <a:extLst>
              <a:ext uri="{FF2B5EF4-FFF2-40B4-BE49-F238E27FC236}">
                <a16:creationId xmlns:a16="http://schemas.microsoft.com/office/drawing/2014/main" id="{9FF86FDA-BD8D-4D39-9642-43FD683B85F3}"/>
              </a:ext>
            </a:extLst>
          </p:cNvPr>
          <p:cNvSpPr>
            <a:spLocks noGrp="1"/>
          </p:cNvSpPr>
          <p:nvPr/>
        </p:nvSpPr>
        <p:spPr>
          <a:xfrm>
            <a:off x="609600" y="2971800"/>
            <a:ext cx="3771900" cy="1285875"/>
          </a:xfrm>
          <a:prstGeom prst="roundRect">
            <a:avLst>
              <a:gd name="adj" fmla="val 5926"/>
            </a:avLst>
          </a:prstGeom>
          <a:solidFill>
            <a:srgbClr val="121A27"/>
          </a:solidFill>
          <a:ln w="9525">
            <a:solidFill>
              <a:srgbClr val="3A4458"/>
            </a:solidFill>
          </a:ln>
        </p:spPr>
      </p:sp>
      <p:sp>
        <p:nvSpPr>
          <p:cNvPr id="13" name="c3-shape-27">
            <a:extLst>
              <a:ext uri="{FF2B5EF4-FFF2-40B4-BE49-F238E27FC236}">
                <a16:creationId xmlns:a16="http://schemas.microsoft.com/office/drawing/2014/main" id="{0595637B-8E17-4605-9BB9-CB9350EB77C0}"/>
              </a:ext>
            </a:extLst>
          </p:cNvPr>
          <p:cNvSpPr>
            <a:spLocks noGrp="1"/>
          </p:cNvSpPr>
          <p:nvPr/>
        </p:nvSpPr>
        <p:spPr>
          <a:xfrm>
            <a:off x="800100" y="3133725"/>
            <a:ext cx="342900" cy="9525"/>
          </a:xfrm>
          <a:prstGeom prst="rect">
            <a:avLst/>
          </a:prstGeom>
          <a:solidFill>
            <a:srgbClr val="D9A06B"/>
          </a:solidFill>
          <a:ln w="9525">
            <a:solidFill>
              <a:srgbClr val="D9A06B"/>
            </a:solidFill>
          </a:ln>
        </p:spPr>
      </p:sp>
      <p:sp>
        <p:nvSpPr>
          <p:cNvPr id="14" name="c3-text-28">
            <a:extLst>
              <a:ext uri="{FF2B5EF4-FFF2-40B4-BE49-F238E27FC236}">
                <a16:creationId xmlns:a16="http://schemas.microsoft.com/office/drawing/2014/main" id="{7C0256C9-7CC4-428E-92CE-E42667CDDD38}"/>
              </a:ext>
            </a:extLst>
          </p:cNvPr>
          <p:cNvSpPr>
            <a:spLocks noGrp="1"/>
          </p:cNvSpPr>
          <p:nvPr/>
        </p:nvSpPr>
        <p:spPr>
          <a:xfrm>
            <a:off x="800100" y="3228975"/>
            <a:ext cx="33909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9525" tIns="9525" rIns="9525" bIns="9525" anchor="ctr">
            <a:noAutofit/>
          </a:bodyPr>
          <a:lstStyle/>
          <a:p>
            <a:pPr>
              <a:defRPr sz="1350" b="0">
                <a:solidFill>
                  <a:srgbClr val="D9A06B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D9A06B"/>
                </a:solidFill>
                <a:latin typeface="Calibri"/>
                <a:ea typeface="Calibri"/>
                <a:cs typeface="Calibri"/>
              </a:rPr>
              <a:t>Chat prompt template</a:t>
            </a:r>
          </a:p>
        </p:txBody>
      </p:sp>
      <p:sp>
        <p:nvSpPr>
          <p:cNvPr id="15" name="c3-text-29">
            <a:extLst>
              <a:ext uri="{FF2B5EF4-FFF2-40B4-BE49-F238E27FC236}">
                <a16:creationId xmlns:a16="http://schemas.microsoft.com/office/drawing/2014/main" id="{CB8E17E6-C311-4988-93E0-EED0C8272AF7}"/>
              </a:ext>
            </a:extLst>
          </p:cNvPr>
          <p:cNvSpPr>
            <a:spLocks noGrp="1"/>
          </p:cNvSpPr>
          <p:nvPr/>
        </p:nvSpPr>
        <p:spPr>
          <a:xfrm>
            <a:off x="800100" y="3571875"/>
            <a:ext cx="3390900" cy="561975"/>
          </a:xfrm>
          <a:prstGeom prst="rect">
            <a:avLst/>
          </a:prstGeom>
          <a:noFill/>
          <a:ln w="0">
            <a:noFill/>
          </a:ln>
        </p:spPr>
        <p:txBody>
          <a:bodyPr wrap="square" lIns="9525" tIns="9525" rIns="9525" bIns="9525" anchor="t">
            <a:noAutofit/>
          </a:bodyPr>
          <a:lstStyle/>
          <a:p>
            <a:pPr>
              <a:defRPr sz="1725" b="0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Fill variables in a message structure.</a:t>
            </a:r>
          </a:p>
        </p:txBody>
      </p:sp>
      <p:sp>
        <p:nvSpPr>
          <p:cNvPr id="16" name="c3-shape-30">
            <a:extLst>
              <a:ext uri="{FF2B5EF4-FFF2-40B4-BE49-F238E27FC236}">
                <a16:creationId xmlns:a16="http://schemas.microsoft.com/office/drawing/2014/main" id="{83472E14-7847-458C-9B99-9A5E17C7741A}"/>
              </a:ext>
            </a:extLst>
          </p:cNvPr>
          <p:cNvSpPr>
            <a:spLocks noGrp="1"/>
          </p:cNvSpPr>
          <p:nvPr/>
        </p:nvSpPr>
        <p:spPr>
          <a:xfrm>
            <a:off x="4762500" y="2971800"/>
            <a:ext cx="3771900" cy="1285875"/>
          </a:xfrm>
          <a:prstGeom prst="roundRect">
            <a:avLst>
              <a:gd name="adj" fmla="val 5926"/>
            </a:avLst>
          </a:prstGeom>
          <a:solidFill>
            <a:srgbClr val="121A27"/>
          </a:solidFill>
          <a:ln w="9525">
            <a:solidFill>
              <a:srgbClr val="3A4458"/>
            </a:solidFill>
          </a:ln>
        </p:spPr>
      </p:sp>
      <p:sp>
        <p:nvSpPr>
          <p:cNvPr id="17" name="c3-shape-31">
            <a:extLst>
              <a:ext uri="{FF2B5EF4-FFF2-40B4-BE49-F238E27FC236}">
                <a16:creationId xmlns:a16="http://schemas.microsoft.com/office/drawing/2014/main" id="{0C7470BF-3C0E-4E6B-A712-1B7A3E33A5FA}"/>
              </a:ext>
            </a:extLst>
          </p:cNvPr>
          <p:cNvSpPr>
            <a:spLocks noGrp="1"/>
          </p:cNvSpPr>
          <p:nvPr/>
        </p:nvSpPr>
        <p:spPr>
          <a:xfrm>
            <a:off x="4953000" y="3133725"/>
            <a:ext cx="342900" cy="9525"/>
          </a:xfrm>
          <a:prstGeom prst="rect">
            <a:avLst/>
          </a:prstGeom>
          <a:solidFill>
            <a:srgbClr val="7FA8E3"/>
          </a:solidFill>
          <a:ln w="9525">
            <a:solidFill>
              <a:srgbClr val="7FA8E3"/>
            </a:solidFill>
          </a:ln>
        </p:spPr>
      </p:sp>
      <p:sp>
        <p:nvSpPr>
          <p:cNvPr id="18" name="c3-text-32">
            <a:extLst>
              <a:ext uri="{FF2B5EF4-FFF2-40B4-BE49-F238E27FC236}">
                <a16:creationId xmlns:a16="http://schemas.microsoft.com/office/drawing/2014/main" id="{C8ED3B43-BF06-4747-B12D-FC20EBA3A303}"/>
              </a:ext>
            </a:extLst>
          </p:cNvPr>
          <p:cNvSpPr>
            <a:spLocks noGrp="1"/>
          </p:cNvSpPr>
          <p:nvPr/>
        </p:nvSpPr>
        <p:spPr>
          <a:xfrm>
            <a:off x="4953000" y="3228975"/>
            <a:ext cx="33909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9525" tIns="9525" rIns="9525" bIns="9525" anchor="ctr">
            <a:noAutofit/>
          </a:bodyPr>
          <a:lstStyle/>
          <a:p>
            <a:pPr>
              <a:defRPr sz="1350" b="0">
                <a:solidFill>
                  <a:srgbClr val="7FA8E3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7FA8E3"/>
                </a:solidFill>
                <a:latin typeface="Calibri"/>
                <a:ea typeface="Calibri"/>
                <a:cs typeface="Calibri"/>
              </a:rPr>
              <a:t>Structured output</a:t>
            </a:r>
          </a:p>
        </p:txBody>
      </p:sp>
      <p:sp>
        <p:nvSpPr>
          <p:cNvPr id="19" name="c3-text-33">
            <a:extLst>
              <a:ext uri="{FF2B5EF4-FFF2-40B4-BE49-F238E27FC236}">
                <a16:creationId xmlns:a16="http://schemas.microsoft.com/office/drawing/2014/main" id="{6853FBA0-5428-461B-8D64-0FC994660776}"/>
              </a:ext>
            </a:extLst>
          </p:cNvPr>
          <p:cNvSpPr>
            <a:spLocks noGrp="1"/>
          </p:cNvSpPr>
          <p:nvPr/>
        </p:nvSpPr>
        <p:spPr>
          <a:xfrm>
            <a:off x="4953000" y="3571875"/>
            <a:ext cx="3390900" cy="561975"/>
          </a:xfrm>
          <a:prstGeom prst="rect">
            <a:avLst/>
          </a:prstGeom>
          <a:noFill/>
          <a:ln w="0">
            <a:noFill/>
          </a:ln>
        </p:spPr>
        <p:txBody>
          <a:bodyPr wrap="square" lIns="9525" tIns="9525" rIns="9525" bIns="9525" anchor="t">
            <a:noAutofit/>
          </a:bodyPr>
          <a:lstStyle/>
          <a:p>
            <a:pPr>
              <a:defRPr sz="1725" b="0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Return fields the program can use.</a:t>
            </a:r>
          </a:p>
        </p:txBody>
      </p:sp>
      <p:sp>
        <p:nvSpPr>
          <p:cNvPr id="20" name="c3-text-301">
            <a:extLst>
              <a:ext uri="{FF2B5EF4-FFF2-40B4-BE49-F238E27FC236}">
                <a16:creationId xmlns:a16="http://schemas.microsoft.com/office/drawing/2014/main" id="{447982E0-DA17-4678-96C5-59B8C597A0E3}"/>
              </a:ext>
            </a:extLst>
          </p:cNvPr>
          <p:cNvSpPr>
            <a:spLocks noGrp="1"/>
          </p:cNvSpPr>
          <p:nvPr/>
        </p:nvSpPr>
        <p:spPr>
          <a:xfrm>
            <a:off x="8181975" y="4781550"/>
            <a:ext cx="352425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9525" tIns="9525" rIns="9525" bIns="9525" anchor="ctr">
            <a:noAutofit/>
          </a:bodyPr>
          <a:lstStyle/>
          <a:p>
            <a:pPr algn="r">
              <a:defRPr sz="750" b="0">
                <a:solidFill>
                  <a:srgbClr val="B4BDCB"/>
                </a:solidFill>
                <a:latin typeface="Calibri"/>
                <a:ea typeface="Calibri"/>
                <a:cs typeface="Calibri"/>
              </a:defRPr>
            </a:pPr>
            <a:r>
              <a:rPr sz="750" b="0">
                <a:solidFill>
                  <a:srgbClr val="B4BDCB"/>
                </a:solidFill>
                <a:latin typeface="Calibri"/>
                <a:ea typeface="Calibri"/>
                <a:cs typeface="Calibri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9060825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D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c3-text-34">
            <a:extLst>
              <a:ext uri="{FF2B5EF4-FFF2-40B4-BE49-F238E27FC236}">
                <a16:creationId xmlns:a16="http://schemas.microsoft.com/office/drawing/2014/main" id="{A3731B23-A3BD-4D6A-933D-82B4694BF4F4}"/>
              </a:ext>
            </a:extLst>
          </p:cNvPr>
          <p:cNvSpPr>
            <a:spLocks noGrp="1"/>
          </p:cNvSpPr>
          <p:nvPr/>
        </p:nvSpPr>
        <p:spPr>
          <a:xfrm>
            <a:off x="609600" y="238125"/>
            <a:ext cx="792480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9525" tIns="9525" rIns="9525" bIns="9525" anchor="ctr">
            <a:noAutofit/>
          </a:bodyPr>
          <a:lstStyle/>
          <a:p>
            <a:pPr>
              <a:defRPr sz="900" b="0">
                <a:solidFill>
                  <a:srgbClr val="B4BDCB"/>
                </a:solidFill>
                <a:latin typeface="Calibri"/>
                <a:ea typeface="Calibri"/>
                <a:cs typeface="Calibri"/>
              </a:defRPr>
            </a:pPr>
            <a:r>
              <a:rPr sz="900" b="0">
                <a:solidFill>
                  <a:srgbClr val="B4BDCB"/>
                </a:solidFill>
                <a:latin typeface="Calibri"/>
                <a:ea typeface="Calibri"/>
                <a:cs typeface="Calibri"/>
              </a:rPr>
              <a:t>AI-Powered Virtual Humans: LLM-Powered Cognitive Architectures</a:t>
            </a:r>
          </a:p>
        </p:txBody>
      </p:sp>
      <p:sp>
        <p:nvSpPr>
          <p:cNvPr id="2" name="c3-text-35">
            <a:extLst>
              <a:ext uri="{FF2B5EF4-FFF2-40B4-BE49-F238E27FC236}">
                <a16:creationId xmlns:a16="http://schemas.microsoft.com/office/drawing/2014/main" id="{69B1F1D6-1109-48FE-86C2-C9ED869CEE6E}"/>
              </a:ext>
            </a:extLst>
          </p:cNvPr>
          <p:cNvSpPr>
            <a:spLocks noGrp="1"/>
          </p:cNvSpPr>
          <p:nvPr/>
        </p:nvSpPr>
        <p:spPr>
          <a:xfrm>
            <a:off x="609600" y="657225"/>
            <a:ext cx="792480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9525" tIns="9525" rIns="9525" bIns="9525" anchor="ctr">
            <a:noAutofit/>
          </a:bodyPr>
          <a:lstStyle/>
          <a:p>
            <a:pPr>
              <a:defRPr sz="2700" b="1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2700" b="1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Same Model, Different Interface [2]</a:t>
            </a:r>
          </a:p>
        </p:txBody>
      </p:sp>
      <p:sp>
        <p:nvSpPr>
          <p:cNvPr id="3" name="c3-text-36">
            <a:extLst>
              <a:ext uri="{FF2B5EF4-FFF2-40B4-BE49-F238E27FC236}">
                <a16:creationId xmlns:a16="http://schemas.microsoft.com/office/drawing/2014/main" id="{C8098BAE-C409-4552-BB3A-5922FE3B44D5}"/>
              </a:ext>
            </a:extLst>
          </p:cNvPr>
          <p:cNvSpPr>
            <a:spLocks noGrp="1"/>
          </p:cNvSpPr>
          <p:nvPr/>
        </p:nvSpPr>
        <p:spPr>
          <a:xfrm>
            <a:off x="609600" y="1400175"/>
            <a:ext cx="7924800" cy="542925"/>
          </a:xfrm>
          <a:prstGeom prst="rect">
            <a:avLst/>
          </a:prstGeom>
          <a:noFill/>
          <a:ln w="0">
            <a:noFill/>
          </a:ln>
        </p:spPr>
        <p:txBody>
          <a:bodyPr wrap="square" lIns="9525" tIns="9525" rIns="9525" bIns="9525" anchor="ctr">
            <a:noAutofit/>
          </a:bodyPr>
          <a:lstStyle/>
          <a:p>
            <a:pPr>
              <a:defRPr sz="1875" b="0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1875" b="0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Compare client creation and the model call.</a:t>
            </a:r>
          </a:p>
        </p:txBody>
      </p:sp>
      <p:sp>
        <p:nvSpPr>
          <p:cNvPr id="4" name="c3-text-37">
            <a:extLst>
              <a:ext uri="{FF2B5EF4-FFF2-40B4-BE49-F238E27FC236}">
                <a16:creationId xmlns:a16="http://schemas.microsoft.com/office/drawing/2014/main" id="{10DBA071-55F3-45A8-933B-9C0B2FE2C974}"/>
              </a:ext>
            </a:extLst>
          </p:cNvPr>
          <p:cNvSpPr>
            <a:spLocks noGrp="1"/>
          </p:cNvSpPr>
          <p:nvPr/>
        </p:nvSpPr>
        <p:spPr>
          <a:xfrm>
            <a:off x="6381750" y="4781550"/>
            <a:ext cx="17145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9525" tIns="9525" rIns="9525" bIns="9525" anchor="ctr">
            <a:noAutofit/>
          </a:bodyPr>
          <a:lstStyle/>
          <a:p>
            <a:pPr algn="r">
              <a:defRPr sz="750" b="0">
                <a:solidFill>
                  <a:srgbClr val="B4BDCB"/>
                </a:solidFill>
                <a:latin typeface="Calibri"/>
                <a:ea typeface="Calibri"/>
                <a:cs typeface="Calibri"/>
              </a:defRPr>
            </a:pPr>
            <a:r>
              <a:rPr sz="750" b="0">
                <a:solidFill>
                  <a:srgbClr val="B4BDCB"/>
                </a:solidFill>
                <a:latin typeface="Calibri"/>
                <a:ea typeface="Calibri"/>
                <a:cs typeface="Calibri"/>
              </a:rPr>
              <a:t>Module 1 · Chapter 03</a:t>
            </a:r>
          </a:p>
        </p:txBody>
      </p:sp>
      <p:sp>
        <p:nvSpPr>
          <p:cNvPr id="5" name="c3-text-38">
            <a:extLst>
              <a:ext uri="{FF2B5EF4-FFF2-40B4-BE49-F238E27FC236}">
                <a16:creationId xmlns:a16="http://schemas.microsoft.com/office/drawing/2014/main" id="{45E56224-0804-4042-AA16-F073075A4AED}"/>
              </a:ext>
            </a:extLst>
          </p:cNvPr>
          <p:cNvSpPr>
            <a:spLocks noGrp="1"/>
          </p:cNvSpPr>
          <p:nvPr/>
        </p:nvSpPr>
        <p:spPr>
          <a:xfrm>
            <a:off x="609600" y="2028825"/>
            <a:ext cx="3771900" cy="276225"/>
          </a:xfrm>
          <a:prstGeom prst="rect">
            <a:avLst/>
          </a:prstGeom>
          <a:noFill/>
          <a:ln w="0">
            <a:noFill/>
          </a:ln>
        </p:spPr>
        <p:txBody>
          <a:bodyPr wrap="square" lIns="9525" tIns="9525" rIns="9525" bIns="9525" anchor="ctr">
            <a:noAutofit/>
          </a:bodyPr>
          <a:lstStyle/>
          <a:p>
            <a:pPr>
              <a:defRPr sz="1500" b="0">
                <a:solidFill>
                  <a:srgbClr val="D9A06B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D9A06B"/>
                </a:solidFill>
                <a:latin typeface="Calibri"/>
                <a:ea typeface="Calibri"/>
                <a:cs typeface="Calibri"/>
              </a:rPr>
              <a:t>Provider SDK</a:t>
            </a:r>
          </a:p>
        </p:txBody>
      </p:sp>
      <p:sp>
        <p:nvSpPr>
          <p:cNvPr id="6" name="c3-text-39">
            <a:extLst>
              <a:ext uri="{FF2B5EF4-FFF2-40B4-BE49-F238E27FC236}">
                <a16:creationId xmlns:a16="http://schemas.microsoft.com/office/drawing/2014/main" id="{C32F9DD4-0C43-40DE-8569-75BD8EFBE6C4}"/>
              </a:ext>
            </a:extLst>
          </p:cNvPr>
          <p:cNvSpPr>
            <a:spLocks noGrp="1"/>
          </p:cNvSpPr>
          <p:nvPr/>
        </p:nvSpPr>
        <p:spPr>
          <a:xfrm>
            <a:off x="4762500" y="2028825"/>
            <a:ext cx="3771900" cy="276225"/>
          </a:xfrm>
          <a:prstGeom prst="rect">
            <a:avLst/>
          </a:prstGeom>
          <a:noFill/>
          <a:ln w="0">
            <a:noFill/>
          </a:ln>
        </p:spPr>
        <p:txBody>
          <a:bodyPr wrap="square" lIns="9525" tIns="9525" rIns="9525" bIns="9525" anchor="ctr">
            <a:noAutofit/>
          </a:bodyPr>
          <a:lstStyle/>
          <a:p>
            <a:pPr>
              <a:defRPr sz="1500" b="0">
                <a:solidFill>
                  <a:srgbClr val="7FA8E3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7FA8E3"/>
                </a:solidFill>
                <a:latin typeface="Calibri"/>
                <a:ea typeface="Calibri"/>
                <a:cs typeface="Calibri"/>
              </a:rPr>
              <a:t>LangChain</a:t>
            </a:r>
          </a:p>
        </p:txBody>
      </p:sp>
      <p:sp>
        <p:nvSpPr>
          <p:cNvPr id="7" name="c3-shape-40">
            <a:extLst>
              <a:ext uri="{FF2B5EF4-FFF2-40B4-BE49-F238E27FC236}">
                <a16:creationId xmlns:a16="http://schemas.microsoft.com/office/drawing/2014/main" id="{E69A44A2-33B5-46A6-B637-4EC797E05C77}"/>
              </a:ext>
            </a:extLst>
          </p:cNvPr>
          <p:cNvSpPr>
            <a:spLocks noGrp="1"/>
          </p:cNvSpPr>
          <p:nvPr/>
        </p:nvSpPr>
        <p:spPr>
          <a:xfrm>
            <a:off x="609600" y="2390775"/>
            <a:ext cx="3771900" cy="2143125"/>
          </a:xfrm>
          <a:prstGeom prst="roundRect">
            <a:avLst>
              <a:gd name="adj" fmla="val 3556"/>
            </a:avLst>
          </a:prstGeom>
          <a:solidFill>
            <a:srgbClr val="121A27"/>
          </a:solidFill>
          <a:ln w="9525">
            <a:solidFill>
              <a:srgbClr val="3A4458"/>
            </a:solidFill>
          </a:ln>
        </p:spPr>
      </p:sp>
      <p:sp>
        <p:nvSpPr>
          <p:cNvPr id="8" name="c3-text-41">
            <a:extLst>
              <a:ext uri="{FF2B5EF4-FFF2-40B4-BE49-F238E27FC236}">
                <a16:creationId xmlns:a16="http://schemas.microsoft.com/office/drawing/2014/main" id="{9CF90173-F8B6-4255-AF82-6D3FB6185546}"/>
              </a:ext>
            </a:extLst>
          </p:cNvPr>
          <p:cNvSpPr>
            <a:spLocks noGrp="1"/>
          </p:cNvSpPr>
          <p:nvPr/>
        </p:nvSpPr>
        <p:spPr>
          <a:xfrm>
            <a:off x="781050" y="2524125"/>
            <a:ext cx="3429000" cy="1876425"/>
          </a:xfrm>
          <a:prstGeom prst="rect">
            <a:avLst/>
          </a:prstGeom>
          <a:noFill/>
          <a:ln w="0">
            <a:noFill/>
          </a:ln>
        </p:spPr>
        <p:txBody>
          <a:bodyPr wrap="square" lIns="9525" tIns="9525" rIns="9525" bIns="9525" anchor="t">
            <a:noAutofit/>
          </a:bodyPr>
          <a:lstStyle/>
          <a:p>
            <a:pPr>
              <a:defRPr sz="1650" b="0">
                <a:solidFill>
                  <a:srgbClr val="ECE6DE"/>
                </a:solidFill>
                <a:latin typeface="Consolas"/>
                <a:ea typeface="Consolas"/>
                <a:cs typeface="Consolas"/>
              </a:defRPr>
            </a:pPr>
            <a:r>
              <a:rPr sz="1650" b="0">
                <a:solidFill>
                  <a:srgbClr val="ECE6DE"/>
                </a:solidFill>
                <a:latin typeface="Consolas"/>
                <a:ea typeface="Consolas"/>
                <a:cs typeface="Consolas"/>
              </a:rPr>
              <a:t>client = Client(...)</a:t>
            </a:r>
          </a:p>
          <a:p>
            <a:pPr>
              <a:defRPr sz="1650" b="0">
                <a:solidFill>
                  <a:srgbClr val="ECE6DE"/>
                </a:solidFill>
                <a:latin typeface="Consolas"/>
                <a:ea typeface="Consolas"/>
                <a:cs typeface="Consolas"/>
              </a:defRPr>
            </a:pPr>
            <a:r>
              <a:rPr sz="1650" b="0">
                <a:solidFill>
                  <a:srgbClr val="ECE6DE"/>
                </a:solidFill>
                <a:latin typeface="Consolas"/>
                <a:ea typeface="Consolas"/>
                <a:cs typeface="Consolas"/>
              </a:rPr>
              <a:t>reply = client.chat(</a:t>
            </a:r>
          </a:p>
          <a:p>
            <a:pPr>
              <a:defRPr sz="1650" b="0">
                <a:solidFill>
                  <a:srgbClr val="ECE6DE"/>
                </a:solidFill>
                <a:latin typeface="Consolas"/>
                <a:ea typeface="Consolas"/>
                <a:cs typeface="Consolas"/>
              </a:defRPr>
            </a:pPr>
            <a:r>
              <a:rPr sz="1650" b="0">
                <a:solidFill>
                  <a:srgbClr val="ECE6DE"/>
                </a:solidFill>
                <a:latin typeface="Consolas"/>
                <a:ea typeface="Consolas"/>
                <a:cs typeface="Consolas"/>
              </a:rPr>
              <a:t>    model="gpt-oss:120b",</a:t>
            </a:r>
          </a:p>
          <a:p>
            <a:pPr>
              <a:defRPr sz="1650" b="0">
                <a:solidFill>
                  <a:srgbClr val="ECE6DE"/>
                </a:solidFill>
                <a:latin typeface="Consolas"/>
                <a:ea typeface="Consolas"/>
                <a:cs typeface="Consolas"/>
              </a:defRPr>
            </a:pPr>
            <a:r>
              <a:rPr sz="1650" b="0">
                <a:solidFill>
                  <a:srgbClr val="ECE6DE"/>
                </a:solidFill>
                <a:latin typeface="Consolas"/>
                <a:ea typeface="Consolas"/>
                <a:cs typeface="Consolas"/>
              </a:rPr>
              <a:t>    messages=messages,</a:t>
            </a:r>
          </a:p>
          <a:p>
            <a:pPr>
              <a:defRPr sz="1650" b="0">
                <a:solidFill>
                  <a:srgbClr val="ECE6DE"/>
                </a:solidFill>
                <a:latin typeface="Consolas"/>
                <a:ea typeface="Consolas"/>
                <a:cs typeface="Consolas"/>
              </a:defRPr>
            </a:pPr>
            <a:r>
              <a:rPr sz="1650" b="0">
                <a:solidFill>
                  <a:srgbClr val="ECE6DE"/>
                </a:solidFill>
                <a:latin typeface="Consolas"/>
                <a:ea typeface="Consolas"/>
                <a:cs typeface="Consolas"/>
              </a:rPr>
              <a:t>)</a:t>
            </a:r>
          </a:p>
        </p:txBody>
      </p:sp>
      <p:sp>
        <p:nvSpPr>
          <p:cNvPr id="9" name="c3-shape-42">
            <a:extLst>
              <a:ext uri="{FF2B5EF4-FFF2-40B4-BE49-F238E27FC236}">
                <a16:creationId xmlns:a16="http://schemas.microsoft.com/office/drawing/2014/main" id="{718DBED1-C42F-4ABD-B8BD-F7229D79E172}"/>
              </a:ext>
            </a:extLst>
          </p:cNvPr>
          <p:cNvSpPr>
            <a:spLocks noGrp="1"/>
          </p:cNvSpPr>
          <p:nvPr/>
        </p:nvSpPr>
        <p:spPr>
          <a:xfrm>
            <a:off x="4762500" y="2390775"/>
            <a:ext cx="3771900" cy="2143125"/>
          </a:xfrm>
          <a:prstGeom prst="roundRect">
            <a:avLst>
              <a:gd name="adj" fmla="val 3556"/>
            </a:avLst>
          </a:prstGeom>
          <a:solidFill>
            <a:srgbClr val="121A27"/>
          </a:solidFill>
          <a:ln w="9525">
            <a:solidFill>
              <a:srgbClr val="3A4458"/>
            </a:solidFill>
          </a:ln>
        </p:spPr>
      </p:sp>
      <p:sp>
        <p:nvSpPr>
          <p:cNvPr id="10" name="c3-text-43">
            <a:extLst>
              <a:ext uri="{FF2B5EF4-FFF2-40B4-BE49-F238E27FC236}">
                <a16:creationId xmlns:a16="http://schemas.microsoft.com/office/drawing/2014/main" id="{DC87FDF4-A071-433C-8EA2-74287E47D942}"/>
              </a:ext>
            </a:extLst>
          </p:cNvPr>
          <p:cNvSpPr>
            <a:spLocks noGrp="1"/>
          </p:cNvSpPr>
          <p:nvPr/>
        </p:nvSpPr>
        <p:spPr>
          <a:xfrm>
            <a:off x="4933950" y="2524125"/>
            <a:ext cx="3429000" cy="1876425"/>
          </a:xfrm>
          <a:prstGeom prst="rect">
            <a:avLst/>
          </a:prstGeom>
          <a:noFill/>
          <a:ln w="0">
            <a:noFill/>
          </a:ln>
        </p:spPr>
        <p:txBody>
          <a:bodyPr wrap="square" lIns="9525" tIns="9525" rIns="9525" bIns="9525" anchor="t">
            <a:noAutofit/>
          </a:bodyPr>
          <a:lstStyle/>
          <a:p>
            <a:pPr>
              <a:defRPr sz="1650" b="0">
                <a:solidFill>
                  <a:srgbClr val="ECE6DE"/>
                </a:solidFill>
                <a:latin typeface="Consolas"/>
                <a:ea typeface="Consolas"/>
                <a:cs typeface="Consolas"/>
              </a:defRPr>
            </a:pPr>
            <a:r>
              <a:rPr sz="1650" b="0">
                <a:solidFill>
                  <a:srgbClr val="ECE6DE"/>
                </a:solidFill>
                <a:latin typeface="Consolas"/>
                <a:ea typeface="Consolas"/>
                <a:cs typeface="Consolas"/>
              </a:rPr>
              <a:t>llm = ChatOllama(...)</a:t>
            </a:r>
          </a:p>
          <a:p>
            <a:pPr>
              <a:defRPr sz="1650" b="0">
                <a:solidFill>
                  <a:srgbClr val="ECE6DE"/>
                </a:solidFill>
                <a:latin typeface="Consolas"/>
                <a:ea typeface="Consolas"/>
                <a:cs typeface="Consolas"/>
              </a:defRPr>
            </a:pPr>
            <a:r>
              <a:rPr sz="1650" b="0">
                <a:solidFill>
                  <a:srgbClr val="ECE6DE"/>
                </a:solidFill>
                <a:latin typeface="Consolas"/>
                <a:ea typeface="Consolas"/>
                <a:cs typeface="Consolas"/>
              </a:rPr>
              <a:t>reply = llm.invoke(request)</a:t>
            </a:r>
          </a:p>
        </p:txBody>
      </p:sp>
      <p:sp>
        <p:nvSpPr>
          <p:cNvPr id="11" name="c3-text-302">
            <a:extLst>
              <a:ext uri="{FF2B5EF4-FFF2-40B4-BE49-F238E27FC236}">
                <a16:creationId xmlns:a16="http://schemas.microsoft.com/office/drawing/2014/main" id="{ACE7B94C-2CE1-4CD7-B832-49A59E74EA68}"/>
              </a:ext>
            </a:extLst>
          </p:cNvPr>
          <p:cNvSpPr>
            <a:spLocks noGrp="1"/>
          </p:cNvSpPr>
          <p:nvPr/>
        </p:nvSpPr>
        <p:spPr>
          <a:xfrm>
            <a:off x="8181975" y="4781550"/>
            <a:ext cx="352425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9525" tIns="9525" rIns="9525" bIns="9525" anchor="ctr">
            <a:noAutofit/>
          </a:bodyPr>
          <a:lstStyle/>
          <a:p>
            <a:pPr algn="r">
              <a:defRPr sz="750" b="0">
                <a:solidFill>
                  <a:srgbClr val="B4BDCB"/>
                </a:solidFill>
                <a:latin typeface="Calibri"/>
                <a:ea typeface="Calibri"/>
                <a:cs typeface="Calibri"/>
              </a:defRPr>
            </a:pPr>
            <a:r>
              <a:rPr sz="750" b="0">
                <a:solidFill>
                  <a:srgbClr val="B4BDCB"/>
                </a:solidFill>
                <a:latin typeface="Calibri"/>
                <a:ea typeface="Calibri"/>
                <a:cs typeface="Calibri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6720669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D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c3-text-44">
            <a:extLst>
              <a:ext uri="{FF2B5EF4-FFF2-40B4-BE49-F238E27FC236}">
                <a16:creationId xmlns:a16="http://schemas.microsoft.com/office/drawing/2014/main" id="{0E8DDA8E-91D1-4C36-B7B2-6B165FB982ED}"/>
              </a:ext>
            </a:extLst>
          </p:cNvPr>
          <p:cNvSpPr>
            <a:spLocks noGrp="1"/>
          </p:cNvSpPr>
          <p:nvPr/>
        </p:nvSpPr>
        <p:spPr>
          <a:xfrm>
            <a:off x="609600" y="238125"/>
            <a:ext cx="792480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9525" tIns="9525" rIns="9525" bIns="9525" anchor="ctr">
            <a:noAutofit/>
          </a:bodyPr>
          <a:lstStyle/>
          <a:p>
            <a:pPr>
              <a:defRPr sz="900" b="0">
                <a:solidFill>
                  <a:srgbClr val="B4BDCB"/>
                </a:solidFill>
                <a:latin typeface="Calibri"/>
                <a:ea typeface="Calibri"/>
                <a:cs typeface="Calibri"/>
              </a:defRPr>
            </a:pPr>
            <a:r>
              <a:rPr sz="900" b="0">
                <a:solidFill>
                  <a:srgbClr val="B4BDCB"/>
                </a:solidFill>
                <a:latin typeface="Calibri"/>
                <a:ea typeface="Calibri"/>
                <a:cs typeface="Calibri"/>
              </a:rPr>
              <a:t>AI-Powered Virtual Humans: LLM-Powered Cognitive Architectures</a:t>
            </a:r>
          </a:p>
        </p:txBody>
      </p:sp>
      <p:sp>
        <p:nvSpPr>
          <p:cNvPr id="2" name="c3-text-45">
            <a:extLst>
              <a:ext uri="{FF2B5EF4-FFF2-40B4-BE49-F238E27FC236}">
                <a16:creationId xmlns:a16="http://schemas.microsoft.com/office/drawing/2014/main" id="{0218D3EB-7766-4471-8732-D513F29F5C02}"/>
              </a:ext>
            </a:extLst>
          </p:cNvPr>
          <p:cNvSpPr>
            <a:spLocks noGrp="1"/>
          </p:cNvSpPr>
          <p:nvPr/>
        </p:nvSpPr>
        <p:spPr>
          <a:xfrm>
            <a:off x="609600" y="657225"/>
            <a:ext cx="792480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9525" tIns="9525" rIns="9525" bIns="9525" anchor="ctr">
            <a:noAutofit/>
          </a:bodyPr>
          <a:lstStyle/>
          <a:p>
            <a:pPr>
              <a:defRPr sz="2700" b="1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2700" b="1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The Reply Is a Message [1] [2]</a:t>
            </a:r>
          </a:p>
        </p:txBody>
      </p:sp>
      <p:sp>
        <p:nvSpPr>
          <p:cNvPr id="3" name="c3-text-46">
            <a:extLst>
              <a:ext uri="{FF2B5EF4-FFF2-40B4-BE49-F238E27FC236}">
                <a16:creationId xmlns:a16="http://schemas.microsoft.com/office/drawing/2014/main" id="{616203C9-C388-4A2C-BBF6-7A4C3244673A}"/>
              </a:ext>
            </a:extLst>
          </p:cNvPr>
          <p:cNvSpPr>
            <a:spLocks noGrp="1"/>
          </p:cNvSpPr>
          <p:nvPr/>
        </p:nvSpPr>
        <p:spPr>
          <a:xfrm>
            <a:off x="609600" y="1400175"/>
            <a:ext cx="7924800" cy="542925"/>
          </a:xfrm>
          <a:prstGeom prst="rect">
            <a:avLst/>
          </a:prstGeom>
          <a:noFill/>
          <a:ln w="0">
            <a:noFill/>
          </a:ln>
        </p:spPr>
        <p:txBody>
          <a:bodyPr wrap="square" lIns="9525" tIns="9525" rIns="9525" bIns="9525" anchor="ctr">
            <a:noAutofit/>
          </a:bodyPr>
          <a:lstStyle/>
          <a:p>
            <a:pPr>
              <a:defRPr sz="1875" b="0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1875" b="0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Inspect the response object before selecting its text.</a:t>
            </a:r>
          </a:p>
        </p:txBody>
      </p:sp>
      <p:sp>
        <p:nvSpPr>
          <p:cNvPr id="4" name="c3-text-47">
            <a:extLst>
              <a:ext uri="{FF2B5EF4-FFF2-40B4-BE49-F238E27FC236}">
                <a16:creationId xmlns:a16="http://schemas.microsoft.com/office/drawing/2014/main" id="{44BC15CD-3639-4F27-B2D6-BD3A29F5F0E7}"/>
              </a:ext>
            </a:extLst>
          </p:cNvPr>
          <p:cNvSpPr>
            <a:spLocks noGrp="1"/>
          </p:cNvSpPr>
          <p:nvPr/>
        </p:nvSpPr>
        <p:spPr>
          <a:xfrm>
            <a:off x="6381750" y="4781550"/>
            <a:ext cx="17145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9525" tIns="9525" rIns="9525" bIns="9525" anchor="ctr">
            <a:noAutofit/>
          </a:bodyPr>
          <a:lstStyle/>
          <a:p>
            <a:pPr algn="r">
              <a:defRPr sz="750" b="0">
                <a:solidFill>
                  <a:srgbClr val="B4BDCB"/>
                </a:solidFill>
                <a:latin typeface="Calibri"/>
                <a:ea typeface="Calibri"/>
                <a:cs typeface="Calibri"/>
              </a:defRPr>
            </a:pPr>
            <a:r>
              <a:rPr sz="750" b="0">
                <a:solidFill>
                  <a:srgbClr val="B4BDCB"/>
                </a:solidFill>
                <a:latin typeface="Calibri"/>
                <a:ea typeface="Calibri"/>
                <a:cs typeface="Calibri"/>
              </a:rPr>
              <a:t>Module 1 · Chapter 03</a:t>
            </a:r>
          </a:p>
        </p:txBody>
      </p:sp>
      <p:sp>
        <p:nvSpPr>
          <p:cNvPr id="5" name="c3-shape-48">
            <a:extLst>
              <a:ext uri="{FF2B5EF4-FFF2-40B4-BE49-F238E27FC236}">
                <a16:creationId xmlns:a16="http://schemas.microsoft.com/office/drawing/2014/main" id="{E3E41B50-5D13-4309-9868-477BEA65BDEF}"/>
              </a:ext>
            </a:extLst>
          </p:cNvPr>
          <p:cNvSpPr>
            <a:spLocks noGrp="1"/>
          </p:cNvSpPr>
          <p:nvPr/>
        </p:nvSpPr>
        <p:spPr>
          <a:xfrm>
            <a:off x="609600" y="2114550"/>
            <a:ext cx="7924800" cy="1362075"/>
          </a:xfrm>
          <a:prstGeom prst="roundRect">
            <a:avLst>
              <a:gd name="adj" fmla="val 5594"/>
            </a:avLst>
          </a:prstGeom>
          <a:solidFill>
            <a:srgbClr val="121A27"/>
          </a:solidFill>
          <a:ln w="9525">
            <a:solidFill>
              <a:srgbClr val="3A4458"/>
            </a:solidFill>
          </a:ln>
        </p:spPr>
      </p:sp>
      <p:sp>
        <p:nvSpPr>
          <p:cNvPr id="6" name="c3-text-49">
            <a:extLst>
              <a:ext uri="{FF2B5EF4-FFF2-40B4-BE49-F238E27FC236}">
                <a16:creationId xmlns:a16="http://schemas.microsoft.com/office/drawing/2014/main" id="{135EC14C-E3AB-436A-B6A5-68856C85AEE1}"/>
              </a:ext>
            </a:extLst>
          </p:cNvPr>
          <p:cNvSpPr>
            <a:spLocks noGrp="1"/>
          </p:cNvSpPr>
          <p:nvPr/>
        </p:nvSpPr>
        <p:spPr>
          <a:xfrm>
            <a:off x="781050" y="2247900"/>
            <a:ext cx="7581900" cy="1095375"/>
          </a:xfrm>
          <a:prstGeom prst="rect">
            <a:avLst/>
          </a:prstGeom>
          <a:noFill/>
          <a:ln w="0">
            <a:noFill/>
          </a:ln>
        </p:spPr>
        <p:txBody>
          <a:bodyPr wrap="square" lIns="9525" tIns="9525" rIns="9525" bIns="9525" anchor="t">
            <a:noAutofit/>
          </a:bodyPr>
          <a:lstStyle/>
          <a:p>
            <a:pPr>
              <a:defRPr sz="1800" b="0">
                <a:solidFill>
                  <a:srgbClr val="ECE6DE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ECE6DE"/>
                </a:solidFill>
                <a:latin typeface="Consolas"/>
                <a:ea typeface="Consolas"/>
                <a:cs typeface="Consolas"/>
              </a:rPr>
              <a:t>reply = llm.invoke(request)</a:t>
            </a:r>
          </a:p>
          <a:p>
            <a:pPr>
              <a:defRPr sz="1800" b="0">
                <a:solidFill>
                  <a:srgbClr val="ECE6DE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ECE6DE"/>
                </a:solidFill>
                <a:latin typeface="Consolas"/>
                <a:ea typeface="Consolas"/>
                <a:cs typeface="Consolas"/>
              </a:rPr>
              <a:t>reply</a:t>
            </a:r>
          </a:p>
          <a:p>
            <a:endParaRPr sz="1800" b="0">
              <a:solidFill>
                <a:srgbClr val="ECE6DE"/>
              </a:solidFill>
              <a:latin typeface="Consolas"/>
              <a:ea typeface="Consolas"/>
              <a:cs typeface="Consolas"/>
            </a:endParaRPr>
          </a:p>
          <a:p>
            <a:pPr>
              <a:defRPr sz="1800" b="0">
                <a:solidFill>
                  <a:srgbClr val="ECE6DE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ECE6DE"/>
                </a:solidFill>
                <a:latin typeface="Consolas"/>
                <a:ea typeface="Consolas"/>
                <a:cs typeface="Consolas"/>
              </a:rPr>
              <a:t>reply.content</a:t>
            </a:r>
          </a:p>
        </p:txBody>
      </p:sp>
      <p:sp>
        <p:nvSpPr>
          <p:cNvPr id="7" name="c3-shape-50">
            <a:extLst>
              <a:ext uri="{FF2B5EF4-FFF2-40B4-BE49-F238E27FC236}">
                <a16:creationId xmlns:a16="http://schemas.microsoft.com/office/drawing/2014/main" id="{15EB5BC1-5A9A-40ED-8FDF-DA31FF5F6464}"/>
              </a:ext>
            </a:extLst>
          </p:cNvPr>
          <p:cNvSpPr>
            <a:spLocks noGrp="1"/>
          </p:cNvSpPr>
          <p:nvPr/>
        </p:nvSpPr>
        <p:spPr>
          <a:xfrm>
            <a:off x="609600" y="3705225"/>
            <a:ext cx="2133600" cy="457200"/>
          </a:xfrm>
          <a:prstGeom prst="roundRect">
            <a:avLst>
              <a:gd name="adj" fmla="val 16667"/>
            </a:avLst>
          </a:prstGeom>
          <a:solidFill>
            <a:srgbClr val="121A27"/>
          </a:solidFill>
          <a:ln w="9525">
            <a:solidFill>
              <a:srgbClr val="7FA8E3"/>
            </a:solidFill>
          </a:ln>
        </p:spPr>
      </p:sp>
      <p:sp>
        <p:nvSpPr>
          <p:cNvPr id="8" name="c3-text-51">
            <a:extLst>
              <a:ext uri="{FF2B5EF4-FFF2-40B4-BE49-F238E27FC236}">
                <a16:creationId xmlns:a16="http://schemas.microsoft.com/office/drawing/2014/main" id="{93A9D788-198C-4070-AA95-3D6D884659CD}"/>
              </a:ext>
            </a:extLst>
          </p:cNvPr>
          <p:cNvSpPr>
            <a:spLocks noGrp="1"/>
          </p:cNvSpPr>
          <p:nvPr/>
        </p:nvSpPr>
        <p:spPr>
          <a:xfrm>
            <a:off x="723900" y="3781425"/>
            <a:ext cx="190500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9525" tIns="9525" rIns="9525" bIns="9525" anchor="ctr">
            <a:noAutofit/>
          </a:bodyPr>
          <a:lstStyle/>
          <a:p>
            <a:pPr algn="ctr">
              <a:defRPr sz="1725" b="0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Request</a:t>
            </a:r>
          </a:p>
        </p:txBody>
      </p:sp>
      <p:sp>
        <p:nvSpPr>
          <p:cNvPr id="9" name="c3-shape-52">
            <a:extLst>
              <a:ext uri="{FF2B5EF4-FFF2-40B4-BE49-F238E27FC236}">
                <a16:creationId xmlns:a16="http://schemas.microsoft.com/office/drawing/2014/main" id="{6103F0D7-044A-4265-8973-757D5C191904}"/>
              </a:ext>
            </a:extLst>
          </p:cNvPr>
          <p:cNvSpPr>
            <a:spLocks noGrp="1"/>
          </p:cNvSpPr>
          <p:nvPr/>
        </p:nvSpPr>
        <p:spPr>
          <a:xfrm>
            <a:off x="2952750" y="3857625"/>
            <a:ext cx="304800" cy="152400"/>
          </a:xfrm>
          <a:prstGeom prst="rightArrow">
            <a:avLst/>
          </a:prstGeom>
          <a:solidFill>
            <a:srgbClr val="7FA8E3"/>
          </a:solidFill>
          <a:ln w="9525">
            <a:solidFill>
              <a:srgbClr val="7FA8E3"/>
            </a:solidFill>
          </a:ln>
        </p:spPr>
      </p:sp>
      <p:sp>
        <p:nvSpPr>
          <p:cNvPr id="10" name="c3-shape-53">
            <a:extLst>
              <a:ext uri="{FF2B5EF4-FFF2-40B4-BE49-F238E27FC236}">
                <a16:creationId xmlns:a16="http://schemas.microsoft.com/office/drawing/2014/main" id="{E413192D-944A-4798-A713-42644CF9B533}"/>
              </a:ext>
            </a:extLst>
          </p:cNvPr>
          <p:cNvSpPr>
            <a:spLocks noGrp="1"/>
          </p:cNvSpPr>
          <p:nvPr/>
        </p:nvSpPr>
        <p:spPr>
          <a:xfrm>
            <a:off x="3505200" y="3705225"/>
            <a:ext cx="2133600" cy="457200"/>
          </a:xfrm>
          <a:prstGeom prst="roundRect">
            <a:avLst>
              <a:gd name="adj" fmla="val 16667"/>
            </a:avLst>
          </a:prstGeom>
          <a:solidFill>
            <a:srgbClr val="121A27"/>
          </a:solidFill>
          <a:ln w="9525">
            <a:solidFill>
              <a:srgbClr val="7FA8E3"/>
            </a:solidFill>
          </a:ln>
        </p:spPr>
      </p:sp>
      <p:sp>
        <p:nvSpPr>
          <p:cNvPr id="11" name="c3-text-54">
            <a:extLst>
              <a:ext uri="{FF2B5EF4-FFF2-40B4-BE49-F238E27FC236}">
                <a16:creationId xmlns:a16="http://schemas.microsoft.com/office/drawing/2014/main" id="{5AA0D9AF-420C-42B9-9DEF-A9EBF4BA0A14}"/>
              </a:ext>
            </a:extLst>
          </p:cNvPr>
          <p:cNvSpPr>
            <a:spLocks noGrp="1"/>
          </p:cNvSpPr>
          <p:nvPr/>
        </p:nvSpPr>
        <p:spPr>
          <a:xfrm>
            <a:off x="3619500" y="3781425"/>
            <a:ext cx="190500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9525" tIns="9525" rIns="9525" bIns="9525" anchor="ctr">
            <a:noAutofit/>
          </a:bodyPr>
          <a:lstStyle/>
          <a:p>
            <a:pPr algn="ctr">
              <a:defRPr sz="1725" b="0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ChatOllama</a:t>
            </a:r>
          </a:p>
        </p:txBody>
      </p:sp>
      <p:sp>
        <p:nvSpPr>
          <p:cNvPr id="12" name="c3-shape-55">
            <a:extLst>
              <a:ext uri="{FF2B5EF4-FFF2-40B4-BE49-F238E27FC236}">
                <a16:creationId xmlns:a16="http://schemas.microsoft.com/office/drawing/2014/main" id="{E5B56EDA-23E5-4EA6-BD33-AA43BBADB7E5}"/>
              </a:ext>
            </a:extLst>
          </p:cNvPr>
          <p:cNvSpPr>
            <a:spLocks noGrp="1"/>
          </p:cNvSpPr>
          <p:nvPr/>
        </p:nvSpPr>
        <p:spPr>
          <a:xfrm>
            <a:off x="5848350" y="3857625"/>
            <a:ext cx="304800" cy="152400"/>
          </a:xfrm>
          <a:prstGeom prst="rightArrow">
            <a:avLst/>
          </a:prstGeom>
          <a:solidFill>
            <a:srgbClr val="7FA8E3"/>
          </a:solidFill>
          <a:ln w="9525">
            <a:solidFill>
              <a:srgbClr val="7FA8E3"/>
            </a:solidFill>
          </a:ln>
        </p:spPr>
      </p:sp>
      <p:sp>
        <p:nvSpPr>
          <p:cNvPr id="13" name="c3-shape-56">
            <a:extLst>
              <a:ext uri="{FF2B5EF4-FFF2-40B4-BE49-F238E27FC236}">
                <a16:creationId xmlns:a16="http://schemas.microsoft.com/office/drawing/2014/main" id="{A8C95A83-97EA-4BFD-AF02-3F15AC943902}"/>
              </a:ext>
            </a:extLst>
          </p:cNvPr>
          <p:cNvSpPr>
            <a:spLocks noGrp="1"/>
          </p:cNvSpPr>
          <p:nvPr/>
        </p:nvSpPr>
        <p:spPr>
          <a:xfrm>
            <a:off x="6400800" y="3705225"/>
            <a:ext cx="2133600" cy="457200"/>
          </a:xfrm>
          <a:prstGeom prst="roundRect">
            <a:avLst>
              <a:gd name="adj" fmla="val 16667"/>
            </a:avLst>
          </a:prstGeom>
          <a:solidFill>
            <a:srgbClr val="121A27"/>
          </a:solidFill>
          <a:ln w="9525">
            <a:solidFill>
              <a:srgbClr val="D9A06B"/>
            </a:solidFill>
          </a:ln>
        </p:spPr>
      </p:sp>
      <p:sp>
        <p:nvSpPr>
          <p:cNvPr id="14" name="c3-text-57">
            <a:extLst>
              <a:ext uri="{FF2B5EF4-FFF2-40B4-BE49-F238E27FC236}">
                <a16:creationId xmlns:a16="http://schemas.microsoft.com/office/drawing/2014/main" id="{063ABD24-CD0C-489E-8F94-BE72506E93BF}"/>
              </a:ext>
            </a:extLst>
          </p:cNvPr>
          <p:cNvSpPr>
            <a:spLocks noGrp="1"/>
          </p:cNvSpPr>
          <p:nvPr/>
        </p:nvSpPr>
        <p:spPr>
          <a:xfrm>
            <a:off x="6515100" y="3781425"/>
            <a:ext cx="190500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9525" tIns="9525" rIns="9525" bIns="9525" anchor="ctr">
            <a:noAutofit/>
          </a:bodyPr>
          <a:lstStyle/>
          <a:p>
            <a:pPr algn="ctr">
              <a:defRPr sz="1725" b="0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AIMessage</a:t>
            </a:r>
          </a:p>
        </p:txBody>
      </p:sp>
      <p:sp>
        <p:nvSpPr>
          <p:cNvPr id="15" name="c3-text-58">
            <a:hlinkClick r:id="rId2"/>
            <a:extLst>
              <a:ext uri="{FF2B5EF4-FFF2-40B4-BE49-F238E27FC236}">
                <a16:creationId xmlns:a16="http://schemas.microsoft.com/office/drawing/2014/main" id="{5AA72A38-3E74-41F6-8FE6-0979DBAE5262}"/>
              </a:ext>
            </a:extLst>
          </p:cNvPr>
          <p:cNvSpPr>
            <a:spLocks noGrp="1"/>
          </p:cNvSpPr>
          <p:nvPr/>
        </p:nvSpPr>
        <p:spPr>
          <a:xfrm>
            <a:off x="609600" y="4410075"/>
            <a:ext cx="7924800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9525" tIns="9525" rIns="9525" bIns="9525" anchor="ctr">
            <a:noAutofit/>
          </a:bodyPr>
          <a:lstStyle/>
          <a:p>
            <a:pPr>
              <a:defRPr sz="1500" b="0">
                <a:solidFill>
                  <a:srgbClr val="7FA8E3"/>
                </a:solidFill>
                <a:latin typeface="Calibri"/>
                <a:ea typeface="Calibri"/>
                <a:cs typeface="Calibri"/>
              </a:defRPr>
            </a:pPr>
            <a:r>
              <a:rPr sz="1500" b="0" u="sng">
                <a:solidFill>
                  <a:srgbClr val="7FA8E3"/>
                </a:solidFill>
                <a:latin typeface="Calibri"/>
                <a:ea typeface="Calibri"/>
                <a:cs typeface="Calibri"/>
              </a:rPr>
              <a:t>Open 01_langchain.ipynb: 1. First call</a:t>
            </a:r>
          </a:p>
        </p:txBody>
      </p:sp>
      <p:sp>
        <p:nvSpPr>
          <p:cNvPr id="16" name="c3-text-303">
            <a:extLst>
              <a:ext uri="{FF2B5EF4-FFF2-40B4-BE49-F238E27FC236}">
                <a16:creationId xmlns:a16="http://schemas.microsoft.com/office/drawing/2014/main" id="{1348A56D-079F-4AFD-93BA-71CBC73D43BC}"/>
              </a:ext>
            </a:extLst>
          </p:cNvPr>
          <p:cNvSpPr>
            <a:spLocks noGrp="1"/>
          </p:cNvSpPr>
          <p:nvPr/>
        </p:nvSpPr>
        <p:spPr>
          <a:xfrm>
            <a:off x="8181975" y="4781550"/>
            <a:ext cx="352425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9525" tIns="9525" rIns="9525" bIns="9525" anchor="ctr">
            <a:noAutofit/>
          </a:bodyPr>
          <a:lstStyle/>
          <a:p>
            <a:pPr algn="r">
              <a:defRPr sz="750" b="0">
                <a:solidFill>
                  <a:srgbClr val="B4BDCB"/>
                </a:solidFill>
                <a:latin typeface="Calibri"/>
                <a:ea typeface="Calibri"/>
                <a:cs typeface="Calibri"/>
              </a:defRPr>
            </a:pPr>
            <a:r>
              <a:rPr sz="750" b="0">
                <a:solidFill>
                  <a:srgbClr val="B4BDCB"/>
                </a:solidFill>
                <a:latin typeface="Calibri"/>
                <a:ea typeface="Calibri"/>
                <a:cs typeface="Calibri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17219248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D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c3-text-59">
            <a:extLst>
              <a:ext uri="{FF2B5EF4-FFF2-40B4-BE49-F238E27FC236}">
                <a16:creationId xmlns:a16="http://schemas.microsoft.com/office/drawing/2014/main" id="{88F9AF02-5DF5-47FA-96FE-03FA07E04071}"/>
              </a:ext>
            </a:extLst>
          </p:cNvPr>
          <p:cNvSpPr>
            <a:spLocks noGrp="1"/>
          </p:cNvSpPr>
          <p:nvPr/>
        </p:nvSpPr>
        <p:spPr>
          <a:xfrm>
            <a:off x="609600" y="238125"/>
            <a:ext cx="792480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9525" tIns="9525" rIns="9525" bIns="9525" anchor="ctr">
            <a:noAutofit/>
          </a:bodyPr>
          <a:lstStyle/>
          <a:p>
            <a:pPr>
              <a:defRPr sz="900" b="0">
                <a:solidFill>
                  <a:srgbClr val="B4BDCB"/>
                </a:solidFill>
                <a:latin typeface="Calibri"/>
                <a:ea typeface="Calibri"/>
                <a:cs typeface="Calibri"/>
              </a:defRPr>
            </a:pPr>
            <a:r>
              <a:rPr sz="900" b="0">
                <a:solidFill>
                  <a:srgbClr val="B4BDCB"/>
                </a:solidFill>
                <a:latin typeface="Calibri"/>
                <a:ea typeface="Calibri"/>
                <a:cs typeface="Calibri"/>
              </a:rPr>
              <a:t>AI-Powered Virtual Humans: LLM-Powered Cognitive Architectures</a:t>
            </a:r>
          </a:p>
        </p:txBody>
      </p:sp>
      <p:sp>
        <p:nvSpPr>
          <p:cNvPr id="2" name="c3-text-60">
            <a:extLst>
              <a:ext uri="{FF2B5EF4-FFF2-40B4-BE49-F238E27FC236}">
                <a16:creationId xmlns:a16="http://schemas.microsoft.com/office/drawing/2014/main" id="{F764257C-AD94-47E6-9C97-6D9CF92A5952}"/>
              </a:ext>
            </a:extLst>
          </p:cNvPr>
          <p:cNvSpPr>
            <a:spLocks noGrp="1"/>
          </p:cNvSpPr>
          <p:nvPr/>
        </p:nvSpPr>
        <p:spPr>
          <a:xfrm>
            <a:off x="609600" y="657225"/>
            <a:ext cx="792480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9525" tIns="9525" rIns="9525" bIns="9525" anchor="ctr">
            <a:noAutofit/>
          </a:bodyPr>
          <a:lstStyle/>
          <a:p>
            <a:pPr>
              <a:defRPr sz="2700" b="1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2700" b="1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A First Chain [3]</a:t>
            </a:r>
          </a:p>
        </p:txBody>
      </p:sp>
      <p:sp>
        <p:nvSpPr>
          <p:cNvPr id="3" name="c3-text-61">
            <a:extLst>
              <a:ext uri="{FF2B5EF4-FFF2-40B4-BE49-F238E27FC236}">
                <a16:creationId xmlns:a16="http://schemas.microsoft.com/office/drawing/2014/main" id="{B6FC0AA1-6234-4B3F-B302-2B952C5EC7EB}"/>
              </a:ext>
            </a:extLst>
          </p:cNvPr>
          <p:cNvSpPr>
            <a:spLocks noGrp="1"/>
          </p:cNvSpPr>
          <p:nvPr/>
        </p:nvSpPr>
        <p:spPr>
          <a:xfrm>
            <a:off x="609600" y="1400175"/>
            <a:ext cx="7924800" cy="542925"/>
          </a:xfrm>
          <a:prstGeom prst="rect">
            <a:avLst/>
          </a:prstGeom>
          <a:noFill/>
          <a:ln w="0">
            <a:noFill/>
          </a:ln>
        </p:spPr>
        <p:txBody>
          <a:bodyPr wrap="square" lIns="9525" tIns="9525" rIns="9525" bIns="9525" anchor="ctr">
            <a:noAutofit/>
          </a:bodyPr>
          <a:lstStyle/>
          <a:p>
            <a:pPr>
              <a:defRPr sz="1875" b="0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1875" b="0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The pipe passes one output to the next component.</a:t>
            </a:r>
          </a:p>
        </p:txBody>
      </p:sp>
      <p:sp>
        <p:nvSpPr>
          <p:cNvPr id="4" name="c3-text-62">
            <a:extLst>
              <a:ext uri="{FF2B5EF4-FFF2-40B4-BE49-F238E27FC236}">
                <a16:creationId xmlns:a16="http://schemas.microsoft.com/office/drawing/2014/main" id="{E2CABEB0-00EE-446C-8863-D32DB3E3DEFE}"/>
              </a:ext>
            </a:extLst>
          </p:cNvPr>
          <p:cNvSpPr>
            <a:spLocks noGrp="1"/>
          </p:cNvSpPr>
          <p:nvPr/>
        </p:nvSpPr>
        <p:spPr>
          <a:xfrm>
            <a:off x="6381750" y="4781550"/>
            <a:ext cx="17145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9525" tIns="9525" rIns="9525" bIns="9525" anchor="ctr">
            <a:noAutofit/>
          </a:bodyPr>
          <a:lstStyle/>
          <a:p>
            <a:pPr algn="r">
              <a:defRPr sz="750" b="0">
                <a:solidFill>
                  <a:srgbClr val="B4BDCB"/>
                </a:solidFill>
                <a:latin typeface="Calibri"/>
                <a:ea typeface="Calibri"/>
                <a:cs typeface="Calibri"/>
              </a:defRPr>
            </a:pPr>
            <a:r>
              <a:rPr sz="750" b="0">
                <a:solidFill>
                  <a:srgbClr val="B4BDCB"/>
                </a:solidFill>
                <a:latin typeface="Calibri"/>
                <a:ea typeface="Calibri"/>
                <a:cs typeface="Calibri"/>
              </a:rPr>
              <a:t>Module 1 · Chapter 03</a:t>
            </a:r>
          </a:p>
        </p:txBody>
      </p:sp>
      <p:sp>
        <p:nvSpPr>
          <p:cNvPr id="5" name="c3-shape-63">
            <a:extLst>
              <a:ext uri="{FF2B5EF4-FFF2-40B4-BE49-F238E27FC236}">
                <a16:creationId xmlns:a16="http://schemas.microsoft.com/office/drawing/2014/main" id="{9D913BBA-6831-4272-9FC4-284A70B72D6E}"/>
              </a:ext>
            </a:extLst>
          </p:cNvPr>
          <p:cNvSpPr>
            <a:spLocks noGrp="1"/>
          </p:cNvSpPr>
          <p:nvPr/>
        </p:nvSpPr>
        <p:spPr>
          <a:xfrm>
            <a:off x="609600" y="2133600"/>
            <a:ext cx="7924800" cy="981075"/>
          </a:xfrm>
          <a:prstGeom prst="roundRect">
            <a:avLst>
              <a:gd name="adj" fmla="val 7767"/>
            </a:avLst>
          </a:prstGeom>
          <a:solidFill>
            <a:srgbClr val="121A27"/>
          </a:solidFill>
          <a:ln w="9525">
            <a:solidFill>
              <a:srgbClr val="3A4458"/>
            </a:solidFill>
          </a:ln>
        </p:spPr>
      </p:sp>
      <p:sp>
        <p:nvSpPr>
          <p:cNvPr id="6" name="c3-text-64">
            <a:extLst>
              <a:ext uri="{FF2B5EF4-FFF2-40B4-BE49-F238E27FC236}">
                <a16:creationId xmlns:a16="http://schemas.microsoft.com/office/drawing/2014/main" id="{ACB23982-B7EB-4CB1-AD8D-2716982B1BAC}"/>
              </a:ext>
            </a:extLst>
          </p:cNvPr>
          <p:cNvSpPr>
            <a:spLocks noGrp="1"/>
          </p:cNvSpPr>
          <p:nvPr/>
        </p:nvSpPr>
        <p:spPr>
          <a:xfrm>
            <a:off x="781050" y="2266950"/>
            <a:ext cx="7581900" cy="714375"/>
          </a:xfrm>
          <a:prstGeom prst="rect">
            <a:avLst/>
          </a:prstGeom>
          <a:noFill/>
          <a:ln w="0">
            <a:noFill/>
          </a:ln>
        </p:spPr>
        <p:txBody>
          <a:bodyPr wrap="square" lIns="9525" tIns="9525" rIns="9525" bIns="9525" anchor="t">
            <a:noAutofit/>
          </a:bodyPr>
          <a:lstStyle/>
          <a:p>
            <a:pPr>
              <a:defRPr sz="1875" b="0">
                <a:solidFill>
                  <a:srgbClr val="ECE6DE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ECE6DE"/>
                </a:solidFill>
                <a:latin typeface="Consolas"/>
                <a:ea typeface="Consolas"/>
                <a:cs typeface="Consolas"/>
              </a:rPr>
              <a:t>text_chain = llm | StrOutputParser()</a:t>
            </a:r>
          </a:p>
        </p:txBody>
      </p:sp>
      <p:sp>
        <p:nvSpPr>
          <p:cNvPr id="7" name="c3-shape-65">
            <a:extLst>
              <a:ext uri="{FF2B5EF4-FFF2-40B4-BE49-F238E27FC236}">
                <a16:creationId xmlns:a16="http://schemas.microsoft.com/office/drawing/2014/main" id="{582F4335-F85F-4E65-8666-00E6EE76E0A3}"/>
              </a:ext>
            </a:extLst>
          </p:cNvPr>
          <p:cNvSpPr>
            <a:spLocks noGrp="1"/>
          </p:cNvSpPr>
          <p:nvPr/>
        </p:nvSpPr>
        <p:spPr>
          <a:xfrm>
            <a:off x="609600" y="3448050"/>
            <a:ext cx="2133600" cy="647700"/>
          </a:xfrm>
          <a:prstGeom prst="roundRect">
            <a:avLst>
              <a:gd name="adj" fmla="val 11765"/>
            </a:avLst>
          </a:prstGeom>
          <a:solidFill>
            <a:srgbClr val="121A27"/>
          </a:solidFill>
          <a:ln w="9525">
            <a:solidFill>
              <a:srgbClr val="7FA8E3"/>
            </a:solidFill>
          </a:ln>
        </p:spPr>
      </p:sp>
      <p:sp>
        <p:nvSpPr>
          <p:cNvPr id="8" name="c3-text-66">
            <a:extLst>
              <a:ext uri="{FF2B5EF4-FFF2-40B4-BE49-F238E27FC236}">
                <a16:creationId xmlns:a16="http://schemas.microsoft.com/office/drawing/2014/main" id="{AB6EE820-5C84-47C2-AF0D-EAE90DB9EFAE}"/>
              </a:ext>
            </a:extLst>
          </p:cNvPr>
          <p:cNvSpPr>
            <a:spLocks noGrp="1"/>
          </p:cNvSpPr>
          <p:nvPr/>
        </p:nvSpPr>
        <p:spPr>
          <a:xfrm>
            <a:off x="723900" y="3524250"/>
            <a:ext cx="190500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9525" tIns="9525" rIns="9525" bIns="9525" anchor="ctr">
            <a:noAutofit/>
          </a:bodyPr>
          <a:lstStyle/>
          <a:p>
            <a:pPr algn="ctr">
              <a:defRPr sz="1725" b="0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Prompt</a:t>
            </a:r>
          </a:p>
        </p:txBody>
      </p:sp>
      <p:sp>
        <p:nvSpPr>
          <p:cNvPr id="9" name="c3-shape-67">
            <a:extLst>
              <a:ext uri="{FF2B5EF4-FFF2-40B4-BE49-F238E27FC236}">
                <a16:creationId xmlns:a16="http://schemas.microsoft.com/office/drawing/2014/main" id="{35469960-E27C-4930-B512-50AF5CBC06FB}"/>
              </a:ext>
            </a:extLst>
          </p:cNvPr>
          <p:cNvSpPr>
            <a:spLocks noGrp="1"/>
          </p:cNvSpPr>
          <p:nvPr/>
        </p:nvSpPr>
        <p:spPr>
          <a:xfrm>
            <a:off x="2952750" y="3695700"/>
            <a:ext cx="304800" cy="152400"/>
          </a:xfrm>
          <a:prstGeom prst="rightArrow">
            <a:avLst/>
          </a:prstGeom>
          <a:solidFill>
            <a:srgbClr val="7FA8E3"/>
          </a:solidFill>
          <a:ln w="9525">
            <a:solidFill>
              <a:srgbClr val="7FA8E3"/>
            </a:solidFill>
          </a:ln>
        </p:spPr>
      </p:sp>
      <p:sp>
        <p:nvSpPr>
          <p:cNvPr id="10" name="c3-shape-68">
            <a:extLst>
              <a:ext uri="{FF2B5EF4-FFF2-40B4-BE49-F238E27FC236}">
                <a16:creationId xmlns:a16="http://schemas.microsoft.com/office/drawing/2014/main" id="{CDC611E6-FB68-4E04-A3E4-0181974134FC}"/>
              </a:ext>
            </a:extLst>
          </p:cNvPr>
          <p:cNvSpPr>
            <a:spLocks noGrp="1"/>
          </p:cNvSpPr>
          <p:nvPr/>
        </p:nvSpPr>
        <p:spPr>
          <a:xfrm>
            <a:off x="3505200" y="3448050"/>
            <a:ext cx="2133600" cy="647700"/>
          </a:xfrm>
          <a:prstGeom prst="roundRect">
            <a:avLst>
              <a:gd name="adj" fmla="val 11765"/>
            </a:avLst>
          </a:prstGeom>
          <a:solidFill>
            <a:srgbClr val="121A27"/>
          </a:solidFill>
          <a:ln w="9525">
            <a:solidFill>
              <a:srgbClr val="7FA8E3"/>
            </a:solidFill>
          </a:ln>
        </p:spPr>
      </p:sp>
      <p:sp>
        <p:nvSpPr>
          <p:cNvPr id="11" name="c3-text-69">
            <a:extLst>
              <a:ext uri="{FF2B5EF4-FFF2-40B4-BE49-F238E27FC236}">
                <a16:creationId xmlns:a16="http://schemas.microsoft.com/office/drawing/2014/main" id="{755D398D-6C47-4CE1-B51D-DFE54DC52C48}"/>
              </a:ext>
            </a:extLst>
          </p:cNvPr>
          <p:cNvSpPr>
            <a:spLocks noGrp="1"/>
          </p:cNvSpPr>
          <p:nvPr/>
        </p:nvSpPr>
        <p:spPr>
          <a:xfrm>
            <a:off x="3619500" y="3524250"/>
            <a:ext cx="190500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9525" tIns="9525" rIns="9525" bIns="9525" anchor="ctr">
            <a:noAutofit/>
          </a:bodyPr>
          <a:lstStyle/>
          <a:p>
            <a:pPr algn="ctr">
              <a:defRPr sz="1725" b="0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LLM message</a:t>
            </a:r>
          </a:p>
        </p:txBody>
      </p:sp>
      <p:sp>
        <p:nvSpPr>
          <p:cNvPr id="12" name="c3-shape-70">
            <a:extLst>
              <a:ext uri="{FF2B5EF4-FFF2-40B4-BE49-F238E27FC236}">
                <a16:creationId xmlns:a16="http://schemas.microsoft.com/office/drawing/2014/main" id="{4D67C329-886B-4428-BF86-BA489213CDA4}"/>
              </a:ext>
            </a:extLst>
          </p:cNvPr>
          <p:cNvSpPr>
            <a:spLocks noGrp="1"/>
          </p:cNvSpPr>
          <p:nvPr/>
        </p:nvSpPr>
        <p:spPr>
          <a:xfrm>
            <a:off x="5848350" y="3695700"/>
            <a:ext cx="304800" cy="152400"/>
          </a:xfrm>
          <a:prstGeom prst="rightArrow">
            <a:avLst/>
          </a:prstGeom>
          <a:solidFill>
            <a:srgbClr val="7FA8E3"/>
          </a:solidFill>
          <a:ln w="9525">
            <a:solidFill>
              <a:srgbClr val="7FA8E3"/>
            </a:solidFill>
          </a:ln>
        </p:spPr>
      </p:sp>
      <p:sp>
        <p:nvSpPr>
          <p:cNvPr id="13" name="c3-shape-71">
            <a:extLst>
              <a:ext uri="{FF2B5EF4-FFF2-40B4-BE49-F238E27FC236}">
                <a16:creationId xmlns:a16="http://schemas.microsoft.com/office/drawing/2014/main" id="{C05137FE-F40D-4AB6-B874-C4B46CDFB8E4}"/>
              </a:ext>
            </a:extLst>
          </p:cNvPr>
          <p:cNvSpPr>
            <a:spLocks noGrp="1"/>
          </p:cNvSpPr>
          <p:nvPr/>
        </p:nvSpPr>
        <p:spPr>
          <a:xfrm>
            <a:off x="6400800" y="3448050"/>
            <a:ext cx="2133600" cy="647700"/>
          </a:xfrm>
          <a:prstGeom prst="roundRect">
            <a:avLst>
              <a:gd name="adj" fmla="val 11765"/>
            </a:avLst>
          </a:prstGeom>
          <a:solidFill>
            <a:srgbClr val="121A27"/>
          </a:solidFill>
          <a:ln w="9525">
            <a:solidFill>
              <a:srgbClr val="D9A06B"/>
            </a:solidFill>
          </a:ln>
        </p:spPr>
      </p:sp>
      <p:sp>
        <p:nvSpPr>
          <p:cNvPr id="14" name="c3-text-72">
            <a:extLst>
              <a:ext uri="{FF2B5EF4-FFF2-40B4-BE49-F238E27FC236}">
                <a16:creationId xmlns:a16="http://schemas.microsoft.com/office/drawing/2014/main" id="{F66CCB41-46DF-42CB-82B4-D54F8611C0B6}"/>
              </a:ext>
            </a:extLst>
          </p:cNvPr>
          <p:cNvSpPr>
            <a:spLocks noGrp="1"/>
          </p:cNvSpPr>
          <p:nvPr/>
        </p:nvSpPr>
        <p:spPr>
          <a:xfrm>
            <a:off x="6515100" y="3524250"/>
            <a:ext cx="190500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9525" tIns="9525" rIns="9525" bIns="9525" anchor="ctr">
            <a:noAutofit/>
          </a:bodyPr>
          <a:lstStyle/>
          <a:p>
            <a:pPr algn="ctr">
              <a:defRPr sz="1725" b="0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Text</a:t>
            </a:r>
          </a:p>
        </p:txBody>
      </p:sp>
      <p:sp>
        <p:nvSpPr>
          <p:cNvPr id="15" name="c3-text-73">
            <a:extLst>
              <a:ext uri="{FF2B5EF4-FFF2-40B4-BE49-F238E27FC236}">
                <a16:creationId xmlns:a16="http://schemas.microsoft.com/office/drawing/2014/main" id="{36C3C050-C9C5-4883-8C91-262E330B605E}"/>
              </a:ext>
            </a:extLst>
          </p:cNvPr>
          <p:cNvSpPr>
            <a:spLocks noGrp="1"/>
          </p:cNvSpPr>
          <p:nvPr/>
        </p:nvSpPr>
        <p:spPr>
          <a:xfrm>
            <a:off x="609600" y="4562475"/>
            <a:ext cx="792480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9525" tIns="9525" rIns="9525" bIns="9525" anchor="ctr">
            <a:noAutofit/>
          </a:bodyPr>
          <a:lstStyle/>
          <a:p>
            <a:pPr>
              <a:defRPr sz="1125" b="0">
                <a:solidFill>
                  <a:srgbClr val="7FA8E3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7FA8E3"/>
                </a:solidFill>
                <a:latin typeface="Calibri"/>
                <a:ea typeface="Calibri"/>
                <a:cs typeface="Calibri"/>
              </a:rPr>
              <a:t>StrOutputParser extracts the message text.</a:t>
            </a:r>
          </a:p>
        </p:txBody>
      </p:sp>
      <p:sp>
        <p:nvSpPr>
          <p:cNvPr id="16" name="c3-text-304">
            <a:extLst>
              <a:ext uri="{FF2B5EF4-FFF2-40B4-BE49-F238E27FC236}">
                <a16:creationId xmlns:a16="http://schemas.microsoft.com/office/drawing/2014/main" id="{517EB3EE-FBCA-4591-BA06-3158EE1ADB56}"/>
              </a:ext>
            </a:extLst>
          </p:cNvPr>
          <p:cNvSpPr>
            <a:spLocks noGrp="1"/>
          </p:cNvSpPr>
          <p:nvPr/>
        </p:nvSpPr>
        <p:spPr>
          <a:xfrm>
            <a:off x="8181975" y="4781550"/>
            <a:ext cx="352425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9525" tIns="9525" rIns="9525" bIns="9525" anchor="ctr">
            <a:noAutofit/>
          </a:bodyPr>
          <a:lstStyle/>
          <a:p>
            <a:pPr algn="r">
              <a:defRPr sz="750" b="0">
                <a:solidFill>
                  <a:srgbClr val="B4BDCB"/>
                </a:solidFill>
                <a:latin typeface="Calibri"/>
                <a:ea typeface="Calibri"/>
                <a:cs typeface="Calibri"/>
              </a:defRPr>
            </a:pPr>
            <a:r>
              <a:rPr sz="750" b="0">
                <a:solidFill>
                  <a:srgbClr val="B4BDCB"/>
                </a:solidFill>
                <a:latin typeface="Calibri"/>
                <a:ea typeface="Calibri"/>
                <a:cs typeface="Calibri"/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10683495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D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c3-text-74">
            <a:extLst>
              <a:ext uri="{FF2B5EF4-FFF2-40B4-BE49-F238E27FC236}">
                <a16:creationId xmlns:a16="http://schemas.microsoft.com/office/drawing/2014/main" id="{AD024FBD-7D25-4E01-AAC7-020925955DEB}"/>
              </a:ext>
            </a:extLst>
          </p:cNvPr>
          <p:cNvSpPr>
            <a:spLocks noGrp="1"/>
          </p:cNvSpPr>
          <p:nvPr/>
        </p:nvSpPr>
        <p:spPr>
          <a:xfrm>
            <a:off x="609600" y="238125"/>
            <a:ext cx="792480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9525" tIns="9525" rIns="9525" bIns="9525" anchor="ctr">
            <a:noAutofit/>
          </a:bodyPr>
          <a:lstStyle/>
          <a:p>
            <a:pPr>
              <a:defRPr sz="900" b="0">
                <a:solidFill>
                  <a:srgbClr val="B4BDCB"/>
                </a:solidFill>
                <a:latin typeface="Calibri"/>
                <a:ea typeface="Calibri"/>
                <a:cs typeface="Calibri"/>
              </a:defRPr>
            </a:pPr>
            <a:r>
              <a:rPr sz="900" b="0">
                <a:solidFill>
                  <a:srgbClr val="B4BDCB"/>
                </a:solidFill>
                <a:latin typeface="Calibri"/>
                <a:ea typeface="Calibri"/>
                <a:cs typeface="Calibri"/>
              </a:rPr>
              <a:t>AI-Powered Virtual Humans: LLM-Powered Cognitive Architectures</a:t>
            </a:r>
          </a:p>
        </p:txBody>
      </p:sp>
      <p:sp>
        <p:nvSpPr>
          <p:cNvPr id="2" name="c3-text-75">
            <a:extLst>
              <a:ext uri="{FF2B5EF4-FFF2-40B4-BE49-F238E27FC236}">
                <a16:creationId xmlns:a16="http://schemas.microsoft.com/office/drawing/2014/main" id="{AC9C611C-A670-49F9-8A6D-69A235B8A397}"/>
              </a:ext>
            </a:extLst>
          </p:cNvPr>
          <p:cNvSpPr>
            <a:spLocks noGrp="1"/>
          </p:cNvSpPr>
          <p:nvPr/>
        </p:nvSpPr>
        <p:spPr>
          <a:xfrm>
            <a:off x="609600" y="657225"/>
            <a:ext cx="792480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9525" tIns="9525" rIns="9525" bIns="9525" anchor="ctr">
            <a:noAutofit/>
          </a:bodyPr>
          <a:lstStyle/>
          <a:p>
            <a:pPr>
              <a:defRPr sz="2700" b="1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2700" b="1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Generate an Answer, Then Check It</a:t>
            </a:r>
          </a:p>
        </p:txBody>
      </p:sp>
      <p:sp>
        <p:nvSpPr>
          <p:cNvPr id="3" name="c3-text-76">
            <a:extLst>
              <a:ext uri="{FF2B5EF4-FFF2-40B4-BE49-F238E27FC236}">
                <a16:creationId xmlns:a16="http://schemas.microsoft.com/office/drawing/2014/main" id="{85AB723C-C86B-4777-8FE4-5584B27E95A3}"/>
              </a:ext>
            </a:extLst>
          </p:cNvPr>
          <p:cNvSpPr>
            <a:spLocks noGrp="1"/>
          </p:cNvSpPr>
          <p:nvPr/>
        </p:nvSpPr>
        <p:spPr>
          <a:xfrm>
            <a:off x="6381750" y="4781550"/>
            <a:ext cx="17145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9525" tIns="9525" rIns="9525" bIns="9525" anchor="ctr">
            <a:noAutofit/>
          </a:bodyPr>
          <a:lstStyle/>
          <a:p>
            <a:pPr algn="r">
              <a:defRPr sz="750" b="0">
                <a:solidFill>
                  <a:srgbClr val="B4BDCB"/>
                </a:solidFill>
                <a:latin typeface="Calibri"/>
                <a:ea typeface="Calibri"/>
                <a:cs typeface="Calibri"/>
              </a:defRPr>
            </a:pPr>
            <a:r>
              <a:rPr sz="750" b="0">
                <a:solidFill>
                  <a:srgbClr val="B4BDCB"/>
                </a:solidFill>
                <a:latin typeface="Calibri"/>
                <a:ea typeface="Calibri"/>
                <a:cs typeface="Calibri"/>
              </a:rPr>
              <a:t>Module 1 · Chapter 03</a:t>
            </a:r>
          </a:p>
        </p:txBody>
      </p:sp>
      <p:sp>
        <p:nvSpPr>
          <p:cNvPr id="4" name="c3-shape-77">
            <a:extLst>
              <a:ext uri="{FF2B5EF4-FFF2-40B4-BE49-F238E27FC236}">
                <a16:creationId xmlns:a16="http://schemas.microsoft.com/office/drawing/2014/main" id="{2172417C-2A2D-4F76-A4D4-2AA62D512BAD}"/>
              </a:ext>
            </a:extLst>
          </p:cNvPr>
          <p:cNvSpPr>
            <a:spLocks noGrp="1"/>
          </p:cNvSpPr>
          <p:nvPr/>
        </p:nvSpPr>
        <p:spPr>
          <a:xfrm>
            <a:off x="609600" y="2381250"/>
            <a:ext cx="2133600" cy="933450"/>
          </a:xfrm>
          <a:prstGeom prst="roundRect">
            <a:avLst>
              <a:gd name="adj" fmla="val 8163"/>
            </a:avLst>
          </a:prstGeom>
          <a:solidFill>
            <a:srgbClr val="121A27"/>
          </a:solidFill>
          <a:ln w="9525">
            <a:solidFill>
              <a:srgbClr val="7FA8E3"/>
            </a:solidFill>
          </a:ln>
        </p:spPr>
      </p:sp>
      <p:sp>
        <p:nvSpPr>
          <p:cNvPr id="5" name="c3-text-78">
            <a:extLst>
              <a:ext uri="{FF2B5EF4-FFF2-40B4-BE49-F238E27FC236}">
                <a16:creationId xmlns:a16="http://schemas.microsoft.com/office/drawing/2014/main" id="{6AA0187B-461A-4453-9CBF-38F4C317427D}"/>
              </a:ext>
            </a:extLst>
          </p:cNvPr>
          <p:cNvSpPr>
            <a:spLocks noGrp="1"/>
          </p:cNvSpPr>
          <p:nvPr/>
        </p:nvSpPr>
        <p:spPr>
          <a:xfrm>
            <a:off x="723900" y="2457450"/>
            <a:ext cx="1905000" cy="781050"/>
          </a:xfrm>
          <a:prstGeom prst="rect">
            <a:avLst/>
          </a:prstGeom>
          <a:noFill/>
          <a:ln w="0">
            <a:noFill/>
          </a:ln>
        </p:spPr>
        <p:txBody>
          <a:bodyPr wrap="square" lIns="9525" tIns="9525" rIns="9525" bIns="9525" anchor="ctr">
            <a:noAutofit/>
          </a:bodyPr>
          <a:lstStyle/>
          <a:p>
            <a:pPr algn="ctr">
              <a:defRPr sz="1725" b="0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Answering LLM</a:t>
            </a:r>
          </a:p>
          <a:p>
            <a:pPr algn="ctr">
              <a:defRPr sz="1725" b="0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Call 1</a:t>
            </a:r>
          </a:p>
        </p:txBody>
      </p:sp>
      <p:sp>
        <p:nvSpPr>
          <p:cNvPr id="6" name="c3-shape-79">
            <a:extLst>
              <a:ext uri="{FF2B5EF4-FFF2-40B4-BE49-F238E27FC236}">
                <a16:creationId xmlns:a16="http://schemas.microsoft.com/office/drawing/2014/main" id="{9532DE98-FAD8-4CF0-976F-24269F7EA152}"/>
              </a:ext>
            </a:extLst>
          </p:cNvPr>
          <p:cNvSpPr>
            <a:spLocks noGrp="1"/>
          </p:cNvSpPr>
          <p:nvPr/>
        </p:nvSpPr>
        <p:spPr>
          <a:xfrm>
            <a:off x="2943225" y="2771775"/>
            <a:ext cx="304800" cy="152400"/>
          </a:xfrm>
          <a:prstGeom prst="rightArrow">
            <a:avLst/>
          </a:prstGeom>
          <a:solidFill>
            <a:srgbClr val="7FA8E3"/>
          </a:solidFill>
          <a:ln w="9525">
            <a:solidFill>
              <a:srgbClr val="7FA8E3"/>
            </a:solidFill>
          </a:ln>
        </p:spPr>
      </p:sp>
      <p:sp>
        <p:nvSpPr>
          <p:cNvPr id="7" name="c3-shape-80">
            <a:extLst>
              <a:ext uri="{FF2B5EF4-FFF2-40B4-BE49-F238E27FC236}">
                <a16:creationId xmlns:a16="http://schemas.microsoft.com/office/drawing/2014/main" id="{727B830B-C1BC-4CDB-A639-858C63B05006}"/>
              </a:ext>
            </a:extLst>
          </p:cNvPr>
          <p:cNvSpPr>
            <a:spLocks noGrp="1"/>
          </p:cNvSpPr>
          <p:nvPr/>
        </p:nvSpPr>
        <p:spPr>
          <a:xfrm>
            <a:off x="3505200" y="2381250"/>
            <a:ext cx="2133600" cy="933450"/>
          </a:xfrm>
          <a:prstGeom prst="roundRect">
            <a:avLst>
              <a:gd name="adj" fmla="val 8163"/>
            </a:avLst>
          </a:prstGeom>
          <a:solidFill>
            <a:srgbClr val="121A27"/>
          </a:solidFill>
          <a:ln w="9525">
            <a:solidFill>
              <a:srgbClr val="D9A06B"/>
            </a:solidFill>
          </a:ln>
        </p:spPr>
      </p:sp>
      <p:sp>
        <p:nvSpPr>
          <p:cNvPr id="8" name="c3-text-81">
            <a:extLst>
              <a:ext uri="{FF2B5EF4-FFF2-40B4-BE49-F238E27FC236}">
                <a16:creationId xmlns:a16="http://schemas.microsoft.com/office/drawing/2014/main" id="{F4FF8D63-8AEE-47C7-8938-C90F4BFE962F}"/>
              </a:ext>
            </a:extLst>
          </p:cNvPr>
          <p:cNvSpPr>
            <a:spLocks noGrp="1"/>
          </p:cNvSpPr>
          <p:nvPr/>
        </p:nvSpPr>
        <p:spPr>
          <a:xfrm>
            <a:off x="3619500" y="2457450"/>
            <a:ext cx="1905000" cy="781050"/>
          </a:xfrm>
          <a:prstGeom prst="rect">
            <a:avLst/>
          </a:prstGeom>
          <a:noFill/>
          <a:ln w="0">
            <a:noFill/>
          </a:ln>
        </p:spPr>
        <p:txBody>
          <a:bodyPr wrap="square" lIns="9525" tIns="9525" rIns="9525" bIns="9525" anchor="ctr">
            <a:noAutofit/>
          </a:bodyPr>
          <a:lstStyle/>
          <a:p>
            <a:pPr algn="ctr">
              <a:defRPr sz="1725" b="0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Generated</a:t>
            </a:r>
          </a:p>
          <a:p>
            <a:pPr algn="ctr">
              <a:defRPr sz="1725" b="0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answer</a:t>
            </a:r>
          </a:p>
        </p:txBody>
      </p:sp>
      <p:sp>
        <p:nvSpPr>
          <p:cNvPr id="9" name="c3-shape-82">
            <a:extLst>
              <a:ext uri="{FF2B5EF4-FFF2-40B4-BE49-F238E27FC236}">
                <a16:creationId xmlns:a16="http://schemas.microsoft.com/office/drawing/2014/main" id="{C9730A06-B52B-4638-8BC8-C2FC5BB029DA}"/>
              </a:ext>
            </a:extLst>
          </p:cNvPr>
          <p:cNvSpPr>
            <a:spLocks noGrp="1"/>
          </p:cNvSpPr>
          <p:nvPr/>
        </p:nvSpPr>
        <p:spPr>
          <a:xfrm>
            <a:off x="5838825" y="2771775"/>
            <a:ext cx="304800" cy="152400"/>
          </a:xfrm>
          <a:prstGeom prst="rightArrow">
            <a:avLst/>
          </a:prstGeom>
          <a:solidFill>
            <a:srgbClr val="7FA8E3"/>
          </a:solidFill>
          <a:ln w="9525">
            <a:solidFill>
              <a:srgbClr val="7FA8E3"/>
            </a:solidFill>
          </a:ln>
        </p:spPr>
      </p:sp>
      <p:sp>
        <p:nvSpPr>
          <p:cNvPr id="10" name="c3-shape-83">
            <a:extLst>
              <a:ext uri="{FF2B5EF4-FFF2-40B4-BE49-F238E27FC236}">
                <a16:creationId xmlns:a16="http://schemas.microsoft.com/office/drawing/2014/main" id="{85054453-B6C5-4E7E-A4AA-A9D4B08D1090}"/>
              </a:ext>
            </a:extLst>
          </p:cNvPr>
          <p:cNvSpPr>
            <a:spLocks noGrp="1"/>
          </p:cNvSpPr>
          <p:nvPr/>
        </p:nvSpPr>
        <p:spPr>
          <a:xfrm>
            <a:off x="6400800" y="2381250"/>
            <a:ext cx="2133600" cy="933450"/>
          </a:xfrm>
          <a:prstGeom prst="roundRect">
            <a:avLst>
              <a:gd name="adj" fmla="val 8163"/>
            </a:avLst>
          </a:prstGeom>
          <a:solidFill>
            <a:srgbClr val="121A27"/>
          </a:solidFill>
          <a:ln w="9525">
            <a:solidFill>
              <a:srgbClr val="7FA8E3"/>
            </a:solidFill>
          </a:ln>
        </p:spPr>
      </p:sp>
      <p:sp>
        <p:nvSpPr>
          <p:cNvPr id="11" name="c3-text-84">
            <a:extLst>
              <a:ext uri="{FF2B5EF4-FFF2-40B4-BE49-F238E27FC236}">
                <a16:creationId xmlns:a16="http://schemas.microsoft.com/office/drawing/2014/main" id="{096B5881-DBEA-49DF-9CC2-BF9F90CF7071}"/>
              </a:ext>
            </a:extLst>
          </p:cNvPr>
          <p:cNvSpPr>
            <a:spLocks noGrp="1"/>
          </p:cNvSpPr>
          <p:nvPr/>
        </p:nvSpPr>
        <p:spPr>
          <a:xfrm>
            <a:off x="6515100" y="2457450"/>
            <a:ext cx="1905000" cy="781050"/>
          </a:xfrm>
          <a:prstGeom prst="rect">
            <a:avLst/>
          </a:prstGeom>
          <a:noFill/>
          <a:ln w="0">
            <a:noFill/>
          </a:ln>
        </p:spPr>
        <p:txBody>
          <a:bodyPr wrap="square" lIns="9525" tIns="9525" rIns="9525" bIns="9525" anchor="ctr">
            <a:noAutofit/>
          </a:bodyPr>
          <a:lstStyle/>
          <a:p>
            <a:pPr algn="ctr">
              <a:defRPr sz="1725" b="0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Reviewing LLM</a:t>
            </a:r>
          </a:p>
          <a:p>
            <a:pPr algn="ctr">
              <a:defRPr sz="1725" b="0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Call 2</a:t>
            </a:r>
          </a:p>
        </p:txBody>
      </p:sp>
      <p:sp>
        <p:nvSpPr>
          <p:cNvPr id="12" name="c3-shape-85">
            <a:extLst>
              <a:ext uri="{FF2B5EF4-FFF2-40B4-BE49-F238E27FC236}">
                <a16:creationId xmlns:a16="http://schemas.microsoft.com/office/drawing/2014/main" id="{D25DABBB-A34D-4E7F-A37B-EA3D339243DD}"/>
              </a:ext>
            </a:extLst>
          </p:cNvPr>
          <p:cNvSpPr>
            <a:spLocks noGrp="1"/>
          </p:cNvSpPr>
          <p:nvPr/>
        </p:nvSpPr>
        <p:spPr>
          <a:xfrm>
            <a:off x="609600" y="4191000"/>
            <a:ext cx="7924800" cy="504825"/>
          </a:xfrm>
          <a:prstGeom prst="roundRect">
            <a:avLst>
              <a:gd name="adj" fmla="val 15094"/>
            </a:avLst>
          </a:prstGeom>
          <a:solidFill>
            <a:srgbClr val="121A27"/>
          </a:solidFill>
          <a:ln w="9525">
            <a:solidFill>
              <a:srgbClr val="3A4458"/>
            </a:solidFill>
          </a:ln>
        </p:spPr>
      </p:sp>
      <p:sp>
        <p:nvSpPr>
          <p:cNvPr id="13" name="c3-text-86">
            <a:extLst>
              <a:ext uri="{FF2B5EF4-FFF2-40B4-BE49-F238E27FC236}">
                <a16:creationId xmlns:a16="http://schemas.microsoft.com/office/drawing/2014/main" id="{F0299806-3FE3-4025-8E45-4715957836B5}"/>
              </a:ext>
            </a:extLst>
          </p:cNvPr>
          <p:cNvSpPr>
            <a:spLocks noGrp="1"/>
          </p:cNvSpPr>
          <p:nvPr/>
        </p:nvSpPr>
        <p:spPr>
          <a:xfrm>
            <a:off x="800100" y="4276725"/>
            <a:ext cx="754380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9525" tIns="9525" rIns="9525" bIns="9525" anchor="ctr">
            <a:noAutofit/>
          </a:bodyPr>
          <a:lstStyle/>
          <a:p>
            <a:pPr>
              <a:defRPr sz="1725" b="0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The second call decides which text the user receives.</a:t>
            </a:r>
          </a:p>
        </p:txBody>
      </p:sp>
      <p:sp>
        <p:nvSpPr>
          <p:cNvPr id="14" name="c3-text-305">
            <a:extLst>
              <a:ext uri="{FF2B5EF4-FFF2-40B4-BE49-F238E27FC236}">
                <a16:creationId xmlns:a16="http://schemas.microsoft.com/office/drawing/2014/main" id="{6B542CA9-9E26-4A2C-A480-DA265A2ADE6E}"/>
              </a:ext>
            </a:extLst>
          </p:cNvPr>
          <p:cNvSpPr>
            <a:spLocks noGrp="1"/>
          </p:cNvSpPr>
          <p:nvPr/>
        </p:nvSpPr>
        <p:spPr>
          <a:xfrm>
            <a:off x="8181975" y="4781550"/>
            <a:ext cx="352425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9525" tIns="9525" rIns="9525" bIns="9525" anchor="ctr">
            <a:noAutofit/>
          </a:bodyPr>
          <a:lstStyle/>
          <a:p>
            <a:pPr algn="r">
              <a:defRPr sz="750" b="0">
                <a:solidFill>
                  <a:srgbClr val="B4BDCB"/>
                </a:solidFill>
                <a:latin typeface="Calibri"/>
                <a:ea typeface="Calibri"/>
                <a:cs typeface="Calibri"/>
              </a:defRPr>
            </a:pPr>
            <a:r>
              <a:rPr sz="750" b="0">
                <a:solidFill>
                  <a:srgbClr val="B4BDCB"/>
                </a:solidFill>
                <a:latin typeface="Calibri"/>
                <a:ea typeface="Calibri"/>
                <a:cs typeface="Calibri"/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15995072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D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3-text-87">
            <a:extLst>
              <a:ext uri="{FF2B5EF4-FFF2-40B4-BE49-F238E27FC236}">
                <a16:creationId xmlns:a16="http://schemas.microsoft.com/office/drawing/2014/main" id="{112CC6CB-A6EE-429F-9D09-FABCD90DCFBE}"/>
              </a:ext>
            </a:extLst>
          </p:cNvPr>
          <p:cNvSpPr>
            <a:spLocks noGrp="1"/>
          </p:cNvSpPr>
          <p:nvPr/>
        </p:nvSpPr>
        <p:spPr>
          <a:xfrm>
            <a:off x="609600" y="238125"/>
            <a:ext cx="792480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9525" tIns="9525" rIns="9525" bIns="9525" anchor="ctr">
            <a:noAutofit/>
          </a:bodyPr>
          <a:lstStyle/>
          <a:p>
            <a:pPr>
              <a:defRPr sz="900" b="0">
                <a:solidFill>
                  <a:srgbClr val="B4BDCB"/>
                </a:solidFill>
                <a:latin typeface="Calibri"/>
                <a:ea typeface="Calibri"/>
                <a:cs typeface="Calibri"/>
              </a:defRPr>
            </a:pPr>
            <a:r>
              <a:rPr sz="900" b="0">
                <a:solidFill>
                  <a:srgbClr val="B4BDCB"/>
                </a:solidFill>
                <a:latin typeface="Calibri"/>
                <a:ea typeface="Calibri"/>
                <a:cs typeface="Calibri"/>
              </a:rPr>
              <a:t>AI-Powered Virtual Humans: LLM-Powered Cognitive Architectures</a:t>
            </a:r>
          </a:p>
        </p:txBody>
      </p:sp>
      <p:sp>
        <p:nvSpPr>
          <p:cNvPr id="2" name="c3-text-88">
            <a:extLst>
              <a:ext uri="{FF2B5EF4-FFF2-40B4-BE49-F238E27FC236}">
                <a16:creationId xmlns:a16="http://schemas.microsoft.com/office/drawing/2014/main" id="{A5D91B77-F050-44A5-97DF-39393C20744D}"/>
              </a:ext>
            </a:extLst>
          </p:cNvPr>
          <p:cNvSpPr>
            <a:spLocks noGrp="1"/>
          </p:cNvSpPr>
          <p:nvPr/>
        </p:nvSpPr>
        <p:spPr>
          <a:xfrm>
            <a:off x="609600" y="657225"/>
            <a:ext cx="792480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9525" tIns="9525" rIns="9525" bIns="9525" anchor="ctr">
            <a:noAutofit/>
          </a:bodyPr>
          <a:lstStyle/>
          <a:p>
            <a:pPr>
              <a:defRPr sz="2700" b="1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2700" b="1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An Explicit Checking Rule</a:t>
            </a:r>
          </a:p>
        </p:txBody>
      </p:sp>
      <p:sp>
        <p:nvSpPr>
          <p:cNvPr id="3" name="c3-text-89">
            <a:extLst>
              <a:ext uri="{FF2B5EF4-FFF2-40B4-BE49-F238E27FC236}">
                <a16:creationId xmlns:a16="http://schemas.microsoft.com/office/drawing/2014/main" id="{B249279E-A3AB-4417-AA8A-C07E5842470B}"/>
              </a:ext>
            </a:extLst>
          </p:cNvPr>
          <p:cNvSpPr>
            <a:spLocks noGrp="1"/>
          </p:cNvSpPr>
          <p:nvPr/>
        </p:nvSpPr>
        <p:spPr>
          <a:xfrm>
            <a:off x="6381750" y="4781550"/>
            <a:ext cx="17145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9525" tIns="9525" rIns="9525" bIns="9525" anchor="ctr">
            <a:noAutofit/>
          </a:bodyPr>
          <a:lstStyle/>
          <a:p>
            <a:pPr algn="r">
              <a:defRPr sz="750" b="0">
                <a:solidFill>
                  <a:srgbClr val="B4BDCB"/>
                </a:solidFill>
                <a:latin typeface="Calibri"/>
                <a:ea typeface="Calibri"/>
                <a:cs typeface="Calibri"/>
              </a:defRPr>
            </a:pPr>
            <a:r>
              <a:rPr sz="750" b="0">
                <a:solidFill>
                  <a:srgbClr val="B4BDCB"/>
                </a:solidFill>
                <a:latin typeface="Calibri"/>
                <a:ea typeface="Calibri"/>
                <a:cs typeface="Calibri"/>
              </a:rPr>
              <a:t>Module 1 · Chapter 03</a:t>
            </a:r>
          </a:p>
        </p:txBody>
      </p:sp>
      <p:sp>
        <p:nvSpPr>
          <p:cNvPr id="4" name="c3-shape-90">
            <a:extLst>
              <a:ext uri="{FF2B5EF4-FFF2-40B4-BE49-F238E27FC236}">
                <a16:creationId xmlns:a16="http://schemas.microsoft.com/office/drawing/2014/main" id="{2BBB108F-9A9B-40EA-85AA-C859DC070BCD}"/>
              </a:ext>
            </a:extLst>
          </p:cNvPr>
          <p:cNvSpPr>
            <a:spLocks noGrp="1"/>
          </p:cNvSpPr>
          <p:nvPr/>
        </p:nvSpPr>
        <p:spPr>
          <a:xfrm>
            <a:off x="609600" y="1733550"/>
            <a:ext cx="7924800" cy="2343150"/>
          </a:xfrm>
          <a:prstGeom prst="roundRect">
            <a:avLst>
              <a:gd name="adj" fmla="val 3252"/>
            </a:avLst>
          </a:prstGeom>
          <a:solidFill>
            <a:srgbClr val="121A27"/>
          </a:solidFill>
          <a:ln w="9525">
            <a:solidFill>
              <a:srgbClr val="3A4458"/>
            </a:solidFill>
          </a:ln>
        </p:spPr>
      </p:sp>
      <p:sp>
        <p:nvSpPr>
          <p:cNvPr id="5" name="c3-text-91">
            <a:extLst>
              <a:ext uri="{FF2B5EF4-FFF2-40B4-BE49-F238E27FC236}">
                <a16:creationId xmlns:a16="http://schemas.microsoft.com/office/drawing/2014/main" id="{9C770A3F-2B1B-4480-B6F2-736FD8251292}"/>
              </a:ext>
            </a:extLst>
          </p:cNvPr>
          <p:cNvSpPr>
            <a:spLocks noGrp="1"/>
          </p:cNvSpPr>
          <p:nvPr/>
        </p:nvSpPr>
        <p:spPr>
          <a:xfrm>
            <a:off x="781050" y="1866900"/>
            <a:ext cx="7581900" cy="2076450"/>
          </a:xfrm>
          <a:prstGeom prst="rect">
            <a:avLst/>
          </a:prstGeom>
          <a:noFill/>
          <a:ln w="0">
            <a:noFill/>
          </a:ln>
        </p:spPr>
        <p:txBody>
          <a:bodyPr wrap="square" lIns="9525" tIns="9525" rIns="9525" bIns="9525" anchor="t">
            <a:noAutofit/>
          </a:bodyPr>
          <a:lstStyle/>
          <a:p>
            <a:pPr>
              <a:defRPr sz="1575" b="0">
                <a:solidFill>
                  <a:srgbClr val="ECE6DE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ECE6DE"/>
                </a:solidFill>
                <a:latin typeface="Consolas"/>
                <a:ea typeface="Consolas"/>
                <a:cs typeface="Consolas"/>
              </a:rPr>
              <a:t>If the text discusses football, replace it with:</a:t>
            </a:r>
          </a:p>
          <a:p>
            <a:pPr>
              <a:defRPr sz="1575" b="0">
                <a:solidFill>
                  <a:srgbClr val="ECE6DE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ECE6DE"/>
                </a:solidFill>
                <a:latin typeface="Consolas"/>
                <a:ea typeface="Consolas"/>
                <a:cs typeface="Consolas"/>
              </a:rPr>
              <a:t>"I am not authorised to discuss football."</a:t>
            </a:r>
          </a:p>
          <a:p>
            <a:pPr>
              <a:defRPr sz="1575" b="0">
                <a:solidFill>
                  <a:srgbClr val="ECE6DE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ECE6DE"/>
                </a:solidFill>
                <a:latin typeface="Consolas"/>
                <a:ea typeface="Consolas"/>
                <a:cs typeface="Consolas"/>
              </a:rPr>
              <a:t>Otherwise, return it unchanged.</a:t>
            </a:r>
          </a:p>
          <a:p>
            <a:endParaRPr sz="1575" b="0">
              <a:solidFill>
                <a:srgbClr val="ECE6DE"/>
              </a:solidFill>
              <a:latin typeface="Consolas"/>
              <a:ea typeface="Consolas"/>
              <a:cs typeface="Consolas"/>
            </a:endParaRPr>
          </a:p>
          <a:p>
            <a:pPr>
              <a:defRPr sz="1575" b="0">
                <a:solidFill>
                  <a:srgbClr val="ECE6DE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ECE6DE"/>
                </a:solidFill>
                <a:latin typeface="Consolas"/>
                <a:ea typeface="Consolas"/>
                <a:cs typeface="Consolas"/>
              </a:rPr>
              <a:t>review_input = guardrail_rules + "\nText:\n" + draft</a:t>
            </a:r>
          </a:p>
          <a:p>
            <a:pPr>
              <a:defRPr sz="1575" b="0">
                <a:solidFill>
                  <a:srgbClr val="ECE6DE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ECE6DE"/>
                </a:solidFill>
                <a:latin typeface="Consolas"/>
                <a:ea typeface="Consolas"/>
                <a:cs typeface="Consolas"/>
              </a:rPr>
              <a:t>checked_answer = text_chain.invoke(review_input)</a:t>
            </a:r>
          </a:p>
        </p:txBody>
      </p:sp>
      <p:sp>
        <p:nvSpPr>
          <p:cNvPr id="6" name="c3-shape-92">
            <a:extLst>
              <a:ext uri="{FF2B5EF4-FFF2-40B4-BE49-F238E27FC236}">
                <a16:creationId xmlns:a16="http://schemas.microsoft.com/office/drawing/2014/main" id="{0755FA58-66B2-4100-BFAE-EBC1E78EB665}"/>
              </a:ext>
            </a:extLst>
          </p:cNvPr>
          <p:cNvSpPr>
            <a:spLocks noGrp="1"/>
          </p:cNvSpPr>
          <p:nvPr/>
        </p:nvSpPr>
        <p:spPr>
          <a:xfrm>
            <a:off x="609600" y="4191000"/>
            <a:ext cx="7924800" cy="504825"/>
          </a:xfrm>
          <a:prstGeom prst="roundRect">
            <a:avLst>
              <a:gd name="adj" fmla="val 15094"/>
            </a:avLst>
          </a:prstGeom>
          <a:solidFill>
            <a:srgbClr val="121A27"/>
          </a:solidFill>
          <a:ln w="9525">
            <a:solidFill>
              <a:srgbClr val="3A4458"/>
            </a:solidFill>
          </a:ln>
        </p:spPr>
      </p:sp>
      <p:sp>
        <p:nvSpPr>
          <p:cNvPr id="7" name="c3-text-93">
            <a:extLst>
              <a:ext uri="{FF2B5EF4-FFF2-40B4-BE49-F238E27FC236}">
                <a16:creationId xmlns:a16="http://schemas.microsoft.com/office/drawing/2014/main" id="{F8E439A9-7379-4D13-983F-25ED0C09B753}"/>
              </a:ext>
            </a:extLst>
          </p:cNvPr>
          <p:cNvSpPr>
            <a:spLocks noGrp="1"/>
          </p:cNvSpPr>
          <p:nvPr/>
        </p:nvSpPr>
        <p:spPr>
          <a:xfrm>
            <a:off x="800100" y="4276725"/>
            <a:ext cx="754380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9525" tIns="9525" rIns="9525" bIns="9525" anchor="ctr">
            <a:noAutofit/>
          </a:bodyPr>
          <a:lstStyle/>
          <a:p>
            <a:pPr>
              <a:defRPr sz="1725" b="0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Check the generated answer before showing it to the user.</a:t>
            </a:r>
          </a:p>
        </p:txBody>
      </p:sp>
      <p:sp>
        <p:nvSpPr>
          <p:cNvPr id="8" name="c3-text-306">
            <a:extLst>
              <a:ext uri="{FF2B5EF4-FFF2-40B4-BE49-F238E27FC236}">
                <a16:creationId xmlns:a16="http://schemas.microsoft.com/office/drawing/2014/main" id="{B4E74AC6-BC32-4C1D-8E9A-B58708F76BD0}"/>
              </a:ext>
            </a:extLst>
          </p:cNvPr>
          <p:cNvSpPr>
            <a:spLocks noGrp="1"/>
          </p:cNvSpPr>
          <p:nvPr/>
        </p:nvSpPr>
        <p:spPr>
          <a:xfrm>
            <a:off x="8181975" y="4781550"/>
            <a:ext cx="352425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9525" tIns="9525" rIns="9525" bIns="9525" anchor="ctr">
            <a:noAutofit/>
          </a:bodyPr>
          <a:lstStyle/>
          <a:p>
            <a:pPr algn="r">
              <a:defRPr sz="750" b="0">
                <a:solidFill>
                  <a:srgbClr val="B4BDCB"/>
                </a:solidFill>
                <a:latin typeface="Calibri"/>
                <a:ea typeface="Calibri"/>
                <a:cs typeface="Calibri"/>
              </a:defRPr>
            </a:pPr>
            <a:r>
              <a:rPr sz="750" b="0">
                <a:solidFill>
                  <a:srgbClr val="B4BDCB"/>
                </a:solidFill>
                <a:latin typeface="Calibri"/>
                <a:ea typeface="Calibri"/>
                <a:cs typeface="Calibri"/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18002585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D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c3-text-94">
            <a:extLst>
              <a:ext uri="{FF2B5EF4-FFF2-40B4-BE49-F238E27FC236}">
                <a16:creationId xmlns:a16="http://schemas.microsoft.com/office/drawing/2014/main" id="{00C6BA4A-48FD-4885-8270-874E9F4F6F69}"/>
              </a:ext>
            </a:extLst>
          </p:cNvPr>
          <p:cNvSpPr>
            <a:spLocks noGrp="1"/>
          </p:cNvSpPr>
          <p:nvPr/>
        </p:nvSpPr>
        <p:spPr>
          <a:xfrm>
            <a:off x="609600" y="238125"/>
            <a:ext cx="792480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9525" tIns="9525" rIns="9525" bIns="9525" anchor="ctr">
            <a:noAutofit/>
          </a:bodyPr>
          <a:lstStyle/>
          <a:p>
            <a:pPr>
              <a:defRPr sz="900" b="0">
                <a:solidFill>
                  <a:srgbClr val="B4BDCB"/>
                </a:solidFill>
                <a:latin typeface="Calibri"/>
                <a:ea typeface="Calibri"/>
                <a:cs typeface="Calibri"/>
              </a:defRPr>
            </a:pPr>
            <a:r>
              <a:rPr sz="900" b="0">
                <a:solidFill>
                  <a:srgbClr val="B4BDCB"/>
                </a:solidFill>
                <a:latin typeface="Calibri"/>
                <a:ea typeface="Calibri"/>
                <a:cs typeface="Calibri"/>
              </a:rPr>
              <a:t>AI-Powered Virtual Humans: LLM-Powered Cognitive Architectures</a:t>
            </a:r>
          </a:p>
        </p:txBody>
      </p:sp>
      <p:sp>
        <p:nvSpPr>
          <p:cNvPr id="2" name="c3-text-95">
            <a:extLst>
              <a:ext uri="{FF2B5EF4-FFF2-40B4-BE49-F238E27FC236}">
                <a16:creationId xmlns:a16="http://schemas.microsoft.com/office/drawing/2014/main" id="{478CB2CA-55AC-44E1-BEC8-7C4295DD806D}"/>
              </a:ext>
            </a:extLst>
          </p:cNvPr>
          <p:cNvSpPr>
            <a:spLocks noGrp="1"/>
          </p:cNvSpPr>
          <p:nvPr/>
        </p:nvSpPr>
        <p:spPr>
          <a:xfrm>
            <a:off x="609600" y="657225"/>
            <a:ext cx="792480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9525" tIns="9525" rIns="9525" bIns="9525" anchor="ctr">
            <a:noAutofit/>
          </a:bodyPr>
          <a:lstStyle/>
          <a:p>
            <a:pPr>
              <a:defRPr sz="2700" b="1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2700" b="1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Try the Review Rule</a:t>
            </a:r>
          </a:p>
        </p:txBody>
      </p:sp>
      <p:sp>
        <p:nvSpPr>
          <p:cNvPr id="3" name="c3-text-96">
            <a:extLst>
              <a:ext uri="{FF2B5EF4-FFF2-40B4-BE49-F238E27FC236}">
                <a16:creationId xmlns:a16="http://schemas.microsoft.com/office/drawing/2014/main" id="{050B19CD-1D55-49AD-A654-5CD1A4574B39}"/>
              </a:ext>
            </a:extLst>
          </p:cNvPr>
          <p:cNvSpPr>
            <a:spLocks noGrp="1"/>
          </p:cNvSpPr>
          <p:nvPr/>
        </p:nvSpPr>
        <p:spPr>
          <a:xfrm>
            <a:off x="6381750" y="4781550"/>
            <a:ext cx="17145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9525" tIns="9525" rIns="9525" bIns="9525" anchor="ctr">
            <a:noAutofit/>
          </a:bodyPr>
          <a:lstStyle/>
          <a:p>
            <a:pPr algn="r">
              <a:defRPr sz="750" b="0">
                <a:solidFill>
                  <a:srgbClr val="B4BDCB"/>
                </a:solidFill>
                <a:latin typeface="Calibri"/>
                <a:ea typeface="Calibri"/>
                <a:cs typeface="Calibri"/>
              </a:defRPr>
            </a:pPr>
            <a:r>
              <a:rPr sz="750" b="0">
                <a:solidFill>
                  <a:srgbClr val="B4BDCB"/>
                </a:solidFill>
                <a:latin typeface="Calibri"/>
                <a:ea typeface="Calibri"/>
                <a:cs typeface="Calibri"/>
              </a:rPr>
              <a:t>Module 1 · Chapter 03</a:t>
            </a:r>
          </a:p>
        </p:txBody>
      </p:sp>
      <p:sp>
        <p:nvSpPr>
          <p:cNvPr id="4" name="c3-shape-97">
            <a:extLst>
              <a:ext uri="{FF2B5EF4-FFF2-40B4-BE49-F238E27FC236}">
                <a16:creationId xmlns:a16="http://schemas.microsoft.com/office/drawing/2014/main" id="{D874B2ED-750B-4F20-8C4A-7DC3414D49AD}"/>
              </a:ext>
            </a:extLst>
          </p:cNvPr>
          <p:cNvSpPr>
            <a:spLocks noGrp="1"/>
          </p:cNvSpPr>
          <p:nvPr/>
        </p:nvSpPr>
        <p:spPr>
          <a:xfrm>
            <a:off x="609600" y="1943100"/>
            <a:ext cx="3771900" cy="1971675"/>
          </a:xfrm>
          <a:prstGeom prst="roundRect">
            <a:avLst>
              <a:gd name="adj" fmla="val 3865"/>
            </a:avLst>
          </a:prstGeom>
          <a:solidFill>
            <a:srgbClr val="121A27"/>
          </a:solidFill>
          <a:ln w="9525">
            <a:solidFill>
              <a:srgbClr val="3A4458"/>
            </a:solidFill>
          </a:ln>
        </p:spPr>
      </p:sp>
      <p:sp>
        <p:nvSpPr>
          <p:cNvPr id="5" name="c3-shape-98">
            <a:extLst>
              <a:ext uri="{FF2B5EF4-FFF2-40B4-BE49-F238E27FC236}">
                <a16:creationId xmlns:a16="http://schemas.microsoft.com/office/drawing/2014/main" id="{27F06818-9535-4927-8225-6A27D72D4881}"/>
              </a:ext>
            </a:extLst>
          </p:cNvPr>
          <p:cNvSpPr>
            <a:spLocks noGrp="1"/>
          </p:cNvSpPr>
          <p:nvPr/>
        </p:nvSpPr>
        <p:spPr>
          <a:xfrm>
            <a:off x="800100" y="2105025"/>
            <a:ext cx="342900" cy="9525"/>
          </a:xfrm>
          <a:prstGeom prst="rect">
            <a:avLst/>
          </a:prstGeom>
          <a:solidFill>
            <a:srgbClr val="D9A06B"/>
          </a:solidFill>
          <a:ln w="9525">
            <a:solidFill>
              <a:srgbClr val="D9A06B"/>
            </a:solidFill>
          </a:ln>
        </p:spPr>
      </p:sp>
      <p:sp>
        <p:nvSpPr>
          <p:cNvPr id="6" name="c3-text-99">
            <a:extLst>
              <a:ext uri="{FF2B5EF4-FFF2-40B4-BE49-F238E27FC236}">
                <a16:creationId xmlns:a16="http://schemas.microsoft.com/office/drawing/2014/main" id="{514499AE-6856-46C9-BC03-2A17DE5C9934}"/>
              </a:ext>
            </a:extLst>
          </p:cNvPr>
          <p:cNvSpPr>
            <a:spLocks noGrp="1"/>
          </p:cNvSpPr>
          <p:nvPr/>
        </p:nvSpPr>
        <p:spPr>
          <a:xfrm>
            <a:off x="800100" y="2200275"/>
            <a:ext cx="33909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9525" tIns="9525" rIns="9525" bIns="9525" anchor="ctr">
            <a:noAutofit/>
          </a:bodyPr>
          <a:lstStyle/>
          <a:p>
            <a:pPr>
              <a:defRPr sz="1350" b="0">
                <a:solidFill>
                  <a:srgbClr val="D9A06B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D9A06B"/>
                </a:solidFill>
                <a:latin typeface="Calibri"/>
                <a:ea typeface="Calibri"/>
                <a:cs typeface="Calibri"/>
              </a:rPr>
              <a:t>Text about football</a:t>
            </a:r>
          </a:p>
        </p:txBody>
      </p:sp>
      <p:sp>
        <p:nvSpPr>
          <p:cNvPr id="7" name="c3-text-100">
            <a:extLst>
              <a:ext uri="{FF2B5EF4-FFF2-40B4-BE49-F238E27FC236}">
                <a16:creationId xmlns:a16="http://schemas.microsoft.com/office/drawing/2014/main" id="{001039C0-9CCA-4882-B2D4-4293A30F5EF1}"/>
              </a:ext>
            </a:extLst>
          </p:cNvPr>
          <p:cNvSpPr>
            <a:spLocks noGrp="1"/>
          </p:cNvSpPr>
          <p:nvPr/>
        </p:nvSpPr>
        <p:spPr>
          <a:xfrm>
            <a:off x="800100" y="2543175"/>
            <a:ext cx="3390900" cy="1247775"/>
          </a:xfrm>
          <a:prstGeom prst="rect">
            <a:avLst/>
          </a:prstGeom>
          <a:noFill/>
          <a:ln w="0">
            <a:noFill/>
          </a:ln>
        </p:spPr>
        <p:txBody>
          <a:bodyPr wrap="square" lIns="9525" tIns="9525" rIns="9525" bIns="9525" anchor="t">
            <a:noAutofit/>
          </a:bodyPr>
          <a:lstStyle/>
          <a:p>
            <a:pPr>
              <a:defRPr sz="1800" b="0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1800" b="0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The match ended 2-0.</a:t>
            </a:r>
          </a:p>
          <a:p>
            <a:pPr>
              <a:defRPr sz="1800" b="0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1800" b="0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The second model replaces it.</a:t>
            </a:r>
          </a:p>
        </p:txBody>
      </p:sp>
      <p:sp>
        <p:nvSpPr>
          <p:cNvPr id="8" name="c3-shape-101">
            <a:extLst>
              <a:ext uri="{FF2B5EF4-FFF2-40B4-BE49-F238E27FC236}">
                <a16:creationId xmlns:a16="http://schemas.microsoft.com/office/drawing/2014/main" id="{677325FB-41DF-48A5-AE5C-6D98858AC98B}"/>
              </a:ext>
            </a:extLst>
          </p:cNvPr>
          <p:cNvSpPr>
            <a:spLocks noGrp="1"/>
          </p:cNvSpPr>
          <p:nvPr/>
        </p:nvSpPr>
        <p:spPr>
          <a:xfrm>
            <a:off x="4762500" y="1943100"/>
            <a:ext cx="3771900" cy="1971675"/>
          </a:xfrm>
          <a:prstGeom prst="roundRect">
            <a:avLst>
              <a:gd name="adj" fmla="val 3865"/>
            </a:avLst>
          </a:prstGeom>
          <a:solidFill>
            <a:srgbClr val="121A27"/>
          </a:solidFill>
          <a:ln w="9525">
            <a:solidFill>
              <a:srgbClr val="3A4458"/>
            </a:solidFill>
          </a:ln>
        </p:spPr>
      </p:sp>
      <p:sp>
        <p:nvSpPr>
          <p:cNvPr id="9" name="c3-shape-102">
            <a:extLst>
              <a:ext uri="{FF2B5EF4-FFF2-40B4-BE49-F238E27FC236}">
                <a16:creationId xmlns:a16="http://schemas.microsoft.com/office/drawing/2014/main" id="{5CB23292-AD2E-4297-8F85-42229F9AAA85}"/>
              </a:ext>
            </a:extLst>
          </p:cNvPr>
          <p:cNvSpPr>
            <a:spLocks noGrp="1"/>
          </p:cNvSpPr>
          <p:nvPr/>
        </p:nvSpPr>
        <p:spPr>
          <a:xfrm>
            <a:off x="4953000" y="2105025"/>
            <a:ext cx="342900" cy="9525"/>
          </a:xfrm>
          <a:prstGeom prst="rect">
            <a:avLst/>
          </a:prstGeom>
          <a:solidFill>
            <a:srgbClr val="7FA8E3"/>
          </a:solidFill>
          <a:ln w="9525">
            <a:solidFill>
              <a:srgbClr val="7FA8E3"/>
            </a:solidFill>
          </a:ln>
        </p:spPr>
      </p:sp>
      <p:sp>
        <p:nvSpPr>
          <p:cNvPr id="10" name="c3-text-103">
            <a:extLst>
              <a:ext uri="{FF2B5EF4-FFF2-40B4-BE49-F238E27FC236}">
                <a16:creationId xmlns:a16="http://schemas.microsoft.com/office/drawing/2014/main" id="{BD2AFAB1-EA05-4D44-B01D-CEBD9038E075}"/>
              </a:ext>
            </a:extLst>
          </p:cNvPr>
          <p:cNvSpPr>
            <a:spLocks noGrp="1"/>
          </p:cNvSpPr>
          <p:nvPr/>
        </p:nvSpPr>
        <p:spPr>
          <a:xfrm>
            <a:off x="4953000" y="2200275"/>
            <a:ext cx="33909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9525" tIns="9525" rIns="9525" bIns="9525" anchor="ctr">
            <a:noAutofit/>
          </a:bodyPr>
          <a:lstStyle/>
          <a:p>
            <a:pPr>
              <a:defRPr sz="1350" b="0">
                <a:solidFill>
                  <a:srgbClr val="7FA8E3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7FA8E3"/>
                </a:solidFill>
                <a:latin typeface="Calibri"/>
                <a:ea typeface="Calibri"/>
                <a:cs typeface="Calibri"/>
              </a:rPr>
              <a:t>Final text</a:t>
            </a:r>
          </a:p>
        </p:txBody>
      </p:sp>
      <p:sp>
        <p:nvSpPr>
          <p:cNvPr id="11" name="c3-text-104">
            <a:extLst>
              <a:ext uri="{FF2B5EF4-FFF2-40B4-BE49-F238E27FC236}">
                <a16:creationId xmlns:a16="http://schemas.microsoft.com/office/drawing/2014/main" id="{E957B83B-DD31-450C-93F1-77A95973B23E}"/>
              </a:ext>
            </a:extLst>
          </p:cNvPr>
          <p:cNvSpPr>
            <a:spLocks noGrp="1"/>
          </p:cNvSpPr>
          <p:nvPr/>
        </p:nvSpPr>
        <p:spPr>
          <a:xfrm>
            <a:off x="4953000" y="2543175"/>
            <a:ext cx="3390900" cy="1247775"/>
          </a:xfrm>
          <a:prstGeom prst="rect">
            <a:avLst/>
          </a:prstGeom>
          <a:noFill/>
          <a:ln w="0">
            <a:noFill/>
          </a:ln>
        </p:spPr>
        <p:txBody>
          <a:bodyPr wrap="square" lIns="9525" tIns="9525" rIns="9525" bIns="9525" anchor="t">
            <a:noAutofit/>
          </a:bodyPr>
          <a:lstStyle/>
          <a:p>
            <a:pPr>
              <a:defRPr sz="1875" b="0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1875" b="0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I am not authorised</a:t>
            </a:r>
          </a:p>
          <a:p>
            <a:pPr>
              <a:defRPr sz="1875" b="0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1875" b="0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to discuss football.</a:t>
            </a:r>
          </a:p>
        </p:txBody>
      </p:sp>
      <p:sp>
        <p:nvSpPr>
          <p:cNvPr id="12" name="c3-text-105">
            <a:extLst>
              <a:ext uri="{FF2B5EF4-FFF2-40B4-BE49-F238E27FC236}">
                <a16:creationId xmlns:a16="http://schemas.microsoft.com/office/drawing/2014/main" id="{63709FE0-67EA-4B4C-817F-520524B3C950}"/>
              </a:ext>
            </a:extLst>
          </p:cNvPr>
          <p:cNvSpPr>
            <a:spLocks noGrp="1"/>
          </p:cNvSpPr>
          <p:nvPr/>
        </p:nvSpPr>
        <p:spPr>
          <a:xfrm>
            <a:off x="609600" y="4010025"/>
            <a:ext cx="792480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9525" tIns="9525" rIns="9525" bIns="9525" anchor="ctr">
            <a:noAutofit/>
          </a:bodyPr>
          <a:lstStyle/>
          <a:p>
            <a:pPr>
              <a:defRPr sz="1725" b="0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For another topic, the second model keeps the original answer.</a:t>
            </a:r>
          </a:p>
        </p:txBody>
      </p:sp>
      <p:sp>
        <p:nvSpPr>
          <p:cNvPr id="13" name="c3-text-106">
            <a:hlinkClick r:id="rId2"/>
            <a:extLst>
              <a:ext uri="{FF2B5EF4-FFF2-40B4-BE49-F238E27FC236}">
                <a16:creationId xmlns:a16="http://schemas.microsoft.com/office/drawing/2014/main" id="{35FFE8BD-8B25-4911-A473-04E89621C6CF}"/>
              </a:ext>
            </a:extLst>
          </p:cNvPr>
          <p:cNvSpPr>
            <a:spLocks noGrp="1"/>
          </p:cNvSpPr>
          <p:nvPr/>
        </p:nvSpPr>
        <p:spPr>
          <a:xfrm>
            <a:off x="609600" y="4410075"/>
            <a:ext cx="7924800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9525" tIns="9525" rIns="9525" bIns="9525" anchor="ctr">
            <a:noAutofit/>
          </a:bodyPr>
          <a:lstStyle/>
          <a:p>
            <a:pPr>
              <a:defRPr sz="1500" b="0">
                <a:solidFill>
                  <a:srgbClr val="7FA8E3"/>
                </a:solidFill>
                <a:latin typeface="Calibri"/>
                <a:ea typeface="Calibri"/>
                <a:cs typeface="Calibri"/>
              </a:defRPr>
            </a:pPr>
            <a:r>
              <a:rPr sz="1500" b="0" u="sng">
                <a:solidFill>
                  <a:srgbClr val="7FA8E3"/>
                </a:solidFill>
                <a:latin typeface="Calibri"/>
                <a:ea typeface="Calibri"/>
                <a:cs typeface="Calibri"/>
              </a:rPr>
              <a:t>Open 01_langchain.ipynb: 2. Chains</a:t>
            </a:r>
          </a:p>
        </p:txBody>
      </p:sp>
      <p:sp>
        <p:nvSpPr>
          <p:cNvPr id="14" name="c3-text-307">
            <a:extLst>
              <a:ext uri="{FF2B5EF4-FFF2-40B4-BE49-F238E27FC236}">
                <a16:creationId xmlns:a16="http://schemas.microsoft.com/office/drawing/2014/main" id="{06D65465-E55C-4AC2-9CFF-83D3049044B2}"/>
              </a:ext>
            </a:extLst>
          </p:cNvPr>
          <p:cNvSpPr>
            <a:spLocks noGrp="1"/>
          </p:cNvSpPr>
          <p:nvPr/>
        </p:nvSpPr>
        <p:spPr>
          <a:xfrm>
            <a:off x="8181975" y="4781550"/>
            <a:ext cx="352425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9525" tIns="9525" rIns="9525" bIns="9525" anchor="ctr">
            <a:noAutofit/>
          </a:bodyPr>
          <a:lstStyle/>
          <a:p>
            <a:pPr algn="r">
              <a:defRPr sz="750" b="0">
                <a:solidFill>
                  <a:srgbClr val="B4BDCB"/>
                </a:solidFill>
                <a:latin typeface="Calibri"/>
                <a:ea typeface="Calibri"/>
                <a:cs typeface="Calibri"/>
              </a:defRPr>
            </a:pPr>
            <a:r>
              <a:rPr sz="750" b="0">
                <a:solidFill>
                  <a:srgbClr val="B4BDCB"/>
                </a:solidFill>
                <a:latin typeface="Calibri"/>
                <a:ea typeface="Calibri"/>
                <a:cs typeface="Calibri"/>
              </a:rPr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177714245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D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3-text-107">
            <a:extLst>
              <a:ext uri="{FF2B5EF4-FFF2-40B4-BE49-F238E27FC236}">
                <a16:creationId xmlns:a16="http://schemas.microsoft.com/office/drawing/2014/main" id="{AC047C6C-E43F-4F68-8289-FA0192671916}"/>
              </a:ext>
            </a:extLst>
          </p:cNvPr>
          <p:cNvSpPr>
            <a:spLocks noGrp="1"/>
          </p:cNvSpPr>
          <p:nvPr/>
        </p:nvSpPr>
        <p:spPr>
          <a:xfrm>
            <a:off x="609600" y="238125"/>
            <a:ext cx="792480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9525" tIns="9525" rIns="9525" bIns="9525" anchor="ctr">
            <a:noAutofit/>
          </a:bodyPr>
          <a:lstStyle/>
          <a:p>
            <a:pPr>
              <a:defRPr sz="900" b="0">
                <a:solidFill>
                  <a:srgbClr val="B4BDCB"/>
                </a:solidFill>
                <a:latin typeface="Calibri"/>
                <a:ea typeface="Calibri"/>
                <a:cs typeface="Calibri"/>
              </a:defRPr>
            </a:pPr>
            <a:r>
              <a:rPr sz="900" b="0">
                <a:solidFill>
                  <a:srgbClr val="B4BDCB"/>
                </a:solidFill>
                <a:latin typeface="Calibri"/>
                <a:ea typeface="Calibri"/>
                <a:cs typeface="Calibri"/>
              </a:rPr>
              <a:t>AI-Powered Virtual Humans: LLM-Powered Cognitive Architectures</a:t>
            </a:r>
          </a:p>
        </p:txBody>
      </p:sp>
      <p:sp>
        <p:nvSpPr>
          <p:cNvPr id="2" name="c3-text-108">
            <a:extLst>
              <a:ext uri="{FF2B5EF4-FFF2-40B4-BE49-F238E27FC236}">
                <a16:creationId xmlns:a16="http://schemas.microsoft.com/office/drawing/2014/main" id="{53F40F19-8267-4B13-B2A7-218D01A5495C}"/>
              </a:ext>
            </a:extLst>
          </p:cNvPr>
          <p:cNvSpPr>
            <a:spLocks noGrp="1"/>
          </p:cNvSpPr>
          <p:nvPr/>
        </p:nvSpPr>
        <p:spPr>
          <a:xfrm>
            <a:off x="609600" y="657225"/>
            <a:ext cx="792480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9525" tIns="9525" rIns="9525" bIns="9525" anchor="ctr">
            <a:noAutofit/>
          </a:bodyPr>
          <a:lstStyle/>
          <a:p>
            <a:pPr>
              <a:defRPr sz="2700" b="1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2700" b="1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A Conversation Can Be a Prompt</a:t>
            </a:r>
          </a:p>
        </p:txBody>
      </p:sp>
      <p:sp>
        <p:nvSpPr>
          <p:cNvPr id="3" name="c3-text-109">
            <a:extLst>
              <a:ext uri="{FF2B5EF4-FFF2-40B4-BE49-F238E27FC236}">
                <a16:creationId xmlns:a16="http://schemas.microsoft.com/office/drawing/2014/main" id="{370C313E-6C9D-4A3D-BA9A-CBE722F47127}"/>
              </a:ext>
            </a:extLst>
          </p:cNvPr>
          <p:cNvSpPr>
            <a:spLocks noGrp="1"/>
          </p:cNvSpPr>
          <p:nvPr/>
        </p:nvSpPr>
        <p:spPr>
          <a:xfrm>
            <a:off x="609600" y="1400175"/>
            <a:ext cx="7924800" cy="542925"/>
          </a:xfrm>
          <a:prstGeom prst="rect">
            <a:avLst/>
          </a:prstGeom>
          <a:noFill/>
          <a:ln w="0">
            <a:noFill/>
          </a:ln>
        </p:spPr>
        <p:txBody>
          <a:bodyPr wrap="square" lIns="9525" tIns="9525" rIns="9525" bIns="9525" anchor="ctr">
            <a:noAutofit/>
          </a:bodyPr>
          <a:lstStyle/>
          <a:p>
            <a:pPr>
              <a:defRPr sz="1875" b="0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1875" b="0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The model can continue an unfinished exchange.</a:t>
            </a:r>
          </a:p>
        </p:txBody>
      </p:sp>
      <p:sp>
        <p:nvSpPr>
          <p:cNvPr id="4" name="c3-text-110">
            <a:extLst>
              <a:ext uri="{FF2B5EF4-FFF2-40B4-BE49-F238E27FC236}">
                <a16:creationId xmlns:a16="http://schemas.microsoft.com/office/drawing/2014/main" id="{47D56319-8254-4210-8C62-0E6DC5A4F801}"/>
              </a:ext>
            </a:extLst>
          </p:cNvPr>
          <p:cNvSpPr>
            <a:spLocks noGrp="1"/>
          </p:cNvSpPr>
          <p:nvPr/>
        </p:nvSpPr>
        <p:spPr>
          <a:xfrm>
            <a:off x="6381750" y="4781550"/>
            <a:ext cx="17145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9525" tIns="9525" rIns="9525" bIns="9525" anchor="ctr">
            <a:noAutofit/>
          </a:bodyPr>
          <a:lstStyle/>
          <a:p>
            <a:pPr algn="r">
              <a:defRPr sz="750" b="0">
                <a:solidFill>
                  <a:srgbClr val="B4BDCB"/>
                </a:solidFill>
                <a:latin typeface="Calibri"/>
                <a:ea typeface="Calibri"/>
                <a:cs typeface="Calibri"/>
              </a:defRPr>
            </a:pPr>
            <a:r>
              <a:rPr sz="750" b="0">
                <a:solidFill>
                  <a:srgbClr val="B4BDCB"/>
                </a:solidFill>
                <a:latin typeface="Calibri"/>
                <a:ea typeface="Calibri"/>
                <a:cs typeface="Calibri"/>
              </a:rPr>
              <a:t>Module 1 · Chapter 03</a:t>
            </a:r>
          </a:p>
        </p:txBody>
      </p:sp>
      <p:sp>
        <p:nvSpPr>
          <p:cNvPr id="5" name="c3-shape-111">
            <a:extLst>
              <a:ext uri="{FF2B5EF4-FFF2-40B4-BE49-F238E27FC236}">
                <a16:creationId xmlns:a16="http://schemas.microsoft.com/office/drawing/2014/main" id="{F7D0862F-8163-45D7-81FB-8DF0CFBF25B5}"/>
              </a:ext>
            </a:extLst>
          </p:cNvPr>
          <p:cNvSpPr>
            <a:spLocks noGrp="1"/>
          </p:cNvSpPr>
          <p:nvPr/>
        </p:nvSpPr>
        <p:spPr>
          <a:xfrm>
            <a:off x="609600" y="2143125"/>
            <a:ext cx="7924800" cy="2000250"/>
          </a:xfrm>
          <a:prstGeom prst="roundRect">
            <a:avLst>
              <a:gd name="adj" fmla="val 3810"/>
            </a:avLst>
          </a:prstGeom>
          <a:solidFill>
            <a:srgbClr val="121A27"/>
          </a:solidFill>
          <a:ln w="9525">
            <a:solidFill>
              <a:srgbClr val="3A4458"/>
            </a:solidFill>
          </a:ln>
        </p:spPr>
      </p:sp>
      <p:sp>
        <p:nvSpPr>
          <p:cNvPr id="6" name="c3-text-112">
            <a:extLst>
              <a:ext uri="{FF2B5EF4-FFF2-40B4-BE49-F238E27FC236}">
                <a16:creationId xmlns:a16="http://schemas.microsoft.com/office/drawing/2014/main" id="{8BF54C87-4ED5-4DB3-85AA-BF66CB9D932B}"/>
              </a:ext>
            </a:extLst>
          </p:cNvPr>
          <p:cNvSpPr>
            <a:spLocks noGrp="1"/>
          </p:cNvSpPr>
          <p:nvPr/>
        </p:nvSpPr>
        <p:spPr>
          <a:xfrm>
            <a:off x="781050" y="2276475"/>
            <a:ext cx="7581900" cy="1733550"/>
          </a:xfrm>
          <a:prstGeom prst="rect">
            <a:avLst/>
          </a:prstGeom>
          <a:noFill/>
          <a:ln w="0">
            <a:noFill/>
          </a:ln>
        </p:spPr>
        <p:txBody>
          <a:bodyPr wrap="square" lIns="9525" tIns="9525" rIns="9525" bIns="9525" anchor="t">
            <a:noAutofit/>
          </a:bodyPr>
          <a:lstStyle/>
          <a:p>
            <a:pPr>
              <a:defRPr sz="1800" b="0">
                <a:solidFill>
                  <a:srgbClr val="ECE6DE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ECE6DE"/>
                </a:solidFill>
                <a:latin typeface="Consolas"/>
                <a:ea typeface="Consolas"/>
                <a:cs typeface="Consolas"/>
              </a:rPr>
              <a:t>Visitor: Hello!</a:t>
            </a:r>
          </a:p>
          <a:p>
            <a:pPr>
              <a:defRPr sz="1800" b="0">
                <a:solidFill>
                  <a:srgbClr val="ECE6DE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ECE6DE"/>
                </a:solidFill>
                <a:latin typeface="Consolas"/>
                <a:ea typeface="Consolas"/>
                <a:cs typeface="Consolas"/>
              </a:rPr>
              <a:t>Guide: Welcome to the museum.</a:t>
            </a:r>
          </a:p>
          <a:p>
            <a:pPr>
              <a:defRPr sz="1800" b="0">
                <a:solidFill>
                  <a:srgbClr val="ECE6DE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ECE6DE"/>
                </a:solidFill>
                <a:latin typeface="Consolas"/>
                <a:ea typeface="Consolas"/>
                <a:cs typeface="Consolas"/>
              </a:rPr>
              <a:t>Visitor: Can you help me explore?</a:t>
            </a:r>
          </a:p>
          <a:p>
            <a:pPr>
              <a:defRPr sz="1800" b="0">
                <a:solidFill>
                  <a:srgbClr val="ECE6DE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ECE6DE"/>
                </a:solidFill>
                <a:latin typeface="Consolas"/>
                <a:ea typeface="Consolas"/>
                <a:cs typeface="Consolas"/>
              </a:rPr>
              <a:t>Guide:</a:t>
            </a:r>
          </a:p>
        </p:txBody>
      </p:sp>
      <p:sp>
        <p:nvSpPr>
          <p:cNvPr id="7" name="c3-text-308">
            <a:extLst>
              <a:ext uri="{FF2B5EF4-FFF2-40B4-BE49-F238E27FC236}">
                <a16:creationId xmlns:a16="http://schemas.microsoft.com/office/drawing/2014/main" id="{E4F4D3E2-4183-4DDC-88E1-7A88E1F9C7D3}"/>
              </a:ext>
            </a:extLst>
          </p:cNvPr>
          <p:cNvSpPr>
            <a:spLocks noGrp="1"/>
          </p:cNvSpPr>
          <p:nvPr/>
        </p:nvSpPr>
        <p:spPr>
          <a:xfrm>
            <a:off x="8181975" y="4781550"/>
            <a:ext cx="352425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9525" tIns="9525" rIns="9525" bIns="9525" anchor="ctr">
            <a:noAutofit/>
          </a:bodyPr>
          <a:lstStyle/>
          <a:p>
            <a:pPr algn="r">
              <a:defRPr sz="750" b="0">
                <a:solidFill>
                  <a:srgbClr val="B4BDCB"/>
                </a:solidFill>
                <a:latin typeface="Calibri"/>
                <a:ea typeface="Calibri"/>
                <a:cs typeface="Calibri"/>
              </a:defRPr>
            </a:pPr>
            <a:r>
              <a:rPr sz="750" b="0">
                <a:solidFill>
                  <a:srgbClr val="B4BDCB"/>
                </a:solidFill>
                <a:latin typeface="Calibri"/>
                <a:ea typeface="Calibri"/>
                <a:cs typeface="Calibri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34467165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D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3-text-113">
            <a:extLst>
              <a:ext uri="{FF2B5EF4-FFF2-40B4-BE49-F238E27FC236}">
                <a16:creationId xmlns:a16="http://schemas.microsoft.com/office/drawing/2014/main" id="{1B0596E0-207F-453A-A89C-1D4E48994061}"/>
              </a:ext>
            </a:extLst>
          </p:cNvPr>
          <p:cNvSpPr>
            <a:spLocks noGrp="1"/>
          </p:cNvSpPr>
          <p:nvPr/>
        </p:nvSpPr>
        <p:spPr>
          <a:xfrm>
            <a:off x="609600" y="238125"/>
            <a:ext cx="792480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9525" tIns="9525" rIns="9525" bIns="9525" anchor="ctr">
            <a:noAutofit/>
          </a:bodyPr>
          <a:lstStyle/>
          <a:p>
            <a:pPr>
              <a:defRPr sz="900" b="0">
                <a:solidFill>
                  <a:srgbClr val="B4BDCB"/>
                </a:solidFill>
                <a:latin typeface="Calibri"/>
                <a:ea typeface="Calibri"/>
                <a:cs typeface="Calibri"/>
              </a:defRPr>
            </a:pPr>
            <a:r>
              <a:rPr sz="900" b="0">
                <a:solidFill>
                  <a:srgbClr val="B4BDCB"/>
                </a:solidFill>
                <a:latin typeface="Calibri"/>
                <a:ea typeface="Calibri"/>
                <a:cs typeface="Calibri"/>
              </a:rPr>
              <a:t>AI-Powered Virtual Humans: LLM-Powered Cognitive Architectures</a:t>
            </a:r>
          </a:p>
        </p:txBody>
      </p:sp>
      <p:sp>
        <p:nvSpPr>
          <p:cNvPr id="2" name="c3-text-114">
            <a:extLst>
              <a:ext uri="{FF2B5EF4-FFF2-40B4-BE49-F238E27FC236}">
                <a16:creationId xmlns:a16="http://schemas.microsoft.com/office/drawing/2014/main" id="{234957A6-9E95-4A2E-A001-B3FA4CD84CCA}"/>
              </a:ext>
            </a:extLst>
          </p:cNvPr>
          <p:cNvSpPr>
            <a:spLocks noGrp="1"/>
          </p:cNvSpPr>
          <p:nvPr/>
        </p:nvSpPr>
        <p:spPr>
          <a:xfrm>
            <a:off x="609600" y="657225"/>
            <a:ext cx="792480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9525" tIns="9525" rIns="9525" bIns="9525" anchor="ctr">
            <a:noAutofit/>
          </a:bodyPr>
          <a:lstStyle/>
          <a:p>
            <a:pPr>
              <a:defRPr sz="2700" b="1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2700" b="1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Examples Show a Character's Style</a:t>
            </a:r>
          </a:p>
        </p:txBody>
      </p:sp>
      <p:sp>
        <p:nvSpPr>
          <p:cNvPr id="3" name="c3-text-115">
            <a:extLst>
              <a:ext uri="{FF2B5EF4-FFF2-40B4-BE49-F238E27FC236}">
                <a16:creationId xmlns:a16="http://schemas.microsoft.com/office/drawing/2014/main" id="{F816CAB9-E784-4862-8FF3-5E0F4681E024}"/>
              </a:ext>
            </a:extLst>
          </p:cNvPr>
          <p:cNvSpPr>
            <a:spLocks noGrp="1"/>
          </p:cNvSpPr>
          <p:nvPr/>
        </p:nvSpPr>
        <p:spPr>
          <a:xfrm>
            <a:off x="6381750" y="4781550"/>
            <a:ext cx="17145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9525" tIns="9525" rIns="9525" bIns="9525" anchor="ctr">
            <a:noAutofit/>
          </a:bodyPr>
          <a:lstStyle/>
          <a:p>
            <a:pPr algn="r">
              <a:defRPr sz="750" b="0">
                <a:solidFill>
                  <a:srgbClr val="B4BDCB"/>
                </a:solidFill>
                <a:latin typeface="Calibri"/>
                <a:ea typeface="Calibri"/>
                <a:cs typeface="Calibri"/>
              </a:defRPr>
            </a:pPr>
            <a:r>
              <a:rPr sz="750" b="0">
                <a:solidFill>
                  <a:srgbClr val="B4BDCB"/>
                </a:solidFill>
                <a:latin typeface="Calibri"/>
                <a:ea typeface="Calibri"/>
                <a:cs typeface="Calibri"/>
              </a:rPr>
              <a:t>Module 1 · Chapter 03</a:t>
            </a:r>
          </a:p>
        </p:txBody>
      </p:sp>
      <p:sp>
        <p:nvSpPr>
          <p:cNvPr id="4" name="c3-shape-116">
            <a:extLst>
              <a:ext uri="{FF2B5EF4-FFF2-40B4-BE49-F238E27FC236}">
                <a16:creationId xmlns:a16="http://schemas.microsoft.com/office/drawing/2014/main" id="{32CEFAD7-632E-41BB-9143-2B89283B724D}"/>
              </a:ext>
            </a:extLst>
          </p:cNvPr>
          <p:cNvSpPr>
            <a:spLocks noGrp="1"/>
          </p:cNvSpPr>
          <p:nvPr/>
        </p:nvSpPr>
        <p:spPr>
          <a:xfrm>
            <a:off x="609600" y="1771650"/>
            <a:ext cx="7924800" cy="2428875"/>
          </a:xfrm>
          <a:prstGeom prst="roundRect">
            <a:avLst>
              <a:gd name="adj" fmla="val 3137"/>
            </a:avLst>
          </a:prstGeom>
          <a:solidFill>
            <a:srgbClr val="121A27"/>
          </a:solidFill>
          <a:ln w="9525">
            <a:solidFill>
              <a:srgbClr val="3A4458"/>
            </a:solidFill>
          </a:ln>
        </p:spPr>
      </p:sp>
      <p:sp>
        <p:nvSpPr>
          <p:cNvPr id="5" name="c3-text-117">
            <a:extLst>
              <a:ext uri="{FF2B5EF4-FFF2-40B4-BE49-F238E27FC236}">
                <a16:creationId xmlns:a16="http://schemas.microsoft.com/office/drawing/2014/main" id="{78439882-2A5B-42C1-AEF9-9286109DA80E}"/>
              </a:ext>
            </a:extLst>
          </p:cNvPr>
          <p:cNvSpPr>
            <a:spLocks noGrp="1"/>
          </p:cNvSpPr>
          <p:nvPr/>
        </p:nvSpPr>
        <p:spPr>
          <a:xfrm>
            <a:off x="781050" y="1905000"/>
            <a:ext cx="7581900" cy="2162175"/>
          </a:xfrm>
          <a:prstGeom prst="rect">
            <a:avLst/>
          </a:prstGeom>
          <a:noFill/>
          <a:ln w="0">
            <a:noFill/>
          </a:ln>
        </p:spPr>
        <p:txBody>
          <a:bodyPr wrap="square" lIns="9525" tIns="9525" rIns="9525" bIns="9525" anchor="t">
            <a:noAutofit/>
          </a:bodyPr>
          <a:lstStyle/>
          <a:p>
            <a:pPr>
              <a:defRPr sz="1650" b="0">
                <a:solidFill>
                  <a:srgbClr val="ECE6DE"/>
                </a:solidFill>
                <a:latin typeface="Consolas"/>
                <a:ea typeface="Consolas"/>
                <a:cs typeface="Consolas"/>
              </a:defRPr>
            </a:pPr>
            <a:r>
              <a:rPr sz="1650" b="0">
                <a:solidFill>
                  <a:srgbClr val="ECE6DE"/>
                </a:solidFill>
                <a:latin typeface="Consolas"/>
                <a:ea typeface="Consolas"/>
                <a:cs typeface="Consolas"/>
              </a:rPr>
              <a:t>Visitor: Hello!</a:t>
            </a:r>
          </a:p>
          <a:p>
            <a:pPr>
              <a:defRPr sz="1650" b="0">
                <a:solidFill>
                  <a:srgbClr val="ECE6DE"/>
                </a:solidFill>
                <a:latin typeface="Consolas"/>
                <a:ea typeface="Consolas"/>
                <a:cs typeface="Consolas"/>
              </a:defRPr>
            </a:pPr>
            <a:r>
              <a:rPr sz="1650" b="0">
                <a:solidFill>
                  <a:srgbClr val="ECE6DE"/>
                </a:solidFill>
                <a:latin typeface="Consolas"/>
                <a:ea typeface="Consolas"/>
                <a:cs typeface="Consolas"/>
              </a:rPr>
              <a:t>PippoBot: Ahoy, visitor! Welcome aboard our museum.</a:t>
            </a:r>
          </a:p>
          <a:p>
            <a:pPr>
              <a:defRPr sz="1650" b="0">
                <a:solidFill>
                  <a:srgbClr val="ECE6DE"/>
                </a:solidFill>
                <a:latin typeface="Consolas"/>
                <a:ea typeface="Consolas"/>
                <a:cs typeface="Consolas"/>
              </a:defRPr>
            </a:pPr>
            <a:r>
              <a:rPr sz="1650" b="0">
                <a:solidFill>
                  <a:srgbClr val="ECE6DE"/>
                </a:solidFill>
                <a:latin typeface="Consolas"/>
                <a:ea typeface="Consolas"/>
                <a:cs typeface="Consolas"/>
              </a:rPr>
              <a:t>Visitor: Can you explain an exhibit?</a:t>
            </a:r>
          </a:p>
          <a:p>
            <a:pPr>
              <a:defRPr sz="1650" b="0">
                <a:solidFill>
                  <a:srgbClr val="ECE6DE"/>
                </a:solidFill>
                <a:latin typeface="Consolas"/>
                <a:ea typeface="Consolas"/>
                <a:cs typeface="Consolas"/>
              </a:defRPr>
            </a:pPr>
            <a:r>
              <a:rPr sz="1650" b="0">
                <a:solidFill>
                  <a:srgbClr val="ECE6DE"/>
                </a:solidFill>
                <a:latin typeface="Consolas"/>
                <a:ea typeface="Consolas"/>
                <a:cs typeface="Consolas"/>
              </a:rPr>
              <a:t>PippoBot: Arrr, matey! Let us uncover its story together.</a:t>
            </a:r>
          </a:p>
          <a:p>
            <a:pPr>
              <a:defRPr sz="1650" b="0">
                <a:solidFill>
                  <a:srgbClr val="ECE6DE"/>
                </a:solidFill>
                <a:latin typeface="Consolas"/>
                <a:ea typeface="Consolas"/>
                <a:cs typeface="Consolas"/>
              </a:defRPr>
            </a:pPr>
            <a:r>
              <a:rPr sz="1650" b="0">
                <a:solidFill>
                  <a:srgbClr val="ECE6DE"/>
                </a:solidFill>
                <a:latin typeface="Consolas"/>
                <a:ea typeface="Consolas"/>
                <a:cs typeface="Consolas"/>
              </a:rPr>
              <a:t>Visitor: Can you help me explore?</a:t>
            </a:r>
          </a:p>
          <a:p>
            <a:pPr>
              <a:defRPr sz="1650" b="0">
                <a:solidFill>
                  <a:srgbClr val="ECE6DE"/>
                </a:solidFill>
                <a:latin typeface="Consolas"/>
                <a:ea typeface="Consolas"/>
                <a:cs typeface="Consolas"/>
              </a:defRPr>
            </a:pPr>
            <a:r>
              <a:rPr sz="1650" b="0">
                <a:solidFill>
                  <a:srgbClr val="ECE6DE"/>
                </a:solidFill>
                <a:latin typeface="Consolas"/>
                <a:ea typeface="Consolas"/>
                <a:cs typeface="Consolas"/>
              </a:rPr>
              <a:t>PippoBot:</a:t>
            </a:r>
          </a:p>
        </p:txBody>
      </p:sp>
      <p:sp>
        <p:nvSpPr>
          <p:cNvPr id="6" name="c3-text-309">
            <a:extLst>
              <a:ext uri="{FF2B5EF4-FFF2-40B4-BE49-F238E27FC236}">
                <a16:creationId xmlns:a16="http://schemas.microsoft.com/office/drawing/2014/main" id="{26FB1DFE-5C5B-4A8C-BCB3-49EAE2F724EF}"/>
              </a:ext>
            </a:extLst>
          </p:cNvPr>
          <p:cNvSpPr>
            <a:spLocks noGrp="1"/>
          </p:cNvSpPr>
          <p:nvPr/>
        </p:nvSpPr>
        <p:spPr>
          <a:xfrm>
            <a:off x="8181975" y="4781550"/>
            <a:ext cx="352425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9525" tIns="9525" rIns="9525" bIns="9525" anchor="ctr">
            <a:noAutofit/>
          </a:bodyPr>
          <a:lstStyle/>
          <a:p>
            <a:pPr algn="r">
              <a:defRPr sz="750" b="0">
                <a:solidFill>
                  <a:srgbClr val="B4BDCB"/>
                </a:solidFill>
                <a:latin typeface="Calibri"/>
                <a:ea typeface="Calibri"/>
                <a:cs typeface="Calibri"/>
              </a:defRPr>
            </a:pPr>
            <a:r>
              <a:rPr sz="750" b="0">
                <a:solidFill>
                  <a:srgbClr val="B4BDCB"/>
                </a:solidFill>
                <a:latin typeface="Calibri"/>
                <a:ea typeface="Calibri"/>
                <a:cs typeface="Calibri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58390021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D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3-text-118">
            <a:extLst>
              <a:ext uri="{FF2B5EF4-FFF2-40B4-BE49-F238E27FC236}">
                <a16:creationId xmlns:a16="http://schemas.microsoft.com/office/drawing/2014/main" id="{A79CA801-E5BC-4897-A741-20C87B81BC69}"/>
              </a:ext>
            </a:extLst>
          </p:cNvPr>
          <p:cNvSpPr>
            <a:spLocks noGrp="1"/>
          </p:cNvSpPr>
          <p:nvPr/>
        </p:nvSpPr>
        <p:spPr>
          <a:xfrm>
            <a:off x="609600" y="238125"/>
            <a:ext cx="792480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9525" tIns="9525" rIns="9525" bIns="9525" anchor="ctr">
            <a:noAutofit/>
          </a:bodyPr>
          <a:lstStyle/>
          <a:p>
            <a:pPr>
              <a:defRPr sz="900" b="0">
                <a:solidFill>
                  <a:srgbClr val="B4BDCB"/>
                </a:solidFill>
                <a:latin typeface="Calibri"/>
                <a:ea typeface="Calibri"/>
                <a:cs typeface="Calibri"/>
              </a:defRPr>
            </a:pPr>
            <a:r>
              <a:rPr sz="900" b="0">
                <a:solidFill>
                  <a:srgbClr val="B4BDCB"/>
                </a:solidFill>
                <a:latin typeface="Calibri"/>
                <a:ea typeface="Calibri"/>
                <a:cs typeface="Calibri"/>
              </a:rPr>
              <a:t>AI-Powered Virtual Humans: LLM-Powered Cognitive Architectures</a:t>
            </a:r>
          </a:p>
        </p:txBody>
      </p:sp>
      <p:sp>
        <p:nvSpPr>
          <p:cNvPr id="2" name="c3-text-119">
            <a:extLst>
              <a:ext uri="{FF2B5EF4-FFF2-40B4-BE49-F238E27FC236}">
                <a16:creationId xmlns:a16="http://schemas.microsoft.com/office/drawing/2014/main" id="{2265583A-FBCE-45FA-8302-94F52F42D319}"/>
              </a:ext>
            </a:extLst>
          </p:cNvPr>
          <p:cNvSpPr>
            <a:spLocks noGrp="1"/>
          </p:cNvSpPr>
          <p:nvPr/>
        </p:nvSpPr>
        <p:spPr>
          <a:xfrm>
            <a:off x="609600" y="657225"/>
            <a:ext cx="792480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9525" tIns="9525" rIns="9525" bIns="9525" anchor="ctr">
            <a:noAutofit/>
          </a:bodyPr>
          <a:lstStyle/>
          <a:p>
            <a:pPr>
              <a:defRPr sz="2700" b="1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2700" b="1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Chat Models Use Formatted Messages [4]</a:t>
            </a:r>
          </a:p>
        </p:txBody>
      </p:sp>
      <p:sp>
        <p:nvSpPr>
          <p:cNvPr id="3" name="c3-text-120">
            <a:extLst>
              <a:ext uri="{FF2B5EF4-FFF2-40B4-BE49-F238E27FC236}">
                <a16:creationId xmlns:a16="http://schemas.microsoft.com/office/drawing/2014/main" id="{D3FD16F0-31E6-45B2-A106-002E346BC648}"/>
              </a:ext>
            </a:extLst>
          </p:cNvPr>
          <p:cNvSpPr>
            <a:spLocks noGrp="1"/>
          </p:cNvSpPr>
          <p:nvPr/>
        </p:nvSpPr>
        <p:spPr>
          <a:xfrm>
            <a:off x="6381750" y="4781550"/>
            <a:ext cx="17145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9525" tIns="9525" rIns="9525" bIns="9525" anchor="ctr">
            <a:noAutofit/>
          </a:bodyPr>
          <a:lstStyle/>
          <a:p>
            <a:pPr algn="r">
              <a:defRPr sz="750" b="0">
                <a:solidFill>
                  <a:srgbClr val="B4BDCB"/>
                </a:solidFill>
                <a:latin typeface="Calibri"/>
                <a:ea typeface="Calibri"/>
                <a:cs typeface="Calibri"/>
              </a:defRPr>
            </a:pPr>
            <a:r>
              <a:rPr sz="750" b="0">
                <a:solidFill>
                  <a:srgbClr val="B4BDCB"/>
                </a:solidFill>
                <a:latin typeface="Calibri"/>
                <a:ea typeface="Calibri"/>
                <a:cs typeface="Calibri"/>
              </a:rPr>
              <a:t>Module 1 · Chapter 03</a:t>
            </a:r>
          </a:p>
        </p:txBody>
      </p:sp>
      <p:sp>
        <p:nvSpPr>
          <p:cNvPr id="4" name="c3-shape-121">
            <a:extLst>
              <a:ext uri="{FF2B5EF4-FFF2-40B4-BE49-F238E27FC236}">
                <a16:creationId xmlns:a16="http://schemas.microsoft.com/office/drawing/2014/main" id="{12867590-9057-4125-9D87-B39745F48CA4}"/>
              </a:ext>
            </a:extLst>
          </p:cNvPr>
          <p:cNvSpPr>
            <a:spLocks noGrp="1"/>
          </p:cNvSpPr>
          <p:nvPr/>
        </p:nvSpPr>
        <p:spPr>
          <a:xfrm>
            <a:off x="609600" y="2105025"/>
            <a:ext cx="3771900" cy="2047875"/>
          </a:xfrm>
          <a:prstGeom prst="roundRect">
            <a:avLst>
              <a:gd name="adj" fmla="val 3721"/>
            </a:avLst>
          </a:prstGeom>
          <a:solidFill>
            <a:srgbClr val="121A27"/>
          </a:solidFill>
          <a:ln w="9525">
            <a:solidFill>
              <a:srgbClr val="3A4458"/>
            </a:solidFill>
          </a:ln>
        </p:spPr>
      </p:sp>
      <p:sp>
        <p:nvSpPr>
          <p:cNvPr id="5" name="c3-shape-122">
            <a:extLst>
              <a:ext uri="{FF2B5EF4-FFF2-40B4-BE49-F238E27FC236}">
                <a16:creationId xmlns:a16="http://schemas.microsoft.com/office/drawing/2014/main" id="{20531E87-646A-4318-801F-4B43A6FB136E}"/>
              </a:ext>
            </a:extLst>
          </p:cNvPr>
          <p:cNvSpPr>
            <a:spLocks noGrp="1"/>
          </p:cNvSpPr>
          <p:nvPr/>
        </p:nvSpPr>
        <p:spPr>
          <a:xfrm>
            <a:off x="800100" y="2266950"/>
            <a:ext cx="342900" cy="9525"/>
          </a:xfrm>
          <a:prstGeom prst="rect">
            <a:avLst/>
          </a:prstGeom>
          <a:solidFill>
            <a:srgbClr val="D9A06B"/>
          </a:solidFill>
          <a:ln w="9525">
            <a:solidFill>
              <a:srgbClr val="D9A06B"/>
            </a:solidFill>
          </a:ln>
        </p:spPr>
      </p:sp>
      <p:sp>
        <p:nvSpPr>
          <p:cNvPr id="6" name="c3-text-123">
            <a:extLst>
              <a:ext uri="{FF2B5EF4-FFF2-40B4-BE49-F238E27FC236}">
                <a16:creationId xmlns:a16="http://schemas.microsoft.com/office/drawing/2014/main" id="{092FABB0-2213-49A1-B0D7-E5398358735A}"/>
              </a:ext>
            </a:extLst>
          </p:cNvPr>
          <p:cNvSpPr>
            <a:spLocks noGrp="1"/>
          </p:cNvSpPr>
          <p:nvPr/>
        </p:nvSpPr>
        <p:spPr>
          <a:xfrm>
            <a:off x="800100" y="2362200"/>
            <a:ext cx="33909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9525" tIns="9525" rIns="9525" bIns="9525" anchor="ctr">
            <a:noAutofit/>
          </a:bodyPr>
          <a:lstStyle/>
          <a:p>
            <a:pPr>
              <a:defRPr sz="1350" b="0">
                <a:solidFill>
                  <a:srgbClr val="D9A06B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D9A06B"/>
                </a:solidFill>
                <a:latin typeface="Calibri"/>
                <a:ea typeface="Calibri"/>
                <a:cs typeface="Calibri"/>
              </a:rPr>
              <a:t>Chat tuning</a:t>
            </a:r>
          </a:p>
        </p:txBody>
      </p:sp>
      <p:sp>
        <p:nvSpPr>
          <p:cNvPr id="7" name="c3-text-124">
            <a:extLst>
              <a:ext uri="{FF2B5EF4-FFF2-40B4-BE49-F238E27FC236}">
                <a16:creationId xmlns:a16="http://schemas.microsoft.com/office/drawing/2014/main" id="{D0B2B130-A8A1-41AE-9765-5F73F283900B}"/>
              </a:ext>
            </a:extLst>
          </p:cNvPr>
          <p:cNvSpPr>
            <a:spLocks noGrp="1"/>
          </p:cNvSpPr>
          <p:nvPr/>
        </p:nvSpPr>
        <p:spPr>
          <a:xfrm>
            <a:off x="800100" y="2705100"/>
            <a:ext cx="3390900" cy="1323975"/>
          </a:xfrm>
          <a:prstGeom prst="rect">
            <a:avLst/>
          </a:prstGeom>
          <a:noFill/>
          <a:ln w="0">
            <a:noFill/>
          </a:ln>
        </p:spPr>
        <p:txBody>
          <a:bodyPr wrap="square" lIns="9525" tIns="9525" rIns="9525" bIns="9525" anchor="t">
            <a:noAutofit/>
          </a:bodyPr>
          <a:lstStyle/>
          <a:p>
            <a:pPr>
              <a:defRPr sz="1800" b="0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1800" b="0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The model learns from conversations with roles and message boundaries.</a:t>
            </a:r>
          </a:p>
        </p:txBody>
      </p:sp>
      <p:sp>
        <p:nvSpPr>
          <p:cNvPr id="8" name="c3-shape-125">
            <a:extLst>
              <a:ext uri="{FF2B5EF4-FFF2-40B4-BE49-F238E27FC236}">
                <a16:creationId xmlns:a16="http://schemas.microsoft.com/office/drawing/2014/main" id="{7466F1B1-35D6-42C0-8579-5F912D9D9241}"/>
              </a:ext>
            </a:extLst>
          </p:cNvPr>
          <p:cNvSpPr>
            <a:spLocks noGrp="1"/>
          </p:cNvSpPr>
          <p:nvPr/>
        </p:nvSpPr>
        <p:spPr>
          <a:xfrm>
            <a:off x="4762500" y="2105025"/>
            <a:ext cx="3771900" cy="2047875"/>
          </a:xfrm>
          <a:prstGeom prst="roundRect">
            <a:avLst>
              <a:gd name="adj" fmla="val 3721"/>
            </a:avLst>
          </a:prstGeom>
          <a:solidFill>
            <a:srgbClr val="121A27"/>
          </a:solidFill>
          <a:ln w="9525">
            <a:solidFill>
              <a:srgbClr val="3A4458"/>
            </a:solidFill>
          </a:ln>
        </p:spPr>
      </p:sp>
      <p:sp>
        <p:nvSpPr>
          <p:cNvPr id="9" name="c3-shape-126">
            <a:extLst>
              <a:ext uri="{FF2B5EF4-FFF2-40B4-BE49-F238E27FC236}">
                <a16:creationId xmlns:a16="http://schemas.microsoft.com/office/drawing/2014/main" id="{6A4B5CFD-D62A-43F6-85ED-C9E1270567D9}"/>
              </a:ext>
            </a:extLst>
          </p:cNvPr>
          <p:cNvSpPr>
            <a:spLocks noGrp="1"/>
          </p:cNvSpPr>
          <p:nvPr/>
        </p:nvSpPr>
        <p:spPr>
          <a:xfrm>
            <a:off x="4953000" y="2266950"/>
            <a:ext cx="342900" cy="9525"/>
          </a:xfrm>
          <a:prstGeom prst="rect">
            <a:avLst/>
          </a:prstGeom>
          <a:solidFill>
            <a:srgbClr val="7FA8E3"/>
          </a:solidFill>
          <a:ln w="9525">
            <a:solidFill>
              <a:srgbClr val="7FA8E3"/>
            </a:solidFill>
          </a:ln>
        </p:spPr>
      </p:sp>
      <p:sp>
        <p:nvSpPr>
          <p:cNvPr id="10" name="c3-text-127">
            <a:extLst>
              <a:ext uri="{FF2B5EF4-FFF2-40B4-BE49-F238E27FC236}">
                <a16:creationId xmlns:a16="http://schemas.microsoft.com/office/drawing/2014/main" id="{2D2630B0-B326-46E1-8D6F-48AD3DC7B5C5}"/>
              </a:ext>
            </a:extLst>
          </p:cNvPr>
          <p:cNvSpPr>
            <a:spLocks noGrp="1"/>
          </p:cNvSpPr>
          <p:nvPr/>
        </p:nvSpPr>
        <p:spPr>
          <a:xfrm>
            <a:off x="4953000" y="2362200"/>
            <a:ext cx="33909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9525" tIns="9525" rIns="9525" bIns="9525" anchor="ctr">
            <a:noAutofit/>
          </a:bodyPr>
          <a:lstStyle/>
          <a:p>
            <a:pPr>
              <a:defRPr sz="1350" b="0">
                <a:solidFill>
                  <a:srgbClr val="7FA8E3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7FA8E3"/>
                </a:solidFill>
                <a:latin typeface="Calibri"/>
                <a:ea typeface="Calibri"/>
                <a:cs typeface="Calibri"/>
              </a:rPr>
              <a:t>At inference</a:t>
            </a:r>
          </a:p>
        </p:txBody>
      </p:sp>
      <p:sp>
        <p:nvSpPr>
          <p:cNvPr id="11" name="c3-text-128">
            <a:extLst>
              <a:ext uri="{FF2B5EF4-FFF2-40B4-BE49-F238E27FC236}">
                <a16:creationId xmlns:a16="http://schemas.microsoft.com/office/drawing/2014/main" id="{68BF5739-5050-4DA8-BC53-033D06EC142B}"/>
              </a:ext>
            </a:extLst>
          </p:cNvPr>
          <p:cNvSpPr>
            <a:spLocks noGrp="1"/>
          </p:cNvSpPr>
          <p:nvPr/>
        </p:nvSpPr>
        <p:spPr>
          <a:xfrm>
            <a:off x="4953000" y="2705100"/>
            <a:ext cx="3390900" cy="1323975"/>
          </a:xfrm>
          <a:prstGeom prst="rect">
            <a:avLst/>
          </a:prstGeom>
          <a:noFill/>
          <a:ln w="0">
            <a:noFill/>
          </a:ln>
        </p:spPr>
        <p:txBody>
          <a:bodyPr wrap="square" lIns="9525" tIns="9525" rIns="9525" bIns="9525" anchor="t">
            <a:noAutofit/>
          </a:bodyPr>
          <a:lstStyle/>
          <a:p>
            <a:pPr>
              <a:defRPr sz="1800" b="0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1800" b="0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We supply messages.</a:t>
            </a:r>
          </a:p>
          <a:p>
            <a:pPr>
              <a:defRPr sz="1800" b="0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1800" b="0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The provider applies the model's chat format.</a:t>
            </a:r>
          </a:p>
        </p:txBody>
      </p:sp>
      <p:sp>
        <p:nvSpPr>
          <p:cNvPr id="12" name="c3-text-129">
            <a:extLst>
              <a:ext uri="{FF2B5EF4-FFF2-40B4-BE49-F238E27FC236}">
                <a16:creationId xmlns:a16="http://schemas.microsoft.com/office/drawing/2014/main" id="{CE007520-30A8-46FE-8050-86110640E297}"/>
              </a:ext>
            </a:extLst>
          </p:cNvPr>
          <p:cNvSpPr>
            <a:spLocks noGrp="1"/>
          </p:cNvSpPr>
          <p:nvPr/>
        </p:nvSpPr>
        <p:spPr>
          <a:xfrm>
            <a:off x="609600" y="4562475"/>
            <a:ext cx="792480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9525" tIns="9525" rIns="9525" bIns="9525" anchor="ctr">
            <a:noAutofit/>
          </a:bodyPr>
          <a:lstStyle/>
          <a:p>
            <a:pPr>
              <a:defRPr sz="1125" b="0">
                <a:solidFill>
                  <a:srgbClr val="7FA8E3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7FA8E3"/>
                </a:solidFill>
                <a:latin typeface="Calibri"/>
                <a:ea typeface="Calibri"/>
                <a:cs typeface="Calibri"/>
              </a:rPr>
              <a:t>The model still predicts tokens.</a:t>
            </a:r>
          </a:p>
        </p:txBody>
      </p:sp>
      <p:sp>
        <p:nvSpPr>
          <p:cNvPr id="13" name="c3-text-310">
            <a:extLst>
              <a:ext uri="{FF2B5EF4-FFF2-40B4-BE49-F238E27FC236}">
                <a16:creationId xmlns:a16="http://schemas.microsoft.com/office/drawing/2014/main" id="{08DC43FA-F50E-4DC6-A695-CDF3D3B0AC5B}"/>
              </a:ext>
            </a:extLst>
          </p:cNvPr>
          <p:cNvSpPr>
            <a:spLocks noGrp="1"/>
          </p:cNvSpPr>
          <p:nvPr/>
        </p:nvSpPr>
        <p:spPr>
          <a:xfrm>
            <a:off x="8181975" y="4781550"/>
            <a:ext cx="352425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9525" tIns="9525" rIns="9525" bIns="9525" anchor="ctr">
            <a:noAutofit/>
          </a:bodyPr>
          <a:lstStyle/>
          <a:p>
            <a:pPr algn="r">
              <a:defRPr sz="750" b="0">
                <a:solidFill>
                  <a:srgbClr val="B4BDCB"/>
                </a:solidFill>
                <a:latin typeface="Calibri"/>
                <a:ea typeface="Calibri"/>
                <a:cs typeface="Calibri"/>
              </a:defRPr>
            </a:pPr>
            <a:r>
              <a:rPr sz="750" b="0">
                <a:solidFill>
                  <a:srgbClr val="B4BDCB"/>
                </a:solidFill>
                <a:latin typeface="Calibri"/>
                <a:ea typeface="Calibri"/>
                <a:cs typeface="Calibri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19274890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D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c3-text-130">
            <a:extLst>
              <a:ext uri="{FF2B5EF4-FFF2-40B4-BE49-F238E27FC236}">
                <a16:creationId xmlns:a16="http://schemas.microsoft.com/office/drawing/2014/main" id="{A2FC80D9-ACBC-437B-A45F-9F96A5FC15DD}"/>
              </a:ext>
            </a:extLst>
          </p:cNvPr>
          <p:cNvSpPr>
            <a:spLocks noGrp="1"/>
          </p:cNvSpPr>
          <p:nvPr/>
        </p:nvSpPr>
        <p:spPr>
          <a:xfrm>
            <a:off x="609600" y="238125"/>
            <a:ext cx="792480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9525" tIns="9525" rIns="9525" bIns="9525" anchor="ctr">
            <a:noAutofit/>
          </a:bodyPr>
          <a:lstStyle/>
          <a:p>
            <a:pPr>
              <a:defRPr sz="900" b="0">
                <a:solidFill>
                  <a:srgbClr val="B4BDCB"/>
                </a:solidFill>
                <a:latin typeface="Calibri"/>
                <a:ea typeface="Calibri"/>
                <a:cs typeface="Calibri"/>
              </a:defRPr>
            </a:pPr>
            <a:r>
              <a:rPr sz="900" b="0">
                <a:solidFill>
                  <a:srgbClr val="B4BDCB"/>
                </a:solidFill>
                <a:latin typeface="Calibri"/>
                <a:ea typeface="Calibri"/>
                <a:cs typeface="Calibri"/>
              </a:rPr>
              <a:t>AI-Powered Virtual Humans: LLM-Powered Cognitive Architectures</a:t>
            </a:r>
          </a:p>
        </p:txBody>
      </p:sp>
      <p:sp>
        <p:nvSpPr>
          <p:cNvPr id="2" name="c3-text-131">
            <a:extLst>
              <a:ext uri="{FF2B5EF4-FFF2-40B4-BE49-F238E27FC236}">
                <a16:creationId xmlns:a16="http://schemas.microsoft.com/office/drawing/2014/main" id="{D76D2793-0D87-4D52-8660-0F6D1751105D}"/>
              </a:ext>
            </a:extLst>
          </p:cNvPr>
          <p:cNvSpPr>
            <a:spLocks noGrp="1"/>
          </p:cNvSpPr>
          <p:nvPr/>
        </p:nvSpPr>
        <p:spPr>
          <a:xfrm>
            <a:off x="609600" y="657225"/>
            <a:ext cx="792480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9525" tIns="9525" rIns="9525" bIns="9525" anchor="ctr">
            <a:noAutofit/>
          </a:bodyPr>
          <a:lstStyle/>
          <a:p>
            <a:pPr>
              <a:defRPr sz="2700" b="1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2700" b="1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Three Message Types [5]</a:t>
            </a:r>
          </a:p>
        </p:txBody>
      </p:sp>
      <p:sp>
        <p:nvSpPr>
          <p:cNvPr id="3" name="c3-text-132">
            <a:extLst>
              <a:ext uri="{FF2B5EF4-FFF2-40B4-BE49-F238E27FC236}">
                <a16:creationId xmlns:a16="http://schemas.microsoft.com/office/drawing/2014/main" id="{1735B4BF-72BD-4EA3-921B-42C2A468EE5E}"/>
              </a:ext>
            </a:extLst>
          </p:cNvPr>
          <p:cNvSpPr>
            <a:spLocks noGrp="1"/>
          </p:cNvSpPr>
          <p:nvPr/>
        </p:nvSpPr>
        <p:spPr>
          <a:xfrm>
            <a:off x="6381750" y="4781550"/>
            <a:ext cx="17145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9525" tIns="9525" rIns="9525" bIns="9525" anchor="ctr">
            <a:noAutofit/>
          </a:bodyPr>
          <a:lstStyle/>
          <a:p>
            <a:pPr algn="r">
              <a:defRPr sz="750" b="0">
                <a:solidFill>
                  <a:srgbClr val="B4BDCB"/>
                </a:solidFill>
                <a:latin typeface="Calibri"/>
                <a:ea typeface="Calibri"/>
                <a:cs typeface="Calibri"/>
              </a:defRPr>
            </a:pPr>
            <a:r>
              <a:rPr sz="750" b="0">
                <a:solidFill>
                  <a:srgbClr val="B4BDCB"/>
                </a:solidFill>
                <a:latin typeface="Calibri"/>
                <a:ea typeface="Calibri"/>
                <a:cs typeface="Calibri"/>
              </a:rPr>
              <a:t>Module 1 · Chapter 03</a:t>
            </a:r>
          </a:p>
        </p:txBody>
      </p:sp>
      <p:sp>
        <p:nvSpPr>
          <p:cNvPr id="4" name="c3-shape-133">
            <a:extLst>
              <a:ext uri="{FF2B5EF4-FFF2-40B4-BE49-F238E27FC236}">
                <a16:creationId xmlns:a16="http://schemas.microsoft.com/office/drawing/2014/main" id="{DC155193-931C-45EF-8C87-A1EB5F68AE9F}"/>
              </a:ext>
            </a:extLst>
          </p:cNvPr>
          <p:cNvSpPr>
            <a:spLocks noGrp="1"/>
          </p:cNvSpPr>
          <p:nvPr/>
        </p:nvSpPr>
        <p:spPr>
          <a:xfrm>
            <a:off x="609600" y="2105025"/>
            <a:ext cx="2438400" cy="2247900"/>
          </a:xfrm>
          <a:prstGeom prst="roundRect">
            <a:avLst>
              <a:gd name="adj" fmla="val 3390"/>
            </a:avLst>
          </a:prstGeom>
          <a:solidFill>
            <a:srgbClr val="121A27"/>
          </a:solidFill>
          <a:ln w="9525">
            <a:solidFill>
              <a:srgbClr val="3A4458"/>
            </a:solidFill>
          </a:ln>
        </p:spPr>
      </p:sp>
      <p:sp>
        <p:nvSpPr>
          <p:cNvPr id="5" name="c3-shape-134">
            <a:extLst>
              <a:ext uri="{FF2B5EF4-FFF2-40B4-BE49-F238E27FC236}">
                <a16:creationId xmlns:a16="http://schemas.microsoft.com/office/drawing/2014/main" id="{2E4D8C5F-4202-41A9-8620-5B7EDEFA1A77}"/>
              </a:ext>
            </a:extLst>
          </p:cNvPr>
          <p:cNvSpPr>
            <a:spLocks noGrp="1"/>
          </p:cNvSpPr>
          <p:nvPr/>
        </p:nvSpPr>
        <p:spPr>
          <a:xfrm>
            <a:off x="800100" y="2266950"/>
            <a:ext cx="342900" cy="9525"/>
          </a:xfrm>
          <a:prstGeom prst="rect">
            <a:avLst/>
          </a:prstGeom>
          <a:solidFill>
            <a:srgbClr val="D9A06B"/>
          </a:solidFill>
          <a:ln w="9525">
            <a:solidFill>
              <a:srgbClr val="D9A06B"/>
            </a:solidFill>
          </a:ln>
        </p:spPr>
      </p:sp>
      <p:sp>
        <p:nvSpPr>
          <p:cNvPr id="6" name="c3-text-135">
            <a:extLst>
              <a:ext uri="{FF2B5EF4-FFF2-40B4-BE49-F238E27FC236}">
                <a16:creationId xmlns:a16="http://schemas.microsoft.com/office/drawing/2014/main" id="{C23F6EF4-6B7F-4A1F-94F2-0753D93C9094}"/>
              </a:ext>
            </a:extLst>
          </p:cNvPr>
          <p:cNvSpPr>
            <a:spLocks noGrp="1"/>
          </p:cNvSpPr>
          <p:nvPr/>
        </p:nvSpPr>
        <p:spPr>
          <a:xfrm>
            <a:off x="800100" y="2362200"/>
            <a:ext cx="20574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9525" tIns="9525" rIns="9525" bIns="9525" anchor="ctr">
            <a:noAutofit/>
          </a:bodyPr>
          <a:lstStyle/>
          <a:p>
            <a:pPr>
              <a:defRPr sz="1350" b="0">
                <a:solidFill>
                  <a:srgbClr val="D9A06B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D9A06B"/>
                </a:solidFill>
                <a:latin typeface="Calibri"/>
                <a:ea typeface="Calibri"/>
                <a:cs typeface="Calibri"/>
              </a:rPr>
              <a:t>SystemMessage</a:t>
            </a:r>
          </a:p>
        </p:txBody>
      </p:sp>
      <p:sp>
        <p:nvSpPr>
          <p:cNvPr id="7" name="c3-text-136">
            <a:extLst>
              <a:ext uri="{FF2B5EF4-FFF2-40B4-BE49-F238E27FC236}">
                <a16:creationId xmlns:a16="http://schemas.microsoft.com/office/drawing/2014/main" id="{A4B1C485-80FE-4008-9AC5-C2A2F7D632E0}"/>
              </a:ext>
            </a:extLst>
          </p:cNvPr>
          <p:cNvSpPr>
            <a:spLocks noGrp="1"/>
          </p:cNvSpPr>
          <p:nvPr/>
        </p:nvSpPr>
        <p:spPr>
          <a:xfrm>
            <a:off x="800100" y="2705100"/>
            <a:ext cx="2057400" cy="1524000"/>
          </a:xfrm>
          <a:prstGeom prst="rect">
            <a:avLst/>
          </a:prstGeom>
          <a:noFill/>
          <a:ln w="0">
            <a:noFill/>
          </a:ln>
        </p:spPr>
        <p:txBody>
          <a:bodyPr wrap="square" lIns="9525" tIns="9525" rIns="9525" bIns="9525" anchor="t">
            <a:noAutofit/>
          </a:bodyPr>
          <a:lstStyle/>
          <a:p>
            <a:pPr>
              <a:defRPr sz="1650" b="0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Instructions:</a:t>
            </a:r>
          </a:p>
          <a:p>
            <a:pPr>
              <a:defRPr sz="1650" b="0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"You are a pirate museum guide."</a:t>
            </a:r>
          </a:p>
        </p:txBody>
      </p:sp>
      <p:sp>
        <p:nvSpPr>
          <p:cNvPr id="8" name="c3-shape-137">
            <a:extLst>
              <a:ext uri="{FF2B5EF4-FFF2-40B4-BE49-F238E27FC236}">
                <a16:creationId xmlns:a16="http://schemas.microsoft.com/office/drawing/2014/main" id="{D61D457D-103B-44EA-A26C-B50A94B9F8A3}"/>
              </a:ext>
            </a:extLst>
          </p:cNvPr>
          <p:cNvSpPr>
            <a:spLocks noGrp="1"/>
          </p:cNvSpPr>
          <p:nvPr/>
        </p:nvSpPr>
        <p:spPr>
          <a:xfrm>
            <a:off x="3352800" y="2105025"/>
            <a:ext cx="2438400" cy="2247900"/>
          </a:xfrm>
          <a:prstGeom prst="roundRect">
            <a:avLst>
              <a:gd name="adj" fmla="val 3390"/>
            </a:avLst>
          </a:prstGeom>
          <a:solidFill>
            <a:srgbClr val="121A27"/>
          </a:solidFill>
          <a:ln w="9525">
            <a:solidFill>
              <a:srgbClr val="3A4458"/>
            </a:solidFill>
          </a:ln>
        </p:spPr>
      </p:sp>
      <p:sp>
        <p:nvSpPr>
          <p:cNvPr id="9" name="c3-shape-138">
            <a:extLst>
              <a:ext uri="{FF2B5EF4-FFF2-40B4-BE49-F238E27FC236}">
                <a16:creationId xmlns:a16="http://schemas.microsoft.com/office/drawing/2014/main" id="{4B84DF94-C1D2-4A20-AF84-F0F111F29947}"/>
              </a:ext>
            </a:extLst>
          </p:cNvPr>
          <p:cNvSpPr>
            <a:spLocks noGrp="1"/>
          </p:cNvSpPr>
          <p:nvPr/>
        </p:nvSpPr>
        <p:spPr>
          <a:xfrm>
            <a:off x="3543300" y="2266950"/>
            <a:ext cx="342900" cy="9525"/>
          </a:xfrm>
          <a:prstGeom prst="rect">
            <a:avLst/>
          </a:prstGeom>
          <a:solidFill>
            <a:srgbClr val="7FA8E3"/>
          </a:solidFill>
          <a:ln w="9525">
            <a:solidFill>
              <a:srgbClr val="7FA8E3"/>
            </a:solidFill>
          </a:ln>
        </p:spPr>
      </p:sp>
      <p:sp>
        <p:nvSpPr>
          <p:cNvPr id="10" name="c3-text-139">
            <a:extLst>
              <a:ext uri="{FF2B5EF4-FFF2-40B4-BE49-F238E27FC236}">
                <a16:creationId xmlns:a16="http://schemas.microsoft.com/office/drawing/2014/main" id="{FC4F4353-1A39-4EF5-B0DB-D7090CD95F1C}"/>
              </a:ext>
            </a:extLst>
          </p:cNvPr>
          <p:cNvSpPr>
            <a:spLocks noGrp="1"/>
          </p:cNvSpPr>
          <p:nvPr/>
        </p:nvSpPr>
        <p:spPr>
          <a:xfrm>
            <a:off x="3543300" y="2362200"/>
            <a:ext cx="20574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9525" tIns="9525" rIns="9525" bIns="9525" anchor="ctr">
            <a:noAutofit/>
          </a:bodyPr>
          <a:lstStyle/>
          <a:p>
            <a:pPr>
              <a:defRPr sz="1350" b="0">
                <a:solidFill>
                  <a:srgbClr val="7FA8E3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7FA8E3"/>
                </a:solidFill>
                <a:latin typeface="Calibri"/>
                <a:ea typeface="Calibri"/>
                <a:cs typeface="Calibri"/>
              </a:rPr>
              <a:t>HumanMessage</a:t>
            </a:r>
          </a:p>
        </p:txBody>
      </p:sp>
      <p:sp>
        <p:nvSpPr>
          <p:cNvPr id="11" name="c3-text-140">
            <a:extLst>
              <a:ext uri="{FF2B5EF4-FFF2-40B4-BE49-F238E27FC236}">
                <a16:creationId xmlns:a16="http://schemas.microsoft.com/office/drawing/2014/main" id="{B25A5915-C324-4F35-B4A5-55ADEB7F020D}"/>
              </a:ext>
            </a:extLst>
          </p:cNvPr>
          <p:cNvSpPr>
            <a:spLocks noGrp="1"/>
          </p:cNvSpPr>
          <p:nvPr/>
        </p:nvSpPr>
        <p:spPr>
          <a:xfrm>
            <a:off x="3543300" y="2705100"/>
            <a:ext cx="2057400" cy="1524000"/>
          </a:xfrm>
          <a:prstGeom prst="rect">
            <a:avLst/>
          </a:prstGeom>
          <a:noFill/>
          <a:ln w="0">
            <a:noFill/>
          </a:ln>
        </p:spPr>
        <p:txBody>
          <a:bodyPr wrap="square" lIns="9525" tIns="9525" rIns="9525" bIns="9525" anchor="t">
            <a:noAutofit/>
          </a:bodyPr>
          <a:lstStyle/>
          <a:p>
            <a:pPr>
              <a:defRPr sz="1650" b="0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User input:</a:t>
            </a:r>
          </a:p>
          <a:p>
            <a:pPr>
              <a:defRPr sz="1650" b="0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"Can you help me explore?"</a:t>
            </a:r>
          </a:p>
        </p:txBody>
      </p:sp>
      <p:sp>
        <p:nvSpPr>
          <p:cNvPr id="12" name="c3-shape-141">
            <a:extLst>
              <a:ext uri="{FF2B5EF4-FFF2-40B4-BE49-F238E27FC236}">
                <a16:creationId xmlns:a16="http://schemas.microsoft.com/office/drawing/2014/main" id="{1710BDF0-FE9F-4767-833E-71B7E0E0FB88}"/>
              </a:ext>
            </a:extLst>
          </p:cNvPr>
          <p:cNvSpPr>
            <a:spLocks noGrp="1"/>
          </p:cNvSpPr>
          <p:nvPr/>
        </p:nvSpPr>
        <p:spPr>
          <a:xfrm>
            <a:off x="6096000" y="2105025"/>
            <a:ext cx="2438400" cy="2247900"/>
          </a:xfrm>
          <a:prstGeom prst="roundRect">
            <a:avLst>
              <a:gd name="adj" fmla="val 3390"/>
            </a:avLst>
          </a:prstGeom>
          <a:solidFill>
            <a:srgbClr val="121A27"/>
          </a:solidFill>
          <a:ln w="9525">
            <a:solidFill>
              <a:srgbClr val="3A4458"/>
            </a:solidFill>
          </a:ln>
        </p:spPr>
      </p:sp>
      <p:sp>
        <p:nvSpPr>
          <p:cNvPr id="13" name="c3-shape-142">
            <a:extLst>
              <a:ext uri="{FF2B5EF4-FFF2-40B4-BE49-F238E27FC236}">
                <a16:creationId xmlns:a16="http://schemas.microsoft.com/office/drawing/2014/main" id="{F7C60405-B114-450F-A5BA-C75DAA57A84D}"/>
              </a:ext>
            </a:extLst>
          </p:cNvPr>
          <p:cNvSpPr>
            <a:spLocks noGrp="1"/>
          </p:cNvSpPr>
          <p:nvPr/>
        </p:nvSpPr>
        <p:spPr>
          <a:xfrm>
            <a:off x="6286500" y="2266950"/>
            <a:ext cx="342900" cy="9525"/>
          </a:xfrm>
          <a:prstGeom prst="rect">
            <a:avLst/>
          </a:prstGeom>
          <a:solidFill>
            <a:srgbClr val="D9A06B"/>
          </a:solidFill>
          <a:ln w="9525">
            <a:solidFill>
              <a:srgbClr val="D9A06B"/>
            </a:solidFill>
          </a:ln>
        </p:spPr>
      </p:sp>
      <p:sp>
        <p:nvSpPr>
          <p:cNvPr id="14" name="c3-text-143">
            <a:extLst>
              <a:ext uri="{FF2B5EF4-FFF2-40B4-BE49-F238E27FC236}">
                <a16:creationId xmlns:a16="http://schemas.microsoft.com/office/drawing/2014/main" id="{A58B3B1B-0CC0-4C50-B049-A2A20957DC32}"/>
              </a:ext>
            </a:extLst>
          </p:cNvPr>
          <p:cNvSpPr>
            <a:spLocks noGrp="1"/>
          </p:cNvSpPr>
          <p:nvPr/>
        </p:nvSpPr>
        <p:spPr>
          <a:xfrm>
            <a:off x="6286500" y="2362200"/>
            <a:ext cx="20574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9525" tIns="9525" rIns="9525" bIns="9525" anchor="ctr">
            <a:noAutofit/>
          </a:bodyPr>
          <a:lstStyle/>
          <a:p>
            <a:pPr>
              <a:defRPr sz="1350" b="0">
                <a:solidFill>
                  <a:srgbClr val="D9A06B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D9A06B"/>
                </a:solidFill>
                <a:latin typeface="Calibri"/>
                <a:ea typeface="Calibri"/>
                <a:cs typeface="Calibri"/>
              </a:rPr>
              <a:t>AIMessage</a:t>
            </a:r>
          </a:p>
        </p:txBody>
      </p:sp>
      <p:sp>
        <p:nvSpPr>
          <p:cNvPr id="15" name="c3-text-144">
            <a:extLst>
              <a:ext uri="{FF2B5EF4-FFF2-40B4-BE49-F238E27FC236}">
                <a16:creationId xmlns:a16="http://schemas.microsoft.com/office/drawing/2014/main" id="{FF5FF57C-4BAC-42E5-81D5-C19266895F42}"/>
              </a:ext>
            </a:extLst>
          </p:cNvPr>
          <p:cNvSpPr>
            <a:spLocks noGrp="1"/>
          </p:cNvSpPr>
          <p:nvPr/>
        </p:nvSpPr>
        <p:spPr>
          <a:xfrm>
            <a:off x="6286500" y="2705100"/>
            <a:ext cx="2057400" cy="1524000"/>
          </a:xfrm>
          <a:prstGeom prst="rect">
            <a:avLst/>
          </a:prstGeom>
          <a:noFill/>
          <a:ln w="0">
            <a:noFill/>
          </a:ln>
        </p:spPr>
        <p:txBody>
          <a:bodyPr wrap="square" lIns="9525" tIns="9525" rIns="9525" bIns="9525" anchor="t">
            <a:noAutofit/>
          </a:bodyPr>
          <a:lstStyle/>
          <a:p>
            <a:pPr>
              <a:defRPr sz="1650" b="0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Assistant reply or supplied example:</a:t>
            </a:r>
          </a:p>
          <a:p>
            <a:pPr>
              <a:defRPr sz="1650" b="0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"Ahoy, visitor!"</a:t>
            </a:r>
          </a:p>
        </p:txBody>
      </p:sp>
      <p:sp>
        <p:nvSpPr>
          <p:cNvPr id="16" name="c3-text-311">
            <a:extLst>
              <a:ext uri="{FF2B5EF4-FFF2-40B4-BE49-F238E27FC236}">
                <a16:creationId xmlns:a16="http://schemas.microsoft.com/office/drawing/2014/main" id="{20E075D2-43B8-4710-900A-B980CC920462}"/>
              </a:ext>
            </a:extLst>
          </p:cNvPr>
          <p:cNvSpPr>
            <a:spLocks noGrp="1"/>
          </p:cNvSpPr>
          <p:nvPr/>
        </p:nvSpPr>
        <p:spPr>
          <a:xfrm>
            <a:off x="8181975" y="4781550"/>
            <a:ext cx="352425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9525" tIns="9525" rIns="9525" bIns="9525" anchor="ctr">
            <a:noAutofit/>
          </a:bodyPr>
          <a:lstStyle/>
          <a:p>
            <a:pPr algn="r">
              <a:defRPr sz="750" b="0">
                <a:solidFill>
                  <a:srgbClr val="B4BDCB"/>
                </a:solidFill>
                <a:latin typeface="Calibri"/>
                <a:ea typeface="Calibri"/>
                <a:cs typeface="Calibri"/>
              </a:defRPr>
            </a:pPr>
            <a:r>
              <a:rPr sz="750" b="0">
                <a:solidFill>
                  <a:srgbClr val="B4BDCB"/>
                </a:solidFill>
                <a:latin typeface="Calibri"/>
                <a:ea typeface="Calibri"/>
                <a:cs typeface="Calibri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132560213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D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3-text-145">
            <a:extLst>
              <a:ext uri="{FF2B5EF4-FFF2-40B4-BE49-F238E27FC236}">
                <a16:creationId xmlns:a16="http://schemas.microsoft.com/office/drawing/2014/main" id="{DF693BD5-1E55-4FC0-963B-3195B2E49092}"/>
              </a:ext>
            </a:extLst>
          </p:cNvPr>
          <p:cNvSpPr>
            <a:spLocks noGrp="1"/>
          </p:cNvSpPr>
          <p:nvPr/>
        </p:nvSpPr>
        <p:spPr>
          <a:xfrm>
            <a:off x="609600" y="238125"/>
            <a:ext cx="792480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9525" tIns="9525" rIns="9525" bIns="9525" anchor="ctr">
            <a:noAutofit/>
          </a:bodyPr>
          <a:lstStyle/>
          <a:p>
            <a:pPr>
              <a:defRPr sz="900" b="0">
                <a:solidFill>
                  <a:srgbClr val="B4BDCB"/>
                </a:solidFill>
                <a:latin typeface="Calibri"/>
                <a:ea typeface="Calibri"/>
                <a:cs typeface="Calibri"/>
              </a:defRPr>
            </a:pPr>
            <a:r>
              <a:rPr sz="900" b="0">
                <a:solidFill>
                  <a:srgbClr val="B4BDCB"/>
                </a:solidFill>
                <a:latin typeface="Calibri"/>
                <a:ea typeface="Calibri"/>
                <a:cs typeface="Calibri"/>
              </a:rPr>
              <a:t>AI-Powered Virtual Humans: LLM-Powered Cognitive Architectures</a:t>
            </a:r>
          </a:p>
        </p:txBody>
      </p:sp>
      <p:sp>
        <p:nvSpPr>
          <p:cNvPr id="2" name="c3-text-146">
            <a:extLst>
              <a:ext uri="{FF2B5EF4-FFF2-40B4-BE49-F238E27FC236}">
                <a16:creationId xmlns:a16="http://schemas.microsoft.com/office/drawing/2014/main" id="{135EDEF8-D764-4E6E-8BAB-1080FE7C1CA7}"/>
              </a:ext>
            </a:extLst>
          </p:cNvPr>
          <p:cNvSpPr>
            <a:spLocks noGrp="1"/>
          </p:cNvSpPr>
          <p:nvPr/>
        </p:nvSpPr>
        <p:spPr>
          <a:xfrm>
            <a:off x="609600" y="657225"/>
            <a:ext cx="792480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9525" tIns="9525" rIns="9525" bIns="9525" anchor="ctr">
            <a:noAutofit/>
          </a:bodyPr>
          <a:lstStyle/>
          <a:p>
            <a:pPr>
              <a:defRPr sz="2700" b="1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2700" b="1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A Conversation as Message Objects [5]</a:t>
            </a:r>
          </a:p>
        </p:txBody>
      </p:sp>
      <p:sp>
        <p:nvSpPr>
          <p:cNvPr id="3" name="c3-text-147">
            <a:extLst>
              <a:ext uri="{FF2B5EF4-FFF2-40B4-BE49-F238E27FC236}">
                <a16:creationId xmlns:a16="http://schemas.microsoft.com/office/drawing/2014/main" id="{D91F04AC-D831-426B-8D30-7B98EA985B51}"/>
              </a:ext>
            </a:extLst>
          </p:cNvPr>
          <p:cNvSpPr>
            <a:spLocks noGrp="1"/>
          </p:cNvSpPr>
          <p:nvPr/>
        </p:nvSpPr>
        <p:spPr>
          <a:xfrm>
            <a:off x="6381750" y="4781550"/>
            <a:ext cx="17145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9525" tIns="9525" rIns="9525" bIns="9525" anchor="ctr">
            <a:noAutofit/>
          </a:bodyPr>
          <a:lstStyle/>
          <a:p>
            <a:pPr algn="r">
              <a:defRPr sz="750" b="0">
                <a:solidFill>
                  <a:srgbClr val="B4BDCB"/>
                </a:solidFill>
                <a:latin typeface="Calibri"/>
                <a:ea typeface="Calibri"/>
                <a:cs typeface="Calibri"/>
              </a:defRPr>
            </a:pPr>
            <a:r>
              <a:rPr sz="750" b="0">
                <a:solidFill>
                  <a:srgbClr val="B4BDCB"/>
                </a:solidFill>
                <a:latin typeface="Calibri"/>
                <a:ea typeface="Calibri"/>
                <a:cs typeface="Calibri"/>
              </a:rPr>
              <a:t>Module 1 · Chapter 03</a:t>
            </a:r>
          </a:p>
        </p:txBody>
      </p:sp>
      <p:sp>
        <p:nvSpPr>
          <p:cNvPr id="4" name="c3-shape-148">
            <a:extLst>
              <a:ext uri="{FF2B5EF4-FFF2-40B4-BE49-F238E27FC236}">
                <a16:creationId xmlns:a16="http://schemas.microsoft.com/office/drawing/2014/main" id="{97F03013-3A0E-4AB8-B95C-53CAA21D61BF}"/>
              </a:ext>
            </a:extLst>
          </p:cNvPr>
          <p:cNvSpPr>
            <a:spLocks noGrp="1"/>
          </p:cNvSpPr>
          <p:nvPr/>
        </p:nvSpPr>
        <p:spPr>
          <a:xfrm>
            <a:off x="609600" y="1638300"/>
            <a:ext cx="7924800" cy="2686050"/>
          </a:xfrm>
          <a:prstGeom prst="roundRect">
            <a:avLst>
              <a:gd name="adj" fmla="val 2837"/>
            </a:avLst>
          </a:prstGeom>
          <a:solidFill>
            <a:srgbClr val="121A27"/>
          </a:solidFill>
          <a:ln w="9525">
            <a:solidFill>
              <a:srgbClr val="3A4458"/>
            </a:solidFill>
          </a:ln>
        </p:spPr>
      </p:sp>
      <p:sp>
        <p:nvSpPr>
          <p:cNvPr id="5" name="c3-text-149">
            <a:extLst>
              <a:ext uri="{FF2B5EF4-FFF2-40B4-BE49-F238E27FC236}">
                <a16:creationId xmlns:a16="http://schemas.microsoft.com/office/drawing/2014/main" id="{CF445856-6603-412A-8DA3-B38D0EB09498}"/>
              </a:ext>
            </a:extLst>
          </p:cNvPr>
          <p:cNvSpPr>
            <a:spLocks noGrp="1"/>
          </p:cNvSpPr>
          <p:nvPr/>
        </p:nvSpPr>
        <p:spPr>
          <a:xfrm>
            <a:off x="781050" y="1771650"/>
            <a:ext cx="7581900" cy="2419350"/>
          </a:xfrm>
          <a:prstGeom prst="rect">
            <a:avLst/>
          </a:prstGeom>
          <a:noFill/>
          <a:ln w="0">
            <a:noFill/>
          </a:ln>
        </p:spPr>
        <p:txBody>
          <a:bodyPr wrap="square" lIns="9525" tIns="9525" rIns="9525" bIns="9525" anchor="t">
            <a:noAutofit/>
          </a:bodyPr>
          <a:lstStyle/>
          <a:p>
            <a:pPr>
              <a:defRPr sz="1650" b="0">
                <a:solidFill>
                  <a:srgbClr val="ECE6DE"/>
                </a:solidFill>
                <a:latin typeface="Consolas"/>
                <a:ea typeface="Consolas"/>
                <a:cs typeface="Consolas"/>
              </a:defRPr>
            </a:pPr>
            <a:r>
              <a:rPr sz="1650" b="0">
                <a:solidFill>
                  <a:srgbClr val="ECE6DE"/>
                </a:solidFill>
                <a:latin typeface="Consolas"/>
                <a:ea typeface="Consolas"/>
                <a:cs typeface="Consolas"/>
              </a:rPr>
              <a:t>messages = [</a:t>
            </a:r>
          </a:p>
          <a:p>
            <a:pPr>
              <a:defRPr sz="1650" b="0">
                <a:solidFill>
                  <a:srgbClr val="ECE6DE"/>
                </a:solidFill>
                <a:latin typeface="Consolas"/>
                <a:ea typeface="Consolas"/>
                <a:cs typeface="Consolas"/>
              </a:defRPr>
            </a:pPr>
            <a:r>
              <a:rPr sz="1650" b="0">
                <a:solidFill>
                  <a:srgbClr val="ECE6DE"/>
                </a:solidFill>
                <a:latin typeface="Consolas"/>
                <a:ea typeface="Consolas"/>
                <a:cs typeface="Consolas"/>
              </a:rPr>
              <a:t>    SystemMessage("You are a pirate museum guide."),</a:t>
            </a:r>
          </a:p>
          <a:p>
            <a:pPr>
              <a:defRPr sz="1650" b="0">
                <a:solidFill>
                  <a:srgbClr val="ECE6DE"/>
                </a:solidFill>
                <a:latin typeface="Consolas"/>
                <a:ea typeface="Consolas"/>
                <a:cs typeface="Consolas"/>
              </a:defRPr>
            </a:pPr>
            <a:r>
              <a:rPr sz="1650" b="0">
                <a:solidFill>
                  <a:srgbClr val="ECE6DE"/>
                </a:solidFill>
                <a:latin typeface="Consolas"/>
                <a:ea typeface="Consolas"/>
                <a:cs typeface="Consolas"/>
              </a:rPr>
              <a:t>    HumanMessage("Hello!"),</a:t>
            </a:r>
          </a:p>
          <a:p>
            <a:pPr>
              <a:defRPr sz="1650" b="0">
                <a:solidFill>
                  <a:srgbClr val="ECE6DE"/>
                </a:solidFill>
                <a:latin typeface="Consolas"/>
                <a:ea typeface="Consolas"/>
                <a:cs typeface="Consolas"/>
              </a:defRPr>
            </a:pPr>
            <a:r>
              <a:rPr sz="1650" b="0">
                <a:solidFill>
                  <a:srgbClr val="ECE6DE"/>
                </a:solidFill>
                <a:latin typeface="Consolas"/>
                <a:ea typeface="Consolas"/>
                <a:cs typeface="Consolas"/>
              </a:rPr>
              <a:t>    AIMessage("Ahoy, visitor!"),</a:t>
            </a:r>
          </a:p>
          <a:p>
            <a:pPr>
              <a:defRPr sz="1650" b="0">
                <a:solidFill>
                  <a:srgbClr val="ECE6DE"/>
                </a:solidFill>
                <a:latin typeface="Consolas"/>
                <a:ea typeface="Consolas"/>
                <a:cs typeface="Consolas"/>
              </a:defRPr>
            </a:pPr>
            <a:r>
              <a:rPr sz="1650" b="0">
                <a:solidFill>
                  <a:srgbClr val="ECE6DE"/>
                </a:solidFill>
                <a:latin typeface="Consolas"/>
                <a:ea typeface="Consolas"/>
                <a:cs typeface="Consolas"/>
              </a:rPr>
              <a:t>    HumanMessage("Can you help me explore?"),</a:t>
            </a:r>
          </a:p>
          <a:p>
            <a:pPr>
              <a:defRPr sz="1650" b="0">
                <a:solidFill>
                  <a:srgbClr val="ECE6DE"/>
                </a:solidFill>
                <a:latin typeface="Consolas"/>
                <a:ea typeface="Consolas"/>
                <a:cs typeface="Consolas"/>
              </a:defRPr>
            </a:pPr>
            <a:r>
              <a:rPr sz="1650" b="0">
                <a:solidFill>
                  <a:srgbClr val="ECE6DE"/>
                </a:solidFill>
                <a:latin typeface="Consolas"/>
                <a:ea typeface="Consolas"/>
                <a:cs typeface="Consolas"/>
              </a:rPr>
              <a:t>]</a:t>
            </a:r>
          </a:p>
          <a:p>
            <a:pPr>
              <a:defRPr sz="1650" b="0">
                <a:solidFill>
                  <a:srgbClr val="ECE6DE"/>
                </a:solidFill>
                <a:latin typeface="Consolas"/>
                <a:ea typeface="Consolas"/>
                <a:cs typeface="Consolas"/>
              </a:defRPr>
            </a:pPr>
            <a:r>
              <a:rPr sz="1650" b="0">
                <a:solidFill>
                  <a:srgbClr val="ECE6DE"/>
                </a:solidFill>
                <a:latin typeface="Consolas"/>
                <a:ea typeface="Consolas"/>
                <a:cs typeface="Consolas"/>
              </a:rPr>
              <a:t>for message in messages:</a:t>
            </a:r>
          </a:p>
          <a:p>
            <a:pPr>
              <a:defRPr sz="1650" b="0">
                <a:solidFill>
                  <a:srgbClr val="ECE6DE"/>
                </a:solidFill>
                <a:latin typeface="Consolas"/>
                <a:ea typeface="Consolas"/>
                <a:cs typeface="Consolas"/>
              </a:defRPr>
            </a:pPr>
            <a:r>
              <a:rPr sz="1650" b="0">
                <a:solidFill>
                  <a:srgbClr val="ECE6DE"/>
                </a:solidFill>
                <a:latin typeface="Consolas"/>
                <a:ea typeface="Consolas"/>
                <a:cs typeface="Consolas"/>
              </a:rPr>
              <a:t>    message.pretty_print()</a:t>
            </a:r>
          </a:p>
        </p:txBody>
      </p:sp>
      <p:sp>
        <p:nvSpPr>
          <p:cNvPr id="6" name="c3-text-312">
            <a:extLst>
              <a:ext uri="{FF2B5EF4-FFF2-40B4-BE49-F238E27FC236}">
                <a16:creationId xmlns:a16="http://schemas.microsoft.com/office/drawing/2014/main" id="{26D14F1D-A2AF-4692-B40B-0EFF44E68BE7}"/>
              </a:ext>
            </a:extLst>
          </p:cNvPr>
          <p:cNvSpPr>
            <a:spLocks noGrp="1"/>
          </p:cNvSpPr>
          <p:nvPr/>
        </p:nvSpPr>
        <p:spPr>
          <a:xfrm>
            <a:off x="8181975" y="4781550"/>
            <a:ext cx="352425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9525" tIns="9525" rIns="9525" bIns="9525" anchor="ctr">
            <a:noAutofit/>
          </a:bodyPr>
          <a:lstStyle/>
          <a:p>
            <a:pPr algn="r">
              <a:defRPr sz="750" b="0">
                <a:solidFill>
                  <a:srgbClr val="B4BDCB"/>
                </a:solidFill>
                <a:latin typeface="Calibri"/>
                <a:ea typeface="Calibri"/>
                <a:cs typeface="Calibri"/>
              </a:defRPr>
            </a:pPr>
            <a:r>
              <a:rPr sz="750" b="0">
                <a:solidFill>
                  <a:srgbClr val="B4BDCB"/>
                </a:solidFill>
                <a:latin typeface="Calibri"/>
                <a:ea typeface="Calibri"/>
                <a:cs typeface="Calibri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13563801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D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3-text-150">
            <a:extLst>
              <a:ext uri="{FF2B5EF4-FFF2-40B4-BE49-F238E27FC236}">
                <a16:creationId xmlns:a16="http://schemas.microsoft.com/office/drawing/2014/main" id="{E63C90A5-A9E8-4AC3-B17C-FCB0BF9C2278}"/>
              </a:ext>
            </a:extLst>
          </p:cNvPr>
          <p:cNvSpPr>
            <a:spLocks noGrp="1"/>
          </p:cNvSpPr>
          <p:nvPr/>
        </p:nvSpPr>
        <p:spPr>
          <a:xfrm>
            <a:off x="609600" y="238125"/>
            <a:ext cx="792480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9525" tIns="9525" rIns="9525" bIns="9525" anchor="ctr">
            <a:noAutofit/>
          </a:bodyPr>
          <a:lstStyle/>
          <a:p>
            <a:pPr>
              <a:defRPr sz="900" b="0">
                <a:solidFill>
                  <a:srgbClr val="B4BDCB"/>
                </a:solidFill>
                <a:latin typeface="Calibri"/>
                <a:ea typeface="Calibri"/>
                <a:cs typeface="Calibri"/>
              </a:defRPr>
            </a:pPr>
            <a:r>
              <a:rPr sz="900" b="0">
                <a:solidFill>
                  <a:srgbClr val="B4BDCB"/>
                </a:solidFill>
                <a:latin typeface="Calibri"/>
                <a:ea typeface="Calibri"/>
                <a:cs typeface="Calibri"/>
              </a:rPr>
              <a:t>AI-Powered Virtual Humans: LLM-Powered Cognitive Architectures</a:t>
            </a:r>
          </a:p>
        </p:txBody>
      </p:sp>
      <p:sp>
        <p:nvSpPr>
          <p:cNvPr id="2" name="c3-text-151">
            <a:extLst>
              <a:ext uri="{FF2B5EF4-FFF2-40B4-BE49-F238E27FC236}">
                <a16:creationId xmlns:a16="http://schemas.microsoft.com/office/drawing/2014/main" id="{A50FDD73-8922-4331-82E3-ECB989BF80EB}"/>
              </a:ext>
            </a:extLst>
          </p:cNvPr>
          <p:cNvSpPr>
            <a:spLocks noGrp="1"/>
          </p:cNvSpPr>
          <p:nvPr/>
        </p:nvSpPr>
        <p:spPr>
          <a:xfrm>
            <a:off x="609600" y="657225"/>
            <a:ext cx="792480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9525" tIns="9525" rIns="9525" bIns="9525" anchor="ctr">
            <a:noAutofit/>
          </a:bodyPr>
          <a:lstStyle/>
          <a:p>
            <a:pPr>
              <a:defRPr sz="2700" b="1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2700" b="1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Message Templates: Static and Dynamic Parts [6]</a:t>
            </a:r>
          </a:p>
        </p:txBody>
      </p:sp>
      <p:sp>
        <p:nvSpPr>
          <p:cNvPr id="3" name="c3-text-152">
            <a:extLst>
              <a:ext uri="{FF2B5EF4-FFF2-40B4-BE49-F238E27FC236}">
                <a16:creationId xmlns:a16="http://schemas.microsoft.com/office/drawing/2014/main" id="{C7896F04-F955-4870-80DF-FF2347219C79}"/>
              </a:ext>
            </a:extLst>
          </p:cNvPr>
          <p:cNvSpPr>
            <a:spLocks noGrp="1"/>
          </p:cNvSpPr>
          <p:nvPr/>
        </p:nvSpPr>
        <p:spPr>
          <a:xfrm>
            <a:off x="6381750" y="4781550"/>
            <a:ext cx="17145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9525" tIns="9525" rIns="9525" bIns="9525" anchor="ctr">
            <a:noAutofit/>
          </a:bodyPr>
          <a:lstStyle/>
          <a:p>
            <a:pPr algn="r">
              <a:defRPr sz="750" b="0">
                <a:solidFill>
                  <a:srgbClr val="B4BDCB"/>
                </a:solidFill>
                <a:latin typeface="Calibri"/>
                <a:ea typeface="Calibri"/>
                <a:cs typeface="Calibri"/>
              </a:defRPr>
            </a:pPr>
            <a:r>
              <a:rPr sz="750" b="0">
                <a:solidFill>
                  <a:srgbClr val="B4BDCB"/>
                </a:solidFill>
                <a:latin typeface="Calibri"/>
                <a:ea typeface="Calibri"/>
                <a:cs typeface="Calibri"/>
              </a:rPr>
              <a:t>Module 1 · Chapter 03</a:t>
            </a:r>
          </a:p>
        </p:txBody>
      </p:sp>
      <p:sp>
        <p:nvSpPr>
          <p:cNvPr id="4" name="c3-shape-153">
            <a:extLst>
              <a:ext uri="{FF2B5EF4-FFF2-40B4-BE49-F238E27FC236}">
                <a16:creationId xmlns:a16="http://schemas.microsoft.com/office/drawing/2014/main" id="{8F68584B-98FB-4FBF-8786-D9E67ACADDFC}"/>
              </a:ext>
            </a:extLst>
          </p:cNvPr>
          <p:cNvSpPr>
            <a:spLocks noGrp="1"/>
          </p:cNvSpPr>
          <p:nvPr/>
        </p:nvSpPr>
        <p:spPr>
          <a:xfrm>
            <a:off x="609600" y="1762125"/>
            <a:ext cx="7924800" cy="2209800"/>
          </a:xfrm>
          <a:prstGeom prst="roundRect">
            <a:avLst>
              <a:gd name="adj" fmla="val 3448"/>
            </a:avLst>
          </a:prstGeom>
          <a:solidFill>
            <a:srgbClr val="121A27"/>
          </a:solidFill>
          <a:ln w="9525">
            <a:solidFill>
              <a:srgbClr val="3A4458"/>
            </a:solidFill>
          </a:ln>
        </p:spPr>
      </p:sp>
      <p:sp>
        <p:nvSpPr>
          <p:cNvPr id="5" name="c3-text-154">
            <a:extLst>
              <a:ext uri="{FF2B5EF4-FFF2-40B4-BE49-F238E27FC236}">
                <a16:creationId xmlns:a16="http://schemas.microsoft.com/office/drawing/2014/main" id="{8E8E5850-BE10-4003-806F-8EA0EE46A9DF}"/>
              </a:ext>
            </a:extLst>
          </p:cNvPr>
          <p:cNvSpPr>
            <a:spLocks noGrp="1"/>
          </p:cNvSpPr>
          <p:nvPr/>
        </p:nvSpPr>
        <p:spPr>
          <a:xfrm>
            <a:off x="781050" y="1895475"/>
            <a:ext cx="7581900" cy="1943100"/>
          </a:xfrm>
          <a:prstGeom prst="rect">
            <a:avLst/>
          </a:prstGeom>
          <a:noFill/>
          <a:ln w="0">
            <a:noFill/>
          </a:ln>
        </p:spPr>
        <p:txBody>
          <a:bodyPr wrap="square" lIns="9525" tIns="9525" rIns="9525" bIns="9525" anchor="t">
            <a:noAutofit/>
          </a:bodyPr>
          <a:lstStyle/>
          <a:p>
            <a:pPr>
              <a:defRPr sz="1575" b="0">
                <a:solidFill>
                  <a:srgbClr val="ECE6DE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ECE6DE"/>
                </a:solidFill>
                <a:latin typeface="Consolas"/>
                <a:ea typeface="Consolas"/>
                <a:cs typeface="Consolas"/>
              </a:rPr>
              <a:t>system_template = SystemMessagePromptTemplate.from_template(</a:t>
            </a:r>
          </a:p>
          <a:p>
            <a:pPr>
              <a:defRPr sz="1575" b="0">
                <a:solidFill>
                  <a:srgbClr val="ECE6DE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ECE6DE"/>
                </a:solidFill>
                <a:latin typeface="Consolas"/>
                <a:ea typeface="Consolas"/>
                <a:cs typeface="Consolas"/>
              </a:rPr>
              <a:t>    "You are {character}. Speak in a {style} style."</a:t>
            </a:r>
          </a:p>
          <a:p>
            <a:pPr>
              <a:defRPr sz="1575" b="0">
                <a:solidFill>
                  <a:srgbClr val="ECE6DE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ECE6DE"/>
                </a:solidFill>
                <a:latin typeface="Consolas"/>
                <a:ea typeface="Consolas"/>
                <a:cs typeface="Consolas"/>
              </a:rPr>
              <a:t>)</a:t>
            </a:r>
          </a:p>
          <a:p>
            <a:pPr>
              <a:defRPr sz="1575" b="0">
                <a:solidFill>
                  <a:srgbClr val="ECE6DE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ECE6DE"/>
                </a:solidFill>
                <a:latin typeface="Consolas"/>
                <a:ea typeface="Consolas"/>
                <a:cs typeface="Consolas"/>
              </a:rPr>
              <a:t>message = system_template.format(</a:t>
            </a:r>
          </a:p>
          <a:p>
            <a:pPr>
              <a:defRPr sz="1575" b="0">
                <a:solidFill>
                  <a:srgbClr val="ECE6DE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ECE6DE"/>
                </a:solidFill>
                <a:latin typeface="Consolas"/>
                <a:ea typeface="Consolas"/>
                <a:cs typeface="Consolas"/>
              </a:rPr>
              <a:t>    character="PippoBot", style="pirate"</a:t>
            </a:r>
          </a:p>
          <a:p>
            <a:pPr>
              <a:defRPr sz="1575" b="0">
                <a:solidFill>
                  <a:srgbClr val="ECE6DE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ECE6DE"/>
                </a:solidFill>
                <a:latin typeface="Consolas"/>
                <a:ea typeface="Consolas"/>
                <a:cs typeface="Consolas"/>
              </a:rPr>
              <a:t>)</a:t>
            </a:r>
          </a:p>
        </p:txBody>
      </p:sp>
      <p:sp>
        <p:nvSpPr>
          <p:cNvPr id="6" name="c3-shape-155">
            <a:extLst>
              <a:ext uri="{FF2B5EF4-FFF2-40B4-BE49-F238E27FC236}">
                <a16:creationId xmlns:a16="http://schemas.microsoft.com/office/drawing/2014/main" id="{CC81E48A-23F7-4452-9918-4979E7556630}"/>
              </a:ext>
            </a:extLst>
          </p:cNvPr>
          <p:cNvSpPr>
            <a:spLocks noGrp="1"/>
          </p:cNvSpPr>
          <p:nvPr/>
        </p:nvSpPr>
        <p:spPr>
          <a:xfrm>
            <a:off x="609600" y="4191000"/>
            <a:ext cx="7924800" cy="504825"/>
          </a:xfrm>
          <a:prstGeom prst="roundRect">
            <a:avLst>
              <a:gd name="adj" fmla="val 15094"/>
            </a:avLst>
          </a:prstGeom>
          <a:solidFill>
            <a:srgbClr val="121A27"/>
          </a:solidFill>
          <a:ln w="9525">
            <a:solidFill>
              <a:srgbClr val="3A4458"/>
            </a:solidFill>
          </a:ln>
        </p:spPr>
      </p:sp>
      <p:sp>
        <p:nvSpPr>
          <p:cNvPr id="7" name="c3-text-156">
            <a:extLst>
              <a:ext uri="{FF2B5EF4-FFF2-40B4-BE49-F238E27FC236}">
                <a16:creationId xmlns:a16="http://schemas.microsoft.com/office/drawing/2014/main" id="{F97EDD09-111C-4C48-862B-79EB5BC92CE1}"/>
              </a:ext>
            </a:extLst>
          </p:cNvPr>
          <p:cNvSpPr>
            <a:spLocks noGrp="1"/>
          </p:cNvSpPr>
          <p:nvPr/>
        </p:nvSpPr>
        <p:spPr>
          <a:xfrm>
            <a:off x="800100" y="4276725"/>
            <a:ext cx="754380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9525" tIns="9525" rIns="9525" bIns="9525" anchor="ctr">
            <a:noAutofit/>
          </a:bodyPr>
          <a:lstStyle/>
          <a:p>
            <a:pPr>
              <a:defRPr sz="1725" b="0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Fixed text stays the same; braces mark values supplied at each call.</a:t>
            </a:r>
          </a:p>
        </p:txBody>
      </p:sp>
      <p:sp>
        <p:nvSpPr>
          <p:cNvPr id="8" name="c3-text-313">
            <a:extLst>
              <a:ext uri="{FF2B5EF4-FFF2-40B4-BE49-F238E27FC236}">
                <a16:creationId xmlns:a16="http://schemas.microsoft.com/office/drawing/2014/main" id="{5CECAD0B-3313-46A8-BA76-42C39888DE9B}"/>
              </a:ext>
            </a:extLst>
          </p:cNvPr>
          <p:cNvSpPr>
            <a:spLocks noGrp="1"/>
          </p:cNvSpPr>
          <p:nvPr/>
        </p:nvSpPr>
        <p:spPr>
          <a:xfrm>
            <a:off x="8181975" y="4781550"/>
            <a:ext cx="352425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9525" tIns="9525" rIns="9525" bIns="9525" anchor="ctr">
            <a:noAutofit/>
          </a:bodyPr>
          <a:lstStyle/>
          <a:p>
            <a:pPr algn="r">
              <a:defRPr sz="750" b="0">
                <a:solidFill>
                  <a:srgbClr val="B4BDCB"/>
                </a:solidFill>
                <a:latin typeface="Calibri"/>
                <a:ea typeface="Calibri"/>
                <a:cs typeface="Calibri"/>
              </a:defRPr>
            </a:pPr>
            <a:r>
              <a:rPr sz="750" b="0">
                <a:solidFill>
                  <a:srgbClr val="B4BDCB"/>
                </a:solidFill>
                <a:latin typeface="Calibri"/>
                <a:ea typeface="Calibri"/>
                <a:cs typeface="Calibri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53275000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D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3-text-157">
            <a:extLst>
              <a:ext uri="{FF2B5EF4-FFF2-40B4-BE49-F238E27FC236}">
                <a16:creationId xmlns:a16="http://schemas.microsoft.com/office/drawing/2014/main" id="{53DBE10B-508C-48AB-8CF5-9ACFF26C385A}"/>
              </a:ext>
            </a:extLst>
          </p:cNvPr>
          <p:cNvSpPr>
            <a:spLocks noGrp="1"/>
          </p:cNvSpPr>
          <p:nvPr/>
        </p:nvSpPr>
        <p:spPr>
          <a:xfrm>
            <a:off x="609600" y="238125"/>
            <a:ext cx="792480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9525" tIns="9525" rIns="9525" bIns="9525" anchor="ctr">
            <a:noAutofit/>
          </a:bodyPr>
          <a:lstStyle/>
          <a:p>
            <a:pPr>
              <a:defRPr sz="900" b="0">
                <a:solidFill>
                  <a:srgbClr val="B4BDCB"/>
                </a:solidFill>
                <a:latin typeface="Calibri"/>
                <a:ea typeface="Calibri"/>
                <a:cs typeface="Calibri"/>
              </a:defRPr>
            </a:pPr>
            <a:r>
              <a:rPr sz="900" b="0">
                <a:solidFill>
                  <a:srgbClr val="B4BDCB"/>
                </a:solidFill>
                <a:latin typeface="Calibri"/>
                <a:ea typeface="Calibri"/>
                <a:cs typeface="Calibri"/>
              </a:rPr>
              <a:t>AI-Powered Virtual Humans: LLM-Powered Cognitive Architectures</a:t>
            </a:r>
          </a:p>
        </p:txBody>
      </p:sp>
      <p:sp>
        <p:nvSpPr>
          <p:cNvPr id="2" name="c3-text-158">
            <a:extLst>
              <a:ext uri="{FF2B5EF4-FFF2-40B4-BE49-F238E27FC236}">
                <a16:creationId xmlns:a16="http://schemas.microsoft.com/office/drawing/2014/main" id="{33AB33A1-CA0E-48DA-856F-01C1CE654695}"/>
              </a:ext>
            </a:extLst>
          </p:cNvPr>
          <p:cNvSpPr>
            <a:spLocks noGrp="1"/>
          </p:cNvSpPr>
          <p:nvPr/>
        </p:nvSpPr>
        <p:spPr>
          <a:xfrm>
            <a:off x="609600" y="657225"/>
            <a:ext cx="792480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9525" tIns="9525" rIns="9525" bIns="9525" anchor="ctr">
            <a:noAutofit/>
          </a:bodyPr>
          <a:lstStyle/>
          <a:p>
            <a:pPr>
              <a:defRPr sz="2700" b="1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2700" b="1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One Dictionary Fills the Chat Prompt [6]</a:t>
            </a:r>
          </a:p>
        </p:txBody>
      </p:sp>
      <p:sp>
        <p:nvSpPr>
          <p:cNvPr id="3" name="c3-text-159">
            <a:extLst>
              <a:ext uri="{FF2B5EF4-FFF2-40B4-BE49-F238E27FC236}">
                <a16:creationId xmlns:a16="http://schemas.microsoft.com/office/drawing/2014/main" id="{387F105B-A4A0-4C45-B95E-60747FA904D7}"/>
              </a:ext>
            </a:extLst>
          </p:cNvPr>
          <p:cNvSpPr>
            <a:spLocks noGrp="1"/>
          </p:cNvSpPr>
          <p:nvPr/>
        </p:nvSpPr>
        <p:spPr>
          <a:xfrm>
            <a:off x="6381750" y="4781550"/>
            <a:ext cx="17145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9525" tIns="9525" rIns="9525" bIns="9525" anchor="ctr">
            <a:noAutofit/>
          </a:bodyPr>
          <a:lstStyle/>
          <a:p>
            <a:pPr algn="r">
              <a:defRPr sz="750" b="0">
                <a:solidFill>
                  <a:srgbClr val="B4BDCB"/>
                </a:solidFill>
                <a:latin typeface="Calibri"/>
                <a:ea typeface="Calibri"/>
                <a:cs typeface="Calibri"/>
              </a:defRPr>
            </a:pPr>
            <a:r>
              <a:rPr sz="750" b="0">
                <a:solidFill>
                  <a:srgbClr val="B4BDCB"/>
                </a:solidFill>
                <a:latin typeface="Calibri"/>
                <a:ea typeface="Calibri"/>
                <a:cs typeface="Calibri"/>
              </a:rPr>
              <a:t>Module 1 · Chapter 03</a:t>
            </a:r>
          </a:p>
        </p:txBody>
      </p:sp>
      <p:sp>
        <p:nvSpPr>
          <p:cNvPr id="4" name="c3-shape-160">
            <a:extLst>
              <a:ext uri="{FF2B5EF4-FFF2-40B4-BE49-F238E27FC236}">
                <a16:creationId xmlns:a16="http://schemas.microsoft.com/office/drawing/2014/main" id="{E3444251-38A8-40A9-847B-9B853B2D095D}"/>
              </a:ext>
            </a:extLst>
          </p:cNvPr>
          <p:cNvSpPr>
            <a:spLocks noGrp="1"/>
          </p:cNvSpPr>
          <p:nvPr/>
        </p:nvSpPr>
        <p:spPr>
          <a:xfrm>
            <a:off x="609600" y="1666875"/>
            <a:ext cx="7924800" cy="2428875"/>
          </a:xfrm>
          <a:prstGeom prst="roundRect">
            <a:avLst>
              <a:gd name="adj" fmla="val 3137"/>
            </a:avLst>
          </a:prstGeom>
          <a:solidFill>
            <a:srgbClr val="121A27"/>
          </a:solidFill>
          <a:ln w="9525">
            <a:solidFill>
              <a:srgbClr val="3A4458"/>
            </a:solidFill>
          </a:ln>
        </p:spPr>
      </p:sp>
      <p:sp>
        <p:nvSpPr>
          <p:cNvPr id="5" name="c3-text-161">
            <a:extLst>
              <a:ext uri="{FF2B5EF4-FFF2-40B4-BE49-F238E27FC236}">
                <a16:creationId xmlns:a16="http://schemas.microsoft.com/office/drawing/2014/main" id="{D59E1A29-FE8B-497C-9F26-835F18B5C8B0}"/>
              </a:ext>
            </a:extLst>
          </p:cNvPr>
          <p:cNvSpPr>
            <a:spLocks noGrp="1"/>
          </p:cNvSpPr>
          <p:nvPr/>
        </p:nvSpPr>
        <p:spPr>
          <a:xfrm>
            <a:off x="781050" y="1800225"/>
            <a:ext cx="7581900" cy="2162175"/>
          </a:xfrm>
          <a:prstGeom prst="rect">
            <a:avLst/>
          </a:prstGeom>
          <a:noFill/>
          <a:ln w="0">
            <a:noFill/>
          </a:ln>
        </p:spPr>
        <p:txBody>
          <a:bodyPr wrap="square" lIns="9525" tIns="9525" rIns="9525" bIns="9525" anchor="t">
            <a:noAutofit/>
          </a:bodyPr>
          <a:lstStyle/>
          <a:p>
            <a:pPr>
              <a:defRPr sz="1575" b="0">
                <a:solidFill>
                  <a:srgbClr val="ECE6DE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ECE6DE"/>
                </a:solidFill>
                <a:latin typeface="Consolas"/>
                <a:ea typeface="Consolas"/>
                <a:cs typeface="Consolas"/>
              </a:rPr>
              <a:t>chat_prompt = ChatPromptTemplate.from_messages([</a:t>
            </a:r>
          </a:p>
          <a:p>
            <a:pPr>
              <a:defRPr sz="1575" b="0">
                <a:solidFill>
                  <a:srgbClr val="ECE6DE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ECE6DE"/>
                </a:solidFill>
                <a:latin typeface="Consolas"/>
                <a:ea typeface="Consolas"/>
                <a:cs typeface="Consolas"/>
              </a:rPr>
              <a:t>    system_template, human_template,</a:t>
            </a:r>
          </a:p>
          <a:p>
            <a:pPr>
              <a:defRPr sz="1575" b="0">
                <a:solidFill>
                  <a:srgbClr val="ECE6DE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ECE6DE"/>
                </a:solidFill>
                <a:latin typeface="Consolas"/>
                <a:ea typeface="Consolas"/>
                <a:cs typeface="Consolas"/>
              </a:rPr>
              <a:t>])</a:t>
            </a:r>
          </a:p>
          <a:p>
            <a:pPr>
              <a:defRPr sz="1575" b="0">
                <a:solidFill>
                  <a:srgbClr val="ECE6DE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ECE6DE"/>
                </a:solidFill>
                <a:latin typeface="Consolas"/>
                <a:ea typeface="Consolas"/>
                <a:cs typeface="Consolas"/>
              </a:rPr>
              <a:t>values = {"character": "PippoBot", "style": "pirate",</a:t>
            </a:r>
          </a:p>
          <a:p>
            <a:pPr>
              <a:defRPr sz="1575" b="0">
                <a:solidFill>
                  <a:srgbClr val="ECE6DE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ECE6DE"/>
                </a:solidFill>
                <a:latin typeface="Consolas"/>
                <a:ea typeface="Consolas"/>
                <a:cs typeface="Consolas"/>
              </a:rPr>
              <a:t>          "user_input": "Can you help me explore?"}</a:t>
            </a:r>
          </a:p>
          <a:p>
            <a:endParaRPr sz="1575" b="0">
              <a:solidFill>
                <a:srgbClr val="ECE6DE"/>
              </a:solidFill>
              <a:latin typeface="Consolas"/>
              <a:ea typeface="Consolas"/>
              <a:cs typeface="Consolas"/>
            </a:endParaRPr>
          </a:p>
          <a:p>
            <a:pPr>
              <a:defRPr sz="1575" b="0">
                <a:solidFill>
                  <a:srgbClr val="ECE6DE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ECE6DE"/>
                </a:solidFill>
                <a:latin typeface="Consolas"/>
                <a:ea typeface="Consolas"/>
                <a:cs typeface="Consolas"/>
              </a:rPr>
              <a:t>chat_chain = chat_prompt | text_chain</a:t>
            </a:r>
          </a:p>
          <a:p>
            <a:pPr>
              <a:defRPr sz="1575" b="0">
                <a:solidFill>
                  <a:srgbClr val="ECE6DE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ECE6DE"/>
                </a:solidFill>
                <a:latin typeface="Consolas"/>
                <a:ea typeface="Consolas"/>
                <a:cs typeface="Consolas"/>
              </a:rPr>
              <a:t>chat_chain.invoke(values)</a:t>
            </a:r>
          </a:p>
        </p:txBody>
      </p:sp>
      <p:sp>
        <p:nvSpPr>
          <p:cNvPr id="6" name="c3-shape-162">
            <a:extLst>
              <a:ext uri="{FF2B5EF4-FFF2-40B4-BE49-F238E27FC236}">
                <a16:creationId xmlns:a16="http://schemas.microsoft.com/office/drawing/2014/main" id="{CCAB4FD9-8531-489C-87D6-0EF75A432F67}"/>
              </a:ext>
            </a:extLst>
          </p:cNvPr>
          <p:cNvSpPr>
            <a:spLocks noGrp="1"/>
          </p:cNvSpPr>
          <p:nvPr/>
        </p:nvSpPr>
        <p:spPr>
          <a:xfrm>
            <a:off x="609600" y="4191000"/>
            <a:ext cx="7924800" cy="504825"/>
          </a:xfrm>
          <a:prstGeom prst="roundRect">
            <a:avLst>
              <a:gd name="adj" fmla="val 15094"/>
            </a:avLst>
          </a:prstGeom>
          <a:solidFill>
            <a:srgbClr val="121A27"/>
          </a:solidFill>
          <a:ln w="9525">
            <a:solidFill>
              <a:srgbClr val="3A4458"/>
            </a:solidFill>
          </a:ln>
        </p:spPr>
      </p:sp>
      <p:sp>
        <p:nvSpPr>
          <p:cNvPr id="7" name="c3-text-163">
            <a:extLst>
              <a:ext uri="{FF2B5EF4-FFF2-40B4-BE49-F238E27FC236}">
                <a16:creationId xmlns:a16="http://schemas.microsoft.com/office/drawing/2014/main" id="{88CD5829-5BE1-4C28-84D2-66F6B8DC845B}"/>
              </a:ext>
            </a:extLst>
          </p:cNvPr>
          <p:cNvSpPr>
            <a:spLocks noGrp="1"/>
          </p:cNvSpPr>
          <p:nvPr/>
        </p:nvSpPr>
        <p:spPr>
          <a:xfrm>
            <a:off x="800100" y="4276725"/>
            <a:ext cx="754380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9525" tIns="9525" rIns="9525" bIns="9525" anchor="ctr">
            <a:noAutofit/>
          </a:bodyPr>
          <a:lstStyle/>
          <a:p>
            <a:pPr>
              <a:defRPr sz="1725" b="0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The dictionary fills the variables in all message templates.</a:t>
            </a:r>
          </a:p>
        </p:txBody>
      </p:sp>
      <p:sp>
        <p:nvSpPr>
          <p:cNvPr id="8" name="c3-text-314">
            <a:extLst>
              <a:ext uri="{FF2B5EF4-FFF2-40B4-BE49-F238E27FC236}">
                <a16:creationId xmlns:a16="http://schemas.microsoft.com/office/drawing/2014/main" id="{6C326FFB-26C8-40B1-8DCF-F973FA440917}"/>
              </a:ext>
            </a:extLst>
          </p:cNvPr>
          <p:cNvSpPr>
            <a:spLocks noGrp="1"/>
          </p:cNvSpPr>
          <p:nvPr/>
        </p:nvSpPr>
        <p:spPr>
          <a:xfrm>
            <a:off x="8181975" y="4781550"/>
            <a:ext cx="352425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9525" tIns="9525" rIns="9525" bIns="9525" anchor="ctr">
            <a:noAutofit/>
          </a:bodyPr>
          <a:lstStyle/>
          <a:p>
            <a:pPr algn="r">
              <a:defRPr sz="750" b="0">
                <a:solidFill>
                  <a:srgbClr val="B4BDCB"/>
                </a:solidFill>
                <a:latin typeface="Calibri"/>
                <a:ea typeface="Calibri"/>
                <a:cs typeface="Calibri"/>
              </a:defRPr>
            </a:pPr>
            <a:r>
              <a:rPr sz="750" b="0">
                <a:solidFill>
                  <a:srgbClr val="B4BDCB"/>
                </a:solidFill>
                <a:latin typeface="Calibri"/>
                <a:ea typeface="Calibri"/>
                <a:cs typeface="Calibri"/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200844588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D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c3-text-164">
            <a:extLst>
              <a:ext uri="{FF2B5EF4-FFF2-40B4-BE49-F238E27FC236}">
                <a16:creationId xmlns:a16="http://schemas.microsoft.com/office/drawing/2014/main" id="{DDBB6DFC-47B6-426A-A939-1622F8739745}"/>
              </a:ext>
            </a:extLst>
          </p:cNvPr>
          <p:cNvSpPr>
            <a:spLocks noGrp="1"/>
          </p:cNvSpPr>
          <p:nvPr/>
        </p:nvSpPr>
        <p:spPr>
          <a:xfrm>
            <a:off x="609600" y="238125"/>
            <a:ext cx="792480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9525" tIns="9525" rIns="9525" bIns="9525" anchor="ctr">
            <a:noAutofit/>
          </a:bodyPr>
          <a:lstStyle/>
          <a:p>
            <a:pPr>
              <a:defRPr sz="900" b="0">
                <a:solidFill>
                  <a:srgbClr val="B4BDCB"/>
                </a:solidFill>
                <a:latin typeface="Calibri"/>
                <a:ea typeface="Calibri"/>
                <a:cs typeface="Calibri"/>
              </a:defRPr>
            </a:pPr>
            <a:r>
              <a:rPr sz="900" b="0">
                <a:solidFill>
                  <a:srgbClr val="B4BDCB"/>
                </a:solidFill>
                <a:latin typeface="Calibri"/>
                <a:ea typeface="Calibri"/>
                <a:cs typeface="Calibri"/>
              </a:rPr>
              <a:t>AI-Powered Virtual Humans: LLM-Powered Cognitive Architectures</a:t>
            </a:r>
          </a:p>
        </p:txBody>
      </p:sp>
      <p:sp>
        <p:nvSpPr>
          <p:cNvPr id="2" name="c3-text-165">
            <a:extLst>
              <a:ext uri="{FF2B5EF4-FFF2-40B4-BE49-F238E27FC236}">
                <a16:creationId xmlns:a16="http://schemas.microsoft.com/office/drawing/2014/main" id="{EBA97455-8061-4A49-8094-AB4D53260383}"/>
              </a:ext>
            </a:extLst>
          </p:cNvPr>
          <p:cNvSpPr>
            <a:spLocks noGrp="1"/>
          </p:cNvSpPr>
          <p:nvPr/>
        </p:nvSpPr>
        <p:spPr>
          <a:xfrm>
            <a:off x="609600" y="657225"/>
            <a:ext cx="792480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9525" tIns="9525" rIns="9525" bIns="9525" anchor="ctr">
            <a:noAutofit/>
          </a:bodyPr>
          <a:lstStyle/>
          <a:p>
            <a:pPr>
              <a:defRPr sz="2700" b="1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2700" b="1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The Same Guardrail with Chat Templates</a:t>
            </a:r>
          </a:p>
        </p:txBody>
      </p:sp>
      <p:sp>
        <p:nvSpPr>
          <p:cNvPr id="3" name="c3-text-166">
            <a:extLst>
              <a:ext uri="{FF2B5EF4-FFF2-40B4-BE49-F238E27FC236}">
                <a16:creationId xmlns:a16="http://schemas.microsoft.com/office/drawing/2014/main" id="{4E95C912-A681-4854-A666-9966F9DF1C3E}"/>
              </a:ext>
            </a:extLst>
          </p:cNvPr>
          <p:cNvSpPr>
            <a:spLocks noGrp="1"/>
          </p:cNvSpPr>
          <p:nvPr/>
        </p:nvSpPr>
        <p:spPr>
          <a:xfrm>
            <a:off x="6381750" y="4781550"/>
            <a:ext cx="17145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9525" tIns="9525" rIns="9525" bIns="9525" anchor="ctr">
            <a:noAutofit/>
          </a:bodyPr>
          <a:lstStyle/>
          <a:p>
            <a:pPr algn="r">
              <a:defRPr sz="750" b="0">
                <a:solidFill>
                  <a:srgbClr val="B4BDCB"/>
                </a:solidFill>
                <a:latin typeface="Calibri"/>
                <a:ea typeface="Calibri"/>
                <a:cs typeface="Calibri"/>
              </a:defRPr>
            </a:pPr>
            <a:r>
              <a:rPr sz="750" b="0">
                <a:solidFill>
                  <a:srgbClr val="B4BDCB"/>
                </a:solidFill>
                <a:latin typeface="Calibri"/>
                <a:ea typeface="Calibri"/>
                <a:cs typeface="Calibri"/>
              </a:rPr>
              <a:t>Module 1 · Chapter 03</a:t>
            </a:r>
          </a:p>
        </p:txBody>
      </p:sp>
      <p:sp>
        <p:nvSpPr>
          <p:cNvPr id="4" name="c3-shape-167">
            <a:extLst>
              <a:ext uri="{FF2B5EF4-FFF2-40B4-BE49-F238E27FC236}">
                <a16:creationId xmlns:a16="http://schemas.microsoft.com/office/drawing/2014/main" id="{2D2DCF58-50F5-4072-BFD8-356CFD877784}"/>
              </a:ext>
            </a:extLst>
          </p:cNvPr>
          <p:cNvSpPr>
            <a:spLocks noGrp="1"/>
          </p:cNvSpPr>
          <p:nvPr/>
        </p:nvSpPr>
        <p:spPr>
          <a:xfrm>
            <a:off x="609600" y="2047875"/>
            <a:ext cx="3771900" cy="2009775"/>
          </a:xfrm>
          <a:prstGeom prst="roundRect">
            <a:avLst>
              <a:gd name="adj" fmla="val 3791"/>
            </a:avLst>
          </a:prstGeom>
          <a:solidFill>
            <a:srgbClr val="121A27"/>
          </a:solidFill>
          <a:ln w="9525">
            <a:solidFill>
              <a:srgbClr val="3A4458"/>
            </a:solidFill>
          </a:ln>
        </p:spPr>
      </p:sp>
      <p:sp>
        <p:nvSpPr>
          <p:cNvPr id="5" name="c3-shape-168">
            <a:extLst>
              <a:ext uri="{FF2B5EF4-FFF2-40B4-BE49-F238E27FC236}">
                <a16:creationId xmlns:a16="http://schemas.microsoft.com/office/drawing/2014/main" id="{F5856B7F-63D4-4077-8BCD-4FD9F1783404}"/>
              </a:ext>
            </a:extLst>
          </p:cNvPr>
          <p:cNvSpPr>
            <a:spLocks noGrp="1"/>
          </p:cNvSpPr>
          <p:nvPr/>
        </p:nvSpPr>
        <p:spPr>
          <a:xfrm>
            <a:off x="800100" y="2209800"/>
            <a:ext cx="342900" cy="9525"/>
          </a:xfrm>
          <a:prstGeom prst="rect">
            <a:avLst/>
          </a:prstGeom>
          <a:solidFill>
            <a:srgbClr val="D9A06B"/>
          </a:solidFill>
          <a:ln w="9525">
            <a:solidFill>
              <a:srgbClr val="D9A06B"/>
            </a:solidFill>
          </a:ln>
        </p:spPr>
      </p:sp>
      <p:sp>
        <p:nvSpPr>
          <p:cNvPr id="6" name="c3-text-169">
            <a:extLst>
              <a:ext uri="{FF2B5EF4-FFF2-40B4-BE49-F238E27FC236}">
                <a16:creationId xmlns:a16="http://schemas.microsoft.com/office/drawing/2014/main" id="{B825298D-E0AF-4ED9-8A3D-48F1F89EBB90}"/>
              </a:ext>
            </a:extLst>
          </p:cNvPr>
          <p:cNvSpPr>
            <a:spLocks noGrp="1"/>
          </p:cNvSpPr>
          <p:nvPr/>
        </p:nvSpPr>
        <p:spPr>
          <a:xfrm>
            <a:off x="800100" y="2305050"/>
            <a:ext cx="33909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9525" tIns="9525" rIns="9525" bIns="9525" anchor="ctr">
            <a:noAutofit/>
          </a:bodyPr>
          <a:lstStyle/>
          <a:p>
            <a:pPr>
              <a:defRPr sz="1350" b="0">
                <a:solidFill>
                  <a:srgbClr val="D9A06B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D9A06B"/>
                </a:solidFill>
                <a:latin typeface="Calibri"/>
                <a:ea typeface="Calibri"/>
                <a:cs typeface="Calibri"/>
              </a:rPr>
              <a:t>System: fixed rules</a:t>
            </a:r>
          </a:p>
        </p:txBody>
      </p:sp>
      <p:sp>
        <p:nvSpPr>
          <p:cNvPr id="7" name="c3-text-170">
            <a:extLst>
              <a:ext uri="{FF2B5EF4-FFF2-40B4-BE49-F238E27FC236}">
                <a16:creationId xmlns:a16="http://schemas.microsoft.com/office/drawing/2014/main" id="{EDB96259-2105-4909-ACD0-279688B10717}"/>
              </a:ext>
            </a:extLst>
          </p:cNvPr>
          <p:cNvSpPr>
            <a:spLocks noGrp="1"/>
          </p:cNvSpPr>
          <p:nvPr/>
        </p:nvSpPr>
        <p:spPr>
          <a:xfrm>
            <a:off x="800100" y="2647950"/>
            <a:ext cx="3390900" cy="1285875"/>
          </a:xfrm>
          <a:prstGeom prst="rect">
            <a:avLst/>
          </a:prstGeom>
          <a:noFill/>
          <a:ln w="0">
            <a:noFill/>
          </a:ln>
        </p:spPr>
        <p:txBody>
          <a:bodyPr wrap="square" lIns="9525" tIns="9525" rIns="9525" bIns="9525" anchor="t">
            <a:noAutofit/>
          </a:bodyPr>
          <a:lstStyle/>
          <a:p>
            <a:pPr>
              <a:defRPr sz="1725" b="0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If the text discusses football,</a:t>
            </a:r>
          </a:p>
          <a:p>
            <a:pPr>
              <a:defRPr sz="1725" b="0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replace it with the refusal.</a:t>
            </a:r>
          </a:p>
          <a:p>
            <a:pPr>
              <a:defRPr sz="1725" b="0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Otherwise, keep it unchanged.</a:t>
            </a:r>
          </a:p>
        </p:txBody>
      </p:sp>
      <p:sp>
        <p:nvSpPr>
          <p:cNvPr id="8" name="c3-shape-171">
            <a:extLst>
              <a:ext uri="{FF2B5EF4-FFF2-40B4-BE49-F238E27FC236}">
                <a16:creationId xmlns:a16="http://schemas.microsoft.com/office/drawing/2014/main" id="{CAF562FA-FFFC-453A-A4EB-2C4118AD6383}"/>
              </a:ext>
            </a:extLst>
          </p:cNvPr>
          <p:cNvSpPr>
            <a:spLocks noGrp="1"/>
          </p:cNvSpPr>
          <p:nvPr/>
        </p:nvSpPr>
        <p:spPr>
          <a:xfrm>
            <a:off x="4762500" y="2047875"/>
            <a:ext cx="3771900" cy="2009775"/>
          </a:xfrm>
          <a:prstGeom prst="roundRect">
            <a:avLst>
              <a:gd name="adj" fmla="val 3791"/>
            </a:avLst>
          </a:prstGeom>
          <a:solidFill>
            <a:srgbClr val="121A27"/>
          </a:solidFill>
          <a:ln w="9525">
            <a:solidFill>
              <a:srgbClr val="3A4458"/>
            </a:solidFill>
          </a:ln>
        </p:spPr>
      </p:sp>
      <p:sp>
        <p:nvSpPr>
          <p:cNvPr id="9" name="c3-shape-172">
            <a:extLst>
              <a:ext uri="{FF2B5EF4-FFF2-40B4-BE49-F238E27FC236}">
                <a16:creationId xmlns:a16="http://schemas.microsoft.com/office/drawing/2014/main" id="{7E0E7E44-EFB5-46D5-967F-D6946CDB0EEE}"/>
              </a:ext>
            </a:extLst>
          </p:cNvPr>
          <p:cNvSpPr>
            <a:spLocks noGrp="1"/>
          </p:cNvSpPr>
          <p:nvPr/>
        </p:nvSpPr>
        <p:spPr>
          <a:xfrm>
            <a:off x="4953000" y="2209800"/>
            <a:ext cx="342900" cy="9525"/>
          </a:xfrm>
          <a:prstGeom prst="rect">
            <a:avLst/>
          </a:prstGeom>
          <a:solidFill>
            <a:srgbClr val="7FA8E3"/>
          </a:solidFill>
          <a:ln w="9525">
            <a:solidFill>
              <a:srgbClr val="7FA8E3"/>
            </a:solidFill>
          </a:ln>
        </p:spPr>
      </p:sp>
      <p:sp>
        <p:nvSpPr>
          <p:cNvPr id="10" name="c3-text-173">
            <a:extLst>
              <a:ext uri="{FF2B5EF4-FFF2-40B4-BE49-F238E27FC236}">
                <a16:creationId xmlns:a16="http://schemas.microsoft.com/office/drawing/2014/main" id="{B54F252D-40D2-4DD9-85D7-CF043FD2CEEC}"/>
              </a:ext>
            </a:extLst>
          </p:cNvPr>
          <p:cNvSpPr>
            <a:spLocks noGrp="1"/>
          </p:cNvSpPr>
          <p:nvPr/>
        </p:nvSpPr>
        <p:spPr>
          <a:xfrm>
            <a:off x="4953000" y="2305050"/>
            <a:ext cx="33909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9525" tIns="9525" rIns="9525" bIns="9525" anchor="ctr">
            <a:noAutofit/>
          </a:bodyPr>
          <a:lstStyle/>
          <a:p>
            <a:pPr>
              <a:defRPr sz="1350" b="0">
                <a:solidFill>
                  <a:srgbClr val="7FA8E3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7FA8E3"/>
                </a:solidFill>
                <a:latin typeface="Calibri"/>
                <a:ea typeface="Calibri"/>
                <a:cs typeface="Calibri"/>
              </a:rPr>
              <a:t>Human: dynamic text</a:t>
            </a:r>
          </a:p>
        </p:txBody>
      </p:sp>
      <p:sp>
        <p:nvSpPr>
          <p:cNvPr id="11" name="c3-text-174">
            <a:extLst>
              <a:ext uri="{FF2B5EF4-FFF2-40B4-BE49-F238E27FC236}">
                <a16:creationId xmlns:a16="http://schemas.microsoft.com/office/drawing/2014/main" id="{E7C4A3DF-06BA-4724-9F57-D12D45BBB45D}"/>
              </a:ext>
            </a:extLst>
          </p:cNvPr>
          <p:cNvSpPr>
            <a:spLocks noGrp="1"/>
          </p:cNvSpPr>
          <p:nvPr/>
        </p:nvSpPr>
        <p:spPr>
          <a:xfrm>
            <a:off x="4953000" y="2647950"/>
            <a:ext cx="3390900" cy="1285875"/>
          </a:xfrm>
          <a:prstGeom prst="rect">
            <a:avLst/>
          </a:prstGeom>
          <a:noFill/>
          <a:ln w="0">
            <a:noFill/>
          </a:ln>
        </p:spPr>
        <p:txBody>
          <a:bodyPr wrap="square" lIns="9525" tIns="9525" rIns="9525" bIns="9525" anchor="t">
            <a:noAutofit/>
          </a:bodyPr>
          <a:lstStyle/>
          <a:p>
            <a:pPr>
              <a:defRPr sz="1800" b="0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1800" b="0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{text}</a:t>
            </a:r>
          </a:p>
          <a:p>
            <a:endParaRPr sz="1800" b="0">
              <a:solidFill>
                <a:srgbClr val="ECE6DE"/>
              </a:solidFill>
              <a:latin typeface="Calibri"/>
              <a:ea typeface="Calibri"/>
              <a:cs typeface="Calibri"/>
            </a:endParaRPr>
          </a:p>
          <a:p>
            <a:pPr>
              <a:defRPr sz="1800" b="0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1800" b="0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The answer from the first LLM.</a:t>
            </a:r>
          </a:p>
        </p:txBody>
      </p:sp>
      <p:sp>
        <p:nvSpPr>
          <p:cNvPr id="12" name="c3-shape-175">
            <a:extLst>
              <a:ext uri="{FF2B5EF4-FFF2-40B4-BE49-F238E27FC236}">
                <a16:creationId xmlns:a16="http://schemas.microsoft.com/office/drawing/2014/main" id="{C2747CC5-90A1-4B57-B812-BCE898CC1248}"/>
              </a:ext>
            </a:extLst>
          </p:cNvPr>
          <p:cNvSpPr>
            <a:spLocks noGrp="1"/>
          </p:cNvSpPr>
          <p:nvPr/>
        </p:nvSpPr>
        <p:spPr>
          <a:xfrm>
            <a:off x="609600" y="4191000"/>
            <a:ext cx="7924800" cy="504825"/>
          </a:xfrm>
          <a:prstGeom prst="roundRect">
            <a:avLst>
              <a:gd name="adj" fmla="val 15094"/>
            </a:avLst>
          </a:prstGeom>
          <a:solidFill>
            <a:srgbClr val="121A27"/>
          </a:solidFill>
          <a:ln w="9525">
            <a:solidFill>
              <a:srgbClr val="3A4458"/>
            </a:solidFill>
          </a:ln>
        </p:spPr>
      </p:sp>
      <p:sp>
        <p:nvSpPr>
          <p:cNvPr id="13" name="c3-text-176">
            <a:extLst>
              <a:ext uri="{FF2B5EF4-FFF2-40B4-BE49-F238E27FC236}">
                <a16:creationId xmlns:a16="http://schemas.microsoft.com/office/drawing/2014/main" id="{8F7E0566-D2A8-4136-AB14-022413C868CC}"/>
              </a:ext>
            </a:extLst>
          </p:cNvPr>
          <p:cNvSpPr>
            <a:spLocks noGrp="1"/>
          </p:cNvSpPr>
          <p:nvPr/>
        </p:nvSpPr>
        <p:spPr>
          <a:xfrm>
            <a:off x="800100" y="4276725"/>
            <a:ext cx="754380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9525" tIns="9525" rIns="9525" bIns="9525" anchor="ctr">
            <a:noAutofit/>
          </a:bodyPr>
          <a:lstStyle/>
          <a:p>
            <a:pPr>
              <a:defRPr sz="1725" b="0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review_chain.invoke({"text": "The football match ended 2-0."})</a:t>
            </a:r>
          </a:p>
        </p:txBody>
      </p:sp>
      <p:sp>
        <p:nvSpPr>
          <p:cNvPr id="14" name="c3-text-315">
            <a:extLst>
              <a:ext uri="{FF2B5EF4-FFF2-40B4-BE49-F238E27FC236}">
                <a16:creationId xmlns:a16="http://schemas.microsoft.com/office/drawing/2014/main" id="{8AA8A93F-702D-44EC-B7AB-5F719D57B612}"/>
              </a:ext>
            </a:extLst>
          </p:cNvPr>
          <p:cNvSpPr>
            <a:spLocks noGrp="1"/>
          </p:cNvSpPr>
          <p:nvPr/>
        </p:nvSpPr>
        <p:spPr>
          <a:xfrm>
            <a:off x="8181975" y="4781550"/>
            <a:ext cx="352425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9525" tIns="9525" rIns="9525" bIns="9525" anchor="ctr">
            <a:noAutofit/>
          </a:bodyPr>
          <a:lstStyle/>
          <a:p>
            <a:pPr algn="r">
              <a:defRPr sz="750" b="0">
                <a:solidFill>
                  <a:srgbClr val="B4BDCB"/>
                </a:solidFill>
                <a:latin typeface="Calibri"/>
                <a:ea typeface="Calibri"/>
                <a:cs typeface="Calibri"/>
              </a:defRPr>
            </a:pPr>
            <a:r>
              <a:rPr sz="750" b="0">
                <a:solidFill>
                  <a:srgbClr val="B4BDCB"/>
                </a:solidFill>
                <a:latin typeface="Calibri"/>
                <a:ea typeface="Calibri"/>
                <a:cs typeface="Calibri"/>
              </a:rPr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198270984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D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3-text-177">
            <a:extLst>
              <a:ext uri="{FF2B5EF4-FFF2-40B4-BE49-F238E27FC236}">
                <a16:creationId xmlns:a16="http://schemas.microsoft.com/office/drawing/2014/main" id="{2B047D47-F14A-4E4A-AFA9-341ED8A03119}"/>
              </a:ext>
            </a:extLst>
          </p:cNvPr>
          <p:cNvSpPr>
            <a:spLocks noGrp="1"/>
          </p:cNvSpPr>
          <p:nvPr/>
        </p:nvSpPr>
        <p:spPr>
          <a:xfrm>
            <a:off x="609600" y="238125"/>
            <a:ext cx="792480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9525" tIns="9525" rIns="9525" bIns="9525" anchor="ctr">
            <a:noAutofit/>
          </a:bodyPr>
          <a:lstStyle/>
          <a:p>
            <a:pPr>
              <a:defRPr sz="900" b="0">
                <a:solidFill>
                  <a:srgbClr val="B4BDCB"/>
                </a:solidFill>
                <a:latin typeface="Calibri"/>
                <a:ea typeface="Calibri"/>
                <a:cs typeface="Calibri"/>
              </a:defRPr>
            </a:pPr>
            <a:r>
              <a:rPr sz="900" b="0">
                <a:solidFill>
                  <a:srgbClr val="B4BDCB"/>
                </a:solidFill>
                <a:latin typeface="Calibri"/>
                <a:ea typeface="Calibri"/>
                <a:cs typeface="Calibri"/>
              </a:rPr>
              <a:t>AI-Powered Virtual Humans: LLM-Powered Cognitive Architectures</a:t>
            </a:r>
          </a:p>
        </p:txBody>
      </p:sp>
      <p:sp>
        <p:nvSpPr>
          <p:cNvPr id="2" name="c3-text-178">
            <a:extLst>
              <a:ext uri="{FF2B5EF4-FFF2-40B4-BE49-F238E27FC236}">
                <a16:creationId xmlns:a16="http://schemas.microsoft.com/office/drawing/2014/main" id="{155F3BBA-60AB-40A9-AF6A-6DDEAEC85D04}"/>
              </a:ext>
            </a:extLst>
          </p:cNvPr>
          <p:cNvSpPr>
            <a:spLocks noGrp="1"/>
          </p:cNvSpPr>
          <p:nvPr/>
        </p:nvSpPr>
        <p:spPr>
          <a:xfrm>
            <a:off x="609600" y="657225"/>
            <a:ext cx="792480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9525" tIns="9525" rIns="9525" bIns="9525" anchor="ctr">
            <a:noAutofit/>
          </a:bodyPr>
          <a:lstStyle/>
          <a:p>
            <a:pPr>
              <a:defRPr sz="2700" b="1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2700" b="1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Exercise: Style and Current Time</a:t>
            </a:r>
          </a:p>
        </p:txBody>
      </p:sp>
      <p:sp>
        <p:nvSpPr>
          <p:cNvPr id="3" name="c3-text-179">
            <a:extLst>
              <a:ext uri="{FF2B5EF4-FFF2-40B4-BE49-F238E27FC236}">
                <a16:creationId xmlns:a16="http://schemas.microsoft.com/office/drawing/2014/main" id="{120331A9-AA75-497C-8C96-AB2F13562BA9}"/>
              </a:ext>
            </a:extLst>
          </p:cNvPr>
          <p:cNvSpPr>
            <a:spLocks noGrp="1"/>
          </p:cNvSpPr>
          <p:nvPr/>
        </p:nvSpPr>
        <p:spPr>
          <a:xfrm>
            <a:off x="6381750" y="4781550"/>
            <a:ext cx="17145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9525" tIns="9525" rIns="9525" bIns="9525" anchor="ctr">
            <a:noAutofit/>
          </a:bodyPr>
          <a:lstStyle/>
          <a:p>
            <a:pPr algn="r">
              <a:defRPr sz="750" b="0">
                <a:solidFill>
                  <a:srgbClr val="B4BDCB"/>
                </a:solidFill>
                <a:latin typeface="Calibri"/>
                <a:ea typeface="Calibri"/>
                <a:cs typeface="Calibri"/>
              </a:defRPr>
            </a:pPr>
            <a:r>
              <a:rPr sz="750" b="0">
                <a:solidFill>
                  <a:srgbClr val="B4BDCB"/>
                </a:solidFill>
                <a:latin typeface="Calibri"/>
                <a:ea typeface="Calibri"/>
                <a:cs typeface="Calibri"/>
              </a:rPr>
              <a:t>Module 1 · Chapter 03</a:t>
            </a:r>
          </a:p>
        </p:txBody>
      </p:sp>
      <p:sp>
        <p:nvSpPr>
          <p:cNvPr id="4" name="c3-shape-180">
            <a:extLst>
              <a:ext uri="{FF2B5EF4-FFF2-40B4-BE49-F238E27FC236}">
                <a16:creationId xmlns:a16="http://schemas.microsoft.com/office/drawing/2014/main" id="{096557CC-76E9-4831-B1AC-426ED91635B5}"/>
              </a:ext>
            </a:extLst>
          </p:cNvPr>
          <p:cNvSpPr>
            <a:spLocks noGrp="1"/>
          </p:cNvSpPr>
          <p:nvPr/>
        </p:nvSpPr>
        <p:spPr>
          <a:xfrm>
            <a:off x="609600" y="2076450"/>
            <a:ext cx="3771900" cy="1895475"/>
          </a:xfrm>
          <a:prstGeom prst="roundRect">
            <a:avLst>
              <a:gd name="adj" fmla="val 4020"/>
            </a:avLst>
          </a:prstGeom>
          <a:solidFill>
            <a:srgbClr val="121A27"/>
          </a:solidFill>
          <a:ln w="9525">
            <a:solidFill>
              <a:srgbClr val="3A4458"/>
            </a:solidFill>
          </a:ln>
        </p:spPr>
      </p:sp>
      <p:sp>
        <p:nvSpPr>
          <p:cNvPr id="5" name="c3-shape-181">
            <a:extLst>
              <a:ext uri="{FF2B5EF4-FFF2-40B4-BE49-F238E27FC236}">
                <a16:creationId xmlns:a16="http://schemas.microsoft.com/office/drawing/2014/main" id="{F790810E-D40E-44EE-8736-A6B8EEC10710}"/>
              </a:ext>
            </a:extLst>
          </p:cNvPr>
          <p:cNvSpPr>
            <a:spLocks noGrp="1"/>
          </p:cNvSpPr>
          <p:nvPr/>
        </p:nvSpPr>
        <p:spPr>
          <a:xfrm>
            <a:off x="800100" y="2238375"/>
            <a:ext cx="342900" cy="9525"/>
          </a:xfrm>
          <a:prstGeom prst="rect">
            <a:avLst/>
          </a:prstGeom>
          <a:solidFill>
            <a:srgbClr val="D9A06B"/>
          </a:solidFill>
          <a:ln w="9525">
            <a:solidFill>
              <a:srgbClr val="D9A06B"/>
            </a:solidFill>
          </a:ln>
        </p:spPr>
      </p:sp>
      <p:sp>
        <p:nvSpPr>
          <p:cNvPr id="6" name="c3-text-182">
            <a:extLst>
              <a:ext uri="{FF2B5EF4-FFF2-40B4-BE49-F238E27FC236}">
                <a16:creationId xmlns:a16="http://schemas.microsoft.com/office/drawing/2014/main" id="{3451159A-2F42-44DF-B610-C48F22223E66}"/>
              </a:ext>
            </a:extLst>
          </p:cNvPr>
          <p:cNvSpPr>
            <a:spLocks noGrp="1"/>
          </p:cNvSpPr>
          <p:nvPr/>
        </p:nvSpPr>
        <p:spPr>
          <a:xfrm>
            <a:off x="800100" y="2333625"/>
            <a:ext cx="33909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9525" tIns="9525" rIns="9525" bIns="9525" anchor="ctr">
            <a:noAutofit/>
          </a:bodyPr>
          <a:lstStyle/>
          <a:p>
            <a:pPr>
              <a:defRPr sz="1350" b="0">
                <a:solidFill>
                  <a:srgbClr val="D9A06B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D9A06B"/>
                </a:solidFill>
                <a:latin typeface="Calibri"/>
                <a:ea typeface="Calibri"/>
                <a:cs typeface="Calibri"/>
              </a:rPr>
              <a:t>Tune the prompt</a:t>
            </a:r>
          </a:p>
        </p:txBody>
      </p:sp>
      <p:sp>
        <p:nvSpPr>
          <p:cNvPr id="7" name="c3-text-183">
            <a:extLst>
              <a:ext uri="{FF2B5EF4-FFF2-40B4-BE49-F238E27FC236}">
                <a16:creationId xmlns:a16="http://schemas.microsoft.com/office/drawing/2014/main" id="{8AC8D3FB-75CC-484D-A88C-A5ABB7078B2E}"/>
              </a:ext>
            </a:extLst>
          </p:cNvPr>
          <p:cNvSpPr>
            <a:spLocks noGrp="1"/>
          </p:cNvSpPr>
          <p:nvPr/>
        </p:nvSpPr>
        <p:spPr>
          <a:xfrm>
            <a:off x="800100" y="2676525"/>
            <a:ext cx="3390900" cy="1171575"/>
          </a:xfrm>
          <a:prstGeom prst="rect">
            <a:avLst/>
          </a:prstGeom>
          <a:noFill/>
          <a:ln w="0">
            <a:noFill/>
          </a:ln>
        </p:spPr>
        <p:txBody>
          <a:bodyPr wrap="square" lIns="9525" tIns="9525" rIns="9525" bIns="9525" anchor="t">
            <a:noAutofit/>
          </a:bodyPr>
          <a:lstStyle/>
          <a:p>
            <a:pPr>
              <a:defRPr sz="1800" b="0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1800" b="0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Choose how the bot should speak.</a:t>
            </a:r>
          </a:p>
          <a:p>
            <a:pPr>
              <a:defRPr sz="1800" b="0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1800" b="0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Message templates fill style and time.</a:t>
            </a:r>
          </a:p>
        </p:txBody>
      </p:sp>
      <p:sp>
        <p:nvSpPr>
          <p:cNvPr id="8" name="c3-shape-184">
            <a:extLst>
              <a:ext uri="{FF2B5EF4-FFF2-40B4-BE49-F238E27FC236}">
                <a16:creationId xmlns:a16="http://schemas.microsoft.com/office/drawing/2014/main" id="{9E0EFAEF-5F6C-4604-9899-DD15DB5B0201}"/>
              </a:ext>
            </a:extLst>
          </p:cNvPr>
          <p:cNvSpPr>
            <a:spLocks noGrp="1"/>
          </p:cNvSpPr>
          <p:nvPr/>
        </p:nvSpPr>
        <p:spPr>
          <a:xfrm>
            <a:off x="4762500" y="2076450"/>
            <a:ext cx="3771900" cy="1895475"/>
          </a:xfrm>
          <a:prstGeom prst="roundRect">
            <a:avLst>
              <a:gd name="adj" fmla="val 4020"/>
            </a:avLst>
          </a:prstGeom>
          <a:solidFill>
            <a:srgbClr val="121A27"/>
          </a:solidFill>
          <a:ln w="9525">
            <a:solidFill>
              <a:srgbClr val="3A4458"/>
            </a:solidFill>
          </a:ln>
        </p:spPr>
      </p:sp>
      <p:sp>
        <p:nvSpPr>
          <p:cNvPr id="9" name="c3-shape-185">
            <a:extLst>
              <a:ext uri="{FF2B5EF4-FFF2-40B4-BE49-F238E27FC236}">
                <a16:creationId xmlns:a16="http://schemas.microsoft.com/office/drawing/2014/main" id="{4B01FFC1-734A-4F40-B0FB-28955FEC5B0E}"/>
              </a:ext>
            </a:extLst>
          </p:cNvPr>
          <p:cNvSpPr>
            <a:spLocks noGrp="1"/>
          </p:cNvSpPr>
          <p:nvPr/>
        </p:nvSpPr>
        <p:spPr>
          <a:xfrm>
            <a:off x="4953000" y="2238375"/>
            <a:ext cx="342900" cy="9525"/>
          </a:xfrm>
          <a:prstGeom prst="rect">
            <a:avLst/>
          </a:prstGeom>
          <a:solidFill>
            <a:srgbClr val="7FA8E3"/>
          </a:solidFill>
          <a:ln w="9525">
            <a:solidFill>
              <a:srgbClr val="7FA8E3"/>
            </a:solidFill>
          </a:ln>
        </p:spPr>
      </p:sp>
      <p:sp>
        <p:nvSpPr>
          <p:cNvPr id="10" name="c3-text-186">
            <a:extLst>
              <a:ext uri="{FF2B5EF4-FFF2-40B4-BE49-F238E27FC236}">
                <a16:creationId xmlns:a16="http://schemas.microsoft.com/office/drawing/2014/main" id="{6A7C6C23-8F28-4DAC-A939-E4B692D00F43}"/>
              </a:ext>
            </a:extLst>
          </p:cNvPr>
          <p:cNvSpPr>
            <a:spLocks noGrp="1"/>
          </p:cNvSpPr>
          <p:nvPr/>
        </p:nvSpPr>
        <p:spPr>
          <a:xfrm>
            <a:off x="4953000" y="2333625"/>
            <a:ext cx="33909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9525" tIns="9525" rIns="9525" bIns="9525" anchor="ctr">
            <a:noAutofit/>
          </a:bodyPr>
          <a:lstStyle/>
          <a:p>
            <a:pPr>
              <a:defRPr sz="1350" b="0">
                <a:solidFill>
                  <a:srgbClr val="7FA8E3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7FA8E3"/>
                </a:solidFill>
                <a:latin typeface="Calibri"/>
                <a:ea typeface="Calibri"/>
                <a:cs typeface="Calibri"/>
              </a:rPr>
              <a:t>Try on the agent</a:t>
            </a:r>
          </a:p>
        </p:txBody>
      </p:sp>
      <p:sp>
        <p:nvSpPr>
          <p:cNvPr id="11" name="c3-text-187">
            <a:extLst>
              <a:ext uri="{FF2B5EF4-FFF2-40B4-BE49-F238E27FC236}">
                <a16:creationId xmlns:a16="http://schemas.microsoft.com/office/drawing/2014/main" id="{E0BE7BE2-3323-4914-982D-9760FD195305}"/>
              </a:ext>
            </a:extLst>
          </p:cNvPr>
          <p:cNvSpPr>
            <a:spLocks noGrp="1"/>
          </p:cNvSpPr>
          <p:nvPr/>
        </p:nvSpPr>
        <p:spPr>
          <a:xfrm>
            <a:off x="4953000" y="2676525"/>
            <a:ext cx="3390900" cy="1171575"/>
          </a:xfrm>
          <a:prstGeom prst="rect">
            <a:avLst/>
          </a:prstGeom>
          <a:noFill/>
          <a:ln w="0">
            <a:noFill/>
          </a:ln>
        </p:spPr>
        <p:txBody>
          <a:bodyPr wrap="square" lIns="9525" tIns="9525" rIns="9525" bIns="9525" anchor="t">
            <a:noAutofit/>
          </a:bodyPr>
          <a:lstStyle/>
          <a:p>
            <a:pPr>
              <a:defRPr sz="1725" b="0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Copy the style into STYLE_PROMPT.</a:t>
            </a:r>
          </a:p>
          <a:p>
            <a:pPr>
              <a:defRPr sz="1725" b="0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Restart the server and ask:</a:t>
            </a:r>
          </a:p>
          <a:p>
            <a:pPr>
              <a:defRPr sz="1725" b="0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"What time is it?"</a:t>
            </a:r>
          </a:p>
        </p:txBody>
      </p:sp>
      <p:sp>
        <p:nvSpPr>
          <p:cNvPr id="12" name="c3-text-188">
            <a:hlinkClick r:id="rId2"/>
            <a:extLst>
              <a:ext uri="{FF2B5EF4-FFF2-40B4-BE49-F238E27FC236}">
                <a16:creationId xmlns:a16="http://schemas.microsoft.com/office/drawing/2014/main" id="{6B17B207-8A61-4622-9870-2CE91568F588}"/>
              </a:ext>
            </a:extLst>
          </p:cNvPr>
          <p:cNvSpPr>
            <a:spLocks noGrp="1"/>
          </p:cNvSpPr>
          <p:nvPr/>
        </p:nvSpPr>
        <p:spPr>
          <a:xfrm>
            <a:off x="609600" y="4410075"/>
            <a:ext cx="7924800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9525" tIns="9525" rIns="9525" bIns="9525" anchor="ctr">
            <a:noAutofit/>
          </a:bodyPr>
          <a:lstStyle/>
          <a:p>
            <a:pPr>
              <a:defRPr sz="1500" b="0">
                <a:solidFill>
                  <a:srgbClr val="7FA8E3"/>
                </a:solidFill>
                <a:latin typeface="Calibri"/>
                <a:ea typeface="Calibri"/>
                <a:cs typeface="Calibri"/>
              </a:defRPr>
            </a:pPr>
            <a:r>
              <a:rPr sz="1500" b="0" u="sng">
                <a:solidFill>
                  <a:srgbClr val="7FA8E3"/>
                </a:solidFill>
                <a:latin typeface="Calibri"/>
                <a:ea typeface="Calibri"/>
                <a:cs typeface="Calibri"/>
              </a:rPr>
              <a:t>Open 01_langchain.ipynb: 3. Conversations and chat prompts</a:t>
            </a:r>
          </a:p>
        </p:txBody>
      </p:sp>
      <p:sp>
        <p:nvSpPr>
          <p:cNvPr id="13" name="c3-text-316">
            <a:extLst>
              <a:ext uri="{FF2B5EF4-FFF2-40B4-BE49-F238E27FC236}">
                <a16:creationId xmlns:a16="http://schemas.microsoft.com/office/drawing/2014/main" id="{2AC2919E-7195-4E70-94AD-DBFB2C9A95D2}"/>
              </a:ext>
            </a:extLst>
          </p:cNvPr>
          <p:cNvSpPr>
            <a:spLocks noGrp="1"/>
          </p:cNvSpPr>
          <p:nvPr/>
        </p:nvSpPr>
        <p:spPr>
          <a:xfrm>
            <a:off x="8181975" y="4781550"/>
            <a:ext cx="352425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9525" tIns="9525" rIns="9525" bIns="9525" anchor="ctr">
            <a:noAutofit/>
          </a:bodyPr>
          <a:lstStyle/>
          <a:p>
            <a:pPr algn="r">
              <a:defRPr sz="750" b="0">
                <a:solidFill>
                  <a:srgbClr val="B4BDCB"/>
                </a:solidFill>
                <a:latin typeface="Calibri"/>
                <a:ea typeface="Calibri"/>
                <a:cs typeface="Calibri"/>
              </a:defRPr>
            </a:pPr>
            <a:r>
              <a:rPr sz="750" b="0">
                <a:solidFill>
                  <a:srgbClr val="B4BDCB"/>
                </a:solidFill>
                <a:latin typeface="Calibri"/>
                <a:ea typeface="Calibri"/>
                <a:cs typeface="Calibri"/>
              </a:rPr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76779483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D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3-text-189">
            <a:extLst>
              <a:ext uri="{FF2B5EF4-FFF2-40B4-BE49-F238E27FC236}">
                <a16:creationId xmlns:a16="http://schemas.microsoft.com/office/drawing/2014/main" id="{174BA74B-B483-41F9-8C24-C724CA3C0AF5}"/>
              </a:ext>
            </a:extLst>
          </p:cNvPr>
          <p:cNvSpPr>
            <a:spLocks noGrp="1"/>
          </p:cNvSpPr>
          <p:nvPr/>
        </p:nvSpPr>
        <p:spPr>
          <a:xfrm>
            <a:off x="609600" y="238125"/>
            <a:ext cx="792480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9525" tIns="9525" rIns="9525" bIns="9525" anchor="ctr">
            <a:noAutofit/>
          </a:bodyPr>
          <a:lstStyle/>
          <a:p>
            <a:pPr>
              <a:defRPr sz="900" b="0">
                <a:solidFill>
                  <a:srgbClr val="B4BDCB"/>
                </a:solidFill>
                <a:latin typeface="Calibri"/>
                <a:ea typeface="Calibri"/>
                <a:cs typeface="Calibri"/>
              </a:defRPr>
            </a:pPr>
            <a:r>
              <a:rPr sz="900" b="0">
                <a:solidFill>
                  <a:srgbClr val="B4BDCB"/>
                </a:solidFill>
                <a:latin typeface="Calibri"/>
                <a:ea typeface="Calibri"/>
                <a:cs typeface="Calibri"/>
              </a:rPr>
              <a:t>AI-Powered Virtual Humans: LLM-Powered Cognitive Architectures</a:t>
            </a:r>
          </a:p>
        </p:txBody>
      </p:sp>
      <p:sp>
        <p:nvSpPr>
          <p:cNvPr id="2" name="c3-text-190">
            <a:extLst>
              <a:ext uri="{FF2B5EF4-FFF2-40B4-BE49-F238E27FC236}">
                <a16:creationId xmlns:a16="http://schemas.microsoft.com/office/drawing/2014/main" id="{72471B9F-EAB3-4452-BD5E-E0C6A3BB428A}"/>
              </a:ext>
            </a:extLst>
          </p:cNvPr>
          <p:cNvSpPr>
            <a:spLocks noGrp="1"/>
          </p:cNvSpPr>
          <p:nvPr/>
        </p:nvSpPr>
        <p:spPr>
          <a:xfrm>
            <a:off x="609600" y="657225"/>
            <a:ext cx="792480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9525" tIns="9525" rIns="9525" bIns="9525" anchor="ctr">
            <a:noAutofit/>
          </a:bodyPr>
          <a:lstStyle/>
          <a:p>
            <a:pPr>
              <a:defRPr sz="2700" b="1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2700" b="1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Structured Output [7]</a:t>
            </a:r>
          </a:p>
        </p:txBody>
      </p:sp>
      <p:sp>
        <p:nvSpPr>
          <p:cNvPr id="3" name="c3-text-191">
            <a:extLst>
              <a:ext uri="{FF2B5EF4-FFF2-40B4-BE49-F238E27FC236}">
                <a16:creationId xmlns:a16="http://schemas.microsoft.com/office/drawing/2014/main" id="{4949BEC9-44C2-4AB7-8627-423D6B4DAC49}"/>
              </a:ext>
            </a:extLst>
          </p:cNvPr>
          <p:cNvSpPr>
            <a:spLocks noGrp="1"/>
          </p:cNvSpPr>
          <p:nvPr/>
        </p:nvSpPr>
        <p:spPr>
          <a:xfrm>
            <a:off x="609600" y="1400175"/>
            <a:ext cx="7924800" cy="542925"/>
          </a:xfrm>
          <a:prstGeom prst="rect">
            <a:avLst/>
          </a:prstGeom>
          <a:noFill/>
          <a:ln w="0">
            <a:noFill/>
          </a:ln>
        </p:spPr>
        <p:txBody>
          <a:bodyPr wrap="square" lIns="9525" tIns="9525" rIns="9525" bIns="9525" anchor="ctr">
            <a:noAutofit/>
          </a:bodyPr>
          <a:lstStyle/>
          <a:p>
            <a:pPr>
              <a:defRPr sz="1875" b="0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1875" b="0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Sentiment analysis: return a category the program can use.</a:t>
            </a:r>
          </a:p>
        </p:txBody>
      </p:sp>
      <p:sp>
        <p:nvSpPr>
          <p:cNvPr id="4" name="c3-text-192">
            <a:extLst>
              <a:ext uri="{FF2B5EF4-FFF2-40B4-BE49-F238E27FC236}">
                <a16:creationId xmlns:a16="http://schemas.microsoft.com/office/drawing/2014/main" id="{5229C47D-665E-4AA7-9AF8-6DCA115D5E85}"/>
              </a:ext>
            </a:extLst>
          </p:cNvPr>
          <p:cNvSpPr>
            <a:spLocks noGrp="1"/>
          </p:cNvSpPr>
          <p:nvPr/>
        </p:nvSpPr>
        <p:spPr>
          <a:xfrm>
            <a:off x="6381750" y="4781550"/>
            <a:ext cx="17145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9525" tIns="9525" rIns="9525" bIns="9525" anchor="ctr">
            <a:noAutofit/>
          </a:bodyPr>
          <a:lstStyle/>
          <a:p>
            <a:pPr algn="r">
              <a:defRPr sz="750" b="0">
                <a:solidFill>
                  <a:srgbClr val="B4BDCB"/>
                </a:solidFill>
                <a:latin typeface="Calibri"/>
                <a:ea typeface="Calibri"/>
                <a:cs typeface="Calibri"/>
              </a:defRPr>
            </a:pPr>
            <a:r>
              <a:rPr sz="750" b="0">
                <a:solidFill>
                  <a:srgbClr val="B4BDCB"/>
                </a:solidFill>
                <a:latin typeface="Calibri"/>
                <a:ea typeface="Calibri"/>
                <a:cs typeface="Calibri"/>
              </a:rPr>
              <a:t>Module 1 · Chapter 03</a:t>
            </a:r>
          </a:p>
        </p:txBody>
      </p:sp>
      <p:sp>
        <p:nvSpPr>
          <p:cNvPr id="5" name="c3-shape-193">
            <a:extLst>
              <a:ext uri="{FF2B5EF4-FFF2-40B4-BE49-F238E27FC236}">
                <a16:creationId xmlns:a16="http://schemas.microsoft.com/office/drawing/2014/main" id="{4A87B0F3-FF73-49B2-9FB9-A5CEEC01ACA3}"/>
              </a:ext>
            </a:extLst>
          </p:cNvPr>
          <p:cNvSpPr>
            <a:spLocks noGrp="1"/>
          </p:cNvSpPr>
          <p:nvPr/>
        </p:nvSpPr>
        <p:spPr>
          <a:xfrm>
            <a:off x="609600" y="2190750"/>
            <a:ext cx="3771900" cy="1657350"/>
          </a:xfrm>
          <a:prstGeom prst="roundRect">
            <a:avLst>
              <a:gd name="adj" fmla="val 4598"/>
            </a:avLst>
          </a:prstGeom>
          <a:solidFill>
            <a:srgbClr val="121A27"/>
          </a:solidFill>
          <a:ln w="9525">
            <a:solidFill>
              <a:srgbClr val="3A4458"/>
            </a:solidFill>
          </a:ln>
        </p:spPr>
      </p:sp>
      <p:sp>
        <p:nvSpPr>
          <p:cNvPr id="6" name="c3-shape-194">
            <a:extLst>
              <a:ext uri="{FF2B5EF4-FFF2-40B4-BE49-F238E27FC236}">
                <a16:creationId xmlns:a16="http://schemas.microsoft.com/office/drawing/2014/main" id="{2A997178-B3EA-4B75-BA60-C5D756F7F9C7}"/>
              </a:ext>
            </a:extLst>
          </p:cNvPr>
          <p:cNvSpPr>
            <a:spLocks noGrp="1"/>
          </p:cNvSpPr>
          <p:nvPr/>
        </p:nvSpPr>
        <p:spPr>
          <a:xfrm>
            <a:off x="800100" y="2352675"/>
            <a:ext cx="342900" cy="9525"/>
          </a:xfrm>
          <a:prstGeom prst="rect">
            <a:avLst/>
          </a:prstGeom>
          <a:solidFill>
            <a:srgbClr val="D9A06B"/>
          </a:solidFill>
          <a:ln w="9525">
            <a:solidFill>
              <a:srgbClr val="D9A06B"/>
            </a:solidFill>
          </a:ln>
        </p:spPr>
      </p:sp>
      <p:sp>
        <p:nvSpPr>
          <p:cNvPr id="7" name="c3-text-195">
            <a:extLst>
              <a:ext uri="{FF2B5EF4-FFF2-40B4-BE49-F238E27FC236}">
                <a16:creationId xmlns:a16="http://schemas.microsoft.com/office/drawing/2014/main" id="{85138B2D-16A2-45A5-BE7F-B6E4FB93B70F}"/>
              </a:ext>
            </a:extLst>
          </p:cNvPr>
          <p:cNvSpPr>
            <a:spLocks noGrp="1"/>
          </p:cNvSpPr>
          <p:nvPr/>
        </p:nvSpPr>
        <p:spPr>
          <a:xfrm>
            <a:off x="800100" y="2447925"/>
            <a:ext cx="33909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9525" tIns="9525" rIns="9525" bIns="9525" anchor="ctr">
            <a:noAutofit/>
          </a:bodyPr>
          <a:lstStyle/>
          <a:p>
            <a:pPr>
              <a:defRPr sz="1350" b="0">
                <a:solidFill>
                  <a:srgbClr val="D9A06B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D9A06B"/>
                </a:solidFill>
                <a:latin typeface="Calibri"/>
                <a:ea typeface="Calibri"/>
                <a:cs typeface="Calibri"/>
              </a:rPr>
              <a:t>Review</a:t>
            </a:r>
          </a:p>
        </p:txBody>
      </p:sp>
      <p:sp>
        <p:nvSpPr>
          <p:cNvPr id="8" name="c3-text-196">
            <a:extLst>
              <a:ext uri="{FF2B5EF4-FFF2-40B4-BE49-F238E27FC236}">
                <a16:creationId xmlns:a16="http://schemas.microsoft.com/office/drawing/2014/main" id="{987BA0DE-5C4F-4632-B635-AF2B4643B91E}"/>
              </a:ext>
            </a:extLst>
          </p:cNvPr>
          <p:cNvSpPr>
            <a:spLocks noGrp="1"/>
          </p:cNvSpPr>
          <p:nvPr/>
        </p:nvSpPr>
        <p:spPr>
          <a:xfrm>
            <a:off x="800100" y="2790825"/>
            <a:ext cx="3390900" cy="933450"/>
          </a:xfrm>
          <a:prstGeom prst="rect">
            <a:avLst/>
          </a:prstGeom>
          <a:noFill/>
          <a:ln w="0">
            <a:noFill/>
          </a:ln>
        </p:spPr>
        <p:txBody>
          <a:bodyPr wrap="square" lIns="9525" tIns="9525" rIns="9525" bIns="9525" anchor="t">
            <a:noAutofit/>
          </a:bodyPr>
          <a:lstStyle/>
          <a:p>
            <a:pPr>
              <a:defRPr sz="1875" b="0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1875" b="0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I loved the exhibition!</a:t>
            </a:r>
          </a:p>
        </p:txBody>
      </p:sp>
      <p:sp>
        <p:nvSpPr>
          <p:cNvPr id="9" name="c3-shape-197">
            <a:extLst>
              <a:ext uri="{FF2B5EF4-FFF2-40B4-BE49-F238E27FC236}">
                <a16:creationId xmlns:a16="http://schemas.microsoft.com/office/drawing/2014/main" id="{11EB797F-DE3E-46FC-8D52-918070C50BA4}"/>
              </a:ext>
            </a:extLst>
          </p:cNvPr>
          <p:cNvSpPr>
            <a:spLocks noGrp="1"/>
          </p:cNvSpPr>
          <p:nvPr/>
        </p:nvSpPr>
        <p:spPr>
          <a:xfrm>
            <a:off x="4762500" y="2190750"/>
            <a:ext cx="3771900" cy="1657350"/>
          </a:xfrm>
          <a:prstGeom prst="roundRect">
            <a:avLst>
              <a:gd name="adj" fmla="val 4598"/>
            </a:avLst>
          </a:prstGeom>
          <a:solidFill>
            <a:srgbClr val="121A27"/>
          </a:solidFill>
          <a:ln w="9525">
            <a:solidFill>
              <a:srgbClr val="3A4458"/>
            </a:solidFill>
          </a:ln>
        </p:spPr>
      </p:sp>
      <p:sp>
        <p:nvSpPr>
          <p:cNvPr id="10" name="c3-text-198">
            <a:extLst>
              <a:ext uri="{FF2B5EF4-FFF2-40B4-BE49-F238E27FC236}">
                <a16:creationId xmlns:a16="http://schemas.microsoft.com/office/drawing/2014/main" id="{C2A9A151-1298-4F0F-830E-756009B60770}"/>
              </a:ext>
            </a:extLst>
          </p:cNvPr>
          <p:cNvSpPr>
            <a:spLocks noGrp="1"/>
          </p:cNvSpPr>
          <p:nvPr/>
        </p:nvSpPr>
        <p:spPr>
          <a:xfrm>
            <a:off x="4933950" y="2324100"/>
            <a:ext cx="3429000" cy="1390650"/>
          </a:xfrm>
          <a:prstGeom prst="rect">
            <a:avLst/>
          </a:prstGeom>
          <a:noFill/>
          <a:ln w="0">
            <a:noFill/>
          </a:ln>
        </p:spPr>
        <p:txBody>
          <a:bodyPr wrap="square" lIns="9525" tIns="9525" rIns="9525" bIns="9525" anchor="t">
            <a:noAutofit/>
          </a:bodyPr>
          <a:lstStyle/>
          <a:p>
            <a:pPr>
              <a:defRPr sz="1650" b="0">
                <a:solidFill>
                  <a:srgbClr val="ECE6DE"/>
                </a:solidFill>
                <a:latin typeface="Consolas"/>
                <a:ea typeface="Consolas"/>
                <a:cs typeface="Consolas"/>
              </a:defRPr>
            </a:pPr>
            <a:r>
              <a:rPr sz="1650" b="0">
                <a:solidFill>
                  <a:srgbClr val="ECE6DE"/>
                </a:solidFill>
                <a:latin typeface="Consolas"/>
                <a:ea typeface="Consolas"/>
                <a:cs typeface="Consolas"/>
              </a:rPr>
              <a:t>{</a:t>
            </a:r>
          </a:p>
          <a:p>
            <a:pPr>
              <a:defRPr sz="1650" b="0">
                <a:solidFill>
                  <a:srgbClr val="ECE6DE"/>
                </a:solidFill>
                <a:latin typeface="Consolas"/>
                <a:ea typeface="Consolas"/>
                <a:cs typeface="Consolas"/>
              </a:defRPr>
            </a:pPr>
            <a:r>
              <a:rPr sz="1650" b="0">
                <a:solidFill>
                  <a:srgbClr val="ECE6DE"/>
                </a:solidFill>
                <a:latin typeface="Consolas"/>
                <a:ea typeface="Consolas"/>
                <a:cs typeface="Consolas"/>
              </a:rPr>
              <a:t>  "sentiment": "POSITIVE"</a:t>
            </a:r>
          </a:p>
          <a:p>
            <a:pPr>
              <a:defRPr sz="1650" b="0">
                <a:solidFill>
                  <a:srgbClr val="ECE6DE"/>
                </a:solidFill>
                <a:latin typeface="Consolas"/>
                <a:ea typeface="Consolas"/>
                <a:cs typeface="Consolas"/>
              </a:defRPr>
            </a:pPr>
            <a:r>
              <a:rPr sz="1650" b="0">
                <a:solidFill>
                  <a:srgbClr val="ECE6DE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  <p:sp>
        <p:nvSpPr>
          <p:cNvPr id="11" name="c3-shape-199">
            <a:extLst>
              <a:ext uri="{FF2B5EF4-FFF2-40B4-BE49-F238E27FC236}">
                <a16:creationId xmlns:a16="http://schemas.microsoft.com/office/drawing/2014/main" id="{F40A5BAB-39CF-4711-9559-CBAB2781A9A9}"/>
              </a:ext>
            </a:extLst>
          </p:cNvPr>
          <p:cNvSpPr>
            <a:spLocks noGrp="1"/>
          </p:cNvSpPr>
          <p:nvPr/>
        </p:nvSpPr>
        <p:spPr>
          <a:xfrm>
            <a:off x="609600" y="4191000"/>
            <a:ext cx="7924800" cy="504825"/>
          </a:xfrm>
          <a:prstGeom prst="roundRect">
            <a:avLst>
              <a:gd name="adj" fmla="val 15094"/>
            </a:avLst>
          </a:prstGeom>
          <a:solidFill>
            <a:srgbClr val="121A27"/>
          </a:solidFill>
          <a:ln w="9525">
            <a:solidFill>
              <a:srgbClr val="3A4458"/>
            </a:solidFill>
          </a:ln>
        </p:spPr>
      </p:sp>
      <p:sp>
        <p:nvSpPr>
          <p:cNvPr id="12" name="c3-text-200">
            <a:extLst>
              <a:ext uri="{FF2B5EF4-FFF2-40B4-BE49-F238E27FC236}">
                <a16:creationId xmlns:a16="http://schemas.microsoft.com/office/drawing/2014/main" id="{BC0D9479-C294-4DEE-B705-53F50D2EDA73}"/>
              </a:ext>
            </a:extLst>
          </p:cNvPr>
          <p:cNvSpPr>
            <a:spLocks noGrp="1"/>
          </p:cNvSpPr>
          <p:nvPr/>
        </p:nvSpPr>
        <p:spPr>
          <a:xfrm>
            <a:off x="800100" y="4276725"/>
            <a:ext cx="754380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9525" tIns="9525" rIns="9525" bIns="9525" anchor="ctr">
            <a:noAutofit/>
          </a:bodyPr>
          <a:lstStyle/>
          <a:p>
            <a:pPr>
              <a:defRPr sz="1725" b="0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A schema specifies the fields and their types.</a:t>
            </a:r>
          </a:p>
        </p:txBody>
      </p:sp>
      <p:sp>
        <p:nvSpPr>
          <p:cNvPr id="13" name="c3-text-317">
            <a:extLst>
              <a:ext uri="{FF2B5EF4-FFF2-40B4-BE49-F238E27FC236}">
                <a16:creationId xmlns:a16="http://schemas.microsoft.com/office/drawing/2014/main" id="{1B41B4E5-9AE3-4A4C-93D1-4C4E7F042317}"/>
              </a:ext>
            </a:extLst>
          </p:cNvPr>
          <p:cNvSpPr>
            <a:spLocks noGrp="1"/>
          </p:cNvSpPr>
          <p:nvPr/>
        </p:nvSpPr>
        <p:spPr>
          <a:xfrm>
            <a:off x="8181975" y="4781550"/>
            <a:ext cx="352425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9525" tIns="9525" rIns="9525" bIns="9525" anchor="ctr">
            <a:noAutofit/>
          </a:bodyPr>
          <a:lstStyle/>
          <a:p>
            <a:pPr algn="r">
              <a:defRPr sz="750" b="0">
                <a:solidFill>
                  <a:srgbClr val="B4BDCB"/>
                </a:solidFill>
                <a:latin typeface="Calibri"/>
                <a:ea typeface="Calibri"/>
                <a:cs typeface="Calibri"/>
              </a:defRPr>
            </a:pPr>
            <a:r>
              <a:rPr sz="750" b="0">
                <a:solidFill>
                  <a:srgbClr val="B4BDCB"/>
                </a:solidFill>
                <a:latin typeface="Calibri"/>
                <a:ea typeface="Calibri"/>
                <a:cs typeface="Calibri"/>
              </a:rPr>
              <a:t>19</a:t>
            </a:r>
          </a:p>
        </p:txBody>
      </p:sp>
    </p:spTree>
    <p:extLst>
      <p:ext uri="{BB962C8B-B14F-4D97-AF65-F5344CB8AC3E}">
        <p14:creationId xmlns:p14="http://schemas.microsoft.com/office/powerpoint/2010/main" val="144049461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D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3-text-201">
            <a:extLst>
              <a:ext uri="{FF2B5EF4-FFF2-40B4-BE49-F238E27FC236}">
                <a16:creationId xmlns:a16="http://schemas.microsoft.com/office/drawing/2014/main" id="{4ED5488C-17C7-45A1-B886-72C7A7FF1038}"/>
              </a:ext>
            </a:extLst>
          </p:cNvPr>
          <p:cNvSpPr>
            <a:spLocks noGrp="1"/>
          </p:cNvSpPr>
          <p:nvPr/>
        </p:nvSpPr>
        <p:spPr>
          <a:xfrm>
            <a:off x="609600" y="238125"/>
            <a:ext cx="792480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9525" tIns="9525" rIns="9525" bIns="9525" anchor="ctr">
            <a:noAutofit/>
          </a:bodyPr>
          <a:lstStyle/>
          <a:p>
            <a:pPr>
              <a:defRPr sz="900" b="0">
                <a:solidFill>
                  <a:srgbClr val="B4BDCB"/>
                </a:solidFill>
                <a:latin typeface="Calibri"/>
                <a:ea typeface="Calibri"/>
                <a:cs typeface="Calibri"/>
              </a:defRPr>
            </a:pPr>
            <a:r>
              <a:rPr sz="900" b="0">
                <a:solidFill>
                  <a:srgbClr val="B4BDCB"/>
                </a:solidFill>
                <a:latin typeface="Calibri"/>
                <a:ea typeface="Calibri"/>
                <a:cs typeface="Calibri"/>
              </a:rPr>
              <a:t>AI-Powered Virtual Humans: LLM-Powered Cognitive Architectures</a:t>
            </a:r>
          </a:p>
        </p:txBody>
      </p:sp>
      <p:sp>
        <p:nvSpPr>
          <p:cNvPr id="2" name="c3-text-202">
            <a:extLst>
              <a:ext uri="{FF2B5EF4-FFF2-40B4-BE49-F238E27FC236}">
                <a16:creationId xmlns:a16="http://schemas.microsoft.com/office/drawing/2014/main" id="{5DFA6966-E1DC-44D0-AAEC-08402CBDC721}"/>
              </a:ext>
            </a:extLst>
          </p:cNvPr>
          <p:cNvSpPr>
            <a:spLocks noGrp="1"/>
          </p:cNvSpPr>
          <p:nvPr/>
        </p:nvSpPr>
        <p:spPr>
          <a:xfrm>
            <a:off x="609600" y="657225"/>
            <a:ext cx="792480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9525" tIns="9525" rIns="9525" bIns="9525" anchor="ctr">
            <a:noAutofit/>
          </a:bodyPr>
          <a:lstStyle/>
          <a:p>
            <a:pPr>
              <a:defRPr sz="2700" b="1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2700" b="1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Format Instructions for Every Schema</a:t>
            </a:r>
          </a:p>
        </p:txBody>
      </p:sp>
      <p:sp>
        <p:nvSpPr>
          <p:cNvPr id="3" name="c3-text-203">
            <a:extLst>
              <a:ext uri="{FF2B5EF4-FFF2-40B4-BE49-F238E27FC236}">
                <a16:creationId xmlns:a16="http://schemas.microsoft.com/office/drawing/2014/main" id="{84F2D94B-8D8B-4790-B2C8-C56CC25D0421}"/>
              </a:ext>
            </a:extLst>
          </p:cNvPr>
          <p:cNvSpPr>
            <a:spLocks noGrp="1"/>
          </p:cNvSpPr>
          <p:nvPr/>
        </p:nvSpPr>
        <p:spPr>
          <a:xfrm>
            <a:off x="6381750" y="4781550"/>
            <a:ext cx="17145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9525" tIns="9525" rIns="9525" bIns="9525" anchor="ctr">
            <a:noAutofit/>
          </a:bodyPr>
          <a:lstStyle/>
          <a:p>
            <a:pPr algn="r">
              <a:defRPr sz="750" b="0">
                <a:solidFill>
                  <a:srgbClr val="B4BDCB"/>
                </a:solidFill>
                <a:latin typeface="Calibri"/>
                <a:ea typeface="Calibri"/>
                <a:cs typeface="Calibri"/>
              </a:defRPr>
            </a:pPr>
            <a:r>
              <a:rPr sz="750" b="0">
                <a:solidFill>
                  <a:srgbClr val="B4BDCB"/>
                </a:solidFill>
                <a:latin typeface="Calibri"/>
                <a:ea typeface="Calibri"/>
                <a:cs typeface="Calibri"/>
              </a:rPr>
              <a:t>Module 1 · Chapter 03</a:t>
            </a:r>
          </a:p>
        </p:txBody>
      </p:sp>
      <p:sp>
        <p:nvSpPr>
          <p:cNvPr id="4" name="c3-text-204">
            <a:extLst>
              <a:ext uri="{FF2B5EF4-FFF2-40B4-BE49-F238E27FC236}">
                <a16:creationId xmlns:a16="http://schemas.microsoft.com/office/drawing/2014/main" id="{08DC4D2A-AA37-45E0-8CE0-FDB06241C22A}"/>
              </a:ext>
            </a:extLst>
          </p:cNvPr>
          <p:cNvSpPr>
            <a:spLocks noGrp="1"/>
          </p:cNvSpPr>
          <p:nvPr/>
        </p:nvSpPr>
        <p:spPr>
          <a:xfrm>
            <a:off x="609600" y="1495425"/>
            <a:ext cx="7924800" cy="447675"/>
          </a:xfrm>
          <a:prstGeom prst="rect">
            <a:avLst/>
          </a:prstGeom>
          <a:noFill/>
          <a:ln w="0">
            <a:noFill/>
          </a:ln>
        </p:spPr>
        <p:txBody>
          <a:bodyPr wrap="square" lIns="9525" tIns="9525" rIns="9525" bIns="9525" anchor="ctr">
            <a:noAutofit/>
          </a:bodyPr>
          <a:lstStyle/>
          <a:p>
            <a:pPr>
              <a:defRPr sz="1800" b="0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1800" b="0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Add schema fields and allowed values to the system message.</a:t>
            </a:r>
          </a:p>
        </p:txBody>
      </p:sp>
      <p:sp>
        <p:nvSpPr>
          <p:cNvPr id="5" name="c3-shape-205">
            <a:extLst>
              <a:ext uri="{FF2B5EF4-FFF2-40B4-BE49-F238E27FC236}">
                <a16:creationId xmlns:a16="http://schemas.microsoft.com/office/drawing/2014/main" id="{C2004D9E-8092-414B-A67E-6AF317AD52DA}"/>
              </a:ext>
            </a:extLst>
          </p:cNvPr>
          <p:cNvSpPr>
            <a:spLocks noGrp="1"/>
          </p:cNvSpPr>
          <p:nvPr/>
        </p:nvSpPr>
        <p:spPr>
          <a:xfrm>
            <a:off x="609600" y="2085975"/>
            <a:ext cx="7924800" cy="1857375"/>
          </a:xfrm>
          <a:prstGeom prst="roundRect">
            <a:avLst>
              <a:gd name="adj" fmla="val 4103"/>
            </a:avLst>
          </a:prstGeom>
          <a:solidFill>
            <a:srgbClr val="121A27"/>
          </a:solidFill>
          <a:ln w="9525">
            <a:solidFill>
              <a:srgbClr val="3A4458"/>
            </a:solidFill>
          </a:ln>
        </p:spPr>
      </p:sp>
      <p:sp>
        <p:nvSpPr>
          <p:cNvPr id="6" name="c3-text-206">
            <a:extLst>
              <a:ext uri="{FF2B5EF4-FFF2-40B4-BE49-F238E27FC236}">
                <a16:creationId xmlns:a16="http://schemas.microsoft.com/office/drawing/2014/main" id="{311A5E2A-15E8-4495-9C43-2209C0E61CC8}"/>
              </a:ext>
            </a:extLst>
          </p:cNvPr>
          <p:cNvSpPr>
            <a:spLocks noGrp="1"/>
          </p:cNvSpPr>
          <p:nvPr/>
        </p:nvSpPr>
        <p:spPr>
          <a:xfrm>
            <a:off x="781050" y="2219325"/>
            <a:ext cx="7581900" cy="1590675"/>
          </a:xfrm>
          <a:prstGeom prst="rect">
            <a:avLst/>
          </a:prstGeom>
          <a:noFill/>
          <a:ln w="0">
            <a:noFill/>
          </a:ln>
        </p:spPr>
        <p:txBody>
          <a:bodyPr wrap="square" lIns="9525" tIns="9525" rIns="9525" bIns="9525" anchor="t">
            <a:noAutofit/>
          </a:bodyPr>
          <a:lstStyle/>
          <a:p>
            <a:pPr>
              <a:defRPr sz="1725" b="0">
                <a:solidFill>
                  <a:srgbClr val="ECE6DE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CE6DE"/>
                </a:solidFill>
                <a:latin typeface="Consolas"/>
                <a:ea typeface="Consolas"/>
                <a:cs typeface="Consolas"/>
              </a:rPr>
              <a:t>schema = EmailCategory.model_json_schema()</a:t>
            </a:r>
          </a:p>
          <a:p>
            <a:pPr>
              <a:defRPr sz="1725" b="0">
                <a:solidFill>
                  <a:srgbClr val="ECE6DE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CE6DE"/>
                </a:solidFill>
                <a:latin typeface="Consolas"/>
                <a:ea typeface="Consolas"/>
                <a:cs typeface="Consolas"/>
              </a:rPr>
              <a:t>format_instructions = json.dumps(schema)</a:t>
            </a:r>
          </a:p>
          <a:p>
            <a:pPr>
              <a:defRPr sz="1725" b="0">
                <a:solidFill>
                  <a:srgbClr val="ECE6DE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CE6DE"/>
                </a:solidFill>
                <a:latin typeface="Consolas"/>
                <a:ea typeface="Consolas"/>
                <a:cs typeface="Consolas"/>
              </a:rPr>
              <a:t>SystemMessage(format_instructions)</a:t>
            </a:r>
          </a:p>
        </p:txBody>
      </p:sp>
      <p:sp>
        <p:nvSpPr>
          <p:cNvPr id="7" name="c3-text-207">
            <a:extLst>
              <a:ext uri="{FF2B5EF4-FFF2-40B4-BE49-F238E27FC236}">
                <a16:creationId xmlns:a16="http://schemas.microsoft.com/office/drawing/2014/main" id="{859C6E37-CC23-41BF-8AB9-5F5776AA8DD5}"/>
              </a:ext>
            </a:extLst>
          </p:cNvPr>
          <p:cNvSpPr>
            <a:spLocks noGrp="1"/>
          </p:cNvSpPr>
          <p:nvPr/>
        </p:nvSpPr>
        <p:spPr>
          <a:xfrm>
            <a:off x="609600" y="4086225"/>
            <a:ext cx="79248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9525" tIns="9525" rIns="9525" bIns="9525" anchor="ctr">
            <a:noAutofit/>
          </a:bodyPr>
          <a:lstStyle/>
          <a:p>
            <a:pPr>
              <a:defRPr sz="1650" b="0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Then classify an email as SUPPORT, SALES or SPAM.</a:t>
            </a:r>
          </a:p>
        </p:txBody>
      </p:sp>
      <p:sp>
        <p:nvSpPr>
          <p:cNvPr id="8" name="c3-text-208">
            <a:hlinkClick r:id="rId2"/>
            <a:extLst>
              <a:ext uri="{FF2B5EF4-FFF2-40B4-BE49-F238E27FC236}">
                <a16:creationId xmlns:a16="http://schemas.microsoft.com/office/drawing/2014/main" id="{BAE40B82-75C1-43C5-9D41-BE6BB0CBFA04}"/>
              </a:ext>
            </a:extLst>
          </p:cNvPr>
          <p:cNvSpPr>
            <a:spLocks noGrp="1"/>
          </p:cNvSpPr>
          <p:nvPr/>
        </p:nvSpPr>
        <p:spPr>
          <a:xfrm>
            <a:off x="609600" y="4410075"/>
            <a:ext cx="7924800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9525" tIns="9525" rIns="9525" bIns="9525" anchor="ctr">
            <a:noAutofit/>
          </a:bodyPr>
          <a:lstStyle/>
          <a:p>
            <a:pPr>
              <a:defRPr sz="1500" b="0">
                <a:solidFill>
                  <a:srgbClr val="7FA8E3"/>
                </a:solidFill>
                <a:latin typeface="Calibri"/>
                <a:ea typeface="Calibri"/>
                <a:cs typeface="Calibri"/>
              </a:defRPr>
            </a:pPr>
            <a:r>
              <a:rPr sz="1500" b="0" u="sng">
                <a:solidFill>
                  <a:srgbClr val="7FA8E3"/>
                </a:solidFill>
                <a:latin typeface="Calibri"/>
                <a:ea typeface="Calibri"/>
                <a:cs typeface="Calibri"/>
              </a:rPr>
              <a:t>Open 02_structured_output.ipynb: 1. Sentiment, format instructions and email</a:t>
            </a:r>
          </a:p>
        </p:txBody>
      </p:sp>
      <p:sp>
        <p:nvSpPr>
          <p:cNvPr id="9" name="c3-text-318">
            <a:extLst>
              <a:ext uri="{FF2B5EF4-FFF2-40B4-BE49-F238E27FC236}">
                <a16:creationId xmlns:a16="http://schemas.microsoft.com/office/drawing/2014/main" id="{BBAC5BC3-0B02-42D9-AA4C-F0CA600C6EA3}"/>
              </a:ext>
            </a:extLst>
          </p:cNvPr>
          <p:cNvSpPr>
            <a:spLocks noGrp="1"/>
          </p:cNvSpPr>
          <p:nvPr/>
        </p:nvSpPr>
        <p:spPr>
          <a:xfrm>
            <a:off x="8181975" y="4781550"/>
            <a:ext cx="352425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9525" tIns="9525" rIns="9525" bIns="9525" anchor="ctr">
            <a:noAutofit/>
          </a:bodyPr>
          <a:lstStyle/>
          <a:p>
            <a:pPr algn="r">
              <a:defRPr sz="750" b="0">
                <a:solidFill>
                  <a:srgbClr val="B4BDCB"/>
                </a:solidFill>
                <a:latin typeface="Calibri"/>
                <a:ea typeface="Calibri"/>
                <a:cs typeface="Calibri"/>
              </a:defRPr>
            </a:pPr>
            <a:r>
              <a:rPr sz="750" b="0">
                <a:solidFill>
                  <a:srgbClr val="B4BDCB"/>
                </a:solidFill>
                <a:latin typeface="Calibri"/>
                <a:ea typeface="Calibri"/>
                <a:cs typeface="Calibri"/>
              </a:rPr>
              <a:t>20</a:t>
            </a:r>
          </a:p>
        </p:txBody>
      </p:sp>
    </p:spTree>
    <p:extLst>
      <p:ext uri="{BB962C8B-B14F-4D97-AF65-F5344CB8AC3E}">
        <p14:creationId xmlns:p14="http://schemas.microsoft.com/office/powerpoint/2010/main" val="146380399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D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c3-text-209">
            <a:extLst>
              <a:ext uri="{FF2B5EF4-FFF2-40B4-BE49-F238E27FC236}">
                <a16:creationId xmlns:a16="http://schemas.microsoft.com/office/drawing/2014/main" id="{3F3F0739-70A1-49CA-B5E2-BA56E027AC17}"/>
              </a:ext>
            </a:extLst>
          </p:cNvPr>
          <p:cNvSpPr>
            <a:spLocks noGrp="1"/>
          </p:cNvSpPr>
          <p:nvPr/>
        </p:nvSpPr>
        <p:spPr>
          <a:xfrm>
            <a:off x="609600" y="238125"/>
            <a:ext cx="792480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9525" tIns="9525" rIns="9525" bIns="9525" anchor="ctr">
            <a:noAutofit/>
          </a:bodyPr>
          <a:lstStyle/>
          <a:p>
            <a:pPr>
              <a:defRPr sz="900" b="0">
                <a:solidFill>
                  <a:srgbClr val="B4BDCB"/>
                </a:solidFill>
                <a:latin typeface="Calibri"/>
                <a:ea typeface="Calibri"/>
                <a:cs typeface="Calibri"/>
              </a:defRPr>
            </a:pPr>
            <a:r>
              <a:rPr sz="900" b="0">
                <a:solidFill>
                  <a:srgbClr val="B4BDCB"/>
                </a:solidFill>
                <a:latin typeface="Calibri"/>
                <a:ea typeface="Calibri"/>
                <a:cs typeface="Calibri"/>
              </a:rPr>
              <a:t>AI-Powered Virtual Humans: LLM-Powered Cognitive Architectures</a:t>
            </a:r>
          </a:p>
        </p:txBody>
      </p:sp>
      <p:sp>
        <p:nvSpPr>
          <p:cNvPr id="2" name="c3-text-210">
            <a:extLst>
              <a:ext uri="{FF2B5EF4-FFF2-40B4-BE49-F238E27FC236}">
                <a16:creationId xmlns:a16="http://schemas.microsoft.com/office/drawing/2014/main" id="{966A9C1A-A565-4141-9FA1-9D2E60A6D1CC}"/>
              </a:ext>
            </a:extLst>
          </p:cNvPr>
          <p:cNvSpPr>
            <a:spLocks noGrp="1"/>
          </p:cNvSpPr>
          <p:nvPr/>
        </p:nvSpPr>
        <p:spPr>
          <a:xfrm>
            <a:off x="609600" y="657225"/>
            <a:ext cx="792480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9525" tIns="9525" rIns="9525" bIns="9525" anchor="ctr">
            <a:noAutofit/>
          </a:bodyPr>
          <a:lstStyle/>
          <a:p>
            <a:pPr>
              <a:defRPr sz="2700" b="1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2700" b="1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Several Labels in One Response</a:t>
            </a:r>
          </a:p>
        </p:txBody>
      </p:sp>
      <p:sp>
        <p:nvSpPr>
          <p:cNvPr id="3" name="c3-text-211">
            <a:extLst>
              <a:ext uri="{FF2B5EF4-FFF2-40B4-BE49-F238E27FC236}">
                <a16:creationId xmlns:a16="http://schemas.microsoft.com/office/drawing/2014/main" id="{0D2ED400-4097-4BB8-A3E6-CF7A30E99475}"/>
              </a:ext>
            </a:extLst>
          </p:cNvPr>
          <p:cNvSpPr>
            <a:spLocks noGrp="1"/>
          </p:cNvSpPr>
          <p:nvPr/>
        </p:nvSpPr>
        <p:spPr>
          <a:xfrm>
            <a:off x="6381750" y="4781550"/>
            <a:ext cx="17145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9525" tIns="9525" rIns="9525" bIns="9525" anchor="ctr">
            <a:noAutofit/>
          </a:bodyPr>
          <a:lstStyle/>
          <a:p>
            <a:pPr algn="r">
              <a:defRPr sz="750" b="0">
                <a:solidFill>
                  <a:srgbClr val="B4BDCB"/>
                </a:solidFill>
                <a:latin typeface="Calibri"/>
                <a:ea typeface="Calibri"/>
                <a:cs typeface="Calibri"/>
              </a:defRPr>
            </a:pPr>
            <a:r>
              <a:rPr sz="750" b="0">
                <a:solidFill>
                  <a:srgbClr val="B4BDCB"/>
                </a:solidFill>
                <a:latin typeface="Calibri"/>
                <a:ea typeface="Calibri"/>
                <a:cs typeface="Calibri"/>
              </a:rPr>
              <a:t>Module 1 · Chapter 03</a:t>
            </a:r>
          </a:p>
        </p:txBody>
      </p:sp>
      <p:sp>
        <p:nvSpPr>
          <p:cNvPr id="4" name="c3-shape-212">
            <a:extLst>
              <a:ext uri="{FF2B5EF4-FFF2-40B4-BE49-F238E27FC236}">
                <a16:creationId xmlns:a16="http://schemas.microsoft.com/office/drawing/2014/main" id="{32D5B7C4-AF72-488C-9CD1-89C2E13F1F73}"/>
              </a:ext>
            </a:extLst>
          </p:cNvPr>
          <p:cNvSpPr>
            <a:spLocks noGrp="1"/>
          </p:cNvSpPr>
          <p:nvPr/>
        </p:nvSpPr>
        <p:spPr>
          <a:xfrm>
            <a:off x="609600" y="2095500"/>
            <a:ext cx="3657600" cy="2162175"/>
          </a:xfrm>
          <a:prstGeom prst="roundRect">
            <a:avLst>
              <a:gd name="adj" fmla="val 3524"/>
            </a:avLst>
          </a:prstGeom>
          <a:solidFill>
            <a:srgbClr val="121A27"/>
          </a:solidFill>
          <a:ln w="9525">
            <a:solidFill>
              <a:srgbClr val="3A4458"/>
            </a:solidFill>
          </a:ln>
        </p:spPr>
      </p:sp>
      <p:sp>
        <p:nvSpPr>
          <p:cNvPr id="5" name="c3-shape-213">
            <a:extLst>
              <a:ext uri="{FF2B5EF4-FFF2-40B4-BE49-F238E27FC236}">
                <a16:creationId xmlns:a16="http://schemas.microsoft.com/office/drawing/2014/main" id="{08EAA51E-CBB7-4B48-B7BD-B7EE116056B4}"/>
              </a:ext>
            </a:extLst>
          </p:cNvPr>
          <p:cNvSpPr>
            <a:spLocks noGrp="1"/>
          </p:cNvSpPr>
          <p:nvPr/>
        </p:nvSpPr>
        <p:spPr>
          <a:xfrm>
            <a:off x="800100" y="2257425"/>
            <a:ext cx="342900" cy="9525"/>
          </a:xfrm>
          <a:prstGeom prst="rect">
            <a:avLst/>
          </a:prstGeom>
          <a:solidFill>
            <a:srgbClr val="D9A06B"/>
          </a:solidFill>
          <a:ln w="9525">
            <a:solidFill>
              <a:srgbClr val="D9A06B"/>
            </a:solidFill>
          </a:ln>
        </p:spPr>
      </p:sp>
      <p:sp>
        <p:nvSpPr>
          <p:cNvPr id="6" name="c3-text-214">
            <a:extLst>
              <a:ext uri="{FF2B5EF4-FFF2-40B4-BE49-F238E27FC236}">
                <a16:creationId xmlns:a16="http://schemas.microsoft.com/office/drawing/2014/main" id="{C37B9B17-0209-480D-AF1D-A0F96DCDC98A}"/>
              </a:ext>
            </a:extLst>
          </p:cNvPr>
          <p:cNvSpPr>
            <a:spLocks noGrp="1"/>
          </p:cNvSpPr>
          <p:nvPr/>
        </p:nvSpPr>
        <p:spPr>
          <a:xfrm>
            <a:off x="800100" y="2352675"/>
            <a:ext cx="32766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9525" tIns="9525" rIns="9525" bIns="9525" anchor="ctr">
            <a:noAutofit/>
          </a:bodyPr>
          <a:lstStyle/>
          <a:p>
            <a:pPr>
              <a:defRPr sz="1350" b="0">
                <a:solidFill>
                  <a:srgbClr val="D9A06B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D9A06B"/>
                </a:solidFill>
                <a:latin typeface="Calibri"/>
                <a:ea typeface="Calibri"/>
                <a:cs typeface="Calibri"/>
              </a:rPr>
              <a:t>Requests</a:t>
            </a:r>
          </a:p>
        </p:txBody>
      </p:sp>
      <p:sp>
        <p:nvSpPr>
          <p:cNvPr id="7" name="c3-text-215">
            <a:extLst>
              <a:ext uri="{FF2B5EF4-FFF2-40B4-BE49-F238E27FC236}">
                <a16:creationId xmlns:a16="http://schemas.microsoft.com/office/drawing/2014/main" id="{C4DB58E9-A255-4ADE-A2D3-8CACDF49B998}"/>
              </a:ext>
            </a:extLst>
          </p:cNvPr>
          <p:cNvSpPr>
            <a:spLocks noGrp="1"/>
          </p:cNvSpPr>
          <p:nvPr/>
        </p:nvSpPr>
        <p:spPr>
          <a:xfrm>
            <a:off x="800100" y="2695575"/>
            <a:ext cx="3276600" cy="1438275"/>
          </a:xfrm>
          <a:prstGeom prst="rect">
            <a:avLst/>
          </a:prstGeom>
          <a:noFill/>
          <a:ln w="0">
            <a:noFill/>
          </a:ln>
        </p:spPr>
        <p:txBody>
          <a:bodyPr wrap="square" lIns="9525" tIns="9525" rIns="9525" bIns="9525" anchor="t">
            <a:noAutofit/>
          </a:bodyPr>
          <a:lstStyle/>
          <a:p>
            <a:pPr>
              <a:defRPr sz="1800" b="0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1800" b="0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Where is the cafe?</a:t>
            </a:r>
          </a:p>
          <a:p>
            <a:pPr>
              <a:defRPr sz="1800" b="0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1800" b="0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When do you close?</a:t>
            </a:r>
          </a:p>
          <a:p>
            <a:pPr>
              <a:defRPr sz="1800" b="0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1800" b="0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How much is a ticket?</a:t>
            </a:r>
          </a:p>
        </p:txBody>
      </p:sp>
      <p:sp>
        <p:nvSpPr>
          <p:cNvPr id="8" name="c3-shape-216">
            <a:extLst>
              <a:ext uri="{FF2B5EF4-FFF2-40B4-BE49-F238E27FC236}">
                <a16:creationId xmlns:a16="http://schemas.microsoft.com/office/drawing/2014/main" id="{89733982-74EB-4D15-86B8-5D85A7EE3862}"/>
              </a:ext>
            </a:extLst>
          </p:cNvPr>
          <p:cNvSpPr>
            <a:spLocks noGrp="1"/>
          </p:cNvSpPr>
          <p:nvPr/>
        </p:nvSpPr>
        <p:spPr>
          <a:xfrm>
            <a:off x="4429125" y="3057525"/>
            <a:ext cx="285750" cy="152400"/>
          </a:xfrm>
          <a:prstGeom prst="rightArrow">
            <a:avLst/>
          </a:prstGeom>
          <a:solidFill>
            <a:srgbClr val="7FA8E3"/>
          </a:solidFill>
          <a:ln w="9525">
            <a:solidFill>
              <a:srgbClr val="7FA8E3"/>
            </a:solidFill>
          </a:ln>
        </p:spPr>
      </p:sp>
      <p:sp>
        <p:nvSpPr>
          <p:cNvPr id="9" name="c3-shape-217">
            <a:extLst>
              <a:ext uri="{FF2B5EF4-FFF2-40B4-BE49-F238E27FC236}">
                <a16:creationId xmlns:a16="http://schemas.microsoft.com/office/drawing/2014/main" id="{F6C35FF1-CC09-410B-A86D-0733956DEDC8}"/>
              </a:ext>
            </a:extLst>
          </p:cNvPr>
          <p:cNvSpPr>
            <a:spLocks noGrp="1"/>
          </p:cNvSpPr>
          <p:nvPr/>
        </p:nvSpPr>
        <p:spPr>
          <a:xfrm>
            <a:off x="4876800" y="2095500"/>
            <a:ext cx="3657600" cy="2162175"/>
          </a:xfrm>
          <a:prstGeom prst="roundRect">
            <a:avLst>
              <a:gd name="adj" fmla="val 3524"/>
            </a:avLst>
          </a:prstGeom>
          <a:solidFill>
            <a:srgbClr val="121A27"/>
          </a:solidFill>
          <a:ln w="9525">
            <a:solidFill>
              <a:srgbClr val="3A4458"/>
            </a:solidFill>
          </a:ln>
        </p:spPr>
      </p:sp>
      <p:sp>
        <p:nvSpPr>
          <p:cNvPr id="10" name="c3-text-218">
            <a:extLst>
              <a:ext uri="{FF2B5EF4-FFF2-40B4-BE49-F238E27FC236}">
                <a16:creationId xmlns:a16="http://schemas.microsoft.com/office/drawing/2014/main" id="{FAFD32BF-A693-46D3-8906-0A2BC16ACAAB}"/>
              </a:ext>
            </a:extLst>
          </p:cNvPr>
          <p:cNvSpPr>
            <a:spLocks noGrp="1"/>
          </p:cNvSpPr>
          <p:nvPr/>
        </p:nvSpPr>
        <p:spPr>
          <a:xfrm>
            <a:off x="5048250" y="2228850"/>
            <a:ext cx="3314700" cy="1895475"/>
          </a:xfrm>
          <a:prstGeom prst="rect">
            <a:avLst/>
          </a:prstGeom>
          <a:noFill/>
          <a:ln w="0">
            <a:noFill/>
          </a:ln>
        </p:spPr>
        <p:txBody>
          <a:bodyPr wrap="square" lIns="9525" tIns="9525" rIns="9525" bIns="9525" anchor="t">
            <a:noAutofit/>
          </a:bodyPr>
          <a:lstStyle/>
          <a:p>
            <a:pPr>
              <a:defRPr sz="1800" b="0">
                <a:solidFill>
                  <a:srgbClr val="ECE6DE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ECE6DE"/>
                </a:solidFill>
                <a:latin typeface="Consolas"/>
                <a:ea typeface="Consolas"/>
                <a:cs typeface="Consolas"/>
              </a:rPr>
              <a:t>labels = [</a:t>
            </a:r>
          </a:p>
          <a:p>
            <a:pPr>
              <a:defRPr sz="1800" b="0">
                <a:solidFill>
                  <a:srgbClr val="ECE6DE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ECE6DE"/>
                </a:solidFill>
                <a:latin typeface="Consolas"/>
                <a:ea typeface="Consolas"/>
                <a:cs typeface="Consolas"/>
              </a:rPr>
              <a:t>    "DIRECTIONS",</a:t>
            </a:r>
          </a:p>
          <a:p>
            <a:pPr>
              <a:defRPr sz="1800" b="0">
                <a:solidFill>
                  <a:srgbClr val="ECE6DE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ECE6DE"/>
                </a:solidFill>
                <a:latin typeface="Consolas"/>
                <a:ea typeface="Consolas"/>
                <a:cs typeface="Consolas"/>
              </a:rPr>
              <a:t>    "HOURS",</a:t>
            </a:r>
          </a:p>
          <a:p>
            <a:pPr>
              <a:defRPr sz="1800" b="0">
                <a:solidFill>
                  <a:srgbClr val="ECE6DE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ECE6DE"/>
                </a:solidFill>
                <a:latin typeface="Consolas"/>
                <a:ea typeface="Consolas"/>
                <a:cs typeface="Consolas"/>
              </a:rPr>
              <a:t>    "TICKETS",</a:t>
            </a:r>
          </a:p>
          <a:p>
            <a:pPr>
              <a:defRPr sz="1800" b="0">
                <a:solidFill>
                  <a:srgbClr val="ECE6DE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ECE6DE"/>
                </a:solidFill>
                <a:latin typeface="Consolas"/>
                <a:ea typeface="Consolas"/>
                <a:cs typeface="Consolas"/>
              </a:rPr>
              <a:t>]</a:t>
            </a:r>
          </a:p>
        </p:txBody>
      </p:sp>
      <p:sp>
        <p:nvSpPr>
          <p:cNvPr id="11" name="c3-text-219">
            <a:extLst>
              <a:ext uri="{FF2B5EF4-FFF2-40B4-BE49-F238E27FC236}">
                <a16:creationId xmlns:a16="http://schemas.microsoft.com/office/drawing/2014/main" id="{12BDDB39-B16B-45E8-ABC0-F42ABCF2F969}"/>
              </a:ext>
            </a:extLst>
          </p:cNvPr>
          <p:cNvSpPr>
            <a:spLocks noGrp="1"/>
          </p:cNvSpPr>
          <p:nvPr/>
        </p:nvSpPr>
        <p:spPr>
          <a:xfrm>
            <a:off x="609600" y="4562475"/>
            <a:ext cx="792480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9525" tIns="9525" rIns="9525" bIns="9525" anchor="ctr">
            <a:noAutofit/>
          </a:bodyPr>
          <a:lstStyle/>
          <a:p>
            <a:pPr>
              <a:defRPr sz="1125" b="0">
                <a:solidFill>
                  <a:srgbClr val="7FA8E3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7FA8E3"/>
                </a:solidFill>
                <a:latin typeface="Calibri"/>
                <a:ea typeface="Calibri"/>
                <a:cs typeface="Calibri"/>
              </a:rPr>
              <a:t>One list of requests, one model call, labels in the same order.</a:t>
            </a:r>
          </a:p>
        </p:txBody>
      </p:sp>
      <p:sp>
        <p:nvSpPr>
          <p:cNvPr id="12" name="c3-text-319">
            <a:extLst>
              <a:ext uri="{FF2B5EF4-FFF2-40B4-BE49-F238E27FC236}">
                <a16:creationId xmlns:a16="http://schemas.microsoft.com/office/drawing/2014/main" id="{87FD14F6-FB22-45A7-BCFD-40653DFC386B}"/>
              </a:ext>
            </a:extLst>
          </p:cNvPr>
          <p:cNvSpPr>
            <a:spLocks noGrp="1"/>
          </p:cNvSpPr>
          <p:nvPr/>
        </p:nvSpPr>
        <p:spPr>
          <a:xfrm>
            <a:off x="8181975" y="4781550"/>
            <a:ext cx="352425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9525" tIns="9525" rIns="9525" bIns="9525" anchor="ctr">
            <a:noAutofit/>
          </a:bodyPr>
          <a:lstStyle/>
          <a:p>
            <a:pPr algn="r">
              <a:defRPr sz="750" b="0">
                <a:solidFill>
                  <a:srgbClr val="B4BDCB"/>
                </a:solidFill>
                <a:latin typeface="Calibri"/>
                <a:ea typeface="Calibri"/>
                <a:cs typeface="Calibri"/>
              </a:defRPr>
            </a:pPr>
            <a:r>
              <a:rPr sz="750" b="0">
                <a:solidFill>
                  <a:srgbClr val="B4BDCB"/>
                </a:solidFill>
                <a:latin typeface="Calibri"/>
                <a:ea typeface="Calibri"/>
                <a:cs typeface="Calibri"/>
              </a:rPr>
              <a:t>21</a:t>
            </a:r>
          </a:p>
        </p:txBody>
      </p:sp>
    </p:spTree>
    <p:extLst>
      <p:ext uri="{BB962C8B-B14F-4D97-AF65-F5344CB8AC3E}">
        <p14:creationId xmlns:p14="http://schemas.microsoft.com/office/powerpoint/2010/main" val="55397203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D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3-text-220">
            <a:extLst>
              <a:ext uri="{FF2B5EF4-FFF2-40B4-BE49-F238E27FC236}">
                <a16:creationId xmlns:a16="http://schemas.microsoft.com/office/drawing/2014/main" id="{945DC2B7-3E9F-4DE8-BFE4-D80BE7840E4B}"/>
              </a:ext>
            </a:extLst>
          </p:cNvPr>
          <p:cNvSpPr>
            <a:spLocks noGrp="1"/>
          </p:cNvSpPr>
          <p:nvPr/>
        </p:nvSpPr>
        <p:spPr>
          <a:xfrm>
            <a:off x="609600" y="238125"/>
            <a:ext cx="792480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9525" tIns="9525" rIns="9525" bIns="9525" anchor="ctr">
            <a:noAutofit/>
          </a:bodyPr>
          <a:lstStyle/>
          <a:p>
            <a:pPr>
              <a:defRPr sz="900" b="0">
                <a:solidFill>
                  <a:srgbClr val="B4BDCB"/>
                </a:solidFill>
                <a:latin typeface="Calibri"/>
                <a:ea typeface="Calibri"/>
                <a:cs typeface="Calibri"/>
              </a:defRPr>
            </a:pPr>
            <a:r>
              <a:rPr sz="900" b="0">
                <a:solidFill>
                  <a:srgbClr val="B4BDCB"/>
                </a:solidFill>
                <a:latin typeface="Calibri"/>
                <a:ea typeface="Calibri"/>
                <a:cs typeface="Calibri"/>
              </a:rPr>
              <a:t>AI-Powered Virtual Humans: LLM-Powered Cognitive Architectures</a:t>
            </a:r>
          </a:p>
        </p:txBody>
      </p:sp>
      <p:sp>
        <p:nvSpPr>
          <p:cNvPr id="2" name="c3-text-221">
            <a:extLst>
              <a:ext uri="{FF2B5EF4-FFF2-40B4-BE49-F238E27FC236}">
                <a16:creationId xmlns:a16="http://schemas.microsoft.com/office/drawing/2014/main" id="{7BC97F0B-E2FD-41E5-8A5A-D9D03A423406}"/>
              </a:ext>
            </a:extLst>
          </p:cNvPr>
          <p:cNvSpPr>
            <a:spLocks noGrp="1"/>
          </p:cNvSpPr>
          <p:nvPr/>
        </p:nvSpPr>
        <p:spPr>
          <a:xfrm>
            <a:off x="609600" y="657225"/>
            <a:ext cx="792480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9525" tIns="9525" rIns="9525" bIns="9525" anchor="ctr">
            <a:noAutofit/>
          </a:bodyPr>
          <a:lstStyle/>
          <a:p>
            <a:pPr>
              <a:defRPr sz="2700" b="1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2700" b="1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Exercise: Tune the Classifier Prompt</a:t>
            </a:r>
          </a:p>
        </p:txBody>
      </p:sp>
      <p:sp>
        <p:nvSpPr>
          <p:cNvPr id="3" name="c3-text-222">
            <a:extLst>
              <a:ext uri="{FF2B5EF4-FFF2-40B4-BE49-F238E27FC236}">
                <a16:creationId xmlns:a16="http://schemas.microsoft.com/office/drawing/2014/main" id="{F2810D4C-4E15-452E-93EF-65D699D2D13D}"/>
              </a:ext>
            </a:extLst>
          </p:cNvPr>
          <p:cNvSpPr>
            <a:spLocks noGrp="1"/>
          </p:cNvSpPr>
          <p:nvPr/>
        </p:nvSpPr>
        <p:spPr>
          <a:xfrm>
            <a:off x="6381750" y="4781550"/>
            <a:ext cx="17145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9525" tIns="9525" rIns="9525" bIns="9525" anchor="ctr">
            <a:noAutofit/>
          </a:bodyPr>
          <a:lstStyle/>
          <a:p>
            <a:pPr algn="r">
              <a:defRPr sz="750" b="0">
                <a:solidFill>
                  <a:srgbClr val="B4BDCB"/>
                </a:solidFill>
                <a:latin typeface="Calibri"/>
                <a:ea typeface="Calibri"/>
                <a:cs typeface="Calibri"/>
              </a:defRPr>
            </a:pPr>
            <a:r>
              <a:rPr sz="750" b="0">
                <a:solidFill>
                  <a:srgbClr val="B4BDCB"/>
                </a:solidFill>
                <a:latin typeface="Calibri"/>
                <a:ea typeface="Calibri"/>
                <a:cs typeface="Calibri"/>
              </a:rPr>
              <a:t>Module 1 · Chapter 03</a:t>
            </a:r>
          </a:p>
        </p:txBody>
      </p:sp>
      <p:sp>
        <p:nvSpPr>
          <p:cNvPr id="4" name="c3-shape-223">
            <a:extLst>
              <a:ext uri="{FF2B5EF4-FFF2-40B4-BE49-F238E27FC236}">
                <a16:creationId xmlns:a16="http://schemas.microsoft.com/office/drawing/2014/main" id="{1501D5FC-3DFA-4D2B-A3B1-609347FE6C86}"/>
              </a:ext>
            </a:extLst>
          </p:cNvPr>
          <p:cNvSpPr>
            <a:spLocks noGrp="1"/>
          </p:cNvSpPr>
          <p:nvPr/>
        </p:nvSpPr>
        <p:spPr>
          <a:xfrm>
            <a:off x="609600" y="2085975"/>
            <a:ext cx="3771900" cy="1933575"/>
          </a:xfrm>
          <a:prstGeom prst="roundRect">
            <a:avLst>
              <a:gd name="adj" fmla="val 3941"/>
            </a:avLst>
          </a:prstGeom>
          <a:solidFill>
            <a:srgbClr val="121A27"/>
          </a:solidFill>
          <a:ln w="9525">
            <a:solidFill>
              <a:srgbClr val="3A4458"/>
            </a:solidFill>
          </a:ln>
        </p:spPr>
      </p:sp>
      <p:sp>
        <p:nvSpPr>
          <p:cNvPr id="5" name="c3-shape-224">
            <a:extLst>
              <a:ext uri="{FF2B5EF4-FFF2-40B4-BE49-F238E27FC236}">
                <a16:creationId xmlns:a16="http://schemas.microsoft.com/office/drawing/2014/main" id="{358F2B4E-805B-4AEC-A70B-5C3CCFCFADB5}"/>
              </a:ext>
            </a:extLst>
          </p:cNvPr>
          <p:cNvSpPr>
            <a:spLocks noGrp="1"/>
          </p:cNvSpPr>
          <p:nvPr/>
        </p:nvSpPr>
        <p:spPr>
          <a:xfrm>
            <a:off x="800100" y="2247900"/>
            <a:ext cx="342900" cy="9525"/>
          </a:xfrm>
          <a:prstGeom prst="rect">
            <a:avLst/>
          </a:prstGeom>
          <a:solidFill>
            <a:srgbClr val="D9A06B"/>
          </a:solidFill>
          <a:ln w="9525">
            <a:solidFill>
              <a:srgbClr val="D9A06B"/>
            </a:solidFill>
          </a:ln>
        </p:spPr>
      </p:sp>
      <p:sp>
        <p:nvSpPr>
          <p:cNvPr id="6" name="c3-text-225">
            <a:extLst>
              <a:ext uri="{FF2B5EF4-FFF2-40B4-BE49-F238E27FC236}">
                <a16:creationId xmlns:a16="http://schemas.microsoft.com/office/drawing/2014/main" id="{A5C49E6B-F3A9-4DDC-B3AD-089EA062BBB5}"/>
              </a:ext>
            </a:extLst>
          </p:cNvPr>
          <p:cNvSpPr>
            <a:spLocks noGrp="1"/>
          </p:cNvSpPr>
          <p:nvPr/>
        </p:nvSpPr>
        <p:spPr>
          <a:xfrm>
            <a:off x="800100" y="2343150"/>
            <a:ext cx="33909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9525" tIns="9525" rIns="9525" bIns="9525" anchor="ctr">
            <a:noAutofit/>
          </a:bodyPr>
          <a:lstStyle/>
          <a:p>
            <a:pPr>
              <a:defRPr sz="1350" b="0">
                <a:solidFill>
                  <a:srgbClr val="D9A06B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D9A06B"/>
                </a:solidFill>
                <a:latin typeface="Calibri"/>
                <a:ea typeface="Calibri"/>
                <a:cs typeface="Calibri"/>
              </a:rPr>
              <a:t>15 requests</a:t>
            </a:r>
          </a:p>
        </p:txBody>
      </p:sp>
      <p:sp>
        <p:nvSpPr>
          <p:cNvPr id="7" name="c3-text-226">
            <a:extLst>
              <a:ext uri="{FF2B5EF4-FFF2-40B4-BE49-F238E27FC236}">
                <a16:creationId xmlns:a16="http://schemas.microsoft.com/office/drawing/2014/main" id="{1AEB53A5-057B-476C-A81F-25BF20C90F18}"/>
              </a:ext>
            </a:extLst>
          </p:cNvPr>
          <p:cNvSpPr>
            <a:spLocks noGrp="1"/>
          </p:cNvSpPr>
          <p:nvPr/>
        </p:nvSpPr>
        <p:spPr>
          <a:xfrm>
            <a:off x="800100" y="2686050"/>
            <a:ext cx="3390900" cy="1209675"/>
          </a:xfrm>
          <a:prstGeom prst="rect">
            <a:avLst/>
          </a:prstGeom>
          <a:noFill/>
          <a:ln w="0">
            <a:noFill/>
          </a:ln>
        </p:spPr>
        <p:txBody>
          <a:bodyPr wrap="square" lIns="9525" tIns="9525" rIns="9525" bIns="9525" anchor="t">
            <a:noAutofit/>
          </a:bodyPr>
          <a:lstStyle/>
          <a:p>
            <a:pPr>
              <a:defRPr sz="1725" b="0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One dataset, one model call.</a:t>
            </a:r>
          </a:p>
          <a:p>
            <a:pPr>
              <a:defRPr sz="1725" b="0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Inspect the wrong predictions.</a:t>
            </a:r>
          </a:p>
          <a:p>
            <a:pPr>
              <a:defRPr sz="1725" b="0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Tune prompt and description.</a:t>
            </a:r>
          </a:p>
        </p:txBody>
      </p:sp>
      <p:sp>
        <p:nvSpPr>
          <p:cNvPr id="8" name="c3-shape-227">
            <a:extLst>
              <a:ext uri="{FF2B5EF4-FFF2-40B4-BE49-F238E27FC236}">
                <a16:creationId xmlns:a16="http://schemas.microsoft.com/office/drawing/2014/main" id="{FDE2D8D5-67CE-4647-89B3-66464985A033}"/>
              </a:ext>
            </a:extLst>
          </p:cNvPr>
          <p:cNvSpPr>
            <a:spLocks noGrp="1"/>
          </p:cNvSpPr>
          <p:nvPr/>
        </p:nvSpPr>
        <p:spPr>
          <a:xfrm>
            <a:off x="4762500" y="2085975"/>
            <a:ext cx="3771900" cy="1933575"/>
          </a:xfrm>
          <a:prstGeom prst="roundRect">
            <a:avLst>
              <a:gd name="adj" fmla="val 3941"/>
            </a:avLst>
          </a:prstGeom>
          <a:solidFill>
            <a:srgbClr val="121A27"/>
          </a:solidFill>
          <a:ln w="9525">
            <a:solidFill>
              <a:srgbClr val="3A4458"/>
            </a:solidFill>
          </a:ln>
        </p:spPr>
      </p:sp>
      <p:sp>
        <p:nvSpPr>
          <p:cNvPr id="9" name="c3-shape-228">
            <a:extLst>
              <a:ext uri="{FF2B5EF4-FFF2-40B4-BE49-F238E27FC236}">
                <a16:creationId xmlns:a16="http://schemas.microsoft.com/office/drawing/2014/main" id="{DF0B8EAD-B46B-426A-94D0-7D8DE47D0602}"/>
              </a:ext>
            </a:extLst>
          </p:cNvPr>
          <p:cNvSpPr>
            <a:spLocks noGrp="1"/>
          </p:cNvSpPr>
          <p:nvPr/>
        </p:nvSpPr>
        <p:spPr>
          <a:xfrm>
            <a:off x="4953000" y="2247900"/>
            <a:ext cx="342900" cy="9525"/>
          </a:xfrm>
          <a:prstGeom prst="rect">
            <a:avLst/>
          </a:prstGeom>
          <a:solidFill>
            <a:srgbClr val="7FA8E3"/>
          </a:solidFill>
          <a:ln w="9525">
            <a:solidFill>
              <a:srgbClr val="7FA8E3"/>
            </a:solidFill>
          </a:ln>
        </p:spPr>
      </p:sp>
      <p:sp>
        <p:nvSpPr>
          <p:cNvPr id="10" name="c3-text-229">
            <a:extLst>
              <a:ext uri="{FF2B5EF4-FFF2-40B4-BE49-F238E27FC236}">
                <a16:creationId xmlns:a16="http://schemas.microsoft.com/office/drawing/2014/main" id="{D18689F9-FA84-47C0-8633-38069CD1AAC3}"/>
              </a:ext>
            </a:extLst>
          </p:cNvPr>
          <p:cNvSpPr>
            <a:spLocks noGrp="1"/>
          </p:cNvSpPr>
          <p:nvPr/>
        </p:nvSpPr>
        <p:spPr>
          <a:xfrm>
            <a:off x="4953000" y="2343150"/>
            <a:ext cx="33909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9525" tIns="9525" rIns="9525" bIns="9525" anchor="ctr">
            <a:noAutofit/>
          </a:bodyPr>
          <a:lstStyle/>
          <a:p>
            <a:pPr>
              <a:defRPr sz="1350" b="0">
                <a:solidFill>
                  <a:srgbClr val="7FA8E3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7FA8E3"/>
                </a:solidFill>
                <a:latin typeface="Calibri"/>
                <a:ea typeface="Calibri"/>
                <a:cs typeface="Calibri"/>
              </a:rPr>
              <a:t>One score</a:t>
            </a:r>
          </a:p>
        </p:txBody>
      </p:sp>
      <p:sp>
        <p:nvSpPr>
          <p:cNvPr id="11" name="c3-text-230">
            <a:extLst>
              <a:ext uri="{FF2B5EF4-FFF2-40B4-BE49-F238E27FC236}">
                <a16:creationId xmlns:a16="http://schemas.microsoft.com/office/drawing/2014/main" id="{1A3B877E-FBE1-4D5B-81A4-08076220AABE}"/>
              </a:ext>
            </a:extLst>
          </p:cNvPr>
          <p:cNvSpPr>
            <a:spLocks noGrp="1"/>
          </p:cNvSpPr>
          <p:nvPr/>
        </p:nvSpPr>
        <p:spPr>
          <a:xfrm>
            <a:off x="4953000" y="2686050"/>
            <a:ext cx="3390900" cy="1209675"/>
          </a:xfrm>
          <a:prstGeom prst="rect">
            <a:avLst/>
          </a:prstGeom>
          <a:noFill/>
          <a:ln w="0">
            <a:noFill/>
          </a:ln>
        </p:spPr>
        <p:txBody>
          <a:bodyPr wrap="square" lIns="9525" tIns="9525" rIns="9525" bIns="9525" anchor="t">
            <a:noAutofit/>
          </a:bodyPr>
          <a:lstStyle/>
          <a:p>
            <a:pPr>
              <a:defRPr sz="1725" b="0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Keep labels out of the input.</a:t>
            </a:r>
          </a:p>
          <a:p>
            <a:pPr>
              <a:defRPr sz="1725" b="0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Rerun the same evaluation.</a:t>
            </a:r>
          </a:p>
          <a:p>
            <a:pPr>
              <a:defRPr sz="1725" b="0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Aim for the highest accuracy.</a:t>
            </a:r>
          </a:p>
        </p:txBody>
      </p:sp>
      <p:sp>
        <p:nvSpPr>
          <p:cNvPr id="12" name="c3-text-231">
            <a:extLst>
              <a:ext uri="{FF2B5EF4-FFF2-40B4-BE49-F238E27FC236}">
                <a16:creationId xmlns:a16="http://schemas.microsoft.com/office/drawing/2014/main" id="{91B9B604-F342-4812-A0A2-2F03510C5679}"/>
              </a:ext>
            </a:extLst>
          </p:cNvPr>
          <p:cNvSpPr>
            <a:spLocks noGrp="1"/>
          </p:cNvSpPr>
          <p:nvPr/>
        </p:nvSpPr>
        <p:spPr>
          <a:xfrm>
            <a:off x="609600" y="4248150"/>
            <a:ext cx="7924800" cy="352425"/>
          </a:xfrm>
          <a:prstGeom prst="rect">
            <a:avLst/>
          </a:prstGeom>
          <a:noFill/>
          <a:ln w="0">
            <a:noFill/>
          </a:ln>
        </p:spPr>
        <p:txBody>
          <a:bodyPr wrap="square" lIns="9525" tIns="9525" rIns="9525" bIns="9525" anchor="ctr">
            <a:noAutofit/>
          </a:bodyPr>
          <a:lstStyle/>
          <a:p>
            <a:pPr>
              <a:defRPr sz="1875" b="0">
                <a:solidFill>
                  <a:srgbClr val="D9A06B"/>
                </a:solidFill>
                <a:latin typeface="Calibri"/>
                <a:ea typeface="Calibri"/>
                <a:cs typeface="Calibri"/>
              </a:defRPr>
            </a:pPr>
            <a:r>
              <a:rPr sz="1875" b="0">
                <a:solidFill>
                  <a:srgbClr val="D9A06B"/>
                </a:solidFill>
                <a:latin typeface="Calibri"/>
                <a:ea typeface="Calibri"/>
                <a:cs typeface="Calibri"/>
              </a:rPr>
              <a:t>The code is ready. Tune the prompt and field description.</a:t>
            </a:r>
          </a:p>
        </p:txBody>
      </p:sp>
      <p:sp>
        <p:nvSpPr>
          <p:cNvPr id="13" name="c3-text-320">
            <a:extLst>
              <a:ext uri="{FF2B5EF4-FFF2-40B4-BE49-F238E27FC236}">
                <a16:creationId xmlns:a16="http://schemas.microsoft.com/office/drawing/2014/main" id="{C8A9C564-87E1-4955-B981-343495489413}"/>
              </a:ext>
            </a:extLst>
          </p:cNvPr>
          <p:cNvSpPr>
            <a:spLocks noGrp="1"/>
          </p:cNvSpPr>
          <p:nvPr/>
        </p:nvSpPr>
        <p:spPr>
          <a:xfrm>
            <a:off x="8181975" y="4781550"/>
            <a:ext cx="352425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9525" tIns="9525" rIns="9525" bIns="9525" anchor="ctr">
            <a:noAutofit/>
          </a:bodyPr>
          <a:lstStyle/>
          <a:p>
            <a:pPr algn="r">
              <a:defRPr sz="750" b="0">
                <a:solidFill>
                  <a:srgbClr val="B4BDCB"/>
                </a:solidFill>
                <a:latin typeface="Calibri"/>
                <a:ea typeface="Calibri"/>
                <a:cs typeface="Calibri"/>
              </a:defRPr>
            </a:pPr>
            <a:r>
              <a:rPr sz="750" b="0">
                <a:solidFill>
                  <a:srgbClr val="B4BDCB"/>
                </a:solidFill>
                <a:latin typeface="Calibri"/>
                <a:ea typeface="Calibri"/>
                <a:cs typeface="Calibri"/>
              </a:rPr>
              <a:t>22</a:t>
            </a:r>
          </a:p>
        </p:txBody>
      </p:sp>
    </p:spTree>
    <p:extLst>
      <p:ext uri="{BB962C8B-B14F-4D97-AF65-F5344CB8AC3E}">
        <p14:creationId xmlns:p14="http://schemas.microsoft.com/office/powerpoint/2010/main" val="87696320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D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3-text-232">
            <a:extLst>
              <a:ext uri="{FF2B5EF4-FFF2-40B4-BE49-F238E27FC236}">
                <a16:creationId xmlns:a16="http://schemas.microsoft.com/office/drawing/2014/main" id="{94431C4A-A9CD-423F-82F4-6BE763EB2376}"/>
              </a:ext>
            </a:extLst>
          </p:cNvPr>
          <p:cNvSpPr>
            <a:spLocks noGrp="1"/>
          </p:cNvSpPr>
          <p:nvPr/>
        </p:nvSpPr>
        <p:spPr>
          <a:xfrm>
            <a:off x="609600" y="238125"/>
            <a:ext cx="792480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9525" tIns="9525" rIns="9525" bIns="9525" anchor="ctr">
            <a:noAutofit/>
          </a:bodyPr>
          <a:lstStyle/>
          <a:p>
            <a:pPr>
              <a:defRPr sz="900" b="0">
                <a:solidFill>
                  <a:srgbClr val="B4BDCB"/>
                </a:solidFill>
                <a:latin typeface="Calibri"/>
                <a:ea typeface="Calibri"/>
                <a:cs typeface="Calibri"/>
              </a:defRPr>
            </a:pPr>
            <a:r>
              <a:rPr sz="900" b="0">
                <a:solidFill>
                  <a:srgbClr val="B4BDCB"/>
                </a:solidFill>
                <a:latin typeface="Calibri"/>
                <a:ea typeface="Calibri"/>
                <a:cs typeface="Calibri"/>
              </a:rPr>
              <a:t>AI-Powered Virtual Humans: LLM-Powered Cognitive Architectures</a:t>
            </a:r>
          </a:p>
        </p:txBody>
      </p:sp>
      <p:sp>
        <p:nvSpPr>
          <p:cNvPr id="2" name="c3-text-233">
            <a:extLst>
              <a:ext uri="{FF2B5EF4-FFF2-40B4-BE49-F238E27FC236}">
                <a16:creationId xmlns:a16="http://schemas.microsoft.com/office/drawing/2014/main" id="{C0F2EF8D-E5CF-4BCB-8EF3-5FDAACC76AF7}"/>
              </a:ext>
            </a:extLst>
          </p:cNvPr>
          <p:cNvSpPr>
            <a:spLocks noGrp="1"/>
          </p:cNvSpPr>
          <p:nvPr/>
        </p:nvSpPr>
        <p:spPr>
          <a:xfrm>
            <a:off x="609600" y="657225"/>
            <a:ext cx="792480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9525" tIns="9525" rIns="9525" bIns="9525" anchor="ctr">
            <a:noAutofit/>
          </a:bodyPr>
          <a:lstStyle/>
          <a:p>
            <a:pPr>
              <a:defRPr sz="2700" b="1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2700" b="1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Inspect Errors and Improve Accuracy</a:t>
            </a:r>
          </a:p>
        </p:txBody>
      </p:sp>
      <p:sp>
        <p:nvSpPr>
          <p:cNvPr id="3" name="c3-text-234">
            <a:extLst>
              <a:ext uri="{FF2B5EF4-FFF2-40B4-BE49-F238E27FC236}">
                <a16:creationId xmlns:a16="http://schemas.microsoft.com/office/drawing/2014/main" id="{019001B0-760B-4C0C-8359-F14D10A29D84}"/>
              </a:ext>
            </a:extLst>
          </p:cNvPr>
          <p:cNvSpPr>
            <a:spLocks noGrp="1"/>
          </p:cNvSpPr>
          <p:nvPr/>
        </p:nvSpPr>
        <p:spPr>
          <a:xfrm>
            <a:off x="6381750" y="4781550"/>
            <a:ext cx="17145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9525" tIns="9525" rIns="9525" bIns="9525" anchor="ctr">
            <a:noAutofit/>
          </a:bodyPr>
          <a:lstStyle/>
          <a:p>
            <a:pPr algn="r">
              <a:defRPr sz="750" b="0">
                <a:solidFill>
                  <a:srgbClr val="B4BDCB"/>
                </a:solidFill>
                <a:latin typeface="Calibri"/>
                <a:ea typeface="Calibri"/>
                <a:cs typeface="Calibri"/>
              </a:defRPr>
            </a:pPr>
            <a:r>
              <a:rPr sz="750" b="0">
                <a:solidFill>
                  <a:srgbClr val="B4BDCB"/>
                </a:solidFill>
                <a:latin typeface="Calibri"/>
                <a:ea typeface="Calibri"/>
                <a:cs typeface="Calibri"/>
              </a:rPr>
              <a:t>Module 1 · Chapter 03</a:t>
            </a:r>
          </a:p>
        </p:txBody>
      </p:sp>
      <p:sp>
        <p:nvSpPr>
          <p:cNvPr id="4" name="c3-shape-235">
            <a:extLst>
              <a:ext uri="{FF2B5EF4-FFF2-40B4-BE49-F238E27FC236}">
                <a16:creationId xmlns:a16="http://schemas.microsoft.com/office/drawing/2014/main" id="{19619E6C-61F5-4ED8-B95E-EC83ED67D4FB}"/>
              </a:ext>
            </a:extLst>
          </p:cNvPr>
          <p:cNvSpPr>
            <a:spLocks noGrp="1"/>
          </p:cNvSpPr>
          <p:nvPr/>
        </p:nvSpPr>
        <p:spPr>
          <a:xfrm>
            <a:off x="609600" y="2085975"/>
            <a:ext cx="7924800" cy="1409700"/>
          </a:xfrm>
          <a:prstGeom prst="roundRect">
            <a:avLst>
              <a:gd name="adj" fmla="val 5405"/>
            </a:avLst>
          </a:prstGeom>
          <a:solidFill>
            <a:srgbClr val="121A27"/>
          </a:solidFill>
          <a:ln w="9525">
            <a:solidFill>
              <a:srgbClr val="3A4458"/>
            </a:solidFill>
          </a:ln>
        </p:spPr>
      </p:sp>
      <p:sp>
        <p:nvSpPr>
          <p:cNvPr id="5" name="c3-text-236">
            <a:extLst>
              <a:ext uri="{FF2B5EF4-FFF2-40B4-BE49-F238E27FC236}">
                <a16:creationId xmlns:a16="http://schemas.microsoft.com/office/drawing/2014/main" id="{8823A244-F4D3-4A4E-B236-B7EC88711B1F}"/>
              </a:ext>
            </a:extLst>
          </p:cNvPr>
          <p:cNvSpPr>
            <a:spLocks noGrp="1"/>
          </p:cNvSpPr>
          <p:nvPr/>
        </p:nvSpPr>
        <p:spPr>
          <a:xfrm>
            <a:off x="800100" y="2266950"/>
            <a:ext cx="7543800" cy="933450"/>
          </a:xfrm>
          <a:prstGeom prst="rect">
            <a:avLst/>
          </a:prstGeom>
          <a:noFill/>
          <a:ln w="0">
            <a:noFill/>
          </a:ln>
        </p:spPr>
        <p:txBody>
          <a:bodyPr wrap="square" lIns="9525" tIns="9525" rIns="9525" bIns="9525" anchor="ctr">
            <a:noAutofit/>
          </a:bodyPr>
          <a:lstStyle/>
          <a:p>
            <a:pPr algn="ctr">
              <a:defRPr sz="2325" b="0">
                <a:solidFill>
                  <a:srgbClr val="D9A06B"/>
                </a:solidFill>
                <a:latin typeface="Calibri"/>
                <a:ea typeface="Calibri"/>
                <a:cs typeface="Calibri"/>
              </a:defRPr>
            </a:pPr>
            <a:r>
              <a:rPr sz="2325" b="0">
                <a:solidFill>
                  <a:srgbClr val="D9A06B"/>
                </a:solidFill>
                <a:latin typeface="Calibri"/>
                <a:ea typeface="Calibri"/>
                <a:cs typeface="Calibri"/>
              </a:rPr>
              <a:t>Accuracy = correct predictions / number of requests</a:t>
            </a:r>
          </a:p>
        </p:txBody>
      </p:sp>
      <p:sp>
        <p:nvSpPr>
          <p:cNvPr id="6" name="c3-text-237">
            <a:extLst>
              <a:ext uri="{FF2B5EF4-FFF2-40B4-BE49-F238E27FC236}">
                <a16:creationId xmlns:a16="http://schemas.microsoft.com/office/drawing/2014/main" id="{0926BEAE-EE39-4485-8EF9-130C85382417}"/>
              </a:ext>
            </a:extLst>
          </p:cNvPr>
          <p:cNvSpPr>
            <a:spLocks noGrp="1"/>
          </p:cNvSpPr>
          <p:nvPr/>
        </p:nvSpPr>
        <p:spPr>
          <a:xfrm>
            <a:off x="609600" y="3705225"/>
            <a:ext cx="7924800" cy="504825"/>
          </a:xfrm>
          <a:prstGeom prst="rect">
            <a:avLst/>
          </a:prstGeom>
          <a:noFill/>
          <a:ln w="0">
            <a:noFill/>
          </a:ln>
        </p:spPr>
        <p:txBody>
          <a:bodyPr wrap="square" lIns="9525" tIns="9525" rIns="9525" bIns="9525" anchor="ctr">
            <a:noAutofit/>
          </a:bodyPr>
          <a:lstStyle/>
          <a:p>
            <a:pPr>
              <a:defRPr sz="1875" b="0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1875" b="0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Inspect the errors, tune the prompt, then classify the requests again.</a:t>
            </a:r>
          </a:p>
        </p:txBody>
      </p:sp>
      <p:sp>
        <p:nvSpPr>
          <p:cNvPr id="7" name="c3-text-238">
            <a:hlinkClick r:id="rId2"/>
            <a:extLst>
              <a:ext uri="{FF2B5EF4-FFF2-40B4-BE49-F238E27FC236}">
                <a16:creationId xmlns:a16="http://schemas.microsoft.com/office/drawing/2014/main" id="{212928B2-2DC5-4E8D-8DE3-B78129BC1E35}"/>
              </a:ext>
            </a:extLst>
          </p:cNvPr>
          <p:cNvSpPr>
            <a:spLocks noGrp="1"/>
          </p:cNvSpPr>
          <p:nvPr/>
        </p:nvSpPr>
        <p:spPr>
          <a:xfrm>
            <a:off x="609600" y="4410075"/>
            <a:ext cx="7924800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9525" tIns="9525" rIns="9525" bIns="9525" anchor="ctr">
            <a:noAutofit/>
          </a:bodyPr>
          <a:lstStyle/>
          <a:p>
            <a:pPr>
              <a:defRPr sz="1500" b="0">
                <a:solidFill>
                  <a:srgbClr val="7FA8E3"/>
                </a:solidFill>
                <a:latin typeface="Calibri"/>
                <a:ea typeface="Calibri"/>
                <a:cs typeface="Calibri"/>
              </a:defRPr>
            </a:pPr>
            <a:r>
              <a:rPr sz="1500" b="0" u="sng">
                <a:solidFill>
                  <a:srgbClr val="7FA8E3"/>
                </a:solidFill>
                <a:latin typeface="Calibri"/>
                <a:ea typeface="Calibri"/>
                <a:cs typeface="Calibri"/>
              </a:rPr>
              <a:t>Open 02_structured_output.ipynb: 2. Tune a classifier prompt</a:t>
            </a:r>
          </a:p>
        </p:txBody>
      </p:sp>
      <p:sp>
        <p:nvSpPr>
          <p:cNvPr id="8" name="c3-text-321">
            <a:extLst>
              <a:ext uri="{FF2B5EF4-FFF2-40B4-BE49-F238E27FC236}">
                <a16:creationId xmlns:a16="http://schemas.microsoft.com/office/drawing/2014/main" id="{6951323C-3498-49F1-B789-4676824AA1C1}"/>
              </a:ext>
            </a:extLst>
          </p:cNvPr>
          <p:cNvSpPr>
            <a:spLocks noGrp="1"/>
          </p:cNvSpPr>
          <p:nvPr/>
        </p:nvSpPr>
        <p:spPr>
          <a:xfrm>
            <a:off x="8181975" y="4781550"/>
            <a:ext cx="352425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9525" tIns="9525" rIns="9525" bIns="9525" anchor="ctr">
            <a:noAutofit/>
          </a:bodyPr>
          <a:lstStyle/>
          <a:p>
            <a:pPr algn="r">
              <a:defRPr sz="750" b="0">
                <a:solidFill>
                  <a:srgbClr val="B4BDCB"/>
                </a:solidFill>
                <a:latin typeface="Calibri"/>
                <a:ea typeface="Calibri"/>
                <a:cs typeface="Calibri"/>
              </a:defRPr>
            </a:pPr>
            <a:r>
              <a:rPr sz="750" b="0">
                <a:solidFill>
                  <a:srgbClr val="B4BDCB"/>
                </a:solidFill>
                <a:latin typeface="Calibri"/>
                <a:ea typeface="Calibri"/>
                <a:cs typeface="Calibri"/>
              </a:rPr>
              <a:t>23</a:t>
            </a:r>
          </a:p>
        </p:txBody>
      </p:sp>
    </p:spTree>
    <p:extLst>
      <p:ext uri="{BB962C8B-B14F-4D97-AF65-F5344CB8AC3E}">
        <p14:creationId xmlns:p14="http://schemas.microsoft.com/office/powerpoint/2010/main" val="139850612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D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c3-text-239">
            <a:extLst>
              <a:ext uri="{FF2B5EF4-FFF2-40B4-BE49-F238E27FC236}">
                <a16:creationId xmlns:a16="http://schemas.microsoft.com/office/drawing/2014/main" id="{AD197AE1-353B-475B-B2EE-E3B3D40DE1F1}"/>
              </a:ext>
            </a:extLst>
          </p:cNvPr>
          <p:cNvSpPr>
            <a:spLocks noGrp="1"/>
          </p:cNvSpPr>
          <p:nvPr/>
        </p:nvSpPr>
        <p:spPr>
          <a:xfrm>
            <a:off x="609600" y="238125"/>
            <a:ext cx="792480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9525" tIns="9525" rIns="9525" bIns="9525" anchor="ctr">
            <a:noAutofit/>
          </a:bodyPr>
          <a:lstStyle/>
          <a:p>
            <a:pPr>
              <a:defRPr sz="900" b="0">
                <a:solidFill>
                  <a:srgbClr val="B4BDCB"/>
                </a:solidFill>
                <a:latin typeface="Calibri"/>
                <a:ea typeface="Calibri"/>
                <a:cs typeface="Calibri"/>
              </a:defRPr>
            </a:pPr>
            <a:r>
              <a:rPr sz="900" b="0">
                <a:solidFill>
                  <a:srgbClr val="B4BDCB"/>
                </a:solidFill>
                <a:latin typeface="Calibri"/>
                <a:ea typeface="Calibri"/>
                <a:cs typeface="Calibri"/>
              </a:rPr>
              <a:t>AI-Powered Virtual Humans: LLM-Powered Cognitive Architectures</a:t>
            </a:r>
          </a:p>
        </p:txBody>
      </p:sp>
      <p:sp>
        <p:nvSpPr>
          <p:cNvPr id="2" name="c3-text-240">
            <a:extLst>
              <a:ext uri="{FF2B5EF4-FFF2-40B4-BE49-F238E27FC236}">
                <a16:creationId xmlns:a16="http://schemas.microsoft.com/office/drawing/2014/main" id="{722B10CD-B6A3-4D82-98C0-0A7204DAB818}"/>
              </a:ext>
            </a:extLst>
          </p:cNvPr>
          <p:cNvSpPr>
            <a:spLocks noGrp="1"/>
          </p:cNvSpPr>
          <p:nvPr/>
        </p:nvSpPr>
        <p:spPr>
          <a:xfrm>
            <a:off x="609600" y="657225"/>
            <a:ext cx="792480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9525" tIns="9525" rIns="9525" bIns="9525" anchor="ctr">
            <a:noAutofit/>
          </a:bodyPr>
          <a:lstStyle/>
          <a:p>
            <a:pPr>
              <a:defRPr sz="2700" b="1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2700" b="1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A Structured Reply Controls the Avatar</a:t>
            </a:r>
          </a:p>
        </p:txBody>
      </p:sp>
      <p:sp>
        <p:nvSpPr>
          <p:cNvPr id="3" name="c3-text-241">
            <a:extLst>
              <a:ext uri="{FF2B5EF4-FFF2-40B4-BE49-F238E27FC236}">
                <a16:creationId xmlns:a16="http://schemas.microsoft.com/office/drawing/2014/main" id="{9284DA92-3639-426D-9008-E579A73B0DEB}"/>
              </a:ext>
            </a:extLst>
          </p:cNvPr>
          <p:cNvSpPr>
            <a:spLocks noGrp="1"/>
          </p:cNvSpPr>
          <p:nvPr/>
        </p:nvSpPr>
        <p:spPr>
          <a:xfrm>
            <a:off x="609600" y="1400175"/>
            <a:ext cx="7924800" cy="542925"/>
          </a:xfrm>
          <a:prstGeom prst="rect">
            <a:avLst/>
          </a:prstGeom>
          <a:noFill/>
          <a:ln w="0">
            <a:noFill/>
          </a:ln>
        </p:spPr>
        <p:txBody>
          <a:bodyPr wrap="square" lIns="9525" tIns="9525" rIns="9525" bIns="9525" anchor="ctr">
            <a:noAutofit/>
          </a:bodyPr>
          <a:lstStyle/>
          <a:p>
            <a:pPr>
              <a:defRPr sz="1875" b="0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1875" b="0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Return the fields expected by the server.</a:t>
            </a:r>
          </a:p>
        </p:txBody>
      </p:sp>
      <p:sp>
        <p:nvSpPr>
          <p:cNvPr id="4" name="c3-text-242">
            <a:extLst>
              <a:ext uri="{FF2B5EF4-FFF2-40B4-BE49-F238E27FC236}">
                <a16:creationId xmlns:a16="http://schemas.microsoft.com/office/drawing/2014/main" id="{2CD1CD9E-4E3C-49FE-AABE-428DCAED7582}"/>
              </a:ext>
            </a:extLst>
          </p:cNvPr>
          <p:cNvSpPr>
            <a:spLocks noGrp="1"/>
          </p:cNvSpPr>
          <p:nvPr/>
        </p:nvSpPr>
        <p:spPr>
          <a:xfrm>
            <a:off x="6381750" y="4781550"/>
            <a:ext cx="17145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9525" tIns="9525" rIns="9525" bIns="9525" anchor="ctr">
            <a:noAutofit/>
          </a:bodyPr>
          <a:lstStyle/>
          <a:p>
            <a:pPr algn="r">
              <a:defRPr sz="750" b="0">
                <a:solidFill>
                  <a:srgbClr val="B4BDCB"/>
                </a:solidFill>
                <a:latin typeface="Calibri"/>
                <a:ea typeface="Calibri"/>
                <a:cs typeface="Calibri"/>
              </a:defRPr>
            </a:pPr>
            <a:r>
              <a:rPr sz="750" b="0">
                <a:solidFill>
                  <a:srgbClr val="B4BDCB"/>
                </a:solidFill>
                <a:latin typeface="Calibri"/>
                <a:ea typeface="Calibri"/>
                <a:cs typeface="Calibri"/>
              </a:rPr>
              <a:t>Module 1 · Chapter 03</a:t>
            </a:r>
          </a:p>
        </p:txBody>
      </p:sp>
      <p:sp>
        <p:nvSpPr>
          <p:cNvPr id="5" name="c3-shape-243">
            <a:extLst>
              <a:ext uri="{FF2B5EF4-FFF2-40B4-BE49-F238E27FC236}">
                <a16:creationId xmlns:a16="http://schemas.microsoft.com/office/drawing/2014/main" id="{3A963D49-53E5-4F84-9C1F-0CC0978FEF15}"/>
              </a:ext>
            </a:extLst>
          </p:cNvPr>
          <p:cNvSpPr>
            <a:spLocks noGrp="1"/>
          </p:cNvSpPr>
          <p:nvPr/>
        </p:nvSpPr>
        <p:spPr>
          <a:xfrm>
            <a:off x="609600" y="2143125"/>
            <a:ext cx="4305300" cy="2028825"/>
          </a:xfrm>
          <a:prstGeom prst="roundRect">
            <a:avLst>
              <a:gd name="adj" fmla="val 3756"/>
            </a:avLst>
          </a:prstGeom>
          <a:solidFill>
            <a:srgbClr val="121A27"/>
          </a:solidFill>
          <a:ln w="9525">
            <a:solidFill>
              <a:srgbClr val="3A4458"/>
            </a:solidFill>
          </a:ln>
        </p:spPr>
      </p:sp>
      <p:sp>
        <p:nvSpPr>
          <p:cNvPr id="6" name="c3-text-244">
            <a:extLst>
              <a:ext uri="{FF2B5EF4-FFF2-40B4-BE49-F238E27FC236}">
                <a16:creationId xmlns:a16="http://schemas.microsoft.com/office/drawing/2014/main" id="{5868A02F-75FF-47D4-860E-C6FF3D0B2AF6}"/>
              </a:ext>
            </a:extLst>
          </p:cNvPr>
          <p:cNvSpPr>
            <a:spLocks noGrp="1"/>
          </p:cNvSpPr>
          <p:nvPr/>
        </p:nvSpPr>
        <p:spPr>
          <a:xfrm>
            <a:off x="781050" y="2276475"/>
            <a:ext cx="3962400" cy="1762125"/>
          </a:xfrm>
          <a:prstGeom prst="rect">
            <a:avLst/>
          </a:prstGeom>
          <a:noFill/>
          <a:ln w="0">
            <a:noFill/>
          </a:ln>
        </p:spPr>
        <p:txBody>
          <a:bodyPr wrap="square" lIns="9525" tIns="9525" rIns="9525" bIns="9525" anchor="t">
            <a:noAutofit/>
          </a:bodyPr>
          <a:lstStyle/>
          <a:p>
            <a:pPr>
              <a:defRPr sz="1650" b="0">
                <a:solidFill>
                  <a:srgbClr val="ECE6DE"/>
                </a:solidFill>
                <a:latin typeface="Consolas"/>
                <a:ea typeface="Consolas"/>
                <a:cs typeface="Consolas"/>
              </a:defRPr>
            </a:pPr>
            <a:r>
              <a:rPr sz="1650" b="0">
                <a:solidFill>
                  <a:srgbClr val="ECE6DE"/>
                </a:solidFill>
                <a:latin typeface="Consolas"/>
                <a:ea typeface="Consolas"/>
                <a:cs typeface="Consolas"/>
              </a:rPr>
              <a:t>{</a:t>
            </a:r>
          </a:p>
          <a:p>
            <a:pPr>
              <a:defRPr sz="1650" b="0">
                <a:solidFill>
                  <a:srgbClr val="ECE6DE"/>
                </a:solidFill>
                <a:latin typeface="Consolas"/>
                <a:ea typeface="Consolas"/>
                <a:cs typeface="Consolas"/>
              </a:defRPr>
            </a:pPr>
            <a:r>
              <a:rPr sz="1650" b="0">
                <a:solidFill>
                  <a:srgbClr val="ECE6DE"/>
                </a:solidFill>
                <a:latin typeface="Consolas"/>
                <a:ea typeface="Consolas"/>
                <a:cs typeface="Consolas"/>
              </a:rPr>
              <a:t>  "speech_text": "Welcome!",</a:t>
            </a:r>
          </a:p>
          <a:p>
            <a:pPr>
              <a:defRPr sz="1650" b="0">
                <a:solidFill>
                  <a:srgbClr val="ECE6DE"/>
                </a:solidFill>
                <a:latin typeface="Consolas"/>
                <a:ea typeface="Consolas"/>
                <a:cs typeface="Consolas"/>
              </a:defRPr>
            </a:pPr>
            <a:r>
              <a:rPr sz="1650" b="0">
                <a:solidFill>
                  <a:srgbClr val="ECE6DE"/>
                </a:solidFill>
                <a:latin typeface="Consolas"/>
                <a:ea typeface="Consolas"/>
                <a:cs typeface="Consolas"/>
              </a:rPr>
              <a:t>  "emotion": "HAPPY",</a:t>
            </a:r>
          </a:p>
          <a:p>
            <a:pPr>
              <a:defRPr sz="1650" b="0">
                <a:solidFill>
                  <a:srgbClr val="ECE6DE"/>
                </a:solidFill>
                <a:latin typeface="Consolas"/>
                <a:ea typeface="Consolas"/>
                <a:cs typeface="Consolas"/>
              </a:defRPr>
            </a:pPr>
            <a:r>
              <a:rPr sz="1650" b="0">
                <a:solidFill>
                  <a:srgbClr val="ECE6DE"/>
                </a:solidFill>
                <a:latin typeface="Consolas"/>
                <a:ea typeface="Consolas"/>
                <a:cs typeface="Consolas"/>
              </a:rPr>
              <a:t>  "expression": null,</a:t>
            </a:r>
          </a:p>
          <a:p>
            <a:pPr>
              <a:defRPr sz="1650" b="0">
                <a:solidFill>
                  <a:srgbClr val="ECE6DE"/>
                </a:solidFill>
                <a:latin typeface="Consolas"/>
                <a:ea typeface="Consolas"/>
                <a:cs typeface="Consolas"/>
              </a:defRPr>
            </a:pPr>
            <a:r>
              <a:rPr sz="1650" b="0">
                <a:solidFill>
                  <a:srgbClr val="ECE6DE"/>
                </a:solidFill>
                <a:latin typeface="Consolas"/>
                <a:ea typeface="Consolas"/>
                <a:cs typeface="Consolas"/>
              </a:rPr>
              <a:t>  "gesture": "handup"</a:t>
            </a:r>
          </a:p>
          <a:p>
            <a:pPr>
              <a:defRPr sz="1650" b="0">
                <a:solidFill>
                  <a:srgbClr val="ECE6DE"/>
                </a:solidFill>
                <a:latin typeface="Consolas"/>
                <a:ea typeface="Consolas"/>
                <a:cs typeface="Consolas"/>
              </a:defRPr>
            </a:pPr>
            <a:r>
              <a:rPr sz="1650" b="0">
                <a:solidFill>
                  <a:srgbClr val="ECE6DE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  <p:sp>
        <p:nvSpPr>
          <p:cNvPr id="7" name="c3-shape-245">
            <a:extLst>
              <a:ext uri="{FF2B5EF4-FFF2-40B4-BE49-F238E27FC236}">
                <a16:creationId xmlns:a16="http://schemas.microsoft.com/office/drawing/2014/main" id="{8E2F65BA-1C21-44EA-89F3-7665B141F98E}"/>
              </a:ext>
            </a:extLst>
          </p:cNvPr>
          <p:cNvSpPr>
            <a:spLocks noGrp="1"/>
          </p:cNvSpPr>
          <p:nvPr/>
        </p:nvSpPr>
        <p:spPr>
          <a:xfrm>
            <a:off x="5219700" y="2143125"/>
            <a:ext cx="3314700" cy="2028825"/>
          </a:xfrm>
          <a:prstGeom prst="roundRect">
            <a:avLst>
              <a:gd name="adj" fmla="val 3756"/>
            </a:avLst>
          </a:prstGeom>
          <a:solidFill>
            <a:srgbClr val="121A27"/>
          </a:solidFill>
          <a:ln w="9525">
            <a:solidFill>
              <a:srgbClr val="3A4458"/>
            </a:solidFill>
          </a:ln>
        </p:spPr>
      </p:sp>
      <p:sp>
        <p:nvSpPr>
          <p:cNvPr id="8" name="c3-shape-246">
            <a:extLst>
              <a:ext uri="{FF2B5EF4-FFF2-40B4-BE49-F238E27FC236}">
                <a16:creationId xmlns:a16="http://schemas.microsoft.com/office/drawing/2014/main" id="{2FD25443-B49B-4B95-946C-323CDFE6B17A}"/>
              </a:ext>
            </a:extLst>
          </p:cNvPr>
          <p:cNvSpPr>
            <a:spLocks noGrp="1"/>
          </p:cNvSpPr>
          <p:nvPr/>
        </p:nvSpPr>
        <p:spPr>
          <a:xfrm>
            <a:off x="5410200" y="2305050"/>
            <a:ext cx="342900" cy="9525"/>
          </a:xfrm>
          <a:prstGeom prst="rect">
            <a:avLst/>
          </a:prstGeom>
          <a:solidFill>
            <a:srgbClr val="7FA8E3"/>
          </a:solidFill>
          <a:ln w="9525">
            <a:solidFill>
              <a:srgbClr val="7FA8E3"/>
            </a:solidFill>
          </a:ln>
        </p:spPr>
      </p:sp>
      <p:sp>
        <p:nvSpPr>
          <p:cNvPr id="9" name="c3-text-247">
            <a:extLst>
              <a:ext uri="{FF2B5EF4-FFF2-40B4-BE49-F238E27FC236}">
                <a16:creationId xmlns:a16="http://schemas.microsoft.com/office/drawing/2014/main" id="{1AE18349-9328-45FF-A249-C74173C01148}"/>
              </a:ext>
            </a:extLst>
          </p:cNvPr>
          <p:cNvSpPr>
            <a:spLocks noGrp="1"/>
          </p:cNvSpPr>
          <p:nvPr/>
        </p:nvSpPr>
        <p:spPr>
          <a:xfrm>
            <a:off x="5410200" y="2400300"/>
            <a:ext cx="29337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9525" tIns="9525" rIns="9525" bIns="9525" anchor="ctr">
            <a:noAutofit/>
          </a:bodyPr>
          <a:lstStyle/>
          <a:p>
            <a:pPr>
              <a:defRPr sz="1350" b="0">
                <a:solidFill>
                  <a:srgbClr val="7FA8E3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7FA8E3"/>
                </a:solidFill>
                <a:latin typeface="Calibri"/>
                <a:ea typeface="Calibri"/>
                <a:cs typeface="Calibri"/>
              </a:rPr>
              <a:t>Avatar behaviour</a:t>
            </a:r>
          </a:p>
        </p:txBody>
      </p:sp>
      <p:sp>
        <p:nvSpPr>
          <p:cNvPr id="10" name="c3-text-248">
            <a:extLst>
              <a:ext uri="{FF2B5EF4-FFF2-40B4-BE49-F238E27FC236}">
                <a16:creationId xmlns:a16="http://schemas.microsoft.com/office/drawing/2014/main" id="{01D54ECD-6037-45D3-BBEE-0C20131167C0}"/>
              </a:ext>
            </a:extLst>
          </p:cNvPr>
          <p:cNvSpPr>
            <a:spLocks noGrp="1"/>
          </p:cNvSpPr>
          <p:nvPr/>
        </p:nvSpPr>
        <p:spPr>
          <a:xfrm>
            <a:off x="5410200" y="2743200"/>
            <a:ext cx="2933700" cy="1304925"/>
          </a:xfrm>
          <a:prstGeom prst="rect">
            <a:avLst/>
          </a:prstGeom>
          <a:noFill/>
          <a:ln w="0">
            <a:noFill/>
          </a:ln>
        </p:spPr>
        <p:txBody>
          <a:bodyPr wrap="square" lIns="9525" tIns="9525" rIns="9525" bIns="9525" anchor="t">
            <a:noAutofit/>
          </a:bodyPr>
          <a:lstStyle/>
          <a:p>
            <a:pPr>
              <a:defRPr sz="1800" b="0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1800" b="0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Speak the text.</a:t>
            </a:r>
          </a:p>
          <a:p>
            <a:pPr>
              <a:defRPr sz="1800" b="0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1800" b="0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Set emotion and expression.</a:t>
            </a:r>
          </a:p>
          <a:p>
            <a:pPr>
              <a:defRPr sz="1800" b="0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1800" b="0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Perform the gesture.</a:t>
            </a:r>
          </a:p>
        </p:txBody>
      </p:sp>
      <p:sp>
        <p:nvSpPr>
          <p:cNvPr id="11" name="c3-text-322">
            <a:extLst>
              <a:ext uri="{FF2B5EF4-FFF2-40B4-BE49-F238E27FC236}">
                <a16:creationId xmlns:a16="http://schemas.microsoft.com/office/drawing/2014/main" id="{7D95421D-3A57-411F-95C4-1851D0960B5F}"/>
              </a:ext>
            </a:extLst>
          </p:cNvPr>
          <p:cNvSpPr>
            <a:spLocks noGrp="1"/>
          </p:cNvSpPr>
          <p:nvPr/>
        </p:nvSpPr>
        <p:spPr>
          <a:xfrm>
            <a:off x="8181975" y="4781550"/>
            <a:ext cx="352425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9525" tIns="9525" rIns="9525" bIns="9525" anchor="ctr">
            <a:noAutofit/>
          </a:bodyPr>
          <a:lstStyle/>
          <a:p>
            <a:pPr algn="r">
              <a:defRPr sz="750" b="0">
                <a:solidFill>
                  <a:srgbClr val="B4BDCB"/>
                </a:solidFill>
                <a:latin typeface="Calibri"/>
                <a:ea typeface="Calibri"/>
                <a:cs typeface="Calibri"/>
              </a:defRPr>
            </a:pPr>
            <a:r>
              <a:rPr sz="750" b="0">
                <a:solidFill>
                  <a:srgbClr val="B4BDCB"/>
                </a:solidFill>
                <a:latin typeface="Calibri"/>
                <a:ea typeface="Calibri"/>
                <a:cs typeface="Calibri"/>
              </a:rPr>
              <a:t>24</a:t>
            </a:r>
          </a:p>
        </p:txBody>
      </p:sp>
    </p:spTree>
    <p:extLst>
      <p:ext uri="{BB962C8B-B14F-4D97-AF65-F5344CB8AC3E}">
        <p14:creationId xmlns:p14="http://schemas.microsoft.com/office/powerpoint/2010/main" val="157451557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D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3-text-249">
            <a:extLst>
              <a:ext uri="{FF2B5EF4-FFF2-40B4-BE49-F238E27FC236}">
                <a16:creationId xmlns:a16="http://schemas.microsoft.com/office/drawing/2014/main" id="{AAC007B0-2D62-4E8E-A258-6C4B603C5174}"/>
              </a:ext>
            </a:extLst>
          </p:cNvPr>
          <p:cNvSpPr>
            <a:spLocks noGrp="1"/>
          </p:cNvSpPr>
          <p:nvPr/>
        </p:nvSpPr>
        <p:spPr>
          <a:xfrm>
            <a:off x="609600" y="238125"/>
            <a:ext cx="792480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9525" tIns="9525" rIns="9525" bIns="9525" anchor="ctr">
            <a:noAutofit/>
          </a:bodyPr>
          <a:lstStyle/>
          <a:p>
            <a:pPr>
              <a:defRPr sz="900" b="0">
                <a:solidFill>
                  <a:srgbClr val="B4BDCB"/>
                </a:solidFill>
                <a:latin typeface="Calibri"/>
                <a:ea typeface="Calibri"/>
                <a:cs typeface="Calibri"/>
              </a:defRPr>
            </a:pPr>
            <a:r>
              <a:rPr sz="900" b="0">
                <a:solidFill>
                  <a:srgbClr val="B4BDCB"/>
                </a:solidFill>
                <a:latin typeface="Calibri"/>
                <a:ea typeface="Calibri"/>
                <a:cs typeface="Calibri"/>
              </a:rPr>
              <a:t>AI-Powered Virtual Humans: LLM-Powered Cognitive Architectures</a:t>
            </a:r>
          </a:p>
        </p:txBody>
      </p:sp>
      <p:sp>
        <p:nvSpPr>
          <p:cNvPr id="2" name="c3-text-250">
            <a:extLst>
              <a:ext uri="{FF2B5EF4-FFF2-40B4-BE49-F238E27FC236}">
                <a16:creationId xmlns:a16="http://schemas.microsoft.com/office/drawing/2014/main" id="{8DB23F57-75F3-4239-9A63-BD27EB3ED1AA}"/>
              </a:ext>
            </a:extLst>
          </p:cNvPr>
          <p:cNvSpPr>
            <a:spLocks noGrp="1"/>
          </p:cNvSpPr>
          <p:nvPr/>
        </p:nvSpPr>
        <p:spPr>
          <a:xfrm>
            <a:off x="609600" y="657225"/>
            <a:ext cx="792480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9525" tIns="9525" rIns="9525" bIns="9525" anchor="ctr">
            <a:noAutofit/>
          </a:bodyPr>
          <a:lstStyle/>
          <a:p>
            <a:pPr>
              <a:defRPr sz="2700" b="1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2700" b="1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Try on the Structured Agent</a:t>
            </a:r>
          </a:p>
        </p:txBody>
      </p:sp>
      <p:sp>
        <p:nvSpPr>
          <p:cNvPr id="3" name="c3-text-251">
            <a:extLst>
              <a:ext uri="{FF2B5EF4-FFF2-40B4-BE49-F238E27FC236}">
                <a16:creationId xmlns:a16="http://schemas.microsoft.com/office/drawing/2014/main" id="{985B90AB-713C-4901-98FA-5B40E7561BD6}"/>
              </a:ext>
            </a:extLst>
          </p:cNvPr>
          <p:cNvSpPr>
            <a:spLocks noGrp="1"/>
          </p:cNvSpPr>
          <p:nvPr/>
        </p:nvSpPr>
        <p:spPr>
          <a:xfrm>
            <a:off x="6381750" y="4781550"/>
            <a:ext cx="17145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9525" tIns="9525" rIns="9525" bIns="9525" anchor="ctr">
            <a:noAutofit/>
          </a:bodyPr>
          <a:lstStyle/>
          <a:p>
            <a:pPr algn="r">
              <a:defRPr sz="750" b="0">
                <a:solidFill>
                  <a:srgbClr val="B4BDCB"/>
                </a:solidFill>
                <a:latin typeface="Calibri"/>
                <a:ea typeface="Calibri"/>
                <a:cs typeface="Calibri"/>
              </a:defRPr>
            </a:pPr>
            <a:r>
              <a:rPr sz="750" b="0">
                <a:solidFill>
                  <a:srgbClr val="B4BDCB"/>
                </a:solidFill>
                <a:latin typeface="Calibri"/>
                <a:ea typeface="Calibri"/>
                <a:cs typeface="Calibri"/>
              </a:rPr>
              <a:t>Module 1 · Chapter 03</a:t>
            </a:r>
          </a:p>
        </p:txBody>
      </p:sp>
      <p:sp>
        <p:nvSpPr>
          <p:cNvPr id="4" name="c3-shape-252">
            <a:extLst>
              <a:ext uri="{FF2B5EF4-FFF2-40B4-BE49-F238E27FC236}">
                <a16:creationId xmlns:a16="http://schemas.microsoft.com/office/drawing/2014/main" id="{C74415F1-4814-45D1-A6EC-3C3F0AAD8903}"/>
              </a:ext>
            </a:extLst>
          </p:cNvPr>
          <p:cNvSpPr>
            <a:spLocks noGrp="1"/>
          </p:cNvSpPr>
          <p:nvPr/>
        </p:nvSpPr>
        <p:spPr>
          <a:xfrm>
            <a:off x="609600" y="2085975"/>
            <a:ext cx="3771900" cy="2057400"/>
          </a:xfrm>
          <a:prstGeom prst="roundRect">
            <a:avLst>
              <a:gd name="adj" fmla="val 3704"/>
            </a:avLst>
          </a:prstGeom>
          <a:solidFill>
            <a:srgbClr val="121A27"/>
          </a:solidFill>
          <a:ln w="9525">
            <a:solidFill>
              <a:srgbClr val="3A4458"/>
            </a:solidFill>
          </a:ln>
        </p:spPr>
      </p:sp>
      <p:sp>
        <p:nvSpPr>
          <p:cNvPr id="5" name="c3-shape-253">
            <a:extLst>
              <a:ext uri="{FF2B5EF4-FFF2-40B4-BE49-F238E27FC236}">
                <a16:creationId xmlns:a16="http://schemas.microsoft.com/office/drawing/2014/main" id="{B38A259E-FFEB-4486-9CC8-1987464EDD50}"/>
              </a:ext>
            </a:extLst>
          </p:cNvPr>
          <p:cNvSpPr>
            <a:spLocks noGrp="1"/>
          </p:cNvSpPr>
          <p:nvPr/>
        </p:nvSpPr>
        <p:spPr>
          <a:xfrm>
            <a:off x="800100" y="2247900"/>
            <a:ext cx="342900" cy="9525"/>
          </a:xfrm>
          <a:prstGeom prst="rect">
            <a:avLst/>
          </a:prstGeom>
          <a:solidFill>
            <a:srgbClr val="D9A06B"/>
          </a:solidFill>
          <a:ln w="9525">
            <a:solidFill>
              <a:srgbClr val="D9A06B"/>
            </a:solidFill>
          </a:ln>
        </p:spPr>
      </p:sp>
      <p:sp>
        <p:nvSpPr>
          <p:cNvPr id="6" name="c3-text-254">
            <a:extLst>
              <a:ext uri="{FF2B5EF4-FFF2-40B4-BE49-F238E27FC236}">
                <a16:creationId xmlns:a16="http://schemas.microsoft.com/office/drawing/2014/main" id="{94DFC3BF-4B0C-4A7E-B621-33A890AB7942}"/>
              </a:ext>
            </a:extLst>
          </p:cNvPr>
          <p:cNvSpPr>
            <a:spLocks noGrp="1"/>
          </p:cNvSpPr>
          <p:nvPr/>
        </p:nvSpPr>
        <p:spPr>
          <a:xfrm>
            <a:off x="800100" y="2343150"/>
            <a:ext cx="33909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9525" tIns="9525" rIns="9525" bIns="9525" anchor="ctr">
            <a:noAutofit/>
          </a:bodyPr>
          <a:lstStyle/>
          <a:p>
            <a:pPr>
              <a:defRPr sz="1350" b="0">
                <a:solidFill>
                  <a:srgbClr val="D9A06B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D9A06B"/>
                </a:solidFill>
                <a:latin typeface="Calibri"/>
                <a:ea typeface="Calibri"/>
                <a:cs typeface="Calibri"/>
              </a:rPr>
              <a:t>Reuse the same pattern</a:t>
            </a:r>
          </a:p>
        </p:txBody>
      </p:sp>
      <p:sp>
        <p:nvSpPr>
          <p:cNvPr id="7" name="c3-text-255">
            <a:extLst>
              <a:ext uri="{FF2B5EF4-FFF2-40B4-BE49-F238E27FC236}">
                <a16:creationId xmlns:a16="http://schemas.microsoft.com/office/drawing/2014/main" id="{7FBF80D8-0B44-455A-B650-46F8FAE0B8C8}"/>
              </a:ext>
            </a:extLst>
          </p:cNvPr>
          <p:cNvSpPr>
            <a:spLocks noGrp="1"/>
          </p:cNvSpPr>
          <p:nvPr/>
        </p:nvSpPr>
        <p:spPr>
          <a:xfrm>
            <a:off x="800100" y="2686050"/>
            <a:ext cx="3390900" cy="1333500"/>
          </a:xfrm>
          <a:prstGeom prst="rect">
            <a:avLst/>
          </a:prstGeom>
          <a:noFill/>
          <a:ln w="0">
            <a:noFill/>
          </a:ln>
        </p:spPr>
        <p:txBody>
          <a:bodyPr wrap="square" lIns="9525" tIns="9525" rIns="9525" bIns="9525" anchor="t">
            <a:noAutofit/>
          </a:bodyPr>
          <a:lstStyle/>
          <a:p>
            <a:pPr>
              <a:defRPr sz="1725" b="0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ModelReply defines the fields.</a:t>
            </a:r>
          </a:p>
          <a:p>
            <a:pPr>
              <a:defRPr sz="1725" b="0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System supplies its schema.</a:t>
            </a:r>
          </a:p>
          <a:p>
            <a:pPr>
              <a:defRPr sz="1725" b="0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Human supplies the request.</a:t>
            </a:r>
          </a:p>
        </p:txBody>
      </p:sp>
      <p:sp>
        <p:nvSpPr>
          <p:cNvPr id="8" name="c3-shape-256">
            <a:extLst>
              <a:ext uri="{FF2B5EF4-FFF2-40B4-BE49-F238E27FC236}">
                <a16:creationId xmlns:a16="http://schemas.microsoft.com/office/drawing/2014/main" id="{332FE1EA-7794-4E6A-9950-037D7CF02955}"/>
              </a:ext>
            </a:extLst>
          </p:cNvPr>
          <p:cNvSpPr>
            <a:spLocks noGrp="1"/>
          </p:cNvSpPr>
          <p:nvPr/>
        </p:nvSpPr>
        <p:spPr>
          <a:xfrm>
            <a:off x="4762500" y="2085975"/>
            <a:ext cx="3771900" cy="2057400"/>
          </a:xfrm>
          <a:prstGeom prst="roundRect">
            <a:avLst>
              <a:gd name="adj" fmla="val 3704"/>
            </a:avLst>
          </a:prstGeom>
          <a:solidFill>
            <a:srgbClr val="121A27"/>
          </a:solidFill>
          <a:ln w="9525">
            <a:solidFill>
              <a:srgbClr val="3A4458"/>
            </a:solidFill>
          </a:ln>
        </p:spPr>
      </p:sp>
      <p:sp>
        <p:nvSpPr>
          <p:cNvPr id="9" name="c3-shape-257">
            <a:extLst>
              <a:ext uri="{FF2B5EF4-FFF2-40B4-BE49-F238E27FC236}">
                <a16:creationId xmlns:a16="http://schemas.microsoft.com/office/drawing/2014/main" id="{389FF947-46B6-4377-B0B5-B6A487CCDCD5}"/>
              </a:ext>
            </a:extLst>
          </p:cNvPr>
          <p:cNvSpPr>
            <a:spLocks noGrp="1"/>
          </p:cNvSpPr>
          <p:nvPr/>
        </p:nvSpPr>
        <p:spPr>
          <a:xfrm>
            <a:off x="4953000" y="2247900"/>
            <a:ext cx="342900" cy="9525"/>
          </a:xfrm>
          <a:prstGeom prst="rect">
            <a:avLst/>
          </a:prstGeom>
          <a:solidFill>
            <a:srgbClr val="7FA8E3"/>
          </a:solidFill>
          <a:ln w="9525">
            <a:solidFill>
              <a:srgbClr val="7FA8E3"/>
            </a:solidFill>
          </a:ln>
        </p:spPr>
      </p:sp>
      <p:sp>
        <p:nvSpPr>
          <p:cNvPr id="10" name="c3-text-258">
            <a:extLst>
              <a:ext uri="{FF2B5EF4-FFF2-40B4-BE49-F238E27FC236}">
                <a16:creationId xmlns:a16="http://schemas.microsoft.com/office/drawing/2014/main" id="{BC4DF6B5-5A7B-4AB3-84E3-EE39D1B48004}"/>
              </a:ext>
            </a:extLst>
          </p:cNvPr>
          <p:cNvSpPr>
            <a:spLocks noGrp="1"/>
          </p:cNvSpPr>
          <p:nvPr/>
        </p:nvSpPr>
        <p:spPr>
          <a:xfrm>
            <a:off x="4953000" y="2343150"/>
            <a:ext cx="33909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9525" tIns="9525" rIns="9525" bIns="9525" anchor="ctr">
            <a:noAutofit/>
          </a:bodyPr>
          <a:lstStyle/>
          <a:p>
            <a:pPr>
              <a:defRPr sz="1350" b="0">
                <a:solidFill>
                  <a:srgbClr val="7FA8E3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7FA8E3"/>
                </a:solidFill>
                <a:latin typeface="Calibri"/>
                <a:ea typeface="Calibri"/>
                <a:cs typeface="Calibri"/>
              </a:rPr>
              <a:t>Try on the agent</a:t>
            </a:r>
          </a:p>
        </p:txBody>
      </p:sp>
      <p:sp>
        <p:nvSpPr>
          <p:cNvPr id="11" name="c3-text-259">
            <a:extLst>
              <a:ext uri="{FF2B5EF4-FFF2-40B4-BE49-F238E27FC236}">
                <a16:creationId xmlns:a16="http://schemas.microsoft.com/office/drawing/2014/main" id="{A33C4B51-5182-47F9-85E1-57B95E190910}"/>
              </a:ext>
            </a:extLst>
          </p:cNvPr>
          <p:cNvSpPr>
            <a:spLocks noGrp="1"/>
          </p:cNvSpPr>
          <p:nvPr/>
        </p:nvSpPr>
        <p:spPr>
          <a:xfrm>
            <a:off x="4953000" y="2686050"/>
            <a:ext cx="3390900" cy="1333500"/>
          </a:xfrm>
          <a:prstGeom prst="rect">
            <a:avLst/>
          </a:prstGeom>
          <a:noFill/>
          <a:ln w="0">
            <a:noFill/>
          </a:ln>
        </p:spPr>
        <p:txBody>
          <a:bodyPr wrap="square" lIns="9525" tIns="9525" rIns="9525" bIns="9525" anchor="t">
            <a:noAutofit/>
          </a:bodyPr>
          <a:lstStyle/>
          <a:p>
            <a:pPr>
              <a:defRPr sz="1800" b="0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1800" b="0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Select the structured agent.</a:t>
            </a:r>
          </a:p>
          <a:p>
            <a:pPr>
              <a:defRPr sz="1800" b="0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1800" b="0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Ask for a happy welcome</a:t>
            </a:r>
          </a:p>
          <a:p>
            <a:pPr>
              <a:defRPr sz="1800" b="0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1800" b="0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and a raised hand.</a:t>
            </a:r>
          </a:p>
        </p:txBody>
      </p:sp>
      <p:sp>
        <p:nvSpPr>
          <p:cNvPr id="12" name="c3-text-260">
            <a:hlinkClick r:id="rId2"/>
            <a:extLst>
              <a:ext uri="{FF2B5EF4-FFF2-40B4-BE49-F238E27FC236}">
                <a16:creationId xmlns:a16="http://schemas.microsoft.com/office/drawing/2014/main" id="{3EB29164-04D7-42D1-AB22-B8EB28C10468}"/>
              </a:ext>
            </a:extLst>
          </p:cNvPr>
          <p:cNvSpPr>
            <a:spLocks noGrp="1"/>
          </p:cNvSpPr>
          <p:nvPr/>
        </p:nvSpPr>
        <p:spPr>
          <a:xfrm>
            <a:off x="609600" y="4410075"/>
            <a:ext cx="7924800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9525" tIns="9525" rIns="9525" bIns="9525" anchor="ctr">
            <a:noAutofit/>
          </a:bodyPr>
          <a:lstStyle/>
          <a:p>
            <a:pPr>
              <a:defRPr sz="1500" b="0">
                <a:solidFill>
                  <a:srgbClr val="7FA8E3"/>
                </a:solidFill>
                <a:latin typeface="Calibri"/>
                <a:ea typeface="Calibri"/>
                <a:cs typeface="Calibri"/>
              </a:defRPr>
            </a:pPr>
            <a:r>
              <a:rPr sz="1500" b="0" u="sng">
                <a:solidFill>
                  <a:srgbClr val="7FA8E3"/>
                </a:solidFill>
                <a:latin typeface="Calibri"/>
                <a:ea typeface="Calibri"/>
                <a:cs typeface="Calibri"/>
              </a:rPr>
              <a:t>Open 02_structured_output.ipynb: 3. A response that controls the avatar</a:t>
            </a:r>
          </a:p>
        </p:txBody>
      </p:sp>
      <p:sp>
        <p:nvSpPr>
          <p:cNvPr id="13" name="c3-text-323">
            <a:extLst>
              <a:ext uri="{FF2B5EF4-FFF2-40B4-BE49-F238E27FC236}">
                <a16:creationId xmlns:a16="http://schemas.microsoft.com/office/drawing/2014/main" id="{FC844AEC-39C9-418D-BE24-343C2D344516}"/>
              </a:ext>
            </a:extLst>
          </p:cNvPr>
          <p:cNvSpPr>
            <a:spLocks noGrp="1"/>
          </p:cNvSpPr>
          <p:nvPr/>
        </p:nvSpPr>
        <p:spPr>
          <a:xfrm>
            <a:off x="8181975" y="4781550"/>
            <a:ext cx="352425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9525" tIns="9525" rIns="9525" bIns="9525" anchor="ctr">
            <a:noAutofit/>
          </a:bodyPr>
          <a:lstStyle/>
          <a:p>
            <a:pPr algn="r">
              <a:defRPr sz="750" b="0">
                <a:solidFill>
                  <a:srgbClr val="B4BDCB"/>
                </a:solidFill>
                <a:latin typeface="Calibri"/>
                <a:ea typeface="Calibri"/>
                <a:cs typeface="Calibri"/>
              </a:defRPr>
            </a:pPr>
            <a:r>
              <a:rPr sz="750" b="0">
                <a:solidFill>
                  <a:srgbClr val="B4BDCB"/>
                </a:solidFill>
                <a:latin typeface="Calibri"/>
                <a:ea typeface="Calibri"/>
                <a:cs typeface="Calibri"/>
              </a:rPr>
              <a:t>25</a:t>
            </a:r>
          </a:p>
        </p:txBody>
      </p:sp>
    </p:spTree>
    <p:extLst>
      <p:ext uri="{BB962C8B-B14F-4D97-AF65-F5344CB8AC3E}">
        <p14:creationId xmlns:p14="http://schemas.microsoft.com/office/powerpoint/2010/main" val="51780816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D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c3-text-261">
            <a:extLst>
              <a:ext uri="{FF2B5EF4-FFF2-40B4-BE49-F238E27FC236}">
                <a16:creationId xmlns:a16="http://schemas.microsoft.com/office/drawing/2014/main" id="{B7EEA41E-2CE7-401C-92AE-3585E650AD52}"/>
              </a:ext>
            </a:extLst>
          </p:cNvPr>
          <p:cNvSpPr>
            <a:spLocks noGrp="1"/>
          </p:cNvSpPr>
          <p:nvPr/>
        </p:nvSpPr>
        <p:spPr>
          <a:xfrm>
            <a:off x="609600" y="238125"/>
            <a:ext cx="792480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9525" tIns="9525" rIns="9525" bIns="9525" anchor="ctr">
            <a:noAutofit/>
          </a:bodyPr>
          <a:lstStyle/>
          <a:p>
            <a:pPr>
              <a:defRPr sz="900" b="0">
                <a:solidFill>
                  <a:srgbClr val="B4BDCB"/>
                </a:solidFill>
                <a:latin typeface="Calibri"/>
                <a:ea typeface="Calibri"/>
                <a:cs typeface="Calibri"/>
              </a:defRPr>
            </a:pPr>
            <a:r>
              <a:rPr sz="900" b="0">
                <a:solidFill>
                  <a:srgbClr val="B4BDCB"/>
                </a:solidFill>
                <a:latin typeface="Calibri"/>
                <a:ea typeface="Calibri"/>
                <a:cs typeface="Calibri"/>
              </a:rPr>
              <a:t>AI-Powered Virtual Humans: LLM-Powered Cognitive Architectures</a:t>
            </a:r>
          </a:p>
        </p:txBody>
      </p:sp>
      <p:sp>
        <p:nvSpPr>
          <p:cNvPr id="2" name="c3-text-262">
            <a:extLst>
              <a:ext uri="{FF2B5EF4-FFF2-40B4-BE49-F238E27FC236}">
                <a16:creationId xmlns:a16="http://schemas.microsoft.com/office/drawing/2014/main" id="{435D5B54-0794-4262-87CE-3DEC26BD4EBD}"/>
              </a:ext>
            </a:extLst>
          </p:cNvPr>
          <p:cNvSpPr>
            <a:spLocks noGrp="1"/>
          </p:cNvSpPr>
          <p:nvPr/>
        </p:nvSpPr>
        <p:spPr>
          <a:xfrm>
            <a:off x="609600" y="657225"/>
            <a:ext cx="792480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9525" tIns="9525" rIns="9525" bIns="9525" anchor="ctr">
            <a:noAutofit/>
          </a:bodyPr>
          <a:lstStyle/>
          <a:p>
            <a:pPr>
              <a:defRPr sz="2700" b="1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2700" b="1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Exercise: Short-Term Conversation Memory</a:t>
            </a:r>
          </a:p>
        </p:txBody>
      </p:sp>
      <p:sp>
        <p:nvSpPr>
          <p:cNvPr id="3" name="c3-text-263">
            <a:extLst>
              <a:ext uri="{FF2B5EF4-FFF2-40B4-BE49-F238E27FC236}">
                <a16:creationId xmlns:a16="http://schemas.microsoft.com/office/drawing/2014/main" id="{02D3B84C-CBD1-43A7-8221-E2990E669F30}"/>
              </a:ext>
            </a:extLst>
          </p:cNvPr>
          <p:cNvSpPr>
            <a:spLocks noGrp="1"/>
          </p:cNvSpPr>
          <p:nvPr/>
        </p:nvSpPr>
        <p:spPr>
          <a:xfrm>
            <a:off x="6381750" y="4781550"/>
            <a:ext cx="17145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9525" tIns="9525" rIns="9525" bIns="9525" anchor="ctr">
            <a:noAutofit/>
          </a:bodyPr>
          <a:lstStyle/>
          <a:p>
            <a:pPr algn="r">
              <a:defRPr sz="750" b="0">
                <a:solidFill>
                  <a:srgbClr val="B4BDCB"/>
                </a:solidFill>
                <a:latin typeface="Calibri"/>
                <a:ea typeface="Calibri"/>
                <a:cs typeface="Calibri"/>
              </a:defRPr>
            </a:pPr>
            <a:r>
              <a:rPr sz="750" b="0">
                <a:solidFill>
                  <a:srgbClr val="B4BDCB"/>
                </a:solidFill>
                <a:latin typeface="Calibri"/>
                <a:ea typeface="Calibri"/>
                <a:cs typeface="Calibri"/>
              </a:rPr>
              <a:t>Module 1 · Chapter 03</a:t>
            </a:r>
          </a:p>
        </p:txBody>
      </p:sp>
      <p:sp>
        <p:nvSpPr>
          <p:cNvPr id="4" name="c3-shape-264">
            <a:extLst>
              <a:ext uri="{FF2B5EF4-FFF2-40B4-BE49-F238E27FC236}">
                <a16:creationId xmlns:a16="http://schemas.microsoft.com/office/drawing/2014/main" id="{C5AD46D8-962D-435F-9DC9-5573CF21E8C6}"/>
              </a:ext>
            </a:extLst>
          </p:cNvPr>
          <p:cNvSpPr>
            <a:spLocks noGrp="1"/>
          </p:cNvSpPr>
          <p:nvPr/>
        </p:nvSpPr>
        <p:spPr>
          <a:xfrm>
            <a:off x="609600" y="1943100"/>
            <a:ext cx="3771900" cy="1952625"/>
          </a:xfrm>
          <a:prstGeom prst="roundRect">
            <a:avLst>
              <a:gd name="adj" fmla="val 3902"/>
            </a:avLst>
          </a:prstGeom>
          <a:solidFill>
            <a:srgbClr val="121A27"/>
          </a:solidFill>
          <a:ln w="9525">
            <a:solidFill>
              <a:srgbClr val="3A4458"/>
            </a:solidFill>
          </a:ln>
        </p:spPr>
      </p:sp>
      <p:sp>
        <p:nvSpPr>
          <p:cNvPr id="5" name="c3-shape-265">
            <a:extLst>
              <a:ext uri="{FF2B5EF4-FFF2-40B4-BE49-F238E27FC236}">
                <a16:creationId xmlns:a16="http://schemas.microsoft.com/office/drawing/2014/main" id="{C1601E7C-EF33-4283-8637-89E7486BDDB5}"/>
              </a:ext>
            </a:extLst>
          </p:cNvPr>
          <p:cNvSpPr>
            <a:spLocks noGrp="1"/>
          </p:cNvSpPr>
          <p:nvPr/>
        </p:nvSpPr>
        <p:spPr>
          <a:xfrm>
            <a:off x="800100" y="2105025"/>
            <a:ext cx="342900" cy="9525"/>
          </a:xfrm>
          <a:prstGeom prst="rect">
            <a:avLst/>
          </a:prstGeom>
          <a:solidFill>
            <a:srgbClr val="D9A06B"/>
          </a:solidFill>
          <a:ln w="9525">
            <a:solidFill>
              <a:srgbClr val="D9A06B"/>
            </a:solidFill>
          </a:ln>
        </p:spPr>
      </p:sp>
      <p:sp>
        <p:nvSpPr>
          <p:cNvPr id="6" name="c3-text-266">
            <a:extLst>
              <a:ext uri="{FF2B5EF4-FFF2-40B4-BE49-F238E27FC236}">
                <a16:creationId xmlns:a16="http://schemas.microsoft.com/office/drawing/2014/main" id="{48ABE5C7-9EAB-4F51-ADD9-4CFA8EC89898}"/>
              </a:ext>
            </a:extLst>
          </p:cNvPr>
          <p:cNvSpPr>
            <a:spLocks noGrp="1"/>
          </p:cNvSpPr>
          <p:nvPr/>
        </p:nvSpPr>
        <p:spPr>
          <a:xfrm>
            <a:off x="800100" y="2200275"/>
            <a:ext cx="33909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9525" tIns="9525" rIns="9525" bIns="9525" anchor="ctr">
            <a:noAutofit/>
          </a:bodyPr>
          <a:lstStyle/>
          <a:p>
            <a:pPr>
              <a:defRPr sz="1350" b="0">
                <a:solidFill>
                  <a:srgbClr val="D9A06B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D9A06B"/>
                </a:solidFill>
                <a:latin typeface="Calibri"/>
                <a:ea typeface="Calibri"/>
                <a:cs typeface="Calibri"/>
              </a:rPr>
              <a:t>Earlier turn</a:t>
            </a:r>
          </a:p>
        </p:txBody>
      </p:sp>
      <p:sp>
        <p:nvSpPr>
          <p:cNvPr id="7" name="c3-text-267">
            <a:extLst>
              <a:ext uri="{FF2B5EF4-FFF2-40B4-BE49-F238E27FC236}">
                <a16:creationId xmlns:a16="http://schemas.microsoft.com/office/drawing/2014/main" id="{FD714155-DB94-4F93-B762-C6F72BCD4578}"/>
              </a:ext>
            </a:extLst>
          </p:cNvPr>
          <p:cNvSpPr>
            <a:spLocks noGrp="1"/>
          </p:cNvSpPr>
          <p:nvPr/>
        </p:nvSpPr>
        <p:spPr>
          <a:xfrm>
            <a:off x="800100" y="2543175"/>
            <a:ext cx="3390900" cy="1228725"/>
          </a:xfrm>
          <a:prstGeom prst="rect">
            <a:avLst/>
          </a:prstGeom>
          <a:noFill/>
          <a:ln w="0">
            <a:noFill/>
          </a:ln>
        </p:spPr>
        <p:txBody>
          <a:bodyPr wrap="square" lIns="9525" tIns="9525" rIns="9525" bIns="9525" anchor="t">
            <a:noAutofit/>
          </a:bodyPr>
          <a:lstStyle/>
          <a:p>
            <a:pPr>
              <a:defRPr sz="1875" b="0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1875" b="0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"My name is Lea.</a:t>
            </a:r>
          </a:p>
          <a:p>
            <a:pPr>
              <a:defRPr sz="1875" b="0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1875" b="0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My favourite colour is green."</a:t>
            </a:r>
          </a:p>
        </p:txBody>
      </p:sp>
      <p:sp>
        <p:nvSpPr>
          <p:cNvPr id="8" name="c3-shape-268">
            <a:extLst>
              <a:ext uri="{FF2B5EF4-FFF2-40B4-BE49-F238E27FC236}">
                <a16:creationId xmlns:a16="http://schemas.microsoft.com/office/drawing/2014/main" id="{1F17CE17-E4F8-43AE-81E6-778FE01189EF}"/>
              </a:ext>
            </a:extLst>
          </p:cNvPr>
          <p:cNvSpPr>
            <a:spLocks noGrp="1"/>
          </p:cNvSpPr>
          <p:nvPr/>
        </p:nvSpPr>
        <p:spPr>
          <a:xfrm>
            <a:off x="4762500" y="1943100"/>
            <a:ext cx="3771900" cy="1952625"/>
          </a:xfrm>
          <a:prstGeom prst="roundRect">
            <a:avLst>
              <a:gd name="adj" fmla="val 3902"/>
            </a:avLst>
          </a:prstGeom>
          <a:solidFill>
            <a:srgbClr val="121A27"/>
          </a:solidFill>
          <a:ln w="9525">
            <a:solidFill>
              <a:srgbClr val="3A4458"/>
            </a:solidFill>
          </a:ln>
        </p:spPr>
      </p:sp>
      <p:sp>
        <p:nvSpPr>
          <p:cNvPr id="9" name="c3-shape-269">
            <a:extLst>
              <a:ext uri="{FF2B5EF4-FFF2-40B4-BE49-F238E27FC236}">
                <a16:creationId xmlns:a16="http://schemas.microsoft.com/office/drawing/2014/main" id="{B0869FD5-5270-4340-A300-BD4DBB5BF465}"/>
              </a:ext>
            </a:extLst>
          </p:cNvPr>
          <p:cNvSpPr>
            <a:spLocks noGrp="1"/>
          </p:cNvSpPr>
          <p:nvPr/>
        </p:nvSpPr>
        <p:spPr>
          <a:xfrm>
            <a:off x="4953000" y="2105025"/>
            <a:ext cx="342900" cy="9525"/>
          </a:xfrm>
          <a:prstGeom prst="rect">
            <a:avLst/>
          </a:prstGeom>
          <a:solidFill>
            <a:srgbClr val="7FA8E3"/>
          </a:solidFill>
          <a:ln w="9525">
            <a:solidFill>
              <a:srgbClr val="7FA8E3"/>
            </a:solidFill>
          </a:ln>
        </p:spPr>
      </p:sp>
      <p:sp>
        <p:nvSpPr>
          <p:cNvPr id="10" name="c3-text-270">
            <a:extLst>
              <a:ext uri="{FF2B5EF4-FFF2-40B4-BE49-F238E27FC236}">
                <a16:creationId xmlns:a16="http://schemas.microsoft.com/office/drawing/2014/main" id="{04AB3EBA-6F3E-46AE-9B35-84916BB04489}"/>
              </a:ext>
            </a:extLst>
          </p:cNvPr>
          <p:cNvSpPr>
            <a:spLocks noGrp="1"/>
          </p:cNvSpPr>
          <p:nvPr/>
        </p:nvSpPr>
        <p:spPr>
          <a:xfrm>
            <a:off x="4953000" y="2200275"/>
            <a:ext cx="33909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9525" tIns="9525" rIns="9525" bIns="9525" anchor="ctr">
            <a:noAutofit/>
          </a:bodyPr>
          <a:lstStyle/>
          <a:p>
            <a:pPr>
              <a:defRPr sz="1350" b="0">
                <a:solidFill>
                  <a:srgbClr val="7FA8E3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7FA8E3"/>
                </a:solidFill>
                <a:latin typeface="Calibri"/>
                <a:ea typeface="Calibri"/>
                <a:cs typeface="Calibri"/>
              </a:rPr>
              <a:t>Later question</a:t>
            </a:r>
          </a:p>
        </p:txBody>
      </p:sp>
      <p:sp>
        <p:nvSpPr>
          <p:cNvPr id="11" name="c3-text-271">
            <a:extLst>
              <a:ext uri="{FF2B5EF4-FFF2-40B4-BE49-F238E27FC236}">
                <a16:creationId xmlns:a16="http://schemas.microsoft.com/office/drawing/2014/main" id="{B8CDE514-FE97-42EA-AEEE-F223FEF62EBA}"/>
              </a:ext>
            </a:extLst>
          </p:cNvPr>
          <p:cNvSpPr>
            <a:spLocks noGrp="1"/>
          </p:cNvSpPr>
          <p:nvPr/>
        </p:nvSpPr>
        <p:spPr>
          <a:xfrm>
            <a:off x="4953000" y="2543175"/>
            <a:ext cx="3390900" cy="1228725"/>
          </a:xfrm>
          <a:prstGeom prst="rect">
            <a:avLst/>
          </a:prstGeom>
          <a:noFill/>
          <a:ln w="0">
            <a:noFill/>
          </a:ln>
        </p:spPr>
        <p:txBody>
          <a:bodyPr wrap="square" lIns="9525" tIns="9525" rIns="9525" bIns="9525" anchor="t">
            <a:noAutofit/>
          </a:bodyPr>
          <a:lstStyle/>
          <a:p>
            <a:pPr>
              <a:defRPr sz="1875" b="0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1875" b="0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"What is my name</a:t>
            </a:r>
          </a:p>
          <a:p>
            <a:pPr>
              <a:defRPr sz="1875" b="0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1875" b="0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and my favourite colour?"</a:t>
            </a:r>
          </a:p>
        </p:txBody>
      </p:sp>
      <p:sp>
        <p:nvSpPr>
          <p:cNvPr id="12" name="c3-text-272">
            <a:extLst>
              <a:ext uri="{FF2B5EF4-FFF2-40B4-BE49-F238E27FC236}">
                <a16:creationId xmlns:a16="http://schemas.microsoft.com/office/drawing/2014/main" id="{C40D3ADC-A0CD-4C39-8580-2721F1C1B06A}"/>
              </a:ext>
            </a:extLst>
          </p:cNvPr>
          <p:cNvSpPr>
            <a:spLocks noGrp="1"/>
          </p:cNvSpPr>
          <p:nvPr/>
        </p:nvSpPr>
        <p:spPr>
          <a:xfrm>
            <a:off x="609600" y="3943350"/>
            <a:ext cx="79248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9525" tIns="9525" rIns="9525" bIns="9525" anchor="ctr">
            <a:noAutofit/>
          </a:bodyPr>
          <a:lstStyle/>
          <a:p>
            <a:pPr>
              <a:defRPr sz="1500" b="0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Keep human and AI messages in a list and resend them on every call.</a:t>
            </a:r>
          </a:p>
          <a:p>
            <a:pPr>
              <a:defRPr sz="1500" b="0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Build your own memory agent from the naive agent, then try both turns.</a:t>
            </a:r>
          </a:p>
        </p:txBody>
      </p:sp>
      <p:sp>
        <p:nvSpPr>
          <p:cNvPr id="13" name="c3-text-273">
            <a:hlinkClick r:id="rId2"/>
            <a:extLst>
              <a:ext uri="{FF2B5EF4-FFF2-40B4-BE49-F238E27FC236}">
                <a16:creationId xmlns:a16="http://schemas.microsoft.com/office/drawing/2014/main" id="{E275F1D6-B988-4C90-881A-23685A5533D9}"/>
              </a:ext>
            </a:extLst>
          </p:cNvPr>
          <p:cNvSpPr>
            <a:spLocks noGrp="1"/>
          </p:cNvSpPr>
          <p:nvPr/>
        </p:nvSpPr>
        <p:spPr>
          <a:xfrm>
            <a:off x="609600" y="4410075"/>
            <a:ext cx="7924800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9525" tIns="9525" rIns="9525" bIns="9525" anchor="ctr">
            <a:noAutofit/>
          </a:bodyPr>
          <a:lstStyle/>
          <a:p>
            <a:pPr>
              <a:defRPr sz="1500" b="0">
                <a:solidFill>
                  <a:srgbClr val="7FA8E3"/>
                </a:solidFill>
                <a:latin typeface="Calibri"/>
                <a:ea typeface="Calibri"/>
                <a:cs typeface="Calibri"/>
              </a:defRPr>
            </a:pPr>
            <a:r>
              <a:rPr sz="1500" b="0" u="sng">
                <a:solidFill>
                  <a:srgbClr val="7FA8E3"/>
                </a:solidFill>
                <a:latin typeface="Calibri"/>
                <a:ea typeface="Calibri"/>
                <a:cs typeface="Calibri"/>
              </a:rPr>
              <a:t>Open 02_structured_output.ipynb: 4. Short-term conversation memory</a:t>
            </a:r>
          </a:p>
        </p:txBody>
      </p:sp>
      <p:sp>
        <p:nvSpPr>
          <p:cNvPr id="14" name="c3-text-324">
            <a:extLst>
              <a:ext uri="{FF2B5EF4-FFF2-40B4-BE49-F238E27FC236}">
                <a16:creationId xmlns:a16="http://schemas.microsoft.com/office/drawing/2014/main" id="{AA6C38ED-5566-4DFA-9F1B-FD6E048BABB1}"/>
              </a:ext>
            </a:extLst>
          </p:cNvPr>
          <p:cNvSpPr>
            <a:spLocks noGrp="1"/>
          </p:cNvSpPr>
          <p:nvPr/>
        </p:nvSpPr>
        <p:spPr>
          <a:xfrm>
            <a:off x="8181975" y="4781550"/>
            <a:ext cx="352425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9525" tIns="9525" rIns="9525" bIns="9525" anchor="ctr">
            <a:noAutofit/>
          </a:bodyPr>
          <a:lstStyle/>
          <a:p>
            <a:pPr algn="r">
              <a:defRPr sz="750" b="0">
                <a:solidFill>
                  <a:srgbClr val="B4BDCB"/>
                </a:solidFill>
                <a:latin typeface="Calibri"/>
                <a:ea typeface="Calibri"/>
                <a:cs typeface="Calibri"/>
              </a:defRPr>
            </a:pPr>
            <a:r>
              <a:rPr sz="750" b="0">
                <a:solidFill>
                  <a:srgbClr val="B4BDCB"/>
                </a:solidFill>
                <a:latin typeface="Calibri"/>
                <a:ea typeface="Calibri"/>
                <a:cs typeface="Calibri"/>
              </a:rPr>
              <a:t>26</a:t>
            </a:r>
          </a:p>
        </p:txBody>
      </p:sp>
    </p:spTree>
    <p:extLst>
      <p:ext uri="{BB962C8B-B14F-4D97-AF65-F5344CB8AC3E}">
        <p14:creationId xmlns:p14="http://schemas.microsoft.com/office/powerpoint/2010/main" val="24234895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D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c3-text-261">
            <a:extLst>
              <a:ext uri="{FF2B5EF4-FFF2-40B4-BE49-F238E27FC236}">
                <a16:creationId xmlns:a16="http://schemas.microsoft.com/office/drawing/2014/main" id="{B7EEA41E-2CE7-401C-92AE-3585E650AD52}"/>
              </a:ext>
            </a:extLst>
          </p:cNvPr>
          <p:cNvSpPr>
            <a:spLocks noGrp="1"/>
          </p:cNvSpPr>
          <p:nvPr/>
        </p:nvSpPr>
        <p:spPr>
          <a:xfrm>
            <a:off x="609600" y="238125"/>
            <a:ext cx="792480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9525" tIns="9525" rIns="9525" bIns="9525" anchor="ctr">
            <a:noAutofit/>
          </a:bodyPr>
          <a:lstStyle/>
          <a:p>
            <a:pPr>
              <a:defRPr sz="900" b="0">
                <a:solidFill>
                  <a:srgbClr val="B4BDCB"/>
                </a:solidFill>
                <a:latin typeface="Calibri"/>
                <a:ea typeface="Calibri"/>
                <a:cs typeface="Calibri"/>
              </a:defRPr>
            </a:pPr>
            <a:r>
              <a:rPr sz="900" b="0">
                <a:solidFill>
                  <a:srgbClr val="B4BDCB"/>
                </a:solidFill>
                <a:latin typeface="Calibri"/>
                <a:ea typeface="Calibri"/>
                <a:cs typeface="Calibri"/>
              </a:rPr>
              <a:t>AI-Powered Virtual Humans: LLM-Powered Cognitive Architectures</a:t>
            </a:r>
          </a:p>
        </p:txBody>
      </p:sp>
      <p:sp>
        <p:nvSpPr>
          <p:cNvPr id="2" name="c3-text-262">
            <a:extLst>
              <a:ext uri="{FF2B5EF4-FFF2-40B4-BE49-F238E27FC236}">
                <a16:creationId xmlns:a16="http://schemas.microsoft.com/office/drawing/2014/main" id="{435D5B54-0794-4262-87CE-3DEC26BD4EBD}"/>
              </a:ext>
            </a:extLst>
          </p:cNvPr>
          <p:cNvSpPr>
            <a:spLocks noGrp="1"/>
          </p:cNvSpPr>
          <p:nvPr/>
        </p:nvSpPr>
        <p:spPr>
          <a:xfrm>
            <a:off x="609600" y="657225"/>
            <a:ext cx="792480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9525" tIns="9525" rIns="9525" bIns="9525" anchor="ctr">
            <a:noAutofit/>
          </a:bodyPr>
          <a:lstStyle/>
          <a:p>
            <a:pPr>
              <a:defRPr sz="2700" b="1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lang="it-IT" sz="2700" b="1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Final Exercise: Memory and Avatar Control</a:t>
            </a:r>
            <a:endParaRPr sz="2700" b="1">
              <a:solidFill>
                <a:srgbClr val="ECE6DE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" name="c3-text-263">
            <a:extLst>
              <a:ext uri="{FF2B5EF4-FFF2-40B4-BE49-F238E27FC236}">
                <a16:creationId xmlns:a16="http://schemas.microsoft.com/office/drawing/2014/main" id="{02D3B84C-CBD1-43A7-8221-E2990E669F30}"/>
              </a:ext>
            </a:extLst>
          </p:cNvPr>
          <p:cNvSpPr>
            <a:spLocks noGrp="1"/>
          </p:cNvSpPr>
          <p:nvPr/>
        </p:nvSpPr>
        <p:spPr>
          <a:xfrm>
            <a:off x="6381750" y="4781550"/>
            <a:ext cx="17145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9525" tIns="9525" rIns="9525" bIns="9525" anchor="ctr">
            <a:noAutofit/>
          </a:bodyPr>
          <a:lstStyle/>
          <a:p>
            <a:pPr algn="r">
              <a:defRPr sz="750" b="0">
                <a:solidFill>
                  <a:srgbClr val="B4BDCB"/>
                </a:solidFill>
                <a:latin typeface="Calibri"/>
                <a:ea typeface="Calibri"/>
                <a:cs typeface="Calibri"/>
              </a:defRPr>
            </a:pPr>
            <a:r>
              <a:rPr sz="750" b="0">
                <a:solidFill>
                  <a:srgbClr val="B4BDCB"/>
                </a:solidFill>
                <a:latin typeface="Calibri"/>
                <a:ea typeface="Calibri"/>
                <a:cs typeface="Calibri"/>
              </a:rPr>
              <a:t>Module 1 · Chapter 03</a:t>
            </a:r>
          </a:p>
        </p:txBody>
      </p:sp>
      <p:sp>
        <p:nvSpPr>
          <p:cNvPr id="4" name="c3-shape-264">
            <a:extLst>
              <a:ext uri="{FF2B5EF4-FFF2-40B4-BE49-F238E27FC236}">
                <a16:creationId xmlns:a16="http://schemas.microsoft.com/office/drawing/2014/main" id="{C5AD46D8-962D-435F-9DC9-5573CF21E8C6}"/>
              </a:ext>
            </a:extLst>
          </p:cNvPr>
          <p:cNvSpPr>
            <a:spLocks noGrp="1"/>
          </p:cNvSpPr>
          <p:nvPr/>
        </p:nvSpPr>
        <p:spPr>
          <a:xfrm>
            <a:off x="609600" y="1943100"/>
            <a:ext cx="3771900" cy="1952625"/>
          </a:xfrm>
          <a:prstGeom prst="roundRect">
            <a:avLst>
              <a:gd name="adj" fmla="val 3902"/>
            </a:avLst>
          </a:prstGeom>
          <a:solidFill>
            <a:srgbClr val="121A27"/>
          </a:solidFill>
          <a:ln w="9525">
            <a:solidFill>
              <a:srgbClr val="3A4458"/>
            </a:solidFill>
          </a:ln>
        </p:spPr>
      </p:sp>
      <p:sp>
        <p:nvSpPr>
          <p:cNvPr id="5" name="c3-shape-265">
            <a:extLst>
              <a:ext uri="{FF2B5EF4-FFF2-40B4-BE49-F238E27FC236}">
                <a16:creationId xmlns:a16="http://schemas.microsoft.com/office/drawing/2014/main" id="{C1601E7C-EF33-4283-8637-89E7486BDDB5}"/>
              </a:ext>
            </a:extLst>
          </p:cNvPr>
          <p:cNvSpPr>
            <a:spLocks noGrp="1"/>
          </p:cNvSpPr>
          <p:nvPr/>
        </p:nvSpPr>
        <p:spPr>
          <a:xfrm>
            <a:off x="800100" y="2105025"/>
            <a:ext cx="342900" cy="9525"/>
          </a:xfrm>
          <a:prstGeom prst="rect">
            <a:avLst/>
          </a:prstGeom>
          <a:solidFill>
            <a:srgbClr val="D9A06B"/>
          </a:solidFill>
          <a:ln w="9525">
            <a:solidFill>
              <a:srgbClr val="D9A06B"/>
            </a:solidFill>
          </a:ln>
        </p:spPr>
      </p:sp>
      <p:sp>
        <p:nvSpPr>
          <p:cNvPr id="6" name="c3-text-266">
            <a:extLst>
              <a:ext uri="{FF2B5EF4-FFF2-40B4-BE49-F238E27FC236}">
                <a16:creationId xmlns:a16="http://schemas.microsoft.com/office/drawing/2014/main" id="{48ABE5C7-9EAB-4F51-ADD9-4CFA8EC89898}"/>
              </a:ext>
            </a:extLst>
          </p:cNvPr>
          <p:cNvSpPr>
            <a:spLocks noGrp="1"/>
          </p:cNvSpPr>
          <p:nvPr/>
        </p:nvSpPr>
        <p:spPr>
          <a:xfrm>
            <a:off x="800100" y="2200275"/>
            <a:ext cx="33909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9525" tIns="9525" rIns="9525" bIns="9525" anchor="ctr">
            <a:noAutofit/>
          </a:bodyPr>
          <a:lstStyle/>
          <a:p>
            <a:pPr>
              <a:defRPr sz="1350" b="0">
                <a:solidFill>
                  <a:srgbClr val="D9A06B"/>
                </a:solidFill>
                <a:latin typeface="Calibri"/>
                <a:ea typeface="Calibri"/>
                <a:cs typeface="Calibri"/>
              </a:defRPr>
            </a:pPr>
            <a:r>
              <a:rPr lang="it-IT" sz="1350" b="0">
                <a:solidFill>
                  <a:srgbClr val="D9A06B"/>
                </a:solidFill>
                <a:latin typeface="Calibri"/>
                <a:ea typeface="Calibri"/>
                <a:cs typeface="Calibri"/>
              </a:rPr>
              <a:t>Your memory agent</a:t>
            </a:r>
            <a:endParaRPr sz="1350" b="0">
              <a:solidFill>
                <a:srgbClr val="D9A06B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7" name="c3-text-267">
            <a:extLst>
              <a:ext uri="{FF2B5EF4-FFF2-40B4-BE49-F238E27FC236}">
                <a16:creationId xmlns:a16="http://schemas.microsoft.com/office/drawing/2014/main" id="{FD714155-DB94-4F93-B762-C6F72BCD4578}"/>
              </a:ext>
            </a:extLst>
          </p:cNvPr>
          <p:cNvSpPr>
            <a:spLocks noGrp="1"/>
          </p:cNvSpPr>
          <p:nvPr/>
        </p:nvSpPr>
        <p:spPr>
          <a:xfrm>
            <a:off x="800100" y="2543175"/>
            <a:ext cx="3390900" cy="1228725"/>
          </a:xfrm>
          <a:prstGeom prst="rect">
            <a:avLst/>
          </a:prstGeom>
          <a:noFill/>
          <a:ln w="0">
            <a:noFill/>
          </a:ln>
        </p:spPr>
        <p:txBody>
          <a:bodyPr wrap="square" lIns="9525" tIns="9525" rIns="9525" bIns="9525" anchor="t">
            <a:noAutofit/>
          </a:bodyPr>
          <a:lstStyle/>
          <a:p>
            <a:pPr>
              <a:defRPr sz="1875" b="0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lang="en-US" sz="1875" b="0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A list of human and AI messages, resent on every call.</a:t>
            </a:r>
            <a:endParaRPr sz="1875" b="0">
              <a:solidFill>
                <a:srgbClr val="ECE6DE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8" name="c3-shape-268">
            <a:extLst>
              <a:ext uri="{FF2B5EF4-FFF2-40B4-BE49-F238E27FC236}">
                <a16:creationId xmlns:a16="http://schemas.microsoft.com/office/drawing/2014/main" id="{1F17CE17-E4F8-43AE-81E6-778FE01189EF}"/>
              </a:ext>
            </a:extLst>
          </p:cNvPr>
          <p:cNvSpPr>
            <a:spLocks noGrp="1"/>
          </p:cNvSpPr>
          <p:nvPr/>
        </p:nvSpPr>
        <p:spPr>
          <a:xfrm>
            <a:off x="4762500" y="1943100"/>
            <a:ext cx="3771900" cy="1952625"/>
          </a:xfrm>
          <a:prstGeom prst="roundRect">
            <a:avLst>
              <a:gd name="adj" fmla="val 3902"/>
            </a:avLst>
          </a:prstGeom>
          <a:solidFill>
            <a:srgbClr val="121A27"/>
          </a:solidFill>
          <a:ln w="9525">
            <a:solidFill>
              <a:srgbClr val="3A4458"/>
            </a:solidFill>
          </a:ln>
        </p:spPr>
      </p:sp>
      <p:sp>
        <p:nvSpPr>
          <p:cNvPr id="9" name="c3-shape-269">
            <a:extLst>
              <a:ext uri="{FF2B5EF4-FFF2-40B4-BE49-F238E27FC236}">
                <a16:creationId xmlns:a16="http://schemas.microsoft.com/office/drawing/2014/main" id="{B0869FD5-5270-4340-A300-BD4DBB5BF465}"/>
              </a:ext>
            </a:extLst>
          </p:cNvPr>
          <p:cNvSpPr>
            <a:spLocks noGrp="1"/>
          </p:cNvSpPr>
          <p:nvPr/>
        </p:nvSpPr>
        <p:spPr>
          <a:xfrm>
            <a:off x="4953000" y="2105025"/>
            <a:ext cx="342900" cy="9525"/>
          </a:xfrm>
          <a:prstGeom prst="rect">
            <a:avLst/>
          </a:prstGeom>
          <a:solidFill>
            <a:srgbClr val="7FA8E3"/>
          </a:solidFill>
          <a:ln w="9525">
            <a:solidFill>
              <a:srgbClr val="7FA8E3"/>
            </a:solidFill>
          </a:ln>
        </p:spPr>
      </p:sp>
      <p:sp>
        <p:nvSpPr>
          <p:cNvPr id="10" name="c3-text-270">
            <a:extLst>
              <a:ext uri="{FF2B5EF4-FFF2-40B4-BE49-F238E27FC236}">
                <a16:creationId xmlns:a16="http://schemas.microsoft.com/office/drawing/2014/main" id="{04AB3EBA-6F3E-46AE-9B35-84916BB04489}"/>
              </a:ext>
            </a:extLst>
          </p:cNvPr>
          <p:cNvSpPr>
            <a:spLocks noGrp="1"/>
          </p:cNvSpPr>
          <p:nvPr/>
        </p:nvSpPr>
        <p:spPr>
          <a:xfrm>
            <a:off x="4953000" y="2200275"/>
            <a:ext cx="33909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9525" tIns="9525" rIns="9525" bIns="9525" anchor="ctr">
            <a:noAutofit/>
          </a:bodyPr>
          <a:lstStyle/>
          <a:p>
            <a:pPr>
              <a:defRPr sz="1350" b="0">
                <a:solidFill>
                  <a:srgbClr val="7FA8E3"/>
                </a:solidFill>
                <a:latin typeface="Calibri"/>
                <a:ea typeface="Calibri"/>
                <a:cs typeface="Calibri"/>
              </a:defRPr>
            </a:pPr>
            <a:r>
              <a:rPr lang="it-IT" sz="1350" b="0">
                <a:solidFill>
                  <a:srgbClr val="7FA8E3"/>
                </a:solidFill>
                <a:latin typeface="Calibri"/>
                <a:ea typeface="Calibri"/>
                <a:cs typeface="Calibri"/>
              </a:rPr>
              <a:t>The structured agent</a:t>
            </a:r>
            <a:endParaRPr sz="1350" b="0">
              <a:solidFill>
                <a:srgbClr val="7FA8E3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1" name="c3-text-271">
            <a:extLst>
              <a:ext uri="{FF2B5EF4-FFF2-40B4-BE49-F238E27FC236}">
                <a16:creationId xmlns:a16="http://schemas.microsoft.com/office/drawing/2014/main" id="{B8CDE514-FE97-42EA-AEEE-F223FEF62EBA}"/>
              </a:ext>
            </a:extLst>
          </p:cNvPr>
          <p:cNvSpPr>
            <a:spLocks noGrp="1"/>
          </p:cNvSpPr>
          <p:nvPr/>
        </p:nvSpPr>
        <p:spPr>
          <a:xfrm>
            <a:off x="4953000" y="2543175"/>
            <a:ext cx="3390900" cy="1228725"/>
          </a:xfrm>
          <a:prstGeom prst="rect">
            <a:avLst/>
          </a:prstGeom>
          <a:noFill/>
          <a:ln w="0">
            <a:noFill/>
          </a:ln>
        </p:spPr>
        <p:txBody>
          <a:bodyPr wrap="square" lIns="9525" tIns="9525" rIns="9525" bIns="9525" anchor="t">
            <a:noAutofit/>
          </a:bodyPr>
          <a:lstStyle/>
          <a:p>
            <a:pPr>
              <a:defRPr sz="1875" b="0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lang="en-US" sz="1875" b="0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speech_text, emotion, expression and gesture.</a:t>
            </a:r>
            <a:endParaRPr sz="1875" b="0">
              <a:solidFill>
                <a:srgbClr val="ECE6DE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2" name="c3-text-272">
            <a:extLst>
              <a:ext uri="{FF2B5EF4-FFF2-40B4-BE49-F238E27FC236}">
                <a16:creationId xmlns:a16="http://schemas.microsoft.com/office/drawing/2014/main" id="{C40D3ADC-A0CD-4C39-8580-2721F1C1B06A}"/>
              </a:ext>
            </a:extLst>
          </p:cNvPr>
          <p:cNvSpPr>
            <a:spLocks noGrp="1"/>
          </p:cNvSpPr>
          <p:nvPr/>
        </p:nvSpPr>
        <p:spPr>
          <a:xfrm>
            <a:off x="609600" y="3943350"/>
            <a:ext cx="79248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9525" tIns="9525" rIns="9525" bIns="9525" anchor="ctr">
            <a:noAutofit/>
          </a:bodyPr>
          <a:lstStyle/>
          <a:p>
            <a:pPr>
              <a:defRPr sz="1500" b="0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lang="en-US" sz="1500" b="0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Combine both: the avatar remembers you and keeps moving.</a:t>
            </a:r>
          </a:p>
          <a:p>
            <a:pPr>
              <a:defRPr sz="1500" b="0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lang="en-US" sz="1500" b="0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Write the code yourself; the file lists the steps.</a:t>
            </a:r>
            <a:endParaRPr sz="1500" b="0">
              <a:solidFill>
                <a:srgbClr val="ECE6DE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3" name="c3-text-273">
            <a:hlinkClick r:id="rId2"/>
            <a:extLst>
              <a:ext uri="{FF2B5EF4-FFF2-40B4-BE49-F238E27FC236}">
                <a16:creationId xmlns:a16="http://schemas.microsoft.com/office/drawing/2014/main" id="{E275F1D6-B988-4C90-881A-23685A5533D9}"/>
              </a:ext>
            </a:extLst>
          </p:cNvPr>
          <p:cNvSpPr>
            <a:spLocks noGrp="1"/>
          </p:cNvSpPr>
          <p:nvPr/>
        </p:nvSpPr>
        <p:spPr>
          <a:xfrm>
            <a:off x="609600" y="4410075"/>
            <a:ext cx="7924800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9525" tIns="9525" rIns="9525" bIns="9525" anchor="ctr">
            <a:noAutofit/>
          </a:bodyPr>
          <a:lstStyle/>
          <a:p>
            <a:pPr>
              <a:defRPr sz="1500" b="0">
                <a:solidFill>
                  <a:srgbClr val="7FA8E3"/>
                </a:solidFill>
                <a:latin typeface="Calibri"/>
                <a:ea typeface="Calibri"/>
                <a:cs typeface="Calibri"/>
              </a:defRPr>
            </a:pPr>
            <a:r>
              <a:rPr lang="en-US" sz="1500" b="0" u="sng">
                <a:solidFill>
                  <a:srgbClr val="7FA8E3"/>
                </a:solidFill>
                <a:latin typeface="Calibri"/>
                <a:ea typeface="Calibri"/>
                <a:cs typeface="Calibri"/>
                <a:hlinkClick r:id="rId3" action="ppaction://hlinkfil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langchain_structured_memory_agent.py</a:t>
            </a:r>
            <a:endParaRPr sz="1500" b="0" u="sng">
              <a:solidFill>
                <a:srgbClr val="7FA8E3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4" name="c3-text-324">
            <a:extLst>
              <a:ext uri="{FF2B5EF4-FFF2-40B4-BE49-F238E27FC236}">
                <a16:creationId xmlns:a16="http://schemas.microsoft.com/office/drawing/2014/main" id="{AA6C38ED-5566-4DFA-9F1B-FD6E048BABB1}"/>
              </a:ext>
            </a:extLst>
          </p:cNvPr>
          <p:cNvSpPr>
            <a:spLocks noGrp="1"/>
          </p:cNvSpPr>
          <p:nvPr/>
        </p:nvSpPr>
        <p:spPr>
          <a:xfrm>
            <a:off x="8181975" y="4781550"/>
            <a:ext cx="352425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9525" tIns="9525" rIns="9525" bIns="9525" anchor="ctr">
            <a:noAutofit/>
          </a:bodyPr>
          <a:lstStyle/>
          <a:p>
            <a:pPr algn="r">
              <a:defRPr sz="750" b="0">
                <a:solidFill>
                  <a:srgbClr val="B4BDCB"/>
                </a:solidFill>
                <a:latin typeface="Calibri"/>
                <a:ea typeface="Calibri"/>
                <a:cs typeface="Calibri"/>
              </a:defRPr>
            </a:pPr>
            <a:r>
              <a:rPr lang="it-IT" sz="750" b="0">
                <a:solidFill>
                  <a:srgbClr val="B4BDCB"/>
                </a:solidFill>
                <a:latin typeface="Calibri"/>
                <a:ea typeface="Calibri"/>
                <a:cs typeface="Calibri"/>
              </a:rPr>
              <a:t>27</a:t>
            </a:r>
            <a:endParaRPr sz="750" b="0">
              <a:solidFill>
                <a:srgbClr val="B4BDCB"/>
              </a:solidFill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86596564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D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c3-text-274">
            <a:extLst>
              <a:ext uri="{FF2B5EF4-FFF2-40B4-BE49-F238E27FC236}">
                <a16:creationId xmlns:a16="http://schemas.microsoft.com/office/drawing/2014/main" id="{439384F7-31BD-4AEE-8F3B-72399EE38EBE}"/>
              </a:ext>
            </a:extLst>
          </p:cNvPr>
          <p:cNvSpPr>
            <a:spLocks noGrp="1"/>
          </p:cNvSpPr>
          <p:nvPr/>
        </p:nvSpPr>
        <p:spPr>
          <a:xfrm>
            <a:off x="609600" y="238125"/>
            <a:ext cx="792480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9525" tIns="9525" rIns="9525" bIns="9525" anchor="ctr">
            <a:noAutofit/>
          </a:bodyPr>
          <a:lstStyle/>
          <a:p>
            <a:pPr>
              <a:defRPr sz="900" b="0">
                <a:solidFill>
                  <a:srgbClr val="B4BDCB"/>
                </a:solidFill>
                <a:latin typeface="Calibri"/>
                <a:ea typeface="Calibri"/>
                <a:cs typeface="Calibri"/>
              </a:defRPr>
            </a:pPr>
            <a:r>
              <a:rPr sz="900" b="0">
                <a:solidFill>
                  <a:srgbClr val="B4BDCB"/>
                </a:solidFill>
                <a:latin typeface="Calibri"/>
                <a:ea typeface="Calibri"/>
                <a:cs typeface="Calibri"/>
              </a:rPr>
              <a:t>AI-Powered Virtual Humans: LLM-Powered Cognitive Architectures</a:t>
            </a:r>
          </a:p>
        </p:txBody>
      </p:sp>
      <p:sp>
        <p:nvSpPr>
          <p:cNvPr id="2" name="c3-text-275">
            <a:extLst>
              <a:ext uri="{FF2B5EF4-FFF2-40B4-BE49-F238E27FC236}">
                <a16:creationId xmlns:a16="http://schemas.microsoft.com/office/drawing/2014/main" id="{AD1A60BD-ED57-4931-A641-32183B1B15DF}"/>
              </a:ext>
            </a:extLst>
          </p:cNvPr>
          <p:cNvSpPr>
            <a:spLocks noGrp="1"/>
          </p:cNvSpPr>
          <p:nvPr/>
        </p:nvSpPr>
        <p:spPr>
          <a:xfrm>
            <a:off x="609600" y="657225"/>
            <a:ext cx="792480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9525" tIns="9525" rIns="9525" bIns="9525" anchor="ctr">
            <a:noAutofit/>
          </a:bodyPr>
          <a:lstStyle/>
          <a:p>
            <a:pPr>
              <a:defRPr sz="2700" b="1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2700" b="1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References</a:t>
            </a:r>
          </a:p>
        </p:txBody>
      </p:sp>
      <p:sp>
        <p:nvSpPr>
          <p:cNvPr id="3" name="c3-text-276">
            <a:extLst>
              <a:ext uri="{FF2B5EF4-FFF2-40B4-BE49-F238E27FC236}">
                <a16:creationId xmlns:a16="http://schemas.microsoft.com/office/drawing/2014/main" id="{72415E41-03FE-40A0-BC2B-70655CC4A0B8}"/>
              </a:ext>
            </a:extLst>
          </p:cNvPr>
          <p:cNvSpPr>
            <a:spLocks noGrp="1"/>
          </p:cNvSpPr>
          <p:nvPr/>
        </p:nvSpPr>
        <p:spPr>
          <a:xfrm>
            <a:off x="6381750" y="4781550"/>
            <a:ext cx="17145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9525" tIns="9525" rIns="9525" bIns="9525" anchor="ctr">
            <a:noAutofit/>
          </a:bodyPr>
          <a:lstStyle/>
          <a:p>
            <a:pPr algn="r">
              <a:defRPr sz="750" b="0">
                <a:solidFill>
                  <a:srgbClr val="B4BDCB"/>
                </a:solidFill>
                <a:latin typeface="Calibri"/>
                <a:ea typeface="Calibri"/>
                <a:cs typeface="Calibri"/>
              </a:defRPr>
            </a:pPr>
            <a:r>
              <a:rPr sz="750" b="0">
                <a:solidFill>
                  <a:srgbClr val="B4BDCB"/>
                </a:solidFill>
                <a:latin typeface="Calibri"/>
                <a:ea typeface="Calibri"/>
                <a:cs typeface="Calibri"/>
              </a:rPr>
              <a:t>Module 1 · Chapter 03</a:t>
            </a:r>
          </a:p>
        </p:txBody>
      </p:sp>
      <p:sp>
        <p:nvSpPr>
          <p:cNvPr id="4" name="c3-text-277">
            <a:hlinkClick r:id="rId2"/>
            <a:extLst>
              <a:ext uri="{FF2B5EF4-FFF2-40B4-BE49-F238E27FC236}">
                <a16:creationId xmlns:a16="http://schemas.microsoft.com/office/drawing/2014/main" id="{550E9E12-9E4B-459E-87BB-0BBD6D64AC37}"/>
              </a:ext>
            </a:extLst>
          </p:cNvPr>
          <p:cNvSpPr>
            <a:spLocks noGrp="1"/>
          </p:cNvSpPr>
          <p:nvPr/>
        </p:nvSpPr>
        <p:spPr>
          <a:xfrm>
            <a:off x="609600" y="1504950"/>
            <a:ext cx="37719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9525" tIns="9525" rIns="9525" bIns="9525" anchor="ctr">
            <a:noAutofit/>
          </a:bodyPr>
          <a:lstStyle/>
          <a:p>
            <a:pPr>
              <a:defRPr sz="1500" b="0">
                <a:solidFill>
                  <a:srgbClr val="D9A06B"/>
                </a:solidFill>
                <a:latin typeface="Calibri"/>
                <a:ea typeface="Calibri"/>
                <a:cs typeface="Calibri"/>
              </a:defRPr>
            </a:pPr>
            <a:r>
              <a:rPr sz="1500" b="0" u="sng">
                <a:solidFill>
                  <a:srgbClr val="D9A06B"/>
                </a:solidFill>
                <a:latin typeface="Calibri"/>
                <a:ea typeface="Calibri"/>
                <a:cs typeface="Calibri"/>
              </a:rPr>
              <a:t>[1] LangChain models</a:t>
            </a:r>
          </a:p>
        </p:txBody>
      </p:sp>
      <p:sp>
        <p:nvSpPr>
          <p:cNvPr id="5" name="c3-text-278">
            <a:hlinkClick r:id="rId2"/>
            <a:extLst>
              <a:ext uri="{FF2B5EF4-FFF2-40B4-BE49-F238E27FC236}">
                <a16:creationId xmlns:a16="http://schemas.microsoft.com/office/drawing/2014/main" id="{BE18C5E8-F861-4CD6-8256-2E7DF6C8052F}"/>
              </a:ext>
            </a:extLst>
          </p:cNvPr>
          <p:cNvSpPr>
            <a:spLocks noGrp="1"/>
          </p:cNvSpPr>
          <p:nvPr/>
        </p:nvSpPr>
        <p:spPr>
          <a:xfrm>
            <a:off x="609600" y="1809750"/>
            <a:ext cx="377190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9525" tIns="9525" rIns="9525" bIns="9525" anchor="ctr">
            <a:noAutofit/>
          </a:bodyPr>
          <a:lstStyle/>
          <a:p>
            <a:pPr>
              <a:defRPr sz="1350" b="0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1350" b="0" u="sng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Common interfaces and composition</a:t>
            </a:r>
          </a:p>
        </p:txBody>
      </p:sp>
      <p:sp>
        <p:nvSpPr>
          <p:cNvPr id="6" name="c3-shape-279">
            <a:extLst>
              <a:ext uri="{FF2B5EF4-FFF2-40B4-BE49-F238E27FC236}">
                <a16:creationId xmlns:a16="http://schemas.microsoft.com/office/drawing/2014/main" id="{1B8FA45B-B816-4BEC-9D57-9DCCE4071887}"/>
              </a:ext>
            </a:extLst>
          </p:cNvPr>
          <p:cNvSpPr>
            <a:spLocks noGrp="1"/>
          </p:cNvSpPr>
          <p:nvPr/>
        </p:nvSpPr>
        <p:spPr>
          <a:xfrm>
            <a:off x="609600" y="2238375"/>
            <a:ext cx="3771900" cy="9525"/>
          </a:xfrm>
          <a:prstGeom prst="rect">
            <a:avLst/>
          </a:prstGeom>
          <a:solidFill>
            <a:srgbClr val="3A4458"/>
          </a:solidFill>
          <a:ln w="9525">
            <a:solidFill>
              <a:srgbClr val="3A4458"/>
            </a:solidFill>
          </a:ln>
        </p:spPr>
      </p:sp>
      <p:sp>
        <p:nvSpPr>
          <p:cNvPr id="7" name="c3-text-280">
            <a:hlinkClick r:id="rId3"/>
            <a:extLst>
              <a:ext uri="{FF2B5EF4-FFF2-40B4-BE49-F238E27FC236}">
                <a16:creationId xmlns:a16="http://schemas.microsoft.com/office/drawing/2014/main" id="{5DC0A918-B94C-4011-A2F7-31F17EB6066C}"/>
              </a:ext>
            </a:extLst>
          </p:cNvPr>
          <p:cNvSpPr>
            <a:spLocks noGrp="1"/>
          </p:cNvSpPr>
          <p:nvPr/>
        </p:nvSpPr>
        <p:spPr>
          <a:xfrm>
            <a:off x="609600" y="2286000"/>
            <a:ext cx="37719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9525" tIns="9525" rIns="9525" bIns="9525" anchor="ctr">
            <a:noAutofit/>
          </a:bodyPr>
          <a:lstStyle/>
          <a:p>
            <a:pPr>
              <a:defRPr sz="1500" b="0">
                <a:solidFill>
                  <a:srgbClr val="D9A06B"/>
                </a:solidFill>
                <a:latin typeface="Calibri"/>
                <a:ea typeface="Calibri"/>
                <a:cs typeface="Calibri"/>
              </a:defRPr>
            </a:pPr>
            <a:r>
              <a:rPr sz="1500" b="0" u="sng">
                <a:solidFill>
                  <a:srgbClr val="D9A06B"/>
                </a:solidFill>
                <a:latin typeface="Calibri"/>
                <a:ea typeface="Calibri"/>
                <a:cs typeface="Calibri"/>
              </a:rPr>
              <a:t>[2] ChatOllama</a:t>
            </a:r>
          </a:p>
        </p:txBody>
      </p:sp>
      <p:sp>
        <p:nvSpPr>
          <p:cNvPr id="8" name="c3-text-281">
            <a:hlinkClick r:id="rId3"/>
            <a:extLst>
              <a:ext uri="{FF2B5EF4-FFF2-40B4-BE49-F238E27FC236}">
                <a16:creationId xmlns:a16="http://schemas.microsoft.com/office/drawing/2014/main" id="{43141612-66AE-4EF3-BBA6-7870880017E8}"/>
              </a:ext>
            </a:extLst>
          </p:cNvPr>
          <p:cNvSpPr>
            <a:spLocks noGrp="1"/>
          </p:cNvSpPr>
          <p:nvPr/>
        </p:nvSpPr>
        <p:spPr>
          <a:xfrm>
            <a:off x="609600" y="2590800"/>
            <a:ext cx="377190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9525" tIns="9525" rIns="9525" bIns="9525" anchor="ctr">
            <a:noAutofit/>
          </a:bodyPr>
          <a:lstStyle/>
          <a:p>
            <a:pPr>
              <a:defRPr sz="1350" b="0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1350" b="0" u="sng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Provider integration and model calls</a:t>
            </a:r>
          </a:p>
        </p:txBody>
      </p:sp>
      <p:sp>
        <p:nvSpPr>
          <p:cNvPr id="9" name="c3-shape-282">
            <a:extLst>
              <a:ext uri="{FF2B5EF4-FFF2-40B4-BE49-F238E27FC236}">
                <a16:creationId xmlns:a16="http://schemas.microsoft.com/office/drawing/2014/main" id="{D8FDB354-2E28-4FAE-BCAE-417C50C4546B}"/>
              </a:ext>
            </a:extLst>
          </p:cNvPr>
          <p:cNvSpPr>
            <a:spLocks noGrp="1"/>
          </p:cNvSpPr>
          <p:nvPr/>
        </p:nvSpPr>
        <p:spPr>
          <a:xfrm>
            <a:off x="609600" y="3019425"/>
            <a:ext cx="3771900" cy="9525"/>
          </a:xfrm>
          <a:prstGeom prst="rect">
            <a:avLst/>
          </a:prstGeom>
          <a:solidFill>
            <a:srgbClr val="3A4458"/>
          </a:solidFill>
          <a:ln w="9525">
            <a:solidFill>
              <a:srgbClr val="3A4458"/>
            </a:solidFill>
          </a:ln>
        </p:spPr>
      </p:sp>
      <p:sp>
        <p:nvSpPr>
          <p:cNvPr id="10" name="c3-text-283">
            <a:hlinkClick r:id="rId4"/>
            <a:extLst>
              <a:ext uri="{FF2B5EF4-FFF2-40B4-BE49-F238E27FC236}">
                <a16:creationId xmlns:a16="http://schemas.microsoft.com/office/drawing/2014/main" id="{1BE5AFBB-0596-42BC-B5A6-785CA2326185}"/>
              </a:ext>
            </a:extLst>
          </p:cNvPr>
          <p:cNvSpPr>
            <a:spLocks noGrp="1"/>
          </p:cNvSpPr>
          <p:nvPr/>
        </p:nvSpPr>
        <p:spPr>
          <a:xfrm>
            <a:off x="609600" y="3067050"/>
            <a:ext cx="37719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9525" tIns="9525" rIns="9525" bIns="9525" anchor="ctr">
            <a:noAutofit/>
          </a:bodyPr>
          <a:lstStyle/>
          <a:p>
            <a:pPr>
              <a:defRPr sz="1500" b="0">
                <a:solidFill>
                  <a:srgbClr val="D9A06B"/>
                </a:solidFill>
                <a:latin typeface="Calibri"/>
                <a:ea typeface="Calibri"/>
                <a:cs typeface="Calibri"/>
              </a:defRPr>
            </a:pPr>
            <a:r>
              <a:rPr sz="1500" b="0" u="sng">
                <a:solidFill>
                  <a:srgbClr val="D9A06B"/>
                </a:solidFill>
                <a:latin typeface="Calibri"/>
                <a:ea typeface="Calibri"/>
                <a:cs typeface="Calibri"/>
              </a:rPr>
              <a:t>[3] RunnableSequence</a:t>
            </a:r>
          </a:p>
        </p:txBody>
      </p:sp>
      <p:sp>
        <p:nvSpPr>
          <p:cNvPr id="11" name="c3-text-284">
            <a:hlinkClick r:id="rId4"/>
            <a:extLst>
              <a:ext uri="{FF2B5EF4-FFF2-40B4-BE49-F238E27FC236}">
                <a16:creationId xmlns:a16="http://schemas.microsoft.com/office/drawing/2014/main" id="{1051B754-7425-4F1D-831D-CAC304163786}"/>
              </a:ext>
            </a:extLst>
          </p:cNvPr>
          <p:cNvSpPr>
            <a:spLocks noGrp="1"/>
          </p:cNvSpPr>
          <p:nvPr/>
        </p:nvSpPr>
        <p:spPr>
          <a:xfrm>
            <a:off x="609600" y="3371850"/>
            <a:ext cx="377190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9525" tIns="9525" rIns="9525" bIns="9525" anchor="ctr">
            <a:noAutofit/>
          </a:bodyPr>
          <a:lstStyle/>
          <a:p>
            <a:pPr>
              <a:defRPr sz="1350" b="0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1350" b="0" u="sng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Compose components with the pipe operator</a:t>
            </a:r>
          </a:p>
        </p:txBody>
      </p:sp>
      <p:sp>
        <p:nvSpPr>
          <p:cNvPr id="12" name="c3-shape-285">
            <a:extLst>
              <a:ext uri="{FF2B5EF4-FFF2-40B4-BE49-F238E27FC236}">
                <a16:creationId xmlns:a16="http://schemas.microsoft.com/office/drawing/2014/main" id="{9129CA77-F6EE-4F9A-853E-BDACB9A74054}"/>
              </a:ext>
            </a:extLst>
          </p:cNvPr>
          <p:cNvSpPr>
            <a:spLocks noGrp="1"/>
          </p:cNvSpPr>
          <p:nvPr/>
        </p:nvSpPr>
        <p:spPr>
          <a:xfrm>
            <a:off x="609600" y="3800475"/>
            <a:ext cx="3771900" cy="9525"/>
          </a:xfrm>
          <a:prstGeom prst="rect">
            <a:avLst/>
          </a:prstGeom>
          <a:solidFill>
            <a:srgbClr val="3A4458"/>
          </a:solidFill>
          <a:ln w="9525">
            <a:solidFill>
              <a:srgbClr val="3A4458"/>
            </a:solidFill>
          </a:ln>
        </p:spPr>
      </p:sp>
      <p:sp>
        <p:nvSpPr>
          <p:cNvPr id="13" name="c3-text-286">
            <a:hlinkClick r:id="rId5"/>
            <a:extLst>
              <a:ext uri="{FF2B5EF4-FFF2-40B4-BE49-F238E27FC236}">
                <a16:creationId xmlns:a16="http://schemas.microsoft.com/office/drawing/2014/main" id="{9E7E2E8B-A720-4BA0-B295-C4CC9D93C39F}"/>
              </a:ext>
            </a:extLst>
          </p:cNvPr>
          <p:cNvSpPr>
            <a:spLocks noGrp="1"/>
          </p:cNvSpPr>
          <p:nvPr/>
        </p:nvSpPr>
        <p:spPr>
          <a:xfrm>
            <a:off x="609600" y="3848100"/>
            <a:ext cx="37719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9525" tIns="9525" rIns="9525" bIns="9525" anchor="ctr">
            <a:noAutofit/>
          </a:bodyPr>
          <a:lstStyle/>
          <a:p>
            <a:pPr>
              <a:defRPr sz="1500" b="0">
                <a:solidFill>
                  <a:srgbClr val="D9A06B"/>
                </a:solidFill>
                <a:latin typeface="Calibri"/>
                <a:ea typeface="Calibri"/>
                <a:cs typeface="Calibri"/>
              </a:defRPr>
            </a:pPr>
            <a:r>
              <a:rPr sz="1500" b="0" u="sng">
                <a:solidFill>
                  <a:srgbClr val="D9A06B"/>
                </a:solidFill>
                <a:latin typeface="Calibri"/>
                <a:ea typeface="Calibri"/>
                <a:cs typeface="Calibri"/>
              </a:rPr>
              <a:t>[4] Chat templates</a:t>
            </a:r>
          </a:p>
        </p:txBody>
      </p:sp>
      <p:sp>
        <p:nvSpPr>
          <p:cNvPr id="14" name="c3-text-287">
            <a:hlinkClick r:id="rId5"/>
            <a:extLst>
              <a:ext uri="{FF2B5EF4-FFF2-40B4-BE49-F238E27FC236}">
                <a16:creationId xmlns:a16="http://schemas.microsoft.com/office/drawing/2014/main" id="{A774D2D6-4A8B-46BD-91D1-D2AFD341D1FC}"/>
              </a:ext>
            </a:extLst>
          </p:cNvPr>
          <p:cNvSpPr>
            <a:spLocks noGrp="1"/>
          </p:cNvSpPr>
          <p:nvPr/>
        </p:nvSpPr>
        <p:spPr>
          <a:xfrm>
            <a:off x="609600" y="4152900"/>
            <a:ext cx="377190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9525" tIns="9525" rIns="9525" bIns="9525" anchor="ctr">
            <a:noAutofit/>
          </a:bodyPr>
          <a:lstStyle/>
          <a:p>
            <a:pPr>
              <a:defRPr sz="1350" b="0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1350" b="0" u="sng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Conversations, tokens and model-specific formats</a:t>
            </a:r>
          </a:p>
        </p:txBody>
      </p:sp>
      <p:sp>
        <p:nvSpPr>
          <p:cNvPr id="15" name="c3-text-288">
            <a:hlinkClick r:id="rId6"/>
            <a:extLst>
              <a:ext uri="{FF2B5EF4-FFF2-40B4-BE49-F238E27FC236}">
                <a16:creationId xmlns:a16="http://schemas.microsoft.com/office/drawing/2014/main" id="{EF24E5B6-6F2A-4B4B-A6F2-7BE14D124837}"/>
              </a:ext>
            </a:extLst>
          </p:cNvPr>
          <p:cNvSpPr>
            <a:spLocks noGrp="1"/>
          </p:cNvSpPr>
          <p:nvPr/>
        </p:nvSpPr>
        <p:spPr>
          <a:xfrm>
            <a:off x="4762500" y="1504950"/>
            <a:ext cx="37719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9525" tIns="9525" rIns="9525" bIns="9525" anchor="ctr">
            <a:noAutofit/>
          </a:bodyPr>
          <a:lstStyle/>
          <a:p>
            <a:pPr>
              <a:defRPr sz="1500" b="0">
                <a:solidFill>
                  <a:srgbClr val="D9A06B"/>
                </a:solidFill>
                <a:latin typeface="Calibri"/>
                <a:ea typeface="Calibri"/>
                <a:cs typeface="Calibri"/>
              </a:defRPr>
            </a:pPr>
            <a:r>
              <a:rPr sz="1500" b="0" u="sng">
                <a:solidFill>
                  <a:srgbClr val="D9A06B"/>
                </a:solidFill>
                <a:latin typeface="Calibri"/>
                <a:ea typeface="Calibri"/>
                <a:cs typeface="Calibri"/>
              </a:rPr>
              <a:t>[5] LangChain messages</a:t>
            </a:r>
          </a:p>
        </p:txBody>
      </p:sp>
      <p:sp>
        <p:nvSpPr>
          <p:cNvPr id="16" name="c3-text-289">
            <a:hlinkClick r:id="rId6"/>
            <a:extLst>
              <a:ext uri="{FF2B5EF4-FFF2-40B4-BE49-F238E27FC236}">
                <a16:creationId xmlns:a16="http://schemas.microsoft.com/office/drawing/2014/main" id="{4B230717-E77B-4BD5-ACB4-D02AED7481FE}"/>
              </a:ext>
            </a:extLst>
          </p:cNvPr>
          <p:cNvSpPr>
            <a:spLocks noGrp="1"/>
          </p:cNvSpPr>
          <p:nvPr/>
        </p:nvSpPr>
        <p:spPr>
          <a:xfrm>
            <a:off x="4762500" y="1809750"/>
            <a:ext cx="377190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9525" tIns="9525" rIns="9525" bIns="9525" anchor="ctr">
            <a:noAutofit/>
          </a:bodyPr>
          <a:lstStyle/>
          <a:p>
            <a:pPr>
              <a:defRPr sz="1350" b="0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1350" b="0" u="sng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System, human and AI message objects</a:t>
            </a:r>
          </a:p>
        </p:txBody>
      </p:sp>
      <p:sp>
        <p:nvSpPr>
          <p:cNvPr id="17" name="c3-shape-290">
            <a:extLst>
              <a:ext uri="{FF2B5EF4-FFF2-40B4-BE49-F238E27FC236}">
                <a16:creationId xmlns:a16="http://schemas.microsoft.com/office/drawing/2014/main" id="{F3DF2911-FBD0-4974-B801-675FDDE9943F}"/>
              </a:ext>
            </a:extLst>
          </p:cNvPr>
          <p:cNvSpPr>
            <a:spLocks noGrp="1"/>
          </p:cNvSpPr>
          <p:nvPr/>
        </p:nvSpPr>
        <p:spPr>
          <a:xfrm>
            <a:off x="4762500" y="2238375"/>
            <a:ext cx="3771900" cy="9525"/>
          </a:xfrm>
          <a:prstGeom prst="rect">
            <a:avLst/>
          </a:prstGeom>
          <a:solidFill>
            <a:srgbClr val="3A4458"/>
          </a:solidFill>
          <a:ln w="9525">
            <a:solidFill>
              <a:srgbClr val="3A4458"/>
            </a:solidFill>
          </a:ln>
        </p:spPr>
      </p:sp>
      <p:sp>
        <p:nvSpPr>
          <p:cNvPr id="18" name="c3-text-291">
            <a:hlinkClick r:id="rId7"/>
            <a:extLst>
              <a:ext uri="{FF2B5EF4-FFF2-40B4-BE49-F238E27FC236}">
                <a16:creationId xmlns:a16="http://schemas.microsoft.com/office/drawing/2014/main" id="{919BFC1C-4157-461D-AD21-F0BF09A38616}"/>
              </a:ext>
            </a:extLst>
          </p:cNvPr>
          <p:cNvSpPr>
            <a:spLocks noGrp="1"/>
          </p:cNvSpPr>
          <p:nvPr/>
        </p:nvSpPr>
        <p:spPr>
          <a:xfrm>
            <a:off x="4762500" y="2286000"/>
            <a:ext cx="37719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9525" tIns="9525" rIns="9525" bIns="9525" anchor="ctr">
            <a:noAutofit/>
          </a:bodyPr>
          <a:lstStyle/>
          <a:p>
            <a:pPr>
              <a:defRPr sz="1500" b="0">
                <a:solidFill>
                  <a:srgbClr val="D9A06B"/>
                </a:solidFill>
                <a:latin typeface="Calibri"/>
                <a:ea typeface="Calibri"/>
                <a:cs typeface="Calibri"/>
              </a:defRPr>
            </a:pPr>
            <a:r>
              <a:rPr sz="1500" b="0" u="sng">
                <a:solidFill>
                  <a:srgbClr val="D9A06B"/>
                </a:solidFill>
                <a:latin typeface="Calibri"/>
                <a:ea typeface="Calibri"/>
                <a:cs typeface="Calibri"/>
              </a:rPr>
              <a:t>[6] ChatPromptTemplate</a:t>
            </a:r>
          </a:p>
        </p:txBody>
      </p:sp>
      <p:sp>
        <p:nvSpPr>
          <p:cNvPr id="19" name="c3-text-292">
            <a:hlinkClick r:id="rId7"/>
            <a:extLst>
              <a:ext uri="{FF2B5EF4-FFF2-40B4-BE49-F238E27FC236}">
                <a16:creationId xmlns:a16="http://schemas.microsoft.com/office/drawing/2014/main" id="{119D5D82-9643-4FB7-B7A9-2A665F6F8F43}"/>
              </a:ext>
            </a:extLst>
          </p:cNvPr>
          <p:cNvSpPr>
            <a:spLocks noGrp="1"/>
          </p:cNvSpPr>
          <p:nvPr/>
        </p:nvSpPr>
        <p:spPr>
          <a:xfrm>
            <a:off x="4762500" y="2590800"/>
            <a:ext cx="377190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9525" tIns="9525" rIns="9525" bIns="9525" anchor="ctr">
            <a:noAutofit/>
          </a:bodyPr>
          <a:lstStyle/>
          <a:p>
            <a:pPr>
              <a:defRPr sz="1350" b="0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1350" b="0" u="sng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Build and fill reusable message templates</a:t>
            </a:r>
          </a:p>
        </p:txBody>
      </p:sp>
      <p:sp>
        <p:nvSpPr>
          <p:cNvPr id="20" name="c3-shape-293">
            <a:extLst>
              <a:ext uri="{FF2B5EF4-FFF2-40B4-BE49-F238E27FC236}">
                <a16:creationId xmlns:a16="http://schemas.microsoft.com/office/drawing/2014/main" id="{3607AB7C-1198-4B19-B425-756EC1EB94A0}"/>
              </a:ext>
            </a:extLst>
          </p:cNvPr>
          <p:cNvSpPr>
            <a:spLocks noGrp="1"/>
          </p:cNvSpPr>
          <p:nvPr/>
        </p:nvSpPr>
        <p:spPr>
          <a:xfrm>
            <a:off x="4762500" y="3019425"/>
            <a:ext cx="3771900" cy="9525"/>
          </a:xfrm>
          <a:prstGeom prst="rect">
            <a:avLst/>
          </a:prstGeom>
          <a:solidFill>
            <a:srgbClr val="3A4458"/>
          </a:solidFill>
          <a:ln w="9525">
            <a:solidFill>
              <a:srgbClr val="3A4458"/>
            </a:solidFill>
          </a:ln>
        </p:spPr>
      </p:sp>
      <p:sp>
        <p:nvSpPr>
          <p:cNvPr id="21" name="c3-text-294">
            <a:hlinkClick r:id="rId8"/>
            <a:extLst>
              <a:ext uri="{FF2B5EF4-FFF2-40B4-BE49-F238E27FC236}">
                <a16:creationId xmlns:a16="http://schemas.microsoft.com/office/drawing/2014/main" id="{3B31D05D-C6BD-433B-9CEA-E6F1052D990C}"/>
              </a:ext>
            </a:extLst>
          </p:cNvPr>
          <p:cNvSpPr>
            <a:spLocks noGrp="1"/>
          </p:cNvSpPr>
          <p:nvPr/>
        </p:nvSpPr>
        <p:spPr>
          <a:xfrm>
            <a:off x="4762500" y="3067050"/>
            <a:ext cx="37719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9525" tIns="9525" rIns="9525" bIns="9525" anchor="ctr">
            <a:noAutofit/>
          </a:bodyPr>
          <a:lstStyle/>
          <a:p>
            <a:pPr>
              <a:defRPr sz="1500" b="0">
                <a:solidFill>
                  <a:srgbClr val="D9A06B"/>
                </a:solidFill>
                <a:latin typeface="Calibri"/>
                <a:ea typeface="Calibri"/>
                <a:cs typeface="Calibri"/>
              </a:defRPr>
            </a:pPr>
            <a:r>
              <a:rPr sz="1500" b="0" u="sng">
                <a:solidFill>
                  <a:srgbClr val="D9A06B"/>
                </a:solidFill>
                <a:latin typeface="Calibri"/>
                <a:ea typeface="Calibri"/>
                <a:cs typeface="Calibri"/>
              </a:rPr>
              <a:t>[7] ChatOllama structured output</a:t>
            </a:r>
          </a:p>
        </p:txBody>
      </p:sp>
      <p:sp>
        <p:nvSpPr>
          <p:cNvPr id="22" name="c3-text-295">
            <a:hlinkClick r:id="rId8"/>
            <a:extLst>
              <a:ext uri="{FF2B5EF4-FFF2-40B4-BE49-F238E27FC236}">
                <a16:creationId xmlns:a16="http://schemas.microsoft.com/office/drawing/2014/main" id="{EC8D8AF4-B3C5-4A20-B3D7-96C6555C626B}"/>
              </a:ext>
            </a:extLst>
          </p:cNvPr>
          <p:cNvSpPr>
            <a:spLocks noGrp="1"/>
          </p:cNvSpPr>
          <p:nvPr/>
        </p:nvSpPr>
        <p:spPr>
          <a:xfrm>
            <a:off x="4762500" y="3371850"/>
            <a:ext cx="377190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9525" tIns="9525" rIns="9525" bIns="9525" anchor="ctr">
            <a:noAutofit/>
          </a:bodyPr>
          <a:lstStyle/>
          <a:p>
            <a:pPr>
              <a:defRPr sz="1350" b="0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1350" b="0" u="sng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Schema wrapper and provider-compatible methods</a:t>
            </a:r>
          </a:p>
        </p:txBody>
      </p:sp>
      <p:sp>
        <p:nvSpPr>
          <p:cNvPr id="23" name="c3-shape-296">
            <a:extLst>
              <a:ext uri="{FF2B5EF4-FFF2-40B4-BE49-F238E27FC236}">
                <a16:creationId xmlns:a16="http://schemas.microsoft.com/office/drawing/2014/main" id="{01E1579B-DF7E-45F7-8ED5-358964BC1842}"/>
              </a:ext>
            </a:extLst>
          </p:cNvPr>
          <p:cNvSpPr>
            <a:spLocks noGrp="1"/>
          </p:cNvSpPr>
          <p:nvPr/>
        </p:nvSpPr>
        <p:spPr>
          <a:xfrm>
            <a:off x="4762500" y="3800475"/>
            <a:ext cx="3771900" cy="9525"/>
          </a:xfrm>
          <a:prstGeom prst="rect">
            <a:avLst/>
          </a:prstGeom>
          <a:solidFill>
            <a:srgbClr val="3A4458"/>
          </a:solidFill>
          <a:ln w="9525">
            <a:solidFill>
              <a:srgbClr val="3A4458"/>
            </a:solidFill>
          </a:ln>
        </p:spPr>
      </p:sp>
      <p:sp>
        <p:nvSpPr>
          <p:cNvPr id="24" name="c3-text-297">
            <a:hlinkClick r:id="rId9"/>
            <a:extLst>
              <a:ext uri="{FF2B5EF4-FFF2-40B4-BE49-F238E27FC236}">
                <a16:creationId xmlns:a16="http://schemas.microsoft.com/office/drawing/2014/main" id="{85315448-6AD7-4D08-B35C-DA1932CB8AA7}"/>
              </a:ext>
            </a:extLst>
          </p:cNvPr>
          <p:cNvSpPr>
            <a:spLocks noGrp="1"/>
          </p:cNvSpPr>
          <p:nvPr/>
        </p:nvSpPr>
        <p:spPr>
          <a:xfrm>
            <a:off x="4762500" y="3848100"/>
            <a:ext cx="37719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9525" tIns="9525" rIns="9525" bIns="9525" anchor="ctr">
            <a:noAutofit/>
          </a:bodyPr>
          <a:lstStyle/>
          <a:p>
            <a:pPr>
              <a:defRPr sz="1500" b="0">
                <a:solidFill>
                  <a:srgbClr val="D9A06B"/>
                </a:solidFill>
                <a:latin typeface="Calibri"/>
                <a:ea typeface="Calibri"/>
                <a:cs typeface="Calibri"/>
              </a:defRPr>
            </a:pPr>
            <a:r>
              <a:rPr sz="1500" b="0" u="sng">
                <a:solidFill>
                  <a:srgbClr val="D9A06B"/>
                </a:solidFill>
                <a:latin typeface="Calibri"/>
                <a:ea typeface="Calibri"/>
                <a:cs typeface="Calibri"/>
              </a:rPr>
              <a:t>[8] Ollama structured outputs</a:t>
            </a:r>
          </a:p>
        </p:txBody>
      </p:sp>
      <p:sp>
        <p:nvSpPr>
          <p:cNvPr id="25" name="c3-text-298">
            <a:hlinkClick r:id="rId9"/>
            <a:extLst>
              <a:ext uri="{FF2B5EF4-FFF2-40B4-BE49-F238E27FC236}">
                <a16:creationId xmlns:a16="http://schemas.microsoft.com/office/drawing/2014/main" id="{427FB988-6F83-41BB-AC7F-330E2D2AA2CF}"/>
              </a:ext>
            </a:extLst>
          </p:cNvPr>
          <p:cNvSpPr>
            <a:spLocks noGrp="1"/>
          </p:cNvSpPr>
          <p:nvPr/>
        </p:nvSpPr>
        <p:spPr>
          <a:xfrm>
            <a:off x="4762500" y="4152900"/>
            <a:ext cx="377190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9525" tIns="9525" rIns="9525" bIns="9525" anchor="ctr">
            <a:noAutofit/>
          </a:bodyPr>
          <a:lstStyle/>
          <a:p>
            <a:pPr>
              <a:defRPr sz="1350" b="0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1350" b="0" u="sng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Cloud support and native schema limitations</a:t>
            </a:r>
          </a:p>
        </p:txBody>
      </p:sp>
      <p:sp>
        <p:nvSpPr>
          <p:cNvPr id="26" name="c3-text-325">
            <a:extLst>
              <a:ext uri="{FF2B5EF4-FFF2-40B4-BE49-F238E27FC236}">
                <a16:creationId xmlns:a16="http://schemas.microsoft.com/office/drawing/2014/main" id="{6C8D7860-88C3-41C2-A1B2-6A8853B3DC63}"/>
              </a:ext>
            </a:extLst>
          </p:cNvPr>
          <p:cNvSpPr>
            <a:spLocks noGrp="1"/>
          </p:cNvSpPr>
          <p:nvPr/>
        </p:nvSpPr>
        <p:spPr>
          <a:xfrm>
            <a:off x="8181975" y="4781550"/>
            <a:ext cx="352425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9525" tIns="9525" rIns="9525" bIns="9525" anchor="ctr">
            <a:noAutofit/>
          </a:bodyPr>
          <a:lstStyle/>
          <a:p>
            <a:pPr algn="r">
              <a:defRPr sz="750" b="0">
                <a:solidFill>
                  <a:srgbClr val="B4BDCB"/>
                </a:solidFill>
                <a:latin typeface="Calibri"/>
                <a:ea typeface="Calibri"/>
                <a:cs typeface="Calibri"/>
              </a:defRPr>
            </a:pPr>
            <a:r>
              <a:rPr lang="it-IT" sz="750" b="0">
                <a:solidFill>
                  <a:srgbClr val="B4BDCB"/>
                </a:solidFill>
                <a:latin typeface="Calibri"/>
                <a:ea typeface="Calibri"/>
                <a:cs typeface="Calibri"/>
              </a:rPr>
              <a:t>28</a:t>
            </a:r>
            <a:endParaRPr sz="750" b="0">
              <a:solidFill>
                <a:srgbClr val="B4BDCB"/>
              </a:solidFill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22225707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1838</Words>
  <Application>Microsoft Office PowerPoint</Application>
  <DocSecurity>0</DocSecurity>
  <PresentationFormat>Presentazione su schermo (16:9)</PresentationFormat>
  <Paragraphs>330</Paragraphs>
  <Slides>28</Slides>
  <Notes>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3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28</vt:i4>
      </vt:variant>
    </vt:vector>
  </HeadingPairs>
  <TitlesOfParts>
    <vt:vector size="32" baseType="lpstr">
      <vt:lpstr>Arial</vt:lpstr>
      <vt:lpstr>Calibri</vt:lpstr>
      <vt:lpstr>Consolas</vt:lpstr>
      <vt:lpstr>Office Theme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Alessandro Emmanuel  Pecora</cp:lastModifiedBy>
  <cp:revision>2</cp:revision>
  <dcterms:created xsi:type="dcterms:W3CDTF">2026-10-28T20:16:50Z</dcterms:created>
  <dcterms:modified xsi:type="dcterms:W3CDTF">2026-10-29T14:16:11Z</dcterms:modified>
</cp:coreProperties>
</file>