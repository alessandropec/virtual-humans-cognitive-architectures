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jpeg" ContentType="image/jpeg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presProps.xml" ContentType="application/vnd.openxmlformats-officedocument.presentationml.presProps+xml"/>
  <ns0:Override PartName="/ppt/viewProps.xml" ContentType="application/vnd.openxmlformats-officedocument.presentationml.view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</ns0: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9c5e13ba5d46f9" /><Relationship Type="http://schemas.openxmlformats.org/officeDocument/2006/relationships/extended-properties" Target="/docProps/app.xml" Id="R071a7cc16f014e4f" /><Relationship Type="http://schemas.openxmlformats.org/officeDocument/2006/relationships/officeDocument" Target="/ppt/presentation.xml" Id="R4d84f35d36ea4b4e" /></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36a5af8f93384b45"/>
  </ns0:sldMasterIdLst>
  <ns0:sldIdLst>
    <ns0:sldId id="256" ns1:id="Rd4d18b95332c401f"/>
    <ns0:sldId id="257" ns1:id="R9a33719455924ad5"/>
    <ns0:sldId id="258" ns1:id="Rc30f3ef910c84db0"/>
    <ns0:sldId id="259" ns1:id="R0b1870cba5a84910"/>
    <ns0:sldId id="260" ns1:id="Re2f1b38ae9b14394"/>
    <ns0:sldId id="261" ns1:id="Rf531689d845d447c"/>
    <ns0:sldId id="262" ns1:id="Rf6df4cf0514e4156"/>
    <ns0:sldId id="263" ns1:id="Rf561be181fb64af5"/>
    <ns0:sldId id="264" ns1:id="Rc88c37dfc0124dc9"/>
    <ns0:sldId id="265" ns1:id="Re18378aab7554434"/>
    <ns0:sldId id="266" ns1:id="R57853ceedaf84c39"/>
    <ns0:sldId id="267" ns1:id="R61b132d46c8446d5"/>
    <ns0:sldId id="268" ns1:id="Ra710393c462640d8"/>
    <ns0:sldId id="269" ns1:id="R121f659fac3e43f4"/>
    <ns0:sldId id="270" ns1:id="R003f9faf1d174527"/>
    <ns0:sldId id="271" ns1:id="Ra989f7967f2b49b0"/>
    <ns0:sldId id="272" ns1:id="Rf583d7c8634a4c57"/>
    <ns0:sldId id="273" ns1:id="Rfa8a4ba9cac840fb"/>
    <ns0:sldId id="274" ns1:id="R9c02be2b771c4684"/>
    <ns0:sldId id="275" ns1:id="R46eab1b085a54c65"/>
    <ns0:sldId id="276" ns1:id="R90d6896fe8a947b7"/>
    <ns0:sldId id="277" ns1:id="Rb2d2567d17cf43ea"/>
    <ns0:sldId id="278" ns1:id="Rbf7e10e05c544099"/>
    <ns0:sldId id="279" ns1:id="Rb881e501b3324bcf"/>
    <ns0:sldId id="280" ns1:id="R77f29fd415e94c78"/>
    <ns0:sldId id="281" ns1:id="R72377e59836c411e"/>
    <ns0:sldId id="282" ns1:id="R991bfa1c973d4e05"/>
  </ns0:sldIdLst>
  <ns0:sldSz cx="9144000" cy="51435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d1c58f63ab764b5e" /><ns0:Relationship Type="http://schemas.openxmlformats.org/officeDocument/2006/relationships/slideMaster" Target="/ppt/slideMasters/slideMaster1.xml" Id="R36a5af8f93384b45" /><ns0:Relationship Type="http://schemas.openxmlformats.org/officeDocument/2006/relationships/presProps" Target="/ppt/presProps.xml" Id="Rc50d2de215c949ae" /><ns0:Relationship Type="http://schemas.openxmlformats.org/officeDocument/2006/relationships/viewProps" Target="/ppt/viewProps.xml" Id="R286a3220b5dd47ae" /><ns0:Relationship Type="http://schemas.openxmlformats.org/officeDocument/2006/relationships/tableStyles" Target="/ppt/tableStyles.xml" Id="R379b9c9e56944b3f" /><ns0:Relationship Type="http://schemas.openxmlformats.org/officeDocument/2006/relationships/slide" Target="/ppt/slides/slide1.xml" Id="Rd4d18b95332c401f" /><ns0:Relationship Type="http://schemas.openxmlformats.org/officeDocument/2006/relationships/slide" Target="/ppt/slides/slide2.xml" Id="R9a33719455924ad5" /><ns0:Relationship Type="http://schemas.openxmlformats.org/officeDocument/2006/relationships/slide" Target="/ppt/slides/slide3.xml" Id="Rc30f3ef910c84db0" /><ns0:Relationship Type="http://schemas.openxmlformats.org/officeDocument/2006/relationships/slide" Target="/ppt/slides/slide4.xml" Id="R0b1870cba5a84910" /><ns0:Relationship Type="http://schemas.openxmlformats.org/officeDocument/2006/relationships/slide" Target="/ppt/slides/slide5.xml" Id="Re2f1b38ae9b14394" /><ns0:Relationship Type="http://schemas.openxmlformats.org/officeDocument/2006/relationships/slide" Target="/ppt/slides/slide6.xml" Id="Rf531689d845d447c" /><ns0:Relationship Type="http://schemas.openxmlformats.org/officeDocument/2006/relationships/slide" Target="/ppt/slides/slide7.xml" Id="Rf6df4cf0514e4156" /><ns0:Relationship Type="http://schemas.openxmlformats.org/officeDocument/2006/relationships/slide" Target="/ppt/slides/slide8.xml" Id="Rf561be181fb64af5" /><ns0:Relationship Type="http://schemas.openxmlformats.org/officeDocument/2006/relationships/slide" Target="/ppt/slides/slide9.xml" Id="Rc88c37dfc0124dc9" /><ns0:Relationship Type="http://schemas.openxmlformats.org/officeDocument/2006/relationships/slide" Target="/ppt/slides/slide10.xml" Id="Re18378aab7554434" /><ns0:Relationship Type="http://schemas.openxmlformats.org/officeDocument/2006/relationships/slide" Target="/ppt/slides/slide11.xml" Id="R57853ceedaf84c39" /><ns0:Relationship Type="http://schemas.openxmlformats.org/officeDocument/2006/relationships/slide" Target="/ppt/slides/slide12.xml" Id="R61b132d46c8446d5" /><ns0:Relationship Type="http://schemas.openxmlformats.org/officeDocument/2006/relationships/slide" Target="/ppt/slides/slide13.xml" Id="Ra710393c462640d8" /><ns0:Relationship Type="http://schemas.openxmlformats.org/officeDocument/2006/relationships/slide" Target="/ppt/slides/slide14.xml" Id="R121f659fac3e43f4" /><ns0:Relationship Type="http://schemas.openxmlformats.org/officeDocument/2006/relationships/slide" Target="/ppt/slides/slide15.xml" Id="R003f9faf1d174527" /><ns0:Relationship Type="http://schemas.openxmlformats.org/officeDocument/2006/relationships/slide" Target="/ppt/slides/slide16.xml" Id="Ra989f7967f2b49b0" /><ns0:Relationship Type="http://schemas.openxmlformats.org/officeDocument/2006/relationships/slide" Target="/ppt/slides/slide17.xml" Id="Rf583d7c8634a4c57" /><ns0:Relationship Type="http://schemas.openxmlformats.org/officeDocument/2006/relationships/slide" Target="/ppt/slides/slide18.xml" Id="Rfa8a4ba9cac840fb" /><ns0:Relationship Type="http://schemas.openxmlformats.org/officeDocument/2006/relationships/slide" Target="/ppt/slides/slide19.xml" Id="R9c02be2b771c4684" /><ns0:Relationship Type="http://schemas.openxmlformats.org/officeDocument/2006/relationships/slide" Target="/ppt/slides/slide20.xml" Id="R46eab1b085a54c65" /><ns0:Relationship Type="http://schemas.openxmlformats.org/officeDocument/2006/relationships/slide" Target="/ppt/slides/slide21.xml" Id="R90d6896fe8a947b7" /><ns0:Relationship Type="http://schemas.openxmlformats.org/officeDocument/2006/relationships/slide" Target="/ppt/slides/slide22.xml" Id="Rb2d2567d17cf43ea" /><ns0:Relationship Type="http://schemas.openxmlformats.org/officeDocument/2006/relationships/slide" Target="/ppt/slides/slide23.xml" Id="Rbf7e10e05c544099" /><ns0:Relationship Type="http://schemas.openxmlformats.org/officeDocument/2006/relationships/slide" Target="/ppt/slides/slide24.xml" Id="Rb881e501b3324bcf" /><ns0:Relationship Type="http://schemas.openxmlformats.org/officeDocument/2006/relationships/slide" Target="/ppt/slides/slide25.xml" Id="R77f29fd415e94c78" /><ns0:Relationship Type="http://schemas.openxmlformats.org/officeDocument/2006/relationships/slide" Target="/ppt/slides/slide26.xml" Id="R72377e59836c411e" /><ns0:Relationship Type="http://schemas.openxmlformats.org/officeDocument/2006/relationships/slide" Target="/ppt/slides/slide27.xml" Id="R991bfa1c973d4e05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f5298abcbf4cd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2d1ef5f164ef3" /><Relationship Type="http://schemas.openxmlformats.org/officeDocument/2006/relationships/image" Target="/ppt/media/image.jpeg" Id="Rd0e3011aab48447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b4438a97b2413c" /><Relationship Type="http://schemas.openxmlformats.org/officeDocument/2006/relationships/image" Target="/ppt/media/image.png" Id="R0b0eb5ad427b45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e5d760bb79443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d6f50911c43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e7e414835410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80e09c9b884f5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7e1ce8f4f41b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TITLE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3011aab48447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55FC7451-64D3-4CB8-9AA0-48C8D9DA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F34BA1-73E7-4752-8D70-4FEFC7FA2B5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_P2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0eb5ad427b4500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79BB4D8-5B9D-4F65-BBDB-8D681C9A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93FC60A-EA91-4AC7-BC18-270D30866589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SECTION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2660B54-203F-42EC-A5A3-F2DC5C93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C66AC75-C800-41C1-BA5A-9761923D22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450B48-B37E-42BD-8A40-552BD5F2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/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05E3C3A-CD83-4BD1-8F19-7D30E261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ACBE0D7-4493-47F3-A3B0-8926F89D6AD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CONTENT_P1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3AF5B2E-D90D-402D-998C-27509820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PART 1 · VIRTUAL HUMANS FOUNDATIONS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4270CFE-C9FB-4344-8B2C-6929100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9532946-C1F9-48AE-995E-50C10B84284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CODE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FCB2DEA-1F6F-40AE-B1E2-0531D34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HANDS-ON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CA723F-1C94-47D6-8CBD-26D793475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2A5C3D1-AC51-4DA6-AEE4-466D7F7C1DA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STATEMENT"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A0ACBF4-7074-4ED0-A09E-3755A1AD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0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  <a:endParaRPr sz="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1A20153-E490-422E-8D29-B810FEAC614D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f2f18fbcd07401d" /><Relationship Type="http://schemas.openxmlformats.org/officeDocument/2006/relationships/slideLayout" Target="/ppt/slideLayouts/slideLayout1.xml" Id="Rbc0f4a459c084d56" /><Relationship Type="http://schemas.openxmlformats.org/officeDocument/2006/relationships/slideLayout" Target="/ppt/slideLayouts/slideLayout2.xml" Id="Rb048142e9193484b" /><Relationship Type="http://schemas.openxmlformats.org/officeDocument/2006/relationships/slideLayout" Target="/ppt/slideLayouts/slideLayout3.xml" Id="Rce1f4e902b9c4989" /><Relationship Type="http://schemas.openxmlformats.org/officeDocument/2006/relationships/slideLayout" Target="/ppt/slideLayouts/slideLayout4.xml" Id="R2956ed128daa4050" /><Relationship Type="http://schemas.openxmlformats.org/officeDocument/2006/relationships/slideLayout" Target="/ppt/slideLayouts/slideLayout5.xml" Id="Rcdf2623eed2e499b" /><Relationship Type="http://schemas.openxmlformats.org/officeDocument/2006/relationships/slideLayout" Target="/ppt/slideLayouts/slideLayout6.xml" Id="R60529eddb6144bcb" /><Relationship Type="http://schemas.openxmlformats.org/officeDocument/2006/relationships/slideLayout" Target="/ppt/slideLayouts/slideLayout7.xml" Id="R963fc69ad4754d40" /><Relationship Type="http://schemas.openxmlformats.org/officeDocument/2006/relationships/slideLayout" Target="/ppt/slideLayouts/slideLayout8.xml" Id="R1f583678355e43d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F40BB06-55D8-4F61-8DB4-8F5ED2A813A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F7021451-1387-4CA6-816F-3879F97B5CBC}" type="slidenum">
              <a:rPr b="0">
                <a:solidFill>
                  <a:srgbClr val="FFFFFF"/>
                </a:solidFill>
              </a:rPr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0f4a459c084d56"/>
    <p:sldLayoutId xmlns:r="http://schemas.openxmlformats.org/officeDocument/2006/relationships" id="2147483650" r:id="Rb048142e9193484b"/>
    <p:sldLayoutId xmlns:r="http://schemas.openxmlformats.org/officeDocument/2006/relationships" id="2147483651" r:id="Rce1f4e902b9c4989"/>
    <p:sldLayoutId xmlns:r="http://schemas.openxmlformats.org/officeDocument/2006/relationships" id="2147483652" r:id="R2956ed128daa4050"/>
    <p:sldLayoutId xmlns:r="http://schemas.openxmlformats.org/officeDocument/2006/relationships" id="2147483653" r:id="Rcdf2623eed2e499b"/>
    <p:sldLayoutId xmlns:r="http://schemas.openxmlformats.org/officeDocument/2006/relationships" id="2147483654" r:id="R60529eddb6144bcb"/>
    <p:sldLayoutId xmlns:r="http://schemas.openxmlformats.org/officeDocument/2006/relationships" id="2147483655" r:id="R963fc69ad4754d40"/>
    <p:sldLayoutId xmlns:r="http://schemas.openxmlformats.org/officeDocument/2006/relationships" id="2147483656" r:id="R1f583678355e43d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3.xml" Id="R19d7bec88ea649ba" /><ns0:Relationship Type="http://schemas.openxmlformats.org/officeDocument/2006/relationships/image" Target="/ppt/media/image2.png" Id="R1f4f816f02f04ea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b00f4fc51034a7a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bc6a5c69107411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49acc666134993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3ca663f9614b0b" /><ns0:Relationship Type="http://schemas.openxmlformats.org/officeDocument/2006/relationships/hyperlink" Target="../Code/01_langchain.ipynb" TargetMode="External" Id="R02bacae270a3470b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bda3a5fd4c4299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161513790de457b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82f29e9dd940d9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fc8a0c9f88d496a" /><ns0:Relationship Type="http://schemas.openxmlformats.org/officeDocument/2006/relationships/hyperlink" Target="../Code/01_langchain.ipynb" TargetMode="External" Id="R545f432ff93b47a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80965c3924429b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4741eae4fc34c3b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76fe59ef944d0d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d7478acb3d472d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af4f2385f94f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d916e14cc0464b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03bb3685ff4c6d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dd5337e59b4f00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127fe03c1c44bb" /><ns0:Relationship Type="http://schemas.openxmlformats.org/officeDocument/2006/relationships/hyperlink" Target="../Code/01_langchain.ipynb" TargetMode="External" Id="R23c3291a1dd94a2d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20476572e8432a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8719ba4530e4b0c" /><ns0:Relationship Type="http://schemas.openxmlformats.org/officeDocument/2006/relationships/hyperlink" Target="../Code/02_structured_output.ipynb" TargetMode="External" Id="R70476bcac6c346f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4f2110d4ee4b2d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6895e813c54f06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9ba91bbdf684f62" /><ns0:Relationship Type="http://schemas.openxmlformats.org/officeDocument/2006/relationships/hyperlink" Target="../Code/02_structured_output.ipynb" TargetMode="External" Id="R06a3005047694a44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b2809c3d724528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a7a44fedcd4da7" /><ns0:Relationship Type="http://schemas.openxmlformats.org/officeDocument/2006/relationships/hyperlink" Target="../Code/02_structured_output.ipynb" TargetMode="External" Id="Re6dacd47b3b94171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9c3b22f8fb4d35" /><ns0:Relationship Type="http://schemas.openxmlformats.org/officeDocument/2006/relationships/hyperlink" Target="../Code/02_structured_output.ipynb" TargetMode="External" Id="R8442b1163c5043ce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4d551104f34d52" /><ns0:Relationship Type="http://schemas.openxmlformats.org/officeDocument/2006/relationships/hyperlink" Target="https://docs.langchain.com/oss/python/langchain/models" TargetMode="External" Id="R3dab7655c8c84d85" /><ns0:Relationship Type="http://schemas.openxmlformats.org/officeDocument/2006/relationships/hyperlink" Target="https://docs.langchain.com/oss/python/langchain/models" TargetMode="External" Id="Rd2a2b5dd40c140c2" /><ns0:Relationship Type="http://schemas.openxmlformats.org/officeDocument/2006/relationships/hyperlink" Target="https://docs.langchain.com/oss/python/integrations/chat/ollama" TargetMode="External" Id="Rf910d9152b2a4752" /><ns0:Relationship Type="http://schemas.openxmlformats.org/officeDocument/2006/relationships/hyperlink" Target="https://docs.langchain.com/oss/python/integrations/chat/ollama" TargetMode="External" Id="R5123edfb45704939" /><ns0:Relationship Type="http://schemas.openxmlformats.org/officeDocument/2006/relationships/hyperlink" Target="https://reference.langchain.com/python/langchain-core/runnables/base/RunnableSequence" TargetMode="External" Id="R4857e05a06b344bb" /><ns0:Relationship Type="http://schemas.openxmlformats.org/officeDocument/2006/relationships/hyperlink" Target="https://reference.langchain.com/python/langchain-core/runnables/base/RunnableSequence" TargetMode="External" Id="Ra9eee445c3b84bed" /><ns0:Relationship Type="http://schemas.openxmlformats.org/officeDocument/2006/relationships/hyperlink" Target="https://huggingface.co/docs/transformers/main/chat_templating" TargetMode="External" Id="Ra5514c4786204e90" /><ns0:Relationship Type="http://schemas.openxmlformats.org/officeDocument/2006/relationships/hyperlink" Target="https://huggingface.co/docs/transformers/main/chat_templating" TargetMode="External" Id="R53f21be8e7744e2c" /><ns0:Relationship Type="http://schemas.openxmlformats.org/officeDocument/2006/relationships/hyperlink" Target="https://docs.langchain.com/oss/python/langchain/messages" TargetMode="External" Id="R914eb66d96514deb" /><ns0:Relationship Type="http://schemas.openxmlformats.org/officeDocument/2006/relationships/hyperlink" Target="https://docs.langchain.com/oss/python/langchain/messages" TargetMode="External" Id="R5c94f7fee5cb4cdd" /><ns0:Relationship Type="http://schemas.openxmlformats.org/officeDocument/2006/relationships/hyperlink" Target="https://reference.langchain.com/python/langchain-core/prompts/chat/ChatPromptTemplate" TargetMode="External" Id="R52d4180f4c624d1a" /><ns0:Relationship Type="http://schemas.openxmlformats.org/officeDocument/2006/relationships/hyperlink" Target="https://reference.langchain.com/python/langchain-core/prompts/chat/ChatPromptTemplate" TargetMode="External" Id="R3c1f0535a1214d04" /><ns0:Relationship Type="http://schemas.openxmlformats.org/officeDocument/2006/relationships/hyperlink" Target="https://reference.langchain.com/python/langchain-ollama/chat_models/ChatOllama/with_structured_output" TargetMode="External" Id="R00747809a7034e3a" /><ns0:Relationship Type="http://schemas.openxmlformats.org/officeDocument/2006/relationships/hyperlink" Target="https://reference.langchain.com/python/langchain-ollama/chat_models/ChatOllama/with_structured_output" TargetMode="External" Id="R904dc3b90491480b" /><ns0:Relationship Type="http://schemas.openxmlformats.org/officeDocument/2006/relationships/hyperlink" Target="https://docs.ollama.com/capabilities/structured-outputs" TargetMode="External" Id="Rcd3707c4f60b4d3f" /><ns0:Relationship Type="http://schemas.openxmlformats.org/officeDocument/2006/relationships/hyperlink" Target="https://docs.ollama.com/capabilities/structured-outputs" TargetMode="External" Id="R4d753982bd354477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3E2CA0-25C4-4FBC-91B7-70ECAD485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Alessandro Emmanuel Pecora · 29 October 2026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71F37A-9C3B-4F2D-951B-FB8AADDF2E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8366760" y="4754880"/>
            <a:ext cx="36576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algn="l">
              <a:buNone/>
            </a:pPr>
            <a:fld id="{69ADA83D-DF77-AA76-6DA0-7A70CD7A4D20}" type="slidenum">
              <a:rPr b="0"/>
              <a:t/>
            </a:fld>
            <a:endParaRPr/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f816f02f04ea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</p:spPr>
      </p:pic>
      <p:sp>
        <p:nvSpPr>
          <p:cNvPr id="27" name="m0-text-1">
            <a:extLst xmlns:a="http://schemas.openxmlformats.org/drawingml/2006/main">
              <a:ext uri="{FF2B5EF4-FFF2-40B4-BE49-F238E27FC236}">
                <a16:creationId xmlns:a16="http://schemas.microsoft.com/office/drawing/2014/main" id="{42240BCB-CB11-468E-AB0E-9B00F39E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  <a:p xmlns:a="http://schemas.openxmlformats.org/drawingml/2006/main">
            <a:pPr>
              <a:buNone/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Introduction to LangChain</a:t>
            </a:r>
          </a:p>
        </p:txBody>
      </p:sp>
      <p:sp>
        <p:nvSpPr>
          <p:cNvPr id="29" name="m1-text-266">
            <a:extLst xmlns:a="http://schemas.openxmlformats.org/drawingml/2006/main">
              <a:ext uri="{FF2B5EF4-FFF2-40B4-BE49-F238E27FC236}">
                <a16:creationId xmlns:a16="http://schemas.microsoft.com/office/drawing/2014/main" id="{3BB0F476-8304-4F09-BB14-952D406D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14900"/>
            <a:ext cx="352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 i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1" name="c2-text-33">
            <a:extLst xmlns:a="http://schemas.openxmlformats.org/drawingml/2006/main">
              <a:ext uri="{FF2B5EF4-FFF2-40B4-BE49-F238E27FC236}">
                <a16:creationId xmlns:a16="http://schemas.microsoft.com/office/drawing/2014/main" id="{BDE23DF7-EB72-4801-8530-87C0CD00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3" name="c2-text-151">
            <a:extLst xmlns:a="http://schemas.openxmlformats.org/drawingml/2006/main">
              <a:ext uri="{FF2B5EF4-FFF2-40B4-BE49-F238E27FC236}">
                <a16:creationId xmlns:a16="http://schemas.microsoft.com/office/drawing/2014/main" id="{6AFF5EB8-9E72-4719-9542-1566CA7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5" name="c2-text-197">
            <a:extLst xmlns:a="http://schemas.openxmlformats.org/drawingml/2006/main">
              <a:ext uri="{FF2B5EF4-FFF2-40B4-BE49-F238E27FC236}">
                <a16:creationId xmlns:a16="http://schemas.microsoft.com/office/drawing/2014/main" id="{873E902F-219A-4954-B177-DD95547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7" name="c2-text-223">
            <a:extLst xmlns:a="http://schemas.openxmlformats.org/drawingml/2006/main">
              <a:ext uri="{FF2B5EF4-FFF2-40B4-BE49-F238E27FC236}">
                <a16:creationId xmlns:a16="http://schemas.microsoft.com/office/drawing/2014/main" id="{A305475C-F33A-453B-BD1E-35E07D3E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9" name="c2-text-217">
            <a:extLst xmlns:a="http://schemas.openxmlformats.org/drawingml/2006/main">
              <a:ext uri="{FF2B5EF4-FFF2-40B4-BE49-F238E27FC236}">
                <a16:creationId xmlns:a16="http://schemas.microsoft.com/office/drawing/2014/main" id="{7B5494E3-495E-4E40-A97B-845CBC97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1" name="c2-text-198">
            <a:extLst xmlns:a="http://schemas.openxmlformats.org/drawingml/2006/main">
              <a:ext uri="{FF2B5EF4-FFF2-40B4-BE49-F238E27FC236}">
                <a16:creationId xmlns:a16="http://schemas.microsoft.com/office/drawing/2014/main" id="{70AC672E-C96B-41A3-B850-987365D0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3" name="c2-text-211">
            <a:extLst xmlns:a="http://schemas.openxmlformats.org/drawingml/2006/main">
              <a:ext uri="{FF2B5EF4-FFF2-40B4-BE49-F238E27FC236}">
                <a16:creationId xmlns:a16="http://schemas.microsoft.com/office/drawing/2014/main" id="{DCB5F5CB-2D5B-422D-B5DF-6E628156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8E97A8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8E97A8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5" name="c2-text-220">
            <a:extLst xmlns:a="http://schemas.openxmlformats.org/drawingml/2006/main">
              <a:ext uri="{FF2B5EF4-FFF2-40B4-BE49-F238E27FC236}">
                <a16:creationId xmlns:a16="http://schemas.microsoft.com/office/drawing/2014/main" id="{E51B7192-FD18-487B-8BD5-C7554404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7" name="c2-text-265">
            <a:extLst xmlns:a="http://schemas.openxmlformats.org/drawingml/2006/main">
              <a:ext uri="{FF2B5EF4-FFF2-40B4-BE49-F238E27FC236}">
                <a16:creationId xmlns:a16="http://schemas.microsoft.com/office/drawing/2014/main" id="{DDB11875-B60B-4CD9-87A5-5274469B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9" name="c2-text-282">
            <a:extLst xmlns:a="http://schemas.openxmlformats.org/drawingml/2006/main">
              <a:ext uri="{FF2B5EF4-FFF2-40B4-BE49-F238E27FC236}">
                <a16:creationId xmlns:a16="http://schemas.microsoft.com/office/drawing/2014/main" id="{F5485890-4DD9-408B-B0E0-2577FD1A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1" name="c2-text-275">
            <a:extLst xmlns:a="http://schemas.openxmlformats.org/drawingml/2006/main">
              <a:ext uri="{FF2B5EF4-FFF2-40B4-BE49-F238E27FC236}">
                <a16:creationId xmlns:a16="http://schemas.microsoft.com/office/drawing/2014/main" id="{2FADCB92-2930-4079-9725-B8A8EC75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53" name="c3-text-299">
            <a:extLst xmlns:a="http://schemas.openxmlformats.org/drawingml/2006/main">
              <a:ext uri="{FF2B5EF4-FFF2-40B4-BE49-F238E27FC236}">
                <a16:creationId xmlns:a16="http://schemas.microsoft.com/office/drawing/2014/main" id="{E73A9915-527C-48AF-BDF2-21AEB450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486153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3-text-1">
            <a:extLst xmlns:a="http://schemas.openxmlformats.org/drawingml/2006/main">
              <a:ext uri="{FF2B5EF4-FFF2-40B4-BE49-F238E27FC236}">
                <a16:creationId xmlns:a16="http://schemas.microsoft.com/office/drawing/2014/main" id="{8C0CFF0E-1866-42F9-932C-936BF6D7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">
            <a:extLst xmlns:a="http://schemas.openxmlformats.org/drawingml/2006/main">
              <a:ext uri="{FF2B5EF4-FFF2-40B4-BE49-F238E27FC236}">
                <a16:creationId xmlns:a16="http://schemas.microsoft.com/office/drawing/2014/main" id="{533B98C3-DC47-41A0-8B8C-1E0E2FC9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From Prompt Management to LangChain</a:t>
            </a:r>
          </a:p>
        </p:txBody>
      </p:sp>
      <p:sp>
        <p:nvSpPr>
          <p:cNvPr id="3" name="c3-text-3">
            <a:extLst xmlns:a="http://schemas.openxmlformats.org/drawingml/2006/main">
              <a:ext uri="{FF2B5EF4-FFF2-40B4-BE49-F238E27FC236}">
                <a16:creationId xmlns:a16="http://schemas.microsoft.com/office/drawing/2014/main" id="{357D5218-4AD3-4D93-B1FA-FAB17CF6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cognitive architecture is implemented in code.</a:t>
            </a:r>
          </a:p>
        </p:txBody>
      </p:sp>
      <p:sp>
        <p:nvSpPr>
          <p:cNvPr id="4" name="c3-text-4">
            <a:extLst xmlns:a="http://schemas.openxmlformats.org/drawingml/2006/main">
              <a:ext uri="{FF2B5EF4-FFF2-40B4-BE49-F238E27FC236}">
                <a16:creationId xmlns:a16="http://schemas.microsoft.com/office/drawing/2014/main" id="{BEEEDAE8-934A-4B9F-9862-A8A4BC79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5">
            <a:extLst xmlns:a="http://schemas.openxmlformats.org/drawingml/2006/main">
              <a:ext uri="{FF2B5EF4-FFF2-40B4-BE49-F238E27FC236}">
                <a16:creationId xmlns:a16="http://schemas.microsoft.com/office/drawing/2014/main" id="{1D8999E8-243D-4A97-A7A0-1BE44D1E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shape-6">
            <a:extLst xmlns:a="http://schemas.openxmlformats.org/drawingml/2006/main">
              <a:ext uri="{FF2B5EF4-FFF2-40B4-BE49-F238E27FC236}">
                <a16:creationId xmlns:a16="http://schemas.microsoft.com/office/drawing/2014/main" id="{FEED0F73-73A9-4415-BDD6-C52B75F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14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7" name="c3-text-7">
            <a:extLst xmlns:a="http://schemas.openxmlformats.org/drawingml/2006/main">
              <a:ext uri="{FF2B5EF4-FFF2-40B4-BE49-F238E27FC236}">
                <a16:creationId xmlns:a16="http://schemas.microsoft.com/office/drawing/2014/main" id="{943B7765-D808-49AA-BEC5-3A2891A0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98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Our code</a:t>
            </a:r>
          </a:p>
        </p:txBody>
      </p:sp>
      <p:sp>
        <p:nvSpPr>
          <p:cNvPr id="8" name="c3-text-8">
            <a:extLst xmlns:a="http://schemas.openxmlformats.org/drawingml/2006/main">
              <a:ext uri="{FF2B5EF4-FFF2-40B4-BE49-F238E27FC236}">
                <a16:creationId xmlns:a16="http://schemas.microsoft.com/office/drawing/2014/main" id="{6671E357-AD21-4E0F-B062-FB202E9D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527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Prepare context, call the model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use its response.</a:t>
            </a:r>
          </a:p>
        </p:txBody>
      </p:sp>
      <p:sp>
        <p:nvSpPr>
          <p:cNvPr id="9" name="c3-shape-9">
            <a:extLst xmlns:a="http://schemas.openxmlformats.org/drawingml/2006/main">
              <a:ext uri="{FF2B5EF4-FFF2-40B4-BE49-F238E27FC236}">
                <a16:creationId xmlns:a16="http://schemas.microsoft.com/office/drawing/2014/main" id="{F953A0F0-B448-4CF5-9E53-0B10ABBC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52650"/>
            <a:ext cx="37719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shape-10">
            <a:extLst xmlns:a="http://schemas.openxmlformats.org/drawingml/2006/main">
              <a:ext uri="{FF2B5EF4-FFF2-40B4-BE49-F238E27FC236}">
                <a16:creationId xmlns:a16="http://schemas.microsoft.com/office/drawing/2014/main" id="{26B1E799-314B-4700-8B77-33A6E7DE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145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11">
            <a:extLst xmlns:a="http://schemas.openxmlformats.org/drawingml/2006/main">
              <a:ext uri="{FF2B5EF4-FFF2-40B4-BE49-F238E27FC236}">
                <a16:creationId xmlns:a16="http://schemas.microsoft.com/office/drawing/2014/main" id="{2E7B7850-725A-4B89-8635-BFA4A6D2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LangChain</a:t>
            </a:r>
          </a:p>
        </p:txBody>
      </p:sp>
      <p:sp>
        <p:nvSpPr>
          <p:cNvPr id="12" name="c3-text-12">
            <a:extLst xmlns:a="http://schemas.openxmlformats.org/drawingml/2006/main">
              <a:ext uri="{FF2B5EF4-FFF2-40B4-BE49-F238E27FC236}">
                <a16:creationId xmlns:a16="http://schemas.microsoft.com/office/drawing/2014/main" id="{4EEEA383-E145-44FE-A3CA-79F23A3B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52725"/>
            <a:ext cx="33909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 interfaces, prompt formatting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connected processing steps.</a:t>
            </a:r>
          </a:p>
        </p:txBody>
      </p:sp>
      <p:sp>
        <p:nvSpPr>
          <p:cNvPr id="13" name="c3-shape-13">
            <a:extLst xmlns:a="http://schemas.openxmlformats.org/drawingml/2006/main">
              <a:ext uri="{FF2B5EF4-FFF2-40B4-BE49-F238E27FC236}">
                <a16:creationId xmlns:a16="http://schemas.microsoft.com/office/drawing/2014/main" id="{B3108D99-96AA-4120-B04B-7D799AD2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4" name="c3-text-14">
            <a:extLst xmlns:a="http://schemas.openxmlformats.org/drawingml/2006/main">
              <a:ext uri="{FF2B5EF4-FFF2-40B4-BE49-F238E27FC236}">
                <a16:creationId xmlns:a16="http://schemas.microsoft.com/office/drawing/2014/main" id="{C5840BC9-7A77-4A7A-A5B5-C2ADA15D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LangChain helps us write the code that coordinates the loop.</a:t>
            </a:r>
          </a:p>
        </p:txBody>
      </p:sp>
      <p:sp>
        <p:nvSpPr>
          <p:cNvPr id="15" name="c3-text-300">
            <a:extLst xmlns:a="http://schemas.openxmlformats.org/drawingml/2006/main">
              <a:ext uri="{FF2B5EF4-FFF2-40B4-BE49-F238E27FC236}">
                <a16:creationId xmlns:a16="http://schemas.microsoft.com/office/drawing/2014/main" id="{9797B8B5-05E3-4864-A093-88D16CFBD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045036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c3-text-15">
            <a:extLst xmlns:a="http://schemas.openxmlformats.org/drawingml/2006/main">
              <a:ext uri="{FF2B5EF4-FFF2-40B4-BE49-F238E27FC236}">
                <a16:creationId xmlns:a16="http://schemas.microsoft.com/office/drawing/2014/main" id="{B6B78B26-6643-4F1A-A19C-2CF979FA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">
            <a:extLst xmlns:a="http://schemas.openxmlformats.org/drawingml/2006/main">
              <a:ext uri="{FF2B5EF4-FFF2-40B4-BE49-F238E27FC236}">
                <a16:creationId xmlns:a16="http://schemas.microsoft.com/office/drawing/2014/main" id="{5321CCA6-F2DF-46F7-97D4-D5182F5C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Building Blocks</a:t>
            </a:r>
          </a:p>
        </p:txBody>
      </p:sp>
      <p:sp>
        <p:nvSpPr>
          <p:cNvPr id="3" name="c3-text-17">
            <a:extLst xmlns:a="http://schemas.openxmlformats.org/drawingml/2006/main">
              <a:ext uri="{FF2B5EF4-FFF2-40B4-BE49-F238E27FC236}">
                <a16:creationId xmlns:a16="http://schemas.microsoft.com/office/drawing/2014/main" id="{962DA1B0-E57F-455D-9A6B-9C8CEB170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8">
            <a:extLst xmlns:a="http://schemas.openxmlformats.org/drawingml/2006/main">
              <a:ext uri="{FF2B5EF4-FFF2-40B4-BE49-F238E27FC236}">
                <a16:creationId xmlns:a16="http://schemas.microsoft.com/office/drawing/2014/main" id="{240F8975-8BA1-4C0B-A579-C1FF34C78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9">
            <a:extLst xmlns:a="http://schemas.openxmlformats.org/drawingml/2006/main">
              <a:ext uri="{FF2B5EF4-FFF2-40B4-BE49-F238E27FC236}">
                <a16:creationId xmlns:a16="http://schemas.microsoft.com/office/drawing/2014/main" id="{521A7441-EBCC-46CD-8ACD-52AAE441F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0">
            <a:extLst xmlns:a="http://schemas.openxmlformats.org/drawingml/2006/main">
              <a:ext uri="{FF2B5EF4-FFF2-40B4-BE49-F238E27FC236}">
                <a16:creationId xmlns:a16="http://schemas.microsoft.com/office/drawing/2014/main" id="{BEBFEDC8-8495-41F5-822D-D0CE417A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Model</a:t>
            </a:r>
          </a:p>
        </p:txBody>
      </p:sp>
      <p:sp>
        <p:nvSpPr>
          <p:cNvPr id="7" name="c3-text-21">
            <a:extLst xmlns:a="http://schemas.openxmlformats.org/drawingml/2006/main">
              <a:ext uri="{FF2B5EF4-FFF2-40B4-BE49-F238E27FC236}">
                <a16:creationId xmlns:a16="http://schemas.microsoft.com/office/drawing/2014/main" id="{65EF5A73-F44D-4818-B3AE-F1943325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14550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an LLM through a common interface.</a:t>
            </a:r>
          </a:p>
        </p:txBody>
      </p:sp>
      <p:sp>
        <p:nvSpPr>
          <p:cNvPr id="8" name="c3-shape-22">
            <a:extLst xmlns:a="http://schemas.openxmlformats.org/drawingml/2006/main">
              <a:ext uri="{FF2B5EF4-FFF2-40B4-BE49-F238E27FC236}">
                <a16:creationId xmlns:a16="http://schemas.microsoft.com/office/drawing/2014/main" id="{68D25158-1974-4D4B-9187-9FEDF115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14475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3">
            <a:extLst xmlns:a="http://schemas.openxmlformats.org/drawingml/2006/main">
              <a:ext uri="{FF2B5EF4-FFF2-40B4-BE49-F238E27FC236}">
                <a16:creationId xmlns:a16="http://schemas.microsoft.com/office/drawing/2014/main" id="{F310E895-0C8E-4D6D-8AAF-FA319CAEC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764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4">
            <a:extLst xmlns:a="http://schemas.openxmlformats.org/drawingml/2006/main">
              <a:ext uri="{FF2B5EF4-FFF2-40B4-BE49-F238E27FC236}">
                <a16:creationId xmlns:a16="http://schemas.microsoft.com/office/drawing/2014/main" id="{98E895D2-4ACA-4107-A27E-75AC6837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716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Chain</a:t>
            </a:r>
          </a:p>
        </p:txBody>
      </p:sp>
      <p:sp>
        <p:nvSpPr>
          <p:cNvPr id="11" name="c3-text-25">
            <a:extLst xmlns:a="http://schemas.openxmlformats.org/drawingml/2006/main">
              <a:ext uri="{FF2B5EF4-FFF2-40B4-BE49-F238E27FC236}">
                <a16:creationId xmlns:a16="http://schemas.microsoft.com/office/drawing/2014/main" id="{20227651-D8B6-440E-AB46-3BB8CED8E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14550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Pass one output to the next component.</a:t>
            </a:r>
          </a:p>
        </p:txBody>
      </p:sp>
      <p:sp>
        <p:nvSpPr>
          <p:cNvPr id="12" name="c3-shape-26">
            <a:extLst xmlns:a="http://schemas.openxmlformats.org/drawingml/2006/main">
              <a:ext uri="{FF2B5EF4-FFF2-40B4-BE49-F238E27FC236}">
                <a16:creationId xmlns:a16="http://schemas.microsoft.com/office/drawing/2014/main" id="{9FF86FDA-BD8D-4D39-9642-43FD683B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27">
            <a:extLst xmlns:a="http://schemas.openxmlformats.org/drawingml/2006/main">
              <a:ext uri="{FF2B5EF4-FFF2-40B4-BE49-F238E27FC236}">
                <a16:creationId xmlns:a16="http://schemas.microsoft.com/office/drawing/2014/main" id="{0595637B-8E17-4605-9BB9-CB9350EB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337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28">
            <a:extLst xmlns:a="http://schemas.openxmlformats.org/drawingml/2006/main">
              <a:ext uri="{FF2B5EF4-FFF2-40B4-BE49-F238E27FC236}">
                <a16:creationId xmlns:a16="http://schemas.microsoft.com/office/drawing/2014/main" id="{7C0256C9-7CC4-428E-92CE-E42667CD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289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 prompt template</a:t>
            </a:r>
          </a:p>
        </p:txBody>
      </p:sp>
      <p:sp>
        <p:nvSpPr>
          <p:cNvPr id="15" name="c3-text-29">
            <a:extLst xmlns:a="http://schemas.openxmlformats.org/drawingml/2006/main">
              <a:ext uri="{FF2B5EF4-FFF2-40B4-BE49-F238E27FC236}">
                <a16:creationId xmlns:a16="http://schemas.microsoft.com/office/drawing/2014/main" id="{CB8E17E6-C311-4988-93E0-EED0C827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Fill variables in a message structure.</a:t>
            </a:r>
          </a:p>
        </p:txBody>
      </p:sp>
      <p:sp>
        <p:nvSpPr>
          <p:cNvPr id="16" name="c3-shape-30">
            <a:extLst xmlns:a="http://schemas.openxmlformats.org/drawingml/2006/main">
              <a:ext uri="{FF2B5EF4-FFF2-40B4-BE49-F238E27FC236}">
                <a16:creationId xmlns:a16="http://schemas.microsoft.com/office/drawing/2014/main" id="{83472E14-7847-458C-9B99-9A5E17C77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37719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7" name="c3-shape-31">
            <a:extLst xmlns:a="http://schemas.openxmlformats.org/drawingml/2006/main">
              <a:ext uri="{FF2B5EF4-FFF2-40B4-BE49-F238E27FC236}">
                <a16:creationId xmlns:a16="http://schemas.microsoft.com/office/drawing/2014/main" id="{0C7470BF-3C0E-4E6B-A712-1B7A3E33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337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8" name="c3-text-32">
            <a:extLst xmlns:a="http://schemas.openxmlformats.org/drawingml/2006/main">
              <a:ext uri="{FF2B5EF4-FFF2-40B4-BE49-F238E27FC236}">
                <a16:creationId xmlns:a16="http://schemas.microsoft.com/office/drawing/2014/main" id="{C8ED3B43-BF06-4747-B12D-FC20EBA3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289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Structured output</a:t>
            </a:r>
          </a:p>
        </p:txBody>
      </p:sp>
      <p:sp>
        <p:nvSpPr>
          <p:cNvPr id="19" name="c3-text-33">
            <a:extLst xmlns:a="http://schemas.openxmlformats.org/drawingml/2006/main">
              <a:ext uri="{FF2B5EF4-FFF2-40B4-BE49-F238E27FC236}">
                <a16:creationId xmlns:a16="http://schemas.microsoft.com/office/drawing/2014/main" id="{6853FBA0-5428-461B-8D64-0FC99466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71875"/>
            <a:ext cx="33909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fields the program can use.</a:t>
            </a:r>
          </a:p>
        </p:txBody>
      </p:sp>
      <p:sp>
        <p:nvSpPr>
          <p:cNvPr id="20" name="c3-text-301">
            <a:extLst xmlns:a="http://schemas.openxmlformats.org/drawingml/2006/main">
              <a:ext uri="{FF2B5EF4-FFF2-40B4-BE49-F238E27FC236}">
                <a16:creationId xmlns:a16="http://schemas.microsoft.com/office/drawing/2014/main" id="{447982E0-DA17-4678-96C5-59B8C597A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060825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3-text-34">
            <a:extLst xmlns:a="http://schemas.openxmlformats.org/drawingml/2006/main">
              <a:ext uri="{FF2B5EF4-FFF2-40B4-BE49-F238E27FC236}">
                <a16:creationId xmlns:a16="http://schemas.microsoft.com/office/drawing/2014/main" id="{A3731B23-A3BD-4D6A-933D-82B4694B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35">
            <a:extLst xmlns:a="http://schemas.openxmlformats.org/drawingml/2006/main">
              <a:ext uri="{FF2B5EF4-FFF2-40B4-BE49-F238E27FC236}">
                <a16:creationId xmlns:a16="http://schemas.microsoft.com/office/drawing/2014/main" id="{69B1F1D6-1109-48FE-86C2-C9ED869CE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Same Model, Different Interface [2]</a:t>
            </a:r>
          </a:p>
        </p:txBody>
      </p:sp>
      <p:sp>
        <p:nvSpPr>
          <p:cNvPr id="3" name="c3-text-36">
            <a:extLst xmlns:a="http://schemas.openxmlformats.org/drawingml/2006/main">
              <a:ext uri="{FF2B5EF4-FFF2-40B4-BE49-F238E27FC236}">
                <a16:creationId xmlns:a16="http://schemas.microsoft.com/office/drawing/2014/main" id="{C8098BAE-C409-4552-BB3A-5922FE3B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Compare client creation and the model call.</a:t>
            </a:r>
          </a:p>
        </p:txBody>
      </p:sp>
      <p:sp>
        <p:nvSpPr>
          <p:cNvPr id="4" name="c3-text-37">
            <a:extLst xmlns:a="http://schemas.openxmlformats.org/drawingml/2006/main">
              <a:ext uri="{FF2B5EF4-FFF2-40B4-BE49-F238E27FC236}">
                <a16:creationId xmlns:a16="http://schemas.microsoft.com/office/drawing/2014/main" id="{10DBA071-55F3-45A8-933B-9C0B2FE2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text-38">
            <a:extLst xmlns:a="http://schemas.openxmlformats.org/drawingml/2006/main">
              <a:ext uri="{FF2B5EF4-FFF2-40B4-BE49-F238E27FC236}">
                <a16:creationId xmlns:a16="http://schemas.microsoft.com/office/drawing/2014/main" id="{45E56224-0804-4042-AA16-F073075A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3771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Provider SDK</a:t>
            </a:r>
          </a:p>
        </p:txBody>
      </p:sp>
      <p:sp>
        <p:nvSpPr>
          <p:cNvPr id="6" name="c3-text-39">
            <a:extLst xmlns:a="http://schemas.openxmlformats.org/drawingml/2006/main">
              <a:ext uri="{FF2B5EF4-FFF2-40B4-BE49-F238E27FC236}">
                <a16:creationId xmlns:a16="http://schemas.microsoft.com/office/drawing/2014/main" id="{C32F9DD4-0C43-40DE-8569-75BD8EFB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28825"/>
            <a:ext cx="3771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LangChain</a:t>
            </a:r>
          </a:p>
        </p:txBody>
      </p:sp>
      <p:sp>
        <p:nvSpPr>
          <p:cNvPr id="7" name="c3-shape-40">
            <a:extLst xmlns:a="http://schemas.openxmlformats.org/drawingml/2006/main">
              <a:ext uri="{FF2B5EF4-FFF2-40B4-BE49-F238E27FC236}">
                <a16:creationId xmlns:a16="http://schemas.microsoft.com/office/drawing/2014/main" id="{E69A44A2-33B5-46A6-B637-4EC797E0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37719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8" name="c3-text-41">
            <a:extLst xmlns:a="http://schemas.openxmlformats.org/drawingml/2006/main">
              <a:ext uri="{FF2B5EF4-FFF2-40B4-BE49-F238E27FC236}">
                <a16:creationId xmlns:a16="http://schemas.microsoft.com/office/drawing/2014/main" id="{9CF90173-F8B6-4255-AF82-6D3FB618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24125"/>
            <a:ext cx="342900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client = Client(...)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reply = client.chat(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model="gpt-oss:120b",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messages=messages,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9" name="c3-shape-42">
            <a:extLst xmlns:a="http://schemas.openxmlformats.org/drawingml/2006/main">
              <a:ext uri="{FF2B5EF4-FFF2-40B4-BE49-F238E27FC236}">
                <a16:creationId xmlns:a16="http://schemas.microsoft.com/office/drawing/2014/main" id="{718DBED1-C42F-4ABD-B8BD-F7229D79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90775"/>
            <a:ext cx="377190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43">
            <a:extLst xmlns:a="http://schemas.openxmlformats.org/drawingml/2006/main">
              <a:ext uri="{FF2B5EF4-FFF2-40B4-BE49-F238E27FC236}">
                <a16:creationId xmlns:a16="http://schemas.microsoft.com/office/drawing/2014/main" id="{DC87FDF4-A071-433C-8EA2-74287E47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24125"/>
            <a:ext cx="3429000" cy="1876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llm = ChatOllama(...)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reply = llm.invoke(request)</a:t>
            </a:r>
          </a:p>
        </p:txBody>
      </p:sp>
      <p:sp>
        <p:nvSpPr>
          <p:cNvPr id="11" name="c3-text-302">
            <a:extLst xmlns:a="http://schemas.openxmlformats.org/drawingml/2006/main">
              <a:ext uri="{FF2B5EF4-FFF2-40B4-BE49-F238E27FC236}">
                <a16:creationId xmlns:a16="http://schemas.microsoft.com/office/drawing/2014/main" id="{ACE7B94C-2CE1-4CD7-B832-49A59E74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720669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44">
            <a:extLst xmlns:a="http://schemas.openxmlformats.org/drawingml/2006/main">
              <a:ext uri="{FF2B5EF4-FFF2-40B4-BE49-F238E27FC236}">
                <a16:creationId xmlns:a16="http://schemas.microsoft.com/office/drawing/2014/main" id="{0E8DDA8E-91D1-4C36-B7B2-6B165FB9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45">
            <a:extLst xmlns:a="http://schemas.openxmlformats.org/drawingml/2006/main">
              <a:ext uri="{FF2B5EF4-FFF2-40B4-BE49-F238E27FC236}">
                <a16:creationId xmlns:a16="http://schemas.microsoft.com/office/drawing/2014/main" id="{0218D3EB-7766-4471-8732-D513F29F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Reply Is a Message [1] [2]</a:t>
            </a:r>
          </a:p>
        </p:txBody>
      </p:sp>
      <p:sp>
        <p:nvSpPr>
          <p:cNvPr id="3" name="c3-text-46">
            <a:extLst xmlns:a="http://schemas.openxmlformats.org/drawingml/2006/main">
              <a:ext uri="{FF2B5EF4-FFF2-40B4-BE49-F238E27FC236}">
                <a16:creationId xmlns:a16="http://schemas.microsoft.com/office/drawing/2014/main" id="{616203C9-C388-4A2C-BBF6-7A4C3244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response object before selecting its text.</a:t>
            </a:r>
          </a:p>
        </p:txBody>
      </p:sp>
      <p:sp>
        <p:nvSpPr>
          <p:cNvPr id="4" name="c3-text-47">
            <a:extLst xmlns:a="http://schemas.openxmlformats.org/drawingml/2006/main">
              <a:ext uri="{FF2B5EF4-FFF2-40B4-BE49-F238E27FC236}">
                <a16:creationId xmlns:a16="http://schemas.microsoft.com/office/drawing/2014/main" id="{44BC15CD-3639-4F27-B2D6-BD3A29F5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48">
            <a:extLst xmlns:a="http://schemas.openxmlformats.org/drawingml/2006/main">
              <a:ext uri="{FF2B5EF4-FFF2-40B4-BE49-F238E27FC236}">
                <a16:creationId xmlns:a16="http://schemas.microsoft.com/office/drawing/2014/main" id="{E3E41B50-5D13-4309-9868-477BEA65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792480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49">
            <a:extLst xmlns:a="http://schemas.openxmlformats.org/drawingml/2006/main">
              <a:ext uri="{FF2B5EF4-FFF2-40B4-BE49-F238E27FC236}">
                <a16:creationId xmlns:a16="http://schemas.microsoft.com/office/drawing/2014/main" id="{135EC14C-E3AB-436A-B6A5-68856C85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75819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reply = llm.invoke(request)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reply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reply.content</a:t>
            </a:r>
          </a:p>
        </p:txBody>
      </p:sp>
      <p:sp>
        <p:nvSpPr>
          <p:cNvPr id="7" name="c3-shape-50">
            <a:extLst xmlns:a="http://schemas.openxmlformats.org/drawingml/2006/main">
              <a:ext uri="{FF2B5EF4-FFF2-40B4-BE49-F238E27FC236}">
                <a16:creationId xmlns:a16="http://schemas.microsoft.com/office/drawing/2014/main" id="{15EB5BC1-5A9A-40ED-8FDF-DA31FF5F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51">
            <a:extLst xmlns:a="http://schemas.openxmlformats.org/drawingml/2006/main">
              <a:ext uri="{FF2B5EF4-FFF2-40B4-BE49-F238E27FC236}">
                <a16:creationId xmlns:a16="http://schemas.microsoft.com/office/drawing/2014/main" id="{93A9D788-198C-4070-AA95-3D6D8846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Request</a:t>
            </a:r>
          </a:p>
        </p:txBody>
      </p:sp>
      <p:sp>
        <p:nvSpPr>
          <p:cNvPr id="9" name="c3-shape-52">
            <a:extLst xmlns:a="http://schemas.openxmlformats.org/drawingml/2006/main">
              <a:ext uri="{FF2B5EF4-FFF2-40B4-BE49-F238E27FC236}">
                <a16:creationId xmlns:a16="http://schemas.microsoft.com/office/drawing/2014/main" id="{6103F0D7-044A-4265-8973-757D5C19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5762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53">
            <a:extLst xmlns:a="http://schemas.openxmlformats.org/drawingml/2006/main">
              <a:ext uri="{FF2B5EF4-FFF2-40B4-BE49-F238E27FC236}">
                <a16:creationId xmlns:a16="http://schemas.microsoft.com/office/drawing/2014/main" id="{E413192D-944A-4798-A713-42644CF9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54">
            <a:extLst xmlns:a="http://schemas.openxmlformats.org/drawingml/2006/main">
              <a:ext uri="{FF2B5EF4-FFF2-40B4-BE49-F238E27FC236}">
                <a16:creationId xmlns:a16="http://schemas.microsoft.com/office/drawing/2014/main" id="{5AA0D9AF-420C-42B9-9DEF-A9EBF4BA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ChatOllama</a:t>
            </a:r>
          </a:p>
        </p:txBody>
      </p:sp>
      <p:sp>
        <p:nvSpPr>
          <p:cNvPr id="12" name="c3-shape-55">
            <a:extLst xmlns:a="http://schemas.openxmlformats.org/drawingml/2006/main">
              <a:ext uri="{FF2B5EF4-FFF2-40B4-BE49-F238E27FC236}">
                <a16:creationId xmlns:a16="http://schemas.microsoft.com/office/drawing/2014/main" id="{E5B56EDA-23E5-4EA6-BD33-AA43BBAD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5762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56">
            <a:extLst xmlns:a="http://schemas.openxmlformats.org/drawingml/2006/main">
              <a:ext uri="{FF2B5EF4-FFF2-40B4-BE49-F238E27FC236}">
                <a16:creationId xmlns:a16="http://schemas.microsoft.com/office/drawing/2014/main" id="{A8C95A83-97EA-4BFD-AF02-3F15AC94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05225"/>
            <a:ext cx="21336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57">
            <a:extLst xmlns:a="http://schemas.openxmlformats.org/drawingml/2006/main">
              <a:ext uri="{FF2B5EF4-FFF2-40B4-BE49-F238E27FC236}">
                <a16:creationId xmlns:a16="http://schemas.microsoft.com/office/drawing/2014/main" id="{063ABD24-CD0C-489E-8F94-BE72506E9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81425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AIMessage</a:t>
            </a:r>
          </a:p>
        </p:txBody>
      </p:sp>
      <p:sp>
        <p:nvSpPr>
          <p:cNvPr id="15" name="c3-text-58">
            <a:hlinkClick xmlns:r="http://schemas.openxmlformats.org/officeDocument/2006/relationships" xmlns:a="http://schemas.openxmlformats.org/drawingml/2006/main" r:id="R02bacae270a3470b"/>
            <a:extLst xmlns:a="http://schemas.openxmlformats.org/drawingml/2006/main">
              <a:ext uri="{FF2B5EF4-FFF2-40B4-BE49-F238E27FC236}">
                <a16:creationId xmlns:a16="http://schemas.microsoft.com/office/drawing/2014/main" id="{5AA72A38-3E74-41F6-8FE6-0979DBAE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1. First call</a:t>
            </a:r>
          </a:p>
        </p:txBody>
      </p:sp>
      <p:sp>
        <p:nvSpPr>
          <p:cNvPr id="16" name="c3-text-303">
            <a:extLst xmlns:a="http://schemas.openxmlformats.org/drawingml/2006/main">
              <a:ext uri="{FF2B5EF4-FFF2-40B4-BE49-F238E27FC236}">
                <a16:creationId xmlns:a16="http://schemas.microsoft.com/office/drawing/2014/main" id="{1348A56D-079F-4AFD-93BA-71CBC73D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219248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59">
            <a:extLst xmlns:a="http://schemas.openxmlformats.org/drawingml/2006/main">
              <a:ext uri="{FF2B5EF4-FFF2-40B4-BE49-F238E27FC236}">
                <a16:creationId xmlns:a16="http://schemas.microsoft.com/office/drawing/2014/main" id="{88F9AF02-5DF5-47FA-96FE-03FA07E0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60">
            <a:extLst xmlns:a="http://schemas.openxmlformats.org/drawingml/2006/main">
              <a:ext uri="{FF2B5EF4-FFF2-40B4-BE49-F238E27FC236}">
                <a16:creationId xmlns:a16="http://schemas.microsoft.com/office/drawing/2014/main" id="{F764257C-AD94-47E6-9C97-6D9CF92A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First Chain [3]</a:t>
            </a:r>
          </a:p>
        </p:txBody>
      </p:sp>
      <p:sp>
        <p:nvSpPr>
          <p:cNvPr id="3" name="c3-text-61">
            <a:extLst xmlns:a="http://schemas.openxmlformats.org/drawingml/2006/main">
              <a:ext uri="{FF2B5EF4-FFF2-40B4-BE49-F238E27FC236}">
                <a16:creationId xmlns:a16="http://schemas.microsoft.com/office/drawing/2014/main" id="{B6FC0AA1-6234-4B3F-B302-2B952C5E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pipe passes one output to the next component.</a:t>
            </a:r>
          </a:p>
        </p:txBody>
      </p:sp>
      <p:sp>
        <p:nvSpPr>
          <p:cNvPr id="4" name="c3-text-62">
            <a:extLst xmlns:a="http://schemas.openxmlformats.org/drawingml/2006/main">
              <a:ext uri="{FF2B5EF4-FFF2-40B4-BE49-F238E27FC236}">
                <a16:creationId xmlns:a16="http://schemas.microsoft.com/office/drawing/2014/main" id="{E2CABEB0-00EE-446C-8863-D32DB3E3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63">
            <a:extLst xmlns:a="http://schemas.openxmlformats.org/drawingml/2006/main">
              <a:ext uri="{FF2B5EF4-FFF2-40B4-BE49-F238E27FC236}">
                <a16:creationId xmlns:a16="http://schemas.microsoft.com/office/drawing/2014/main" id="{9D913BBA-6831-4272-9FC4-284A70B7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9248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64">
            <a:extLst xmlns:a="http://schemas.openxmlformats.org/drawingml/2006/main">
              <a:ext uri="{FF2B5EF4-FFF2-40B4-BE49-F238E27FC236}">
                <a16:creationId xmlns:a16="http://schemas.microsoft.com/office/drawing/2014/main" id="{ACB23982-B7EB-4CB1-AD8D-2716982B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75819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text_chain = llm | StrOutputParser()</a:t>
            </a:r>
          </a:p>
        </p:txBody>
      </p:sp>
      <p:sp>
        <p:nvSpPr>
          <p:cNvPr id="7" name="c3-shape-65">
            <a:extLst xmlns:a="http://schemas.openxmlformats.org/drawingml/2006/main">
              <a:ext uri="{FF2B5EF4-FFF2-40B4-BE49-F238E27FC236}">
                <a16:creationId xmlns:a16="http://schemas.microsoft.com/office/drawing/2014/main" id="{582F4335-F85F-4E65-8666-00E6EE76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8" name="c3-text-66">
            <a:extLst xmlns:a="http://schemas.openxmlformats.org/drawingml/2006/main">
              <a:ext uri="{FF2B5EF4-FFF2-40B4-BE49-F238E27FC236}">
                <a16:creationId xmlns:a16="http://schemas.microsoft.com/office/drawing/2014/main" id="{AB6EE820-5C84-47C2-AF0D-EAE90DB9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9" name="c3-shape-67">
            <a:extLst xmlns:a="http://schemas.openxmlformats.org/drawingml/2006/main">
              <a:ext uri="{FF2B5EF4-FFF2-40B4-BE49-F238E27FC236}">
                <a16:creationId xmlns:a16="http://schemas.microsoft.com/office/drawing/2014/main" id="{35469960-E27C-4930-B512-50AF5CBC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9570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68">
            <a:extLst xmlns:a="http://schemas.openxmlformats.org/drawingml/2006/main">
              <a:ext uri="{FF2B5EF4-FFF2-40B4-BE49-F238E27FC236}">
                <a16:creationId xmlns:a16="http://schemas.microsoft.com/office/drawing/2014/main" id="{CDC611E6-FB68-4E04-A3E4-01819741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69">
            <a:extLst xmlns:a="http://schemas.openxmlformats.org/drawingml/2006/main">
              <a:ext uri="{FF2B5EF4-FFF2-40B4-BE49-F238E27FC236}">
                <a16:creationId xmlns:a16="http://schemas.microsoft.com/office/drawing/2014/main" id="{755D398D-6C47-4CE1-B51D-DFE54DC52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LLM message</a:t>
            </a:r>
          </a:p>
        </p:txBody>
      </p:sp>
      <p:sp>
        <p:nvSpPr>
          <p:cNvPr id="12" name="c3-shape-70">
            <a:extLst xmlns:a="http://schemas.openxmlformats.org/drawingml/2006/main">
              <a:ext uri="{FF2B5EF4-FFF2-40B4-BE49-F238E27FC236}">
                <a16:creationId xmlns:a16="http://schemas.microsoft.com/office/drawing/2014/main" id="{4D67C329-886B-4428-BF86-BA489213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695700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3" name="c3-shape-71">
            <a:extLst xmlns:a="http://schemas.openxmlformats.org/drawingml/2006/main">
              <a:ext uri="{FF2B5EF4-FFF2-40B4-BE49-F238E27FC236}">
                <a16:creationId xmlns:a16="http://schemas.microsoft.com/office/drawing/2014/main" id="{C05137FE-F40D-4AB6-B874-C4B46CDF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48050"/>
            <a:ext cx="21336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72">
            <a:extLst xmlns:a="http://schemas.openxmlformats.org/drawingml/2006/main">
              <a:ext uri="{FF2B5EF4-FFF2-40B4-BE49-F238E27FC236}">
                <a16:creationId xmlns:a16="http://schemas.microsoft.com/office/drawing/2014/main" id="{F66CCB41-46DF-42CB-82B4-D54F8611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242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Text</a:t>
            </a:r>
          </a:p>
        </p:txBody>
      </p:sp>
      <p:sp>
        <p:nvSpPr>
          <p:cNvPr id="15" name="c3-text-73">
            <a:extLst xmlns:a="http://schemas.openxmlformats.org/drawingml/2006/main">
              <a:ext uri="{FF2B5EF4-FFF2-40B4-BE49-F238E27FC236}">
                <a16:creationId xmlns:a16="http://schemas.microsoft.com/office/drawing/2014/main" id="{36C3C050-C9C5-4883-8C91-262E330B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StrOutputParser extracts the message text.</a:t>
            </a:r>
          </a:p>
        </p:txBody>
      </p:sp>
      <p:sp>
        <p:nvSpPr>
          <p:cNvPr id="16" name="c3-text-304">
            <a:extLst xmlns:a="http://schemas.openxmlformats.org/drawingml/2006/main">
              <a:ext uri="{FF2B5EF4-FFF2-40B4-BE49-F238E27FC236}">
                <a16:creationId xmlns:a16="http://schemas.microsoft.com/office/drawing/2014/main" id="{517EB3EE-FBCA-4591-BA06-3158EE1A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683495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74">
            <a:extLst xmlns:a="http://schemas.openxmlformats.org/drawingml/2006/main">
              <a:ext uri="{FF2B5EF4-FFF2-40B4-BE49-F238E27FC236}">
                <a16:creationId xmlns:a16="http://schemas.microsoft.com/office/drawing/2014/main" id="{AD024FBD-7D25-4E01-AAC7-02092595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75">
            <a:extLst xmlns:a="http://schemas.openxmlformats.org/drawingml/2006/main">
              <a:ext uri="{FF2B5EF4-FFF2-40B4-BE49-F238E27FC236}">
                <a16:creationId xmlns:a16="http://schemas.microsoft.com/office/drawing/2014/main" id="{AC9C611C-A670-49F9-8A6D-69A235B8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Generate an Answer, Then Check It</a:t>
            </a:r>
          </a:p>
        </p:txBody>
      </p:sp>
      <p:sp>
        <p:nvSpPr>
          <p:cNvPr id="3" name="c3-text-76">
            <a:extLst xmlns:a="http://schemas.openxmlformats.org/drawingml/2006/main">
              <a:ext uri="{FF2B5EF4-FFF2-40B4-BE49-F238E27FC236}">
                <a16:creationId xmlns:a16="http://schemas.microsoft.com/office/drawing/2014/main" id="{85AB723C-C86B-4777-8FE4-5584B27E9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77">
            <a:extLst xmlns:a="http://schemas.openxmlformats.org/drawingml/2006/main">
              <a:ext uri="{FF2B5EF4-FFF2-40B4-BE49-F238E27FC236}">
                <a16:creationId xmlns:a16="http://schemas.microsoft.com/office/drawing/2014/main" id="{2172417C-2A2D-4F76-A4D4-2AA62D51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5" name="c3-text-78">
            <a:extLst xmlns:a="http://schemas.openxmlformats.org/drawingml/2006/main">
              <a:ext uri="{FF2B5EF4-FFF2-40B4-BE49-F238E27FC236}">
                <a16:creationId xmlns:a16="http://schemas.microsoft.com/office/drawing/2014/main" id="{6AA0187B-461A-4453-9CBF-38F4C317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Answering LLM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1</a:t>
            </a:r>
          </a:p>
        </p:txBody>
      </p:sp>
      <p:sp>
        <p:nvSpPr>
          <p:cNvPr id="6" name="c3-shape-79">
            <a:extLst xmlns:a="http://schemas.openxmlformats.org/drawingml/2006/main">
              <a:ext uri="{FF2B5EF4-FFF2-40B4-BE49-F238E27FC236}">
                <a16:creationId xmlns:a16="http://schemas.microsoft.com/office/drawing/2014/main" id="{9532DE98-FAD8-4CF0-976F-24269F7EA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77177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7" name="c3-shape-80">
            <a:extLst xmlns:a="http://schemas.openxmlformats.org/drawingml/2006/main">
              <a:ext uri="{FF2B5EF4-FFF2-40B4-BE49-F238E27FC236}">
                <a16:creationId xmlns:a16="http://schemas.microsoft.com/office/drawing/2014/main" id="{727B830B-C1BC-4CDB-A639-858C63B0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8" name="c3-text-81">
            <a:extLst xmlns:a="http://schemas.openxmlformats.org/drawingml/2006/main">
              <a:ext uri="{FF2B5EF4-FFF2-40B4-BE49-F238E27FC236}">
                <a16:creationId xmlns:a16="http://schemas.microsoft.com/office/drawing/2014/main" id="{F4FF8D63-8AEE-47C7-8938-C90F4BFE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Generated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9" name="c3-shape-82">
            <a:extLst xmlns:a="http://schemas.openxmlformats.org/drawingml/2006/main">
              <a:ext uri="{FF2B5EF4-FFF2-40B4-BE49-F238E27FC236}">
                <a16:creationId xmlns:a16="http://schemas.microsoft.com/office/drawing/2014/main" id="{C9730A06-B52B-4638-8BC8-C2FC5BB0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2771775"/>
            <a:ext cx="3048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shape-83">
            <a:extLst xmlns:a="http://schemas.openxmlformats.org/drawingml/2006/main">
              <a:ext uri="{FF2B5EF4-FFF2-40B4-BE49-F238E27FC236}">
                <a16:creationId xmlns:a16="http://schemas.microsoft.com/office/drawing/2014/main" id="{85054453-B6C5-4E7E-A4AA-A9D4B08D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81250"/>
            <a:ext cx="21336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1" name="c3-text-84">
            <a:extLst xmlns:a="http://schemas.openxmlformats.org/drawingml/2006/main">
              <a:ext uri="{FF2B5EF4-FFF2-40B4-BE49-F238E27FC236}">
                <a16:creationId xmlns:a16="http://schemas.microsoft.com/office/drawing/2014/main" id="{096B5881-DBEA-49DF-9CC2-BF9F90CF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190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Reviewing LLM</a:t>
            </a:r>
          </a:p>
          <a:p xmlns:a="http://schemas.openxmlformats.org/drawingml/2006/main">
            <a:pPr algn="ctr"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Call 2</a:t>
            </a:r>
          </a:p>
        </p:txBody>
      </p:sp>
      <p:sp>
        <p:nvSpPr>
          <p:cNvPr id="12" name="c3-shape-85">
            <a:extLst xmlns:a="http://schemas.openxmlformats.org/drawingml/2006/main">
              <a:ext uri="{FF2B5EF4-FFF2-40B4-BE49-F238E27FC236}">
                <a16:creationId xmlns:a16="http://schemas.microsoft.com/office/drawing/2014/main" id="{D25DABBB-A34D-4E7F-A37B-EA3D3392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86">
            <a:extLst xmlns:a="http://schemas.openxmlformats.org/drawingml/2006/main">
              <a:ext uri="{FF2B5EF4-FFF2-40B4-BE49-F238E27FC236}">
                <a16:creationId xmlns:a16="http://schemas.microsoft.com/office/drawing/2014/main" id="{F0299806-3FE3-4025-8E45-47159578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second call decides which text the user receives.</a:t>
            </a:r>
          </a:p>
        </p:txBody>
      </p:sp>
      <p:sp>
        <p:nvSpPr>
          <p:cNvPr id="14" name="c3-text-305">
            <a:extLst xmlns:a="http://schemas.openxmlformats.org/drawingml/2006/main">
              <a:ext uri="{FF2B5EF4-FFF2-40B4-BE49-F238E27FC236}">
                <a16:creationId xmlns:a16="http://schemas.microsoft.com/office/drawing/2014/main" id="{6B542CA9-9E26-4A2C-A480-DA265A2A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5995072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87">
            <a:extLst xmlns:a="http://schemas.openxmlformats.org/drawingml/2006/main">
              <a:ext uri="{FF2B5EF4-FFF2-40B4-BE49-F238E27FC236}">
                <a16:creationId xmlns:a16="http://schemas.microsoft.com/office/drawing/2014/main" id="{112CC6CB-A6EE-429F-9D09-FABCD90D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88">
            <a:extLst xmlns:a="http://schemas.openxmlformats.org/drawingml/2006/main">
              <a:ext uri="{FF2B5EF4-FFF2-40B4-BE49-F238E27FC236}">
                <a16:creationId xmlns:a16="http://schemas.microsoft.com/office/drawing/2014/main" id="{A5D91B77-F050-44A5-97DF-39393C20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 Explicit Checking Rule</a:t>
            </a:r>
          </a:p>
        </p:txBody>
      </p:sp>
      <p:sp>
        <p:nvSpPr>
          <p:cNvPr id="3" name="c3-text-89">
            <a:extLst xmlns:a="http://schemas.openxmlformats.org/drawingml/2006/main">
              <a:ext uri="{FF2B5EF4-FFF2-40B4-BE49-F238E27FC236}">
                <a16:creationId xmlns:a16="http://schemas.microsoft.com/office/drawing/2014/main" id="{B249279E-A3AB-4417-AA8A-C07E5842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90">
            <a:extLst xmlns:a="http://schemas.openxmlformats.org/drawingml/2006/main">
              <a:ext uri="{FF2B5EF4-FFF2-40B4-BE49-F238E27FC236}">
                <a16:creationId xmlns:a16="http://schemas.microsoft.com/office/drawing/2014/main" id="{2BBB108F-9A9B-40EA-85AA-C859DC07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92480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91">
            <a:extLst xmlns:a="http://schemas.openxmlformats.org/drawingml/2006/main">
              <a:ext uri="{FF2B5EF4-FFF2-40B4-BE49-F238E27FC236}">
                <a16:creationId xmlns:a16="http://schemas.microsoft.com/office/drawing/2014/main" id="{9C770A3F-2B1B-4480-B6F2-736FD8251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75819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If the text discusses football, replace it with: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"I am not authorised to discuss football."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Otherwise, return it unchanged.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review_input = guardrail_rules + "\nText:\n" + draft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checked_answer = text_chain.invoke(review_input)</a:t>
            </a:r>
          </a:p>
        </p:txBody>
      </p:sp>
      <p:sp>
        <p:nvSpPr>
          <p:cNvPr id="6" name="c3-shape-92">
            <a:extLst xmlns:a="http://schemas.openxmlformats.org/drawingml/2006/main">
              <a:ext uri="{FF2B5EF4-FFF2-40B4-BE49-F238E27FC236}">
                <a16:creationId xmlns:a16="http://schemas.microsoft.com/office/drawing/2014/main" id="{0755FA58-66B2-4100-BFAE-EBC1E78E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93">
            <a:extLst xmlns:a="http://schemas.openxmlformats.org/drawingml/2006/main">
              <a:ext uri="{FF2B5EF4-FFF2-40B4-BE49-F238E27FC236}">
                <a16:creationId xmlns:a16="http://schemas.microsoft.com/office/drawing/2014/main" id="{F8E439A9-7379-4D13-983F-25ED0C09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Check the generated answer before showing it to the user.</a:t>
            </a:r>
          </a:p>
        </p:txBody>
      </p:sp>
      <p:sp>
        <p:nvSpPr>
          <p:cNvPr id="8" name="c3-text-306">
            <a:extLst xmlns:a="http://schemas.openxmlformats.org/drawingml/2006/main">
              <a:ext uri="{FF2B5EF4-FFF2-40B4-BE49-F238E27FC236}">
                <a16:creationId xmlns:a16="http://schemas.microsoft.com/office/drawing/2014/main" id="{B4E74AC6-BC32-4C1D-8E9A-B58708F7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002585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94">
            <a:extLst xmlns:a="http://schemas.openxmlformats.org/drawingml/2006/main">
              <a:ext uri="{FF2B5EF4-FFF2-40B4-BE49-F238E27FC236}">
                <a16:creationId xmlns:a16="http://schemas.microsoft.com/office/drawing/2014/main" id="{00C6BA4A-48FD-4885-8270-874E9F4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95">
            <a:extLst xmlns:a="http://schemas.openxmlformats.org/drawingml/2006/main">
              <a:ext uri="{FF2B5EF4-FFF2-40B4-BE49-F238E27FC236}">
                <a16:creationId xmlns:a16="http://schemas.microsoft.com/office/drawing/2014/main" id="{478CB2CA-55AC-44E1-BEC8-7C4295DD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the Review Rule</a:t>
            </a:r>
          </a:p>
        </p:txBody>
      </p:sp>
      <p:sp>
        <p:nvSpPr>
          <p:cNvPr id="3" name="c3-text-96">
            <a:extLst xmlns:a="http://schemas.openxmlformats.org/drawingml/2006/main">
              <a:ext uri="{FF2B5EF4-FFF2-40B4-BE49-F238E27FC236}">
                <a16:creationId xmlns:a16="http://schemas.microsoft.com/office/drawing/2014/main" id="{050B19CD-1D55-49AD-A654-5CD1A457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97">
            <a:extLst xmlns:a="http://schemas.openxmlformats.org/drawingml/2006/main">
              <a:ext uri="{FF2B5EF4-FFF2-40B4-BE49-F238E27FC236}">
                <a16:creationId xmlns:a16="http://schemas.microsoft.com/office/drawing/2014/main" id="{D874B2ED-750B-4F20-8C4A-7DC3414D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98">
            <a:extLst xmlns:a="http://schemas.openxmlformats.org/drawingml/2006/main">
              <a:ext uri="{FF2B5EF4-FFF2-40B4-BE49-F238E27FC236}">
                <a16:creationId xmlns:a16="http://schemas.microsoft.com/office/drawing/2014/main" id="{27F06818-9535-4927-8225-6A27D72D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99">
            <a:extLst xmlns:a="http://schemas.openxmlformats.org/drawingml/2006/main">
              <a:ext uri="{FF2B5EF4-FFF2-40B4-BE49-F238E27FC236}">
                <a16:creationId xmlns:a16="http://schemas.microsoft.com/office/drawing/2014/main" id="{514499AE-6856-46C9-BC03-2A17DE5C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Text about football</a:t>
            </a:r>
          </a:p>
        </p:txBody>
      </p:sp>
      <p:sp>
        <p:nvSpPr>
          <p:cNvPr id="7" name="c3-text-100">
            <a:extLst xmlns:a="http://schemas.openxmlformats.org/drawingml/2006/main">
              <a:ext uri="{FF2B5EF4-FFF2-40B4-BE49-F238E27FC236}">
                <a16:creationId xmlns:a16="http://schemas.microsoft.com/office/drawing/2014/main" id="{001039C0-9CCA-4882-B2D4-4293A30F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match ended 2-0.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second model replaces it.</a:t>
            </a:r>
          </a:p>
        </p:txBody>
      </p:sp>
      <p:sp>
        <p:nvSpPr>
          <p:cNvPr id="8" name="c3-shape-101">
            <a:extLst xmlns:a="http://schemas.openxmlformats.org/drawingml/2006/main">
              <a:ext uri="{FF2B5EF4-FFF2-40B4-BE49-F238E27FC236}">
                <a16:creationId xmlns:a16="http://schemas.microsoft.com/office/drawing/2014/main" id="{677325FB-41DF-48A5-AE5C-6D98858A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771900" cy="1971675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02">
            <a:extLst xmlns:a="http://schemas.openxmlformats.org/drawingml/2006/main">
              <a:ext uri="{FF2B5EF4-FFF2-40B4-BE49-F238E27FC236}">
                <a16:creationId xmlns:a16="http://schemas.microsoft.com/office/drawing/2014/main" id="{5CB23292-AD2E-4297-8F85-42229F9A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03">
            <a:extLst xmlns:a="http://schemas.openxmlformats.org/drawingml/2006/main">
              <a:ext uri="{FF2B5EF4-FFF2-40B4-BE49-F238E27FC236}">
                <a16:creationId xmlns:a16="http://schemas.microsoft.com/office/drawing/2014/main" id="{BD2AFAB1-EA05-4D44-B01D-CEBD9038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Final text</a:t>
            </a:r>
          </a:p>
        </p:txBody>
      </p:sp>
      <p:sp>
        <p:nvSpPr>
          <p:cNvPr id="11" name="c3-text-104">
            <a:extLst xmlns:a="http://schemas.openxmlformats.org/drawingml/2006/main">
              <a:ext uri="{FF2B5EF4-FFF2-40B4-BE49-F238E27FC236}">
                <a16:creationId xmlns:a16="http://schemas.microsoft.com/office/drawing/2014/main" id="{E957B83B-DD31-450C-93F1-77A95973B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43175"/>
            <a:ext cx="339090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am not authorised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to discuss football.</a:t>
            </a:r>
          </a:p>
        </p:txBody>
      </p:sp>
      <p:sp>
        <p:nvSpPr>
          <p:cNvPr id="12" name="c3-text-105">
            <a:extLst xmlns:a="http://schemas.openxmlformats.org/drawingml/2006/main">
              <a:ext uri="{FF2B5EF4-FFF2-40B4-BE49-F238E27FC236}">
                <a16:creationId xmlns:a16="http://schemas.microsoft.com/office/drawing/2014/main" id="{63709FE0-67EA-4B4C-817F-520524B3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792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For another topic, the second model keeps the original answer.</a:t>
            </a:r>
          </a:p>
        </p:txBody>
      </p:sp>
      <p:sp>
        <p:nvSpPr>
          <p:cNvPr id="13" name="c3-text-106">
            <a:hlinkClick xmlns:r="http://schemas.openxmlformats.org/officeDocument/2006/relationships" xmlns:a="http://schemas.openxmlformats.org/drawingml/2006/main" r:id="R545f432ff93b47a5"/>
            <a:extLst xmlns:a="http://schemas.openxmlformats.org/drawingml/2006/main">
              <a:ext uri="{FF2B5EF4-FFF2-40B4-BE49-F238E27FC236}">
                <a16:creationId xmlns:a16="http://schemas.microsoft.com/office/drawing/2014/main" id="{35FFE8BD-8B25-4911-A473-04E89621C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2. Chains</a:t>
            </a:r>
          </a:p>
        </p:txBody>
      </p:sp>
      <p:sp>
        <p:nvSpPr>
          <p:cNvPr id="14" name="c3-text-307">
            <a:extLst xmlns:a="http://schemas.openxmlformats.org/drawingml/2006/main">
              <a:ext uri="{FF2B5EF4-FFF2-40B4-BE49-F238E27FC236}">
                <a16:creationId xmlns:a16="http://schemas.microsoft.com/office/drawing/2014/main" id="{06D65465-E55C-4AC2-9CFF-83D30490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771424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3-text-107">
            <a:extLst xmlns:a="http://schemas.openxmlformats.org/drawingml/2006/main">
              <a:ext uri="{FF2B5EF4-FFF2-40B4-BE49-F238E27FC236}">
                <a16:creationId xmlns:a16="http://schemas.microsoft.com/office/drawing/2014/main" id="{AC047C6C-E43F-4F68-8289-FA019267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08">
            <a:extLst xmlns:a="http://schemas.openxmlformats.org/drawingml/2006/main">
              <a:ext uri="{FF2B5EF4-FFF2-40B4-BE49-F238E27FC236}">
                <a16:creationId xmlns:a16="http://schemas.microsoft.com/office/drawing/2014/main" id="{53F40F19-8267-4B13-B2A7-218D01A5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Conversation Can Be a Prompt</a:t>
            </a:r>
          </a:p>
        </p:txBody>
      </p:sp>
      <p:sp>
        <p:nvSpPr>
          <p:cNvPr id="3" name="c3-text-109">
            <a:extLst xmlns:a="http://schemas.openxmlformats.org/drawingml/2006/main">
              <a:ext uri="{FF2B5EF4-FFF2-40B4-BE49-F238E27FC236}">
                <a16:creationId xmlns:a16="http://schemas.microsoft.com/office/drawing/2014/main" id="{370C313E-6C9D-4A3D-BA9A-CBE722F4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can continue an unfinished exchange.</a:t>
            </a:r>
          </a:p>
        </p:txBody>
      </p:sp>
      <p:sp>
        <p:nvSpPr>
          <p:cNvPr id="4" name="c3-text-110">
            <a:extLst xmlns:a="http://schemas.openxmlformats.org/drawingml/2006/main">
              <a:ext uri="{FF2B5EF4-FFF2-40B4-BE49-F238E27FC236}">
                <a16:creationId xmlns:a16="http://schemas.microsoft.com/office/drawing/2014/main" id="{47D56319-8254-4210-8C62-0E6DC5A4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111">
            <a:extLst xmlns:a="http://schemas.openxmlformats.org/drawingml/2006/main">
              <a:ext uri="{FF2B5EF4-FFF2-40B4-BE49-F238E27FC236}">
                <a16:creationId xmlns:a16="http://schemas.microsoft.com/office/drawing/2014/main" id="{F7D0862F-8163-45D7-81FB-8DF0CFBF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792480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112">
            <a:extLst xmlns:a="http://schemas.openxmlformats.org/drawingml/2006/main">
              <a:ext uri="{FF2B5EF4-FFF2-40B4-BE49-F238E27FC236}">
                <a16:creationId xmlns:a16="http://schemas.microsoft.com/office/drawing/2014/main" id="{8BF54C87-4ED5-4DB3-85AA-BF66CB9D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76475"/>
            <a:ext cx="75819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Visitor: Hello!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Guide: Welcome to the museum.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Visitor: Can you help me explore?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Guide:</a:t>
            </a:r>
          </a:p>
        </p:txBody>
      </p:sp>
      <p:sp>
        <p:nvSpPr>
          <p:cNvPr id="7" name="c3-text-308">
            <a:extLst xmlns:a="http://schemas.openxmlformats.org/drawingml/2006/main">
              <a:ext uri="{FF2B5EF4-FFF2-40B4-BE49-F238E27FC236}">
                <a16:creationId xmlns:a16="http://schemas.microsoft.com/office/drawing/2014/main" id="{E4F4D3E2-4183-4DDC-88E1-7A88E1F9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446716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13">
            <a:extLst xmlns:a="http://schemas.openxmlformats.org/drawingml/2006/main">
              <a:ext uri="{FF2B5EF4-FFF2-40B4-BE49-F238E27FC236}">
                <a16:creationId xmlns:a16="http://schemas.microsoft.com/office/drawing/2014/main" id="{1B0596E0-207F-453A-A89C-1D4E4899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4">
            <a:extLst xmlns:a="http://schemas.openxmlformats.org/drawingml/2006/main">
              <a:ext uri="{FF2B5EF4-FFF2-40B4-BE49-F238E27FC236}">
                <a16:creationId xmlns:a16="http://schemas.microsoft.com/office/drawing/2014/main" id="{234957A6-9E95-4A2E-A001-B3FA4CD84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Examples Show a Character's Style</a:t>
            </a:r>
          </a:p>
        </p:txBody>
      </p:sp>
      <p:sp>
        <p:nvSpPr>
          <p:cNvPr id="3" name="c3-text-115">
            <a:extLst xmlns:a="http://schemas.openxmlformats.org/drawingml/2006/main">
              <a:ext uri="{FF2B5EF4-FFF2-40B4-BE49-F238E27FC236}">
                <a16:creationId xmlns:a16="http://schemas.microsoft.com/office/drawing/2014/main" id="{F816CAB9-E784-4862-8FF3-5E0F4681E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16">
            <a:extLst xmlns:a="http://schemas.openxmlformats.org/drawingml/2006/main">
              <a:ext uri="{FF2B5EF4-FFF2-40B4-BE49-F238E27FC236}">
                <a16:creationId xmlns:a16="http://schemas.microsoft.com/office/drawing/2014/main" id="{32CEFAD7-632E-41BB-9143-2B89283B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17">
            <a:extLst xmlns:a="http://schemas.openxmlformats.org/drawingml/2006/main">
              <a:ext uri="{FF2B5EF4-FFF2-40B4-BE49-F238E27FC236}">
                <a16:creationId xmlns:a16="http://schemas.microsoft.com/office/drawing/2014/main" id="{78439882-2A5B-42C1-AEF9-9286109DA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Visitor: Hello!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PippoBot: Ahoy, visitor! Welcome aboard our museum.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Visitor: Can you explain an exhibit?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PippoBot: Arrr, matey! Let us uncover its story together.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Visitor: Can you help me explore?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PippoBot:</a:t>
            </a:r>
          </a:p>
        </p:txBody>
      </p:sp>
      <p:sp>
        <p:nvSpPr>
          <p:cNvPr id="6" name="c3-text-309">
            <a:extLst xmlns:a="http://schemas.openxmlformats.org/drawingml/2006/main">
              <a:ext uri="{FF2B5EF4-FFF2-40B4-BE49-F238E27FC236}">
                <a16:creationId xmlns:a16="http://schemas.microsoft.com/office/drawing/2014/main" id="{26FB1DFE-5C5B-4A8C-BCB3-49EAE2F7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839002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18">
            <a:extLst xmlns:a="http://schemas.openxmlformats.org/drawingml/2006/main">
              <a:ext uri="{FF2B5EF4-FFF2-40B4-BE49-F238E27FC236}">
                <a16:creationId xmlns:a16="http://schemas.microsoft.com/office/drawing/2014/main" id="{A79CA801-E5BC-4897-A741-20C87B81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19">
            <a:extLst xmlns:a="http://schemas.openxmlformats.org/drawingml/2006/main">
              <a:ext uri="{FF2B5EF4-FFF2-40B4-BE49-F238E27FC236}">
                <a16:creationId xmlns:a16="http://schemas.microsoft.com/office/drawing/2014/main" id="{2265583A-FBCE-45FA-8302-94F52F42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Chat Models Use Formatted Messages [4]</a:t>
            </a:r>
          </a:p>
        </p:txBody>
      </p:sp>
      <p:sp>
        <p:nvSpPr>
          <p:cNvPr id="3" name="c3-text-120">
            <a:extLst xmlns:a="http://schemas.openxmlformats.org/drawingml/2006/main">
              <a:ext uri="{FF2B5EF4-FFF2-40B4-BE49-F238E27FC236}">
                <a16:creationId xmlns:a16="http://schemas.microsoft.com/office/drawing/2014/main" id="{D3FD16F0-31E6-45B2-A106-002E346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21">
            <a:extLst xmlns:a="http://schemas.openxmlformats.org/drawingml/2006/main">
              <a:ext uri="{FF2B5EF4-FFF2-40B4-BE49-F238E27FC236}">
                <a16:creationId xmlns:a16="http://schemas.microsoft.com/office/drawing/2014/main" id="{12867590-9057-4125-9D87-B39745F4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3771900" cy="2047875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22">
            <a:extLst xmlns:a="http://schemas.openxmlformats.org/drawingml/2006/main">
              <a:ext uri="{FF2B5EF4-FFF2-40B4-BE49-F238E27FC236}">
                <a16:creationId xmlns:a16="http://schemas.microsoft.com/office/drawing/2014/main" id="{20531E87-646A-4318-801F-4B43A6FB1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23">
            <a:extLst xmlns:a="http://schemas.openxmlformats.org/drawingml/2006/main">
              <a:ext uri="{FF2B5EF4-FFF2-40B4-BE49-F238E27FC236}">
                <a16:creationId xmlns:a16="http://schemas.microsoft.com/office/drawing/2014/main" id="{092FABB0-2213-49A1-B0D7-E5398358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Chat tuning</a:t>
            </a:r>
          </a:p>
        </p:txBody>
      </p:sp>
      <p:sp>
        <p:nvSpPr>
          <p:cNvPr id="7" name="c3-text-124">
            <a:extLst xmlns:a="http://schemas.openxmlformats.org/drawingml/2006/main">
              <a:ext uri="{FF2B5EF4-FFF2-40B4-BE49-F238E27FC236}">
                <a16:creationId xmlns:a16="http://schemas.microsoft.com/office/drawing/2014/main" id="{D0B2B130-A8A1-41AE-9765-5F73F283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33909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model learns from conversations with roles and message boundaries.</a:t>
            </a:r>
          </a:p>
        </p:txBody>
      </p:sp>
      <p:sp>
        <p:nvSpPr>
          <p:cNvPr id="8" name="c3-shape-125">
            <a:extLst xmlns:a="http://schemas.openxmlformats.org/drawingml/2006/main">
              <a:ext uri="{FF2B5EF4-FFF2-40B4-BE49-F238E27FC236}">
                <a16:creationId xmlns:a16="http://schemas.microsoft.com/office/drawing/2014/main" id="{7466F1B1-35D6-42C0-8579-5F912D9D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05025"/>
            <a:ext cx="3771900" cy="2047875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26">
            <a:extLst xmlns:a="http://schemas.openxmlformats.org/drawingml/2006/main">
              <a:ext uri="{FF2B5EF4-FFF2-40B4-BE49-F238E27FC236}">
                <a16:creationId xmlns:a16="http://schemas.microsoft.com/office/drawing/2014/main" id="{6A4B5CFD-D62A-43F6-85ED-C9E12705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27">
            <a:extLst xmlns:a="http://schemas.openxmlformats.org/drawingml/2006/main">
              <a:ext uri="{FF2B5EF4-FFF2-40B4-BE49-F238E27FC236}">
                <a16:creationId xmlns:a16="http://schemas.microsoft.com/office/drawing/2014/main" id="{2D2630B0-B326-46E1-8D6F-48AD3DC7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6220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At inference</a:t>
            </a:r>
          </a:p>
        </p:txBody>
      </p:sp>
      <p:sp>
        <p:nvSpPr>
          <p:cNvPr id="11" name="c3-text-128">
            <a:extLst xmlns:a="http://schemas.openxmlformats.org/drawingml/2006/main">
              <a:ext uri="{FF2B5EF4-FFF2-40B4-BE49-F238E27FC236}">
                <a16:creationId xmlns:a16="http://schemas.microsoft.com/office/drawing/2014/main" id="{68BF5739-5050-4DA8-BC53-033D06EC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05100"/>
            <a:ext cx="3390900" cy="1323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We supply messages.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provider applies the model's chat format.</a:t>
            </a:r>
          </a:p>
        </p:txBody>
      </p:sp>
      <p:sp>
        <p:nvSpPr>
          <p:cNvPr id="12" name="c3-text-129">
            <a:extLst xmlns:a="http://schemas.openxmlformats.org/drawingml/2006/main">
              <a:ext uri="{FF2B5EF4-FFF2-40B4-BE49-F238E27FC236}">
                <a16:creationId xmlns:a16="http://schemas.microsoft.com/office/drawing/2014/main" id="{CE007520-30A8-46FE-8050-86110640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The model still predicts tokens.</a:t>
            </a:r>
          </a:p>
        </p:txBody>
      </p:sp>
      <p:sp>
        <p:nvSpPr>
          <p:cNvPr id="13" name="c3-text-310">
            <a:extLst xmlns:a="http://schemas.openxmlformats.org/drawingml/2006/main">
              <a:ext uri="{FF2B5EF4-FFF2-40B4-BE49-F238E27FC236}">
                <a16:creationId xmlns:a16="http://schemas.microsoft.com/office/drawing/2014/main" id="{08DC43FA-F50E-4DC6-A695-CDF3D3B0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1927489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c3-text-130">
            <a:extLst xmlns:a="http://schemas.openxmlformats.org/drawingml/2006/main">
              <a:ext uri="{FF2B5EF4-FFF2-40B4-BE49-F238E27FC236}">
                <a16:creationId xmlns:a16="http://schemas.microsoft.com/office/drawing/2014/main" id="{A2FC80D9-ACBC-437B-A45F-9F96A5FC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31">
            <a:extLst xmlns:a="http://schemas.openxmlformats.org/drawingml/2006/main">
              <a:ext uri="{FF2B5EF4-FFF2-40B4-BE49-F238E27FC236}">
                <a16:creationId xmlns:a16="http://schemas.microsoft.com/office/drawing/2014/main" id="{D76D2793-0D87-4D52-8660-0F6D1751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Three Message Types [5]</a:t>
            </a:r>
          </a:p>
        </p:txBody>
      </p:sp>
      <p:sp>
        <p:nvSpPr>
          <p:cNvPr id="3" name="c3-text-132">
            <a:extLst xmlns:a="http://schemas.openxmlformats.org/drawingml/2006/main">
              <a:ext uri="{FF2B5EF4-FFF2-40B4-BE49-F238E27FC236}">
                <a16:creationId xmlns:a16="http://schemas.microsoft.com/office/drawing/2014/main" id="{1735B4BF-72BD-4EA3-921B-42C2A468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33">
            <a:extLst xmlns:a="http://schemas.openxmlformats.org/drawingml/2006/main">
              <a:ext uri="{FF2B5EF4-FFF2-40B4-BE49-F238E27FC236}">
                <a16:creationId xmlns:a16="http://schemas.microsoft.com/office/drawing/2014/main" id="{DC155193-931C-45EF-8C87-A1EB5F68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34">
            <a:extLst xmlns:a="http://schemas.openxmlformats.org/drawingml/2006/main">
              <a:ext uri="{FF2B5EF4-FFF2-40B4-BE49-F238E27FC236}">
                <a16:creationId xmlns:a16="http://schemas.microsoft.com/office/drawing/2014/main" id="{2E4D8C5F-4202-41A9-8620-5B7EDEFA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35">
            <a:extLst xmlns:a="http://schemas.openxmlformats.org/drawingml/2006/main">
              <a:ext uri="{FF2B5EF4-FFF2-40B4-BE49-F238E27FC236}">
                <a16:creationId xmlns:a16="http://schemas.microsoft.com/office/drawing/2014/main" id="{C23F6EF4-6B7F-4A1F-94F2-0753D93C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SystemMessage</a:t>
            </a:r>
          </a:p>
        </p:txBody>
      </p:sp>
      <p:sp>
        <p:nvSpPr>
          <p:cNvPr id="7" name="c3-text-136">
            <a:extLst xmlns:a="http://schemas.openxmlformats.org/drawingml/2006/main">
              <a:ext uri="{FF2B5EF4-FFF2-40B4-BE49-F238E27FC236}">
                <a16:creationId xmlns:a16="http://schemas.microsoft.com/office/drawing/2014/main" id="{A4B1C485-80FE-4008-9AC5-C2A2F7D6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Instructions: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"You are a pirate museum guide."</a:t>
            </a:r>
          </a:p>
        </p:txBody>
      </p:sp>
      <p:sp>
        <p:nvSpPr>
          <p:cNvPr id="8" name="c3-shape-137">
            <a:extLst xmlns:a="http://schemas.openxmlformats.org/drawingml/2006/main">
              <a:ext uri="{FF2B5EF4-FFF2-40B4-BE49-F238E27FC236}">
                <a16:creationId xmlns:a16="http://schemas.microsoft.com/office/drawing/2014/main" id="{D61D457D-103B-44EA-A26C-B50A94B9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38">
            <a:extLst xmlns:a="http://schemas.openxmlformats.org/drawingml/2006/main">
              <a:ext uri="{FF2B5EF4-FFF2-40B4-BE49-F238E27FC236}">
                <a16:creationId xmlns:a16="http://schemas.microsoft.com/office/drawing/2014/main" id="{4B84DF94-C1D2-4A20-AF84-F0F111F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39">
            <a:extLst xmlns:a="http://schemas.openxmlformats.org/drawingml/2006/main">
              <a:ext uri="{FF2B5EF4-FFF2-40B4-BE49-F238E27FC236}">
                <a16:creationId xmlns:a16="http://schemas.microsoft.com/office/drawing/2014/main" id="{FC4F4353-1A39-4EF5-B0DB-D7090CD9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HumanMessage</a:t>
            </a:r>
          </a:p>
        </p:txBody>
      </p:sp>
      <p:sp>
        <p:nvSpPr>
          <p:cNvPr id="11" name="c3-text-140">
            <a:extLst xmlns:a="http://schemas.openxmlformats.org/drawingml/2006/main">
              <a:ext uri="{FF2B5EF4-FFF2-40B4-BE49-F238E27FC236}">
                <a16:creationId xmlns:a16="http://schemas.microsoft.com/office/drawing/2014/main" id="{B25A5915-C324-4F35-B4A5-55ADEB7F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User input: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"Can you help me explore?"</a:t>
            </a:r>
          </a:p>
        </p:txBody>
      </p:sp>
      <p:sp>
        <p:nvSpPr>
          <p:cNvPr id="12" name="c3-shape-141">
            <a:extLst xmlns:a="http://schemas.openxmlformats.org/drawingml/2006/main">
              <a:ext uri="{FF2B5EF4-FFF2-40B4-BE49-F238E27FC236}">
                <a16:creationId xmlns:a16="http://schemas.microsoft.com/office/drawing/2014/main" id="{1710BDF0-FE9F-4767-833E-71B7E0E0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05025"/>
            <a:ext cx="243840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shape-142">
            <a:extLst xmlns:a="http://schemas.openxmlformats.org/drawingml/2006/main">
              <a:ext uri="{FF2B5EF4-FFF2-40B4-BE49-F238E27FC236}">
                <a16:creationId xmlns:a16="http://schemas.microsoft.com/office/drawing/2014/main" id="{F7C60405-B114-450F-A5BA-C75DAA57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14" name="c3-text-143">
            <a:extLst xmlns:a="http://schemas.openxmlformats.org/drawingml/2006/main">
              <a:ext uri="{FF2B5EF4-FFF2-40B4-BE49-F238E27FC236}">
                <a16:creationId xmlns:a16="http://schemas.microsoft.com/office/drawing/2014/main" id="{A58B3B1B-0CC0-4C50-B049-A2A20957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62200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AIMessage</a:t>
            </a:r>
          </a:p>
        </p:txBody>
      </p:sp>
      <p:sp>
        <p:nvSpPr>
          <p:cNvPr id="15" name="c3-text-144">
            <a:extLst xmlns:a="http://schemas.openxmlformats.org/drawingml/2006/main">
              <a:ext uri="{FF2B5EF4-FFF2-40B4-BE49-F238E27FC236}">
                <a16:creationId xmlns:a16="http://schemas.microsoft.com/office/drawing/2014/main" id="{FF5FF57C-4BAC-42E5-81D5-C1926689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20574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Assistant reply or supplied example: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"Ahoy, visitor!"</a:t>
            </a:r>
          </a:p>
        </p:txBody>
      </p:sp>
      <p:sp>
        <p:nvSpPr>
          <p:cNvPr id="16" name="c3-text-311">
            <a:extLst xmlns:a="http://schemas.openxmlformats.org/drawingml/2006/main">
              <a:ext uri="{FF2B5EF4-FFF2-40B4-BE49-F238E27FC236}">
                <a16:creationId xmlns:a16="http://schemas.microsoft.com/office/drawing/2014/main" id="{20E075D2-43B8-4710-900A-B980CC92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2560213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3-text-145">
            <a:extLst xmlns:a="http://schemas.openxmlformats.org/drawingml/2006/main">
              <a:ext uri="{FF2B5EF4-FFF2-40B4-BE49-F238E27FC236}">
                <a16:creationId xmlns:a16="http://schemas.microsoft.com/office/drawing/2014/main" id="{DF693BD5-1E55-4FC0-963B-3195B2E4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46">
            <a:extLst xmlns:a="http://schemas.openxmlformats.org/drawingml/2006/main">
              <a:ext uri="{FF2B5EF4-FFF2-40B4-BE49-F238E27FC236}">
                <a16:creationId xmlns:a16="http://schemas.microsoft.com/office/drawing/2014/main" id="{135EDEF8-D764-4E6E-8BAB-1080FE7C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Conversation as Message Objects [5]</a:t>
            </a:r>
          </a:p>
        </p:txBody>
      </p:sp>
      <p:sp>
        <p:nvSpPr>
          <p:cNvPr id="3" name="c3-text-147">
            <a:extLst xmlns:a="http://schemas.openxmlformats.org/drawingml/2006/main">
              <a:ext uri="{FF2B5EF4-FFF2-40B4-BE49-F238E27FC236}">
                <a16:creationId xmlns:a16="http://schemas.microsoft.com/office/drawing/2014/main" id="{D91F04AC-D831-426B-8D30-7B98EA98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48">
            <a:extLst xmlns:a="http://schemas.openxmlformats.org/drawingml/2006/main">
              <a:ext uri="{FF2B5EF4-FFF2-40B4-BE49-F238E27FC236}">
                <a16:creationId xmlns:a16="http://schemas.microsoft.com/office/drawing/2014/main" id="{97F03013-3A0E-4AB8-B95C-53CAA21D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792480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49">
            <a:extLst xmlns:a="http://schemas.openxmlformats.org/drawingml/2006/main">
              <a:ext uri="{FF2B5EF4-FFF2-40B4-BE49-F238E27FC236}">
                <a16:creationId xmlns:a16="http://schemas.microsoft.com/office/drawing/2014/main" id="{CF445856-6603-412A-8DA3-B38D0EB0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71650"/>
            <a:ext cx="75819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messages = [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SystemMessage("You are a pirate museum guide."),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HumanMessage("Hello!"),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AIMessage("Ahoy, visitor!"),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HumanMessage("Can you help me explore?"),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for message in messages: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message.pretty_print()</a:t>
            </a:r>
          </a:p>
        </p:txBody>
      </p:sp>
      <p:sp>
        <p:nvSpPr>
          <p:cNvPr id="6" name="c3-text-312">
            <a:extLst xmlns:a="http://schemas.openxmlformats.org/drawingml/2006/main">
              <a:ext uri="{FF2B5EF4-FFF2-40B4-BE49-F238E27FC236}">
                <a16:creationId xmlns:a16="http://schemas.microsoft.com/office/drawing/2014/main" id="{26D14F1D-A2AF-4692-B40B-0EFF44E6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56380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50">
            <a:extLst xmlns:a="http://schemas.openxmlformats.org/drawingml/2006/main">
              <a:ext uri="{FF2B5EF4-FFF2-40B4-BE49-F238E27FC236}">
                <a16:creationId xmlns:a16="http://schemas.microsoft.com/office/drawing/2014/main" id="{E63C90A5-A9E8-4AC3-B17C-FCB0BF9C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1">
            <a:extLst xmlns:a="http://schemas.openxmlformats.org/drawingml/2006/main">
              <a:ext uri="{FF2B5EF4-FFF2-40B4-BE49-F238E27FC236}">
                <a16:creationId xmlns:a16="http://schemas.microsoft.com/office/drawing/2014/main" id="{A50FDD73-8922-4331-82E3-ECB989BF8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 Templates: Static and Dynamic Parts [6]</a:t>
            </a:r>
          </a:p>
        </p:txBody>
      </p:sp>
      <p:sp>
        <p:nvSpPr>
          <p:cNvPr id="3" name="c3-text-152">
            <a:extLst xmlns:a="http://schemas.openxmlformats.org/drawingml/2006/main">
              <a:ext uri="{FF2B5EF4-FFF2-40B4-BE49-F238E27FC236}">
                <a16:creationId xmlns:a16="http://schemas.microsoft.com/office/drawing/2014/main" id="{C7896F04-F955-4870-80DF-FF234721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53">
            <a:extLst xmlns:a="http://schemas.openxmlformats.org/drawingml/2006/main">
              <a:ext uri="{FF2B5EF4-FFF2-40B4-BE49-F238E27FC236}">
                <a16:creationId xmlns:a16="http://schemas.microsoft.com/office/drawing/2014/main" id="{8F68584B-98FB-4FBF-8786-D9E67ACA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79248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54">
            <a:extLst xmlns:a="http://schemas.openxmlformats.org/drawingml/2006/main">
              <a:ext uri="{FF2B5EF4-FFF2-40B4-BE49-F238E27FC236}">
                <a16:creationId xmlns:a16="http://schemas.microsoft.com/office/drawing/2014/main" id="{8E8E5850-BE10-4003-806F-8EA0EE46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95475"/>
            <a:ext cx="75819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system_template = SystemMessagePromptTemplate.from_template(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"You are {character}. Speak in a {style} style."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message = system_template.format(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character="PippoBot", style="pirate"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)</a:t>
            </a:r>
          </a:p>
        </p:txBody>
      </p:sp>
      <p:sp>
        <p:nvSpPr>
          <p:cNvPr id="6" name="c3-shape-155">
            <a:extLst xmlns:a="http://schemas.openxmlformats.org/drawingml/2006/main">
              <a:ext uri="{FF2B5EF4-FFF2-40B4-BE49-F238E27FC236}">
                <a16:creationId xmlns:a16="http://schemas.microsoft.com/office/drawing/2014/main" id="{CC81E48A-23F7-4452-9918-4979E755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56">
            <a:extLst xmlns:a="http://schemas.openxmlformats.org/drawingml/2006/main">
              <a:ext uri="{FF2B5EF4-FFF2-40B4-BE49-F238E27FC236}">
                <a16:creationId xmlns:a16="http://schemas.microsoft.com/office/drawing/2014/main" id="{F97EDD09-111C-4C48-862B-79EB5BC92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Fixed text stays the same; braces mark values supplied at each call.</a:t>
            </a:r>
          </a:p>
        </p:txBody>
      </p:sp>
      <p:sp>
        <p:nvSpPr>
          <p:cNvPr id="8" name="c3-text-313">
            <a:extLst xmlns:a="http://schemas.openxmlformats.org/drawingml/2006/main">
              <a:ext uri="{FF2B5EF4-FFF2-40B4-BE49-F238E27FC236}">
                <a16:creationId xmlns:a16="http://schemas.microsoft.com/office/drawing/2014/main" id="{5CECAD0B-3313-46A8-BA76-42C39888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327500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157">
            <a:extLst xmlns:a="http://schemas.openxmlformats.org/drawingml/2006/main">
              <a:ext uri="{FF2B5EF4-FFF2-40B4-BE49-F238E27FC236}">
                <a16:creationId xmlns:a16="http://schemas.microsoft.com/office/drawing/2014/main" id="{53DBE10B-508C-48AB-8CF5-9ACFF26C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58">
            <a:extLst xmlns:a="http://schemas.openxmlformats.org/drawingml/2006/main">
              <a:ext uri="{FF2B5EF4-FFF2-40B4-BE49-F238E27FC236}">
                <a16:creationId xmlns:a16="http://schemas.microsoft.com/office/drawing/2014/main" id="{33AB33A1-CA0E-48DA-856F-01C1CE65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Dictionary Fills the Chat Prompt [6]</a:t>
            </a:r>
          </a:p>
        </p:txBody>
      </p:sp>
      <p:sp>
        <p:nvSpPr>
          <p:cNvPr id="3" name="c3-text-159">
            <a:extLst xmlns:a="http://schemas.openxmlformats.org/drawingml/2006/main">
              <a:ext uri="{FF2B5EF4-FFF2-40B4-BE49-F238E27FC236}">
                <a16:creationId xmlns:a16="http://schemas.microsoft.com/office/drawing/2014/main" id="{387F105B-A4A0-4C45-B95E-60747FA9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60">
            <a:extLst xmlns:a="http://schemas.openxmlformats.org/drawingml/2006/main">
              <a:ext uri="{FF2B5EF4-FFF2-40B4-BE49-F238E27FC236}">
                <a16:creationId xmlns:a16="http://schemas.microsoft.com/office/drawing/2014/main" id="{E3444251-38A8-40A9-847B-9B853B2D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7924800" cy="2428875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161">
            <a:extLst xmlns:a="http://schemas.openxmlformats.org/drawingml/2006/main">
              <a:ext uri="{FF2B5EF4-FFF2-40B4-BE49-F238E27FC236}">
                <a16:creationId xmlns:a16="http://schemas.microsoft.com/office/drawing/2014/main" id="{D59E1A29-FE8B-497C-9F26-835F18B5C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0225"/>
            <a:ext cx="7581900" cy="2162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chat_prompt = ChatPromptTemplate.from_messages([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system_template, human_template,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])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values = {"character": "PippoBot", "style": "pirate",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      "user_input": "Can you help me explore?"}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chat_chain = chat_prompt | text_chain</a:t>
            </a:r>
          </a:p>
          <a:p xmlns:a="http://schemas.openxmlformats.org/drawingml/2006/main">
            <a:pPr>
              <a:defRPr sz="157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chat_chain.invoke(values)</a:t>
            </a:r>
          </a:p>
        </p:txBody>
      </p:sp>
      <p:sp>
        <p:nvSpPr>
          <p:cNvPr id="6" name="c3-shape-162">
            <a:extLst xmlns:a="http://schemas.openxmlformats.org/drawingml/2006/main">
              <a:ext uri="{FF2B5EF4-FFF2-40B4-BE49-F238E27FC236}">
                <a16:creationId xmlns:a16="http://schemas.microsoft.com/office/drawing/2014/main" id="{CCAB4FD9-8531-489C-87D6-0EF75A43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163">
            <a:extLst xmlns:a="http://schemas.openxmlformats.org/drawingml/2006/main">
              <a:ext uri="{FF2B5EF4-FFF2-40B4-BE49-F238E27FC236}">
                <a16:creationId xmlns:a16="http://schemas.microsoft.com/office/drawing/2014/main" id="{88CD5829-5BE1-4C28-84D2-66F6B8DC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dictionary fills the variables in all message templates.</a:t>
            </a:r>
          </a:p>
        </p:txBody>
      </p:sp>
      <p:sp>
        <p:nvSpPr>
          <p:cNvPr id="8" name="c3-text-314">
            <a:extLst xmlns:a="http://schemas.openxmlformats.org/drawingml/2006/main">
              <a:ext uri="{FF2B5EF4-FFF2-40B4-BE49-F238E27FC236}">
                <a16:creationId xmlns:a16="http://schemas.microsoft.com/office/drawing/2014/main" id="{6C326FFB-26C8-40B1-8DCF-F973FA44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0844588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164">
            <a:extLst xmlns:a="http://schemas.openxmlformats.org/drawingml/2006/main">
              <a:ext uri="{FF2B5EF4-FFF2-40B4-BE49-F238E27FC236}">
                <a16:creationId xmlns:a16="http://schemas.microsoft.com/office/drawing/2014/main" id="{DDBB6DFC-47B6-426A-A939-1622F873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65">
            <a:extLst xmlns:a="http://schemas.openxmlformats.org/drawingml/2006/main">
              <a:ext uri="{FF2B5EF4-FFF2-40B4-BE49-F238E27FC236}">
                <a16:creationId xmlns:a16="http://schemas.microsoft.com/office/drawing/2014/main" id="{EBA97455-8061-4A49-8094-AB4D5326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Same Guardrail with Chat Templates</a:t>
            </a:r>
          </a:p>
        </p:txBody>
      </p:sp>
      <p:sp>
        <p:nvSpPr>
          <p:cNvPr id="3" name="c3-text-166">
            <a:extLst xmlns:a="http://schemas.openxmlformats.org/drawingml/2006/main">
              <a:ext uri="{FF2B5EF4-FFF2-40B4-BE49-F238E27FC236}">
                <a16:creationId xmlns:a16="http://schemas.microsoft.com/office/drawing/2014/main" id="{4E95C912-A681-4854-A666-9966F9DF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67">
            <a:extLst xmlns:a="http://schemas.openxmlformats.org/drawingml/2006/main">
              <a:ext uri="{FF2B5EF4-FFF2-40B4-BE49-F238E27FC236}">
                <a16:creationId xmlns:a16="http://schemas.microsoft.com/office/drawing/2014/main" id="{2D2DCF58-50F5-4072-BFD8-356CFD87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3771900" cy="2009775"/>
          </a:xfrm>
          <a:prstGeom xmlns:a="http://schemas.openxmlformats.org/drawingml/2006/main" prst="roundRect">
            <a:avLst>
              <a:gd name="adj" fmla="val 37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68">
            <a:extLst xmlns:a="http://schemas.openxmlformats.org/drawingml/2006/main">
              <a:ext uri="{FF2B5EF4-FFF2-40B4-BE49-F238E27FC236}">
                <a16:creationId xmlns:a16="http://schemas.microsoft.com/office/drawing/2014/main" id="{F5856B7F-63D4-4077-8BCD-4FD9F178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69">
            <a:extLst xmlns:a="http://schemas.openxmlformats.org/drawingml/2006/main">
              <a:ext uri="{FF2B5EF4-FFF2-40B4-BE49-F238E27FC236}">
                <a16:creationId xmlns:a16="http://schemas.microsoft.com/office/drawing/2014/main" id="{B825298D-E0AF-4ED9-8A3D-48F1F89E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System: fixed rules</a:t>
            </a:r>
          </a:p>
        </p:txBody>
      </p:sp>
      <p:sp>
        <p:nvSpPr>
          <p:cNvPr id="7" name="c3-text-170">
            <a:extLst xmlns:a="http://schemas.openxmlformats.org/drawingml/2006/main">
              <a:ext uri="{FF2B5EF4-FFF2-40B4-BE49-F238E27FC236}">
                <a16:creationId xmlns:a16="http://schemas.microsoft.com/office/drawing/2014/main" id="{EDB96259-2105-4909-ACD0-279688B1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33909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If the text discusses football,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replace it with the refusal.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Otherwise, keep it unchanged.</a:t>
            </a:r>
          </a:p>
        </p:txBody>
      </p:sp>
      <p:sp>
        <p:nvSpPr>
          <p:cNvPr id="8" name="c3-shape-171">
            <a:extLst xmlns:a="http://schemas.openxmlformats.org/drawingml/2006/main">
              <a:ext uri="{FF2B5EF4-FFF2-40B4-BE49-F238E27FC236}">
                <a16:creationId xmlns:a16="http://schemas.microsoft.com/office/drawing/2014/main" id="{CAF562FA-FFFC-453A-A4EB-2C4118AD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47875"/>
            <a:ext cx="3771900" cy="2009775"/>
          </a:xfrm>
          <a:prstGeom xmlns:a="http://schemas.openxmlformats.org/drawingml/2006/main" prst="roundRect">
            <a:avLst>
              <a:gd name="adj" fmla="val 379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72">
            <a:extLst xmlns:a="http://schemas.openxmlformats.org/drawingml/2006/main">
              <a:ext uri="{FF2B5EF4-FFF2-40B4-BE49-F238E27FC236}">
                <a16:creationId xmlns:a16="http://schemas.microsoft.com/office/drawing/2014/main" id="{7E0E7E44-EFB5-46D5-967F-D6946CDB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98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73">
            <a:extLst xmlns:a="http://schemas.openxmlformats.org/drawingml/2006/main">
              <a:ext uri="{FF2B5EF4-FFF2-40B4-BE49-F238E27FC236}">
                <a16:creationId xmlns:a16="http://schemas.microsoft.com/office/drawing/2014/main" id="{B54F252D-40D2-4DD9-85D7-CF043FD2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Human: dynamic text</a:t>
            </a:r>
          </a:p>
        </p:txBody>
      </p:sp>
      <p:sp>
        <p:nvSpPr>
          <p:cNvPr id="11" name="c3-text-174">
            <a:extLst xmlns:a="http://schemas.openxmlformats.org/drawingml/2006/main">
              <a:ext uri="{FF2B5EF4-FFF2-40B4-BE49-F238E27FC236}">
                <a16:creationId xmlns:a16="http://schemas.microsoft.com/office/drawing/2014/main" id="{E7C4A3DF-06BA-4724-9F57-D12D45BB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33909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{text}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 answer from the first LLM.</a:t>
            </a:r>
          </a:p>
        </p:txBody>
      </p:sp>
      <p:sp>
        <p:nvSpPr>
          <p:cNvPr id="12" name="c3-shape-175">
            <a:extLst xmlns:a="http://schemas.openxmlformats.org/drawingml/2006/main">
              <a:ext uri="{FF2B5EF4-FFF2-40B4-BE49-F238E27FC236}">
                <a16:creationId xmlns:a16="http://schemas.microsoft.com/office/drawing/2014/main" id="{C2747CC5-90A1-4B57-B812-BCE898CC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176">
            <a:extLst xmlns:a="http://schemas.openxmlformats.org/drawingml/2006/main">
              <a:ext uri="{FF2B5EF4-FFF2-40B4-BE49-F238E27FC236}">
                <a16:creationId xmlns:a16="http://schemas.microsoft.com/office/drawing/2014/main" id="{8F7E0566-D2A8-4136-AB14-022413C8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review_chain.invoke({"text": "The football match ended 2-0."})</a:t>
            </a:r>
          </a:p>
        </p:txBody>
      </p:sp>
      <p:sp>
        <p:nvSpPr>
          <p:cNvPr id="14" name="c3-text-315">
            <a:extLst xmlns:a="http://schemas.openxmlformats.org/drawingml/2006/main">
              <a:ext uri="{FF2B5EF4-FFF2-40B4-BE49-F238E27FC236}">
                <a16:creationId xmlns:a16="http://schemas.microsoft.com/office/drawing/2014/main" id="{8AA8A93F-702D-44EC-B7AB-5F719D57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827098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77">
            <a:extLst xmlns:a="http://schemas.openxmlformats.org/drawingml/2006/main">
              <a:ext uri="{FF2B5EF4-FFF2-40B4-BE49-F238E27FC236}">
                <a16:creationId xmlns:a16="http://schemas.microsoft.com/office/drawing/2014/main" id="{2B047D47-F14A-4E4A-AFA9-341ED8A0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78">
            <a:extLst xmlns:a="http://schemas.openxmlformats.org/drawingml/2006/main">
              <a:ext uri="{FF2B5EF4-FFF2-40B4-BE49-F238E27FC236}">
                <a16:creationId xmlns:a16="http://schemas.microsoft.com/office/drawing/2014/main" id="{155F3BBA-60AB-40A9-AF6A-6DDEAEC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Style and Current Time</a:t>
            </a:r>
          </a:p>
        </p:txBody>
      </p:sp>
      <p:sp>
        <p:nvSpPr>
          <p:cNvPr id="3" name="c3-text-179">
            <a:extLst xmlns:a="http://schemas.openxmlformats.org/drawingml/2006/main">
              <a:ext uri="{FF2B5EF4-FFF2-40B4-BE49-F238E27FC236}">
                <a16:creationId xmlns:a16="http://schemas.microsoft.com/office/drawing/2014/main" id="{120331A9-AA75-497C-8C96-AB2F13562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180">
            <a:extLst xmlns:a="http://schemas.openxmlformats.org/drawingml/2006/main">
              <a:ext uri="{FF2B5EF4-FFF2-40B4-BE49-F238E27FC236}">
                <a16:creationId xmlns:a16="http://schemas.microsoft.com/office/drawing/2014/main" id="{096557CC-76E9-4831-B1AC-426ED9163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771900" cy="1895475"/>
          </a:xfrm>
          <a:prstGeom xmlns:a="http://schemas.openxmlformats.org/drawingml/2006/main" prst="roundRect">
            <a:avLst>
              <a:gd name="adj" fmla="val 40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181">
            <a:extLst xmlns:a="http://schemas.openxmlformats.org/drawingml/2006/main">
              <a:ext uri="{FF2B5EF4-FFF2-40B4-BE49-F238E27FC236}">
                <a16:creationId xmlns:a16="http://schemas.microsoft.com/office/drawing/2014/main" id="{F790810E-D40E-44EE-8736-A6B8EEC1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182">
            <a:extLst xmlns:a="http://schemas.openxmlformats.org/drawingml/2006/main">
              <a:ext uri="{FF2B5EF4-FFF2-40B4-BE49-F238E27FC236}">
                <a16:creationId xmlns:a16="http://schemas.microsoft.com/office/drawing/2014/main" id="{3451159A-2F42-44DF-B610-C48F2222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336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Tune the prompt</a:t>
            </a:r>
          </a:p>
        </p:txBody>
      </p:sp>
      <p:sp>
        <p:nvSpPr>
          <p:cNvPr id="7" name="c3-text-183">
            <a:extLst xmlns:a="http://schemas.openxmlformats.org/drawingml/2006/main">
              <a:ext uri="{FF2B5EF4-FFF2-40B4-BE49-F238E27FC236}">
                <a16:creationId xmlns:a16="http://schemas.microsoft.com/office/drawing/2014/main" id="{8AC8D3FB-75CC-484D-A88C-A5ABB707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76525"/>
            <a:ext cx="33909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Choose how the bot should speak.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Message templates fill style and time.</a:t>
            </a:r>
          </a:p>
        </p:txBody>
      </p:sp>
      <p:sp>
        <p:nvSpPr>
          <p:cNvPr id="8" name="c3-shape-184">
            <a:extLst xmlns:a="http://schemas.openxmlformats.org/drawingml/2006/main">
              <a:ext uri="{FF2B5EF4-FFF2-40B4-BE49-F238E27FC236}">
                <a16:creationId xmlns:a16="http://schemas.microsoft.com/office/drawing/2014/main" id="{9E0EFAEF-5F6C-4604-9899-DD15DB5B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76450"/>
            <a:ext cx="3771900" cy="1895475"/>
          </a:xfrm>
          <a:prstGeom xmlns:a="http://schemas.openxmlformats.org/drawingml/2006/main" prst="roundRect">
            <a:avLst>
              <a:gd name="adj" fmla="val 4020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185">
            <a:extLst xmlns:a="http://schemas.openxmlformats.org/drawingml/2006/main">
              <a:ext uri="{FF2B5EF4-FFF2-40B4-BE49-F238E27FC236}">
                <a16:creationId xmlns:a16="http://schemas.microsoft.com/office/drawing/2014/main" id="{4B01FFC1-734A-4F40-B0FB-28955FEC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383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186">
            <a:extLst xmlns:a="http://schemas.openxmlformats.org/drawingml/2006/main">
              <a:ext uri="{FF2B5EF4-FFF2-40B4-BE49-F238E27FC236}">
                <a16:creationId xmlns:a16="http://schemas.microsoft.com/office/drawing/2014/main" id="{6A7C6C23-8F28-4DAC-A939-E4B692D0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336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Try on the agent</a:t>
            </a:r>
          </a:p>
        </p:txBody>
      </p:sp>
      <p:sp>
        <p:nvSpPr>
          <p:cNvPr id="11" name="c3-text-187">
            <a:extLst xmlns:a="http://schemas.openxmlformats.org/drawingml/2006/main">
              <a:ext uri="{FF2B5EF4-FFF2-40B4-BE49-F238E27FC236}">
                <a16:creationId xmlns:a16="http://schemas.microsoft.com/office/drawing/2014/main" id="{E0BE7BE2-3323-4914-982D-9760FD19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76525"/>
            <a:ext cx="33909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Copy the style into STYLE_PROMPT.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Restart the server and ask: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"What time is it?"</a:t>
            </a:r>
          </a:p>
        </p:txBody>
      </p:sp>
      <p:sp>
        <p:nvSpPr>
          <p:cNvPr id="12" name="c3-text-188">
            <a:hlinkClick xmlns:r="http://schemas.openxmlformats.org/officeDocument/2006/relationships" xmlns:a="http://schemas.openxmlformats.org/drawingml/2006/main" r:id="R23c3291a1dd94a2d"/>
            <a:extLst xmlns:a="http://schemas.openxmlformats.org/drawingml/2006/main">
              <a:ext uri="{FF2B5EF4-FFF2-40B4-BE49-F238E27FC236}">
                <a16:creationId xmlns:a16="http://schemas.microsoft.com/office/drawing/2014/main" id="{6B17B207-8A61-4622-9870-2CE91568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01_langchain.ipynb: 3. Conversations and chat prompts</a:t>
            </a:r>
          </a:p>
        </p:txBody>
      </p:sp>
      <p:sp>
        <p:nvSpPr>
          <p:cNvPr id="13" name="c3-text-316">
            <a:extLst xmlns:a="http://schemas.openxmlformats.org/drawingml/2006/main">
              <a:ext uri="{FF2B5EF4-FFF2-40B4-BE49-F238E27FC236}">
                <a16:creationId xmlns:a16="http://schemas.microsoft.com/office/drawing/2014/main" id="{2AC2919E-7195-4E70-94AD-DBFB2C9A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6779483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189">
            <a:extLst xmlns:a="http://schemas.openxmlformats.org/drawingml/2006/main">
              <a:ext uri="{FF2B5EF4-FFF2-40B4-BE49-F238E27FC236}">
                <a16:creationId xmlns:a16="http://schemas.microsoft.com/office/drawing/2014/main" id="{174BA74B-B483-41F9-8C24-C724CA3C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190">
            <a:extLst xmlns:a="http://schemas.openxmlformats.org/drawingml/2006/main">
              <a:ext uri="{FF2B5EF4-FFF2-40B4-BE49-F238E27FC236}">
                <a16:creationId xmlns:a16="http://schemas.microsoft.com/office/drawing/2014/main" id="{72471B9F-EAB3-4452-BD5E-E0C6A3B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Structured Output [7]</a:t>
            </a:r>
          </a:p>
        </p:txBody>
      </p:sp>
      <p:sp>
        <p:nvSpPr>
          <p:cNvPr id="3" name="c3-text-191">
            <a:extLst xmlns:a="http://schemas.openxmlformats.org/drawingml/2006/main">
              <a:ext uri="{FF2B5EF4-FFF2-40B4-BE49-F238E27FC236}">
                <a16:creationId xmlns:a16="http://schemas.microsoft.com/office/drawing/2014/main" id="{4949BEC9-44C2-4AB7-8627-423D6B4D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Sentiment analysis: return a category the program can use.</a:t>
            </a:r>
          </a:p>
        </p:txBody>
      </p:sp>
      <p:sp>
        <p:nvSpPr>
          <p:cNvPr id="4" name="c3-text-192">
            <a:extLst xmlns:a="http://schemas.openxmlformats.org/drawingml/2006/main">
              <a:ext uri="{FF2B5EF4-FFF2-40B4-BE49-F238E27FC236}">
                <a16:creationId xmlns:a16="http://schemas.microsoft.com/office/drawing/2014/main" id="{5229C47D-665E-4AA7-9AF8-6DCA115D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193">
            <a:extLst xmlns:a="http://schemas.openxmlformats.org/drawingml/2006/main">
              <a:ext uri="{FF2B5EF4-FFF2-40B4-BE49-F238E27FC236}">
                <a16:creationId xmlns:a16="http://schemas.microsoft.com/office/drawing/2014/main" id="{4A87B0F3-FF73-49B2-9FB9-A5CEEC01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77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shape-194">
            <a:extLst xmlns:a="http://schemas.openxmlformats.org/drawingml/2006/main">
              <a:ext uri="{FF2B5EF4-FFF2-40B4-BE49-F238E27FC236}">
                <a16:creationId xmlns:a16="http://schemas.microsoft.com/office/drawing/2014/main" id="{2A997178-B3EA-4B75-BA60-C5D756F7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7" name="c3-text-195">
            <a:extLst xmlns:a="http://schemas.openxmlformats.org/drawingml/2006/main">
              <a:ext uri="{FF2B5EF4-FFF2-40B4-BE49-F238E27FC236}">
                <a16:creationId xmlns:a16="http://schemas.microsoft.com/office/drawing/2014/main" id="{85138B2D-16A2-45A5-BE7F-B6E4FB93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4792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8" name="c3-text-196">
            <a:extLst xmlns:a="http://schemas.openxmlformats.org/drawingml/2006/main">
              <a:ext uri="{FF2B5EF4-FFF2-40B4-BE49-F238E27FC236}">
                <a16:creationId xmlns:a16="http://schemas.microsoft.com/office/drawing/2014/main" id="{987BA0DE-5C4F-4632-B635-AF2B4643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90825"/>
            <a:ext cx="33909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 loved the exhibition!</a:t>
            </a:r>
          </a:p>
        </p:txBody>
      </p:sp>
      <p:sp>
        <p:nvSpPr>
          <p:cNvPr id="9" name="c3-shape-197">
            <a:extLst xmlns:a="http://schemas.openxmlformats.org/drawingml/2006/main">
              <a:ext uri="{FF2B5EF4-FFF2-40B4-BE49-F238E27FC236}">
                <a16:creationId xmlns:a16="http://schemas.microsoft.com/office/drawing/2014/main" id="{11EB797F-DE3E-46FC-8D52-918070C5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377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198">
            <a:extLst xmlns:a="http://schemas.openxmlformats.org/drawingml/2006/main">
              <a:ext uri="{FF2B5EF4-FFF2-40B4-BE49-F238E27FC236}">
                <a16:creationId xmlns:a16="http://schemas.microsoft.com/office/drawing/2014/main" id="{C2A9A151-1298-4F0F-830E-756009B6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24100"/>
            <a:ext cx="3429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"sentiment": "POSITIVE"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1" name="c3-shape-199">
            <a:extLst xmlns:a="http://schemas.openxmlformats.org/drawingml/2006/main">
              <a:ext uri="{FF2B5EF4-FFF2-40B4-BE49-F238E27FC236}">
                <a16:creationId xmlns:a16="http://schemas.microsoft.com/office/drawing/2014/main" id="{F40A5BAB-39CF-4711-9559-CBAB2781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7924800" cy="504825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2" name="c3-text-200">
            <a:extLst xmlns:a="http://schemas.openxmlformats.org/drawingml/2006/main">
              <a:ext uri="{FF2B5EF4-FFF2-40B4-BE49-F238E27FC236}">
                <a16:creationId xmlns:a16="http://schemas.microsoft.com/office/drawing/2014/main" id="{BC0D9479-C294-4DEE-B705-53F50D2E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7543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schema specifies the fields and their types.</a:t>
            </a:r>
          </a:p>
        </p:txBody>
      </p:sp>
      <p:sp>
        <p:nvSpPr>
          <p:cNvPr id="13" name="c3-text-317">
            <a:extLst xmlns:a="http://schemas.openxmlformats.org/drawingml/2006/main">
              <a:ext uri="{FF2B5EF4-FFF2-40B4-BE49-F238E27FC236}">
                <a16:creationId xmlns:a16="http://schemas.microsoft.com/office/drawing/2014/main" id="{1B41B4E5-9AE3-4A4C-93D1-4C4E7F04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404946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3-text-201">
            <a:extLst xmlns:a="http://schemas.openxmlformats.org/drawingml/2006/main">
              <a:ext uri="{FF2B5EF4-FFF2-40B4-BE49-F238E27FC236}">
                <a16:creationId xmlns:a16="http://schemas.microsoft.com/office/drawing/2014/main" id="{4ED5488C-17C7-45A1-B886-72C7A7FF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02">
            <a:extLst xmlns:a="http://schemas.openxmlformats.org/drawingml/2006/main">
              <a:ext uri="{FF2B5EF4-FFF2-40B4-BE49-F238E27FC236}">
                <a16:creationId xmlns:a16="http://schemas.microsoft.com/office/drawing/2014/main" id="{5DFA6966-E1DC-44D0-AAEC-08402CBDC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Format Instructions for Every Schema</a:t>
            </a:r>
          </a:p>
        </p:txBody>
      </p:sp>
      <p:sp>
        <p:nvSpPr>
          <p:cNvPr id="3" name="c3-text-203">
            <a:extLst xmlns:a="http://schemas.openxmlformats.org/drawingml/2006/main">
              <a:ext uri="{FF2B5EF4-FFF2-40B4-BE49-F238E27FC236}">
                <a16:creationId xmlns:a16="http://schemas.microsoft.com/office/drawing/2014/main" id="{84F2D94B-8D8B-4790-B2C8-C56CC25D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text-204">
            <a:extLst xmlns:a="http://schemas.openxmlformats.org/drawingml/2006/main">
              <a:ext uri="{FF2B5EF4-FFF2-40B4-BE49-F238E27FC236}">
                <a16:creationId xmlns:a16="http://schemas.microsoft.com/office/drawing/2014/main" id="{08DC4D2A-AA37-45E0-8CE0-FDB06241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7924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Add schema fields and allowed values to the system message.</a:t>
            </a:r>
          </a:p>
        </p:txBody>
      </p:sp>
      <p:sp>
        <p:nvSpPr>
          <p:cNvPr id="5" name="c3-shape-205">
            <a:extLst xmlns:a="http://schemas.openxmlformats.org/drawingml/2006/main">
              <a:ext uri="{FF2B5EF4-FFF2-40B4-BE49-F238E27FC236}">
                <a16:creationId xmlns:a16="http://schemas.microsoft.com/office/drawing/2014/main" id="{C2004D9E-8092-414B-A67E-6AF317AD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924800" cy="1857375"/>
          </a:xfrm>
          <a:prstGeom xmlns:a="http://schemas.openxmlformats.org/drawingml/2006/main" prst="roundRect">
            <a:avLst>
              <a:gd name="adj" fmla="val 4103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206">
            <a:extLst xmlns:a="http://schemas.openxmlformats.org/drawingml/2006/main">
              <a:ext uri="{FF2B5EF4-FFF2-40B4-BE49-F238E27FC236}">
                <a16:creationId xmlns:a16="http://schemas.microsoft.com/office/drawing/2014/main" id="{311A5E2A-15E8-4495-9C43-2209C0E6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19325"/>
            <a:ext cx="7581900" cy="1590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schema = EmailCategory.model_json_schema()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format_instructions = json.dumps(schema)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SystemMessage(format_instructions)</a:t>
            </a:r>
          </a:p>
        </p:txBody>
      </p:sp>
      <p:sp>
        <p:nvSpPr>
          <p:cNvPr id="7" name="c3-text-207">
            <a:extLst xmlns:a="http://schemas.openxmlformats.org/drawingml/2006/main">
              <a:ext uri="{FF2B5EF4-FFF2-40B4-BE49-F238E27FC236}">
                <a16:creationId xmlns:a16="http://schemas.microsoft.com/office/drawing/2014/main" id="{859C6E37-CC23-41BF-8AB9-5F5776AA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792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Then classify an email as SUPPORT, SALES or SPAM.</a:t>
            </a:r>
          </a:p>
        </p:txBody>
      </p:sp>
      <p:sp>
        <p:nvSpPr>
          <p:cNvPr id="8" name="c3-text-208">
            <a:hlinkClick xmlns:r="http://schemas.openxmlformats.org/officeDocument/2006/relationships" xmlns:a="http://schemas.openxmlformats.org/drawingml/2006/main" r:id="R70476bcac6c346f3"/>
            <a:extLst xmlns:a="http://schemas.openxmlformats.org/drawingml/2006/main">
              <a:ext uri="{FF2B5EF4-FFF2-40B4-BE49-F238E27FC236}">
                <a16:creationId xmlns:a16="http://schemas.microsoft.com/office/drawing/2014/main" id="{BAE40B82-75C1-43C5-9D41-BE6BB0CB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1. Sentiment, format instructions and email</a:t>
            </a:r>
          </a:p>
        </p:txBody>
      </p:sp>
      <p:sp>
        <p:nvSpPr>
          <p:cNvPr id="9" name="c3-text-318">
            <a:extLst xmlns:a="http://schemas.openxmlformats.org/drawingml/2006/main">
              <a:ext uri="{FF2B5EF4-FFF2-40B4-BE49-F238E27FC236}">
                <a16:creationId xmlns:a16="http://schemas.microsoft.com/office/drawing/2014/main" id="{BBAC5BC3-0B02-42D9-AA4C-F0CA600C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380399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3-text-209">
            <a:extLst xmlns:a="http://schemas.openxmlformats.org/drawingml/2006/main">
              <a:ext uri="{FF2B5EF4-FFF2-40B4-BE49-F238E27FC236}">
                <a16:creationId xmlns:a16="http://schemas.microsoft.com/office/drawing/2014/main" id="{3F3F0739-70A1-49CA-B5E2-BA56E027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10">
            <a:extLst xmlns:a="http://schemas.openxmlformats.org/drawingml/2006/main">
              <a:ext uri="{FF2B5EF4-FFF2-40B4-BE49-F238E27FC236}">
                <a16:creationId xmlns:a16="http://schemas.microsoft.com/office/drawing/2014/main" id="{966A9C1A-A565-4141-9FA1-9D2E60A6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Several Labels in One Response</a:t>
            </a:r>
          </a:p>
        </p:txBody>
      </p:sp>
      <p:sp>
        <p:nvSpPr>
          <p:cNvPr id="3" name="c3-text-211">
            <a:extLst xmlns:a="http://schemas.openxmlformats.org/drawingml/2006/main">
              <a:ext uri="{FF2B5EF4-FFF2-40B4-BE49-F238E27FC236}">
                <a16:creationId xmlns:a16="http://schemas.microsoft.com/office/drawing/2014/main" id="{0D2ED400-4097-4BB8-A3E6-CF7A30E9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212">
            <a:extLst xmlns:a="http://schemas.openxmlformats.org/drawingml/2006/main">
              <a:ext uri="{FF2B5EF4-FFF2-40B4-BE49-F238E27FC236}">
                <a16:creationId xmlns:a16="http://schemas.microsoft.com/office/drawing/2014/main" id="{32D5B7C4-AF72-488C-9CD1-89C2E13F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657600" cy="2162175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13">
            <a:extLst xmlns:a="http://schemas.openxmlformats.org/drawingml/2006/main">
              <a:ext uri="{FF2B5EF4-FFF2-40B4-BE49-F238E27FC236}">
                <a16:creationId xmlns:a16="http://schemas.microsoft.com/office/drawing/2014/main" id="{08EAA51E-CBB7-4B48-B7BD-B7EE1160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574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14">
            <a:extLst xmlns:a="http://schemas.openxmlformats.org/drawingml/2006/main">
              <a:ext uri="{FF2B5EF4-FFF2-40B4-BE49-F238E27FC236}">
                <a16:creationId xmlns:a16="http://schemas.microsoft.com/office/drawing/2014/main" id="{C37B9B17-0209-480D-AF1D-A0F96DCD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52675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Requests</a:t>
            </a:r>
          </a:p>
        </p:txBody>
      </p:sp>
      <p:sp>
        <p:nvSpPr>
          <p:cNvPr id="7" name="c3-text-215">
            <a:extLst xmlns:a="http://schemas.openxmlformats.org/drawingml/2006/main">
              <a:ext uri="{FF2B5EF4-FFF2-40B4-BE49-F238E27FC236}">
                <a16:creationId xmlns:a16="http://schemas.microsoft.com/office/drawing/2014/main" id="{C4DB58E9-A255-4ADE-A2D3-8CACDF49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95575"/>
            <a:ext cx="32766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Where is the cafe?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When do you close?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How much is a ticket?</a:t>
            </a:r>
          </a:p>
        </p:txBody>
      </p:sp>
      <p:sp>
        <p:nvSpPr>
          <p:cNvPr id="8" name="c3-shape-216">
            <a:extLst xmlns:a="http://schemas.openxmlformats.org/drawingml/2006/main">
              <a:ext uri="{FF2B5EF4-FFF2-40B4-BE49-F238E27FC236}">
                <a16:creationId xmlns:a16="http://schemas.microsoft.com/office/drawing/2014/main" id="{89733982-74EB-4D15-86B8-5D85A7EE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57525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shape-217">
            <a:extLst xmlns:a="http://schemas.openxmlformats.org/drawingml/2006/main">
              <a:ext uri="{FF2B5EF4-FFF2-40B4-BE49-F238E27FC236}">
                <a16:creationId xmlns:a16="http://schemas.microsoft.com/office/drawing/2014/main" id="{F6C35FF1-CC09-410B-A86D-0733956D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095500"/>
            <a:ext cx="3657600" cy="2162175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18">
            <a:extLst xmlns:a="http://schemas.openxmlformats.org/drawingml/2006/main">
              <a:ext uri="{FF2B5EF4-FFF2-40B4-BE49-F238E27FC236}">
                <a16:creationId xmlns:a16="http://schemas.microsoft.com/office/drawing/2014/main" id="{FAFD32BF-A693-46D3-8906-0A2BC16A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28850"/>
            <a:ext cx="33147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labels = [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"DIRECTIONS",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"HOURS",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  "TICKETS",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1" name="c3-text-219">
            <a:extLst xmlns:a="http://schemas.openxmlformats.org/drawingml/2006/main">
              <a:ext uri="{FF2B5EF4-FFF2-40B4-BE49-F238E27FC236}">
                <a16:creationId xmlns:a16="http://schemas.microsoft.com/office/drawing/2014/main" id="{12BDDB39-B16B-45E8-ABC0-F42ABCF2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125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One list of requests, one model call, labels in the same order.</a:t>
            </a:r>
          </a:p>
        </p:txBody>
      </p:sp>
      <p:sp>
        <p:nvSpPr>
          <p:cNvPr id="12" name="c3-text-319">
            <a:extLst xmlns:a="http://schemas.openxmlformats.org/drawingml/2006/main">
              <a:ext uri="{FF2B5EF4-FFF2-40B4-BE49-F238E27FC236}">
                <a16:creationId xmlns:a16="http://schemas.microsoft.com/office/drawing/2014/main" id="{87FD14F6-FB22-45A7-BCFD-40653DFC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5539720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220">
            <a:extLst xmlns:a="http://schemas.openxmlformats.org/drawingml/2006/main">
              <a:ext uri="{FF2B5EF4-FFF2-40B4-BE49-F238E27FC236}">
                <a16:creationId xmlns:a16="http://schemas.microsoft.com/office/drawing/2014/main" id="{945DC2B7-3E9F-4DE8-BFE4-D80BE784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21">
            <a:extLst xmlns:a="http://schemas.openxmlformats.org/drawingml/2006/main">
              <a:ext uri="{FF2B5EF4-FFF2-40B4-BE49-F238E27FC236}">
                <a16:creationId xmlns:a16="http://schemas.microsoft.com/office/drawing/2014/main" id="{7BC97F0B-E2FD-41E5-8A5A-D9D03A42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Tune the Classifier Prompt</a:t>
            </a:r>
          </a:p>
        </p:txBody>
      </p:sp>
      <p:sp>
        <p:nvSpPr>
          <p:cNvPr id="3" name="c3-text-222">
            <a:extLst xmlns:a="http://schemas.openxmlformats.org/drawingml/2006/main">
              <a:ext uri="{FF2B5EF4-FFF2-40B4-BE49-F238E27FC236}">
                <a16:creationId xmlns:a16="http://schemas.microsoft.com/office/drawing/2014/main" id="{F2810D4C-4E15-452E-93EF-65D699D2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223">
            <a:extLst xmlns:a="http://schemas.openxmlformats.org/drawingml/2006/main">
              <a:ext uri="{FF2B5EF4-FFF2-40B4-BE49-F238E27FC236}">
                <a16:creationId xmlns:a16="http://schemas.microsoft.com/office/drawing/2014/main" id="{1501D5FC-3DFA-4D2B-A3B1-609347FE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37719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24">
            <a:extLst xmlns:a="http://schemas.openxmlformats.org/drawingml/2006/main">
              <a:ext uri="{FF2B5EF4-FFF2-40B4-BE49-F238E27FC236}">
                <a16:creationId xmlns:a16="http://schemas.microsoft.com/office/drawing/2014/main" id="{358F2B4E-805B-4AEC-A70B-5C3CCFCF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25">
            <a:extLst xmlns:a="http://schemas.openxmlformats.org/drawingml/2006/main">
              <a:ext uri="{FF2B5EF4-FFF2-40B4-BE49-F238E27FC236}">
                <a16:creationId xmlns:a16="http://schemas.microsoft.com/office/drawing/2014/main" id="{A5C49E6B-F3A9-4DDC-B3AD-089EA062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15 requests</a:t>
            </a:r>
          </a:p>
        </p:txBody>
      </p:sp>
      <p:sp>
        <p:nvSpPr>
          <p:cNvPr id="7" name="c3-text-226">
            <a:extLst xmlns:a="http://schemas.openxmlformats.org/drawingml/2006/main">
              <a:ext uri="{FF2B5EF4-FFF2-40B4-BE49-F238E27FC236}">
                <a16:creationId xmlns:a16="http://schemas.microsoft.com/office/drawing/2014/main" id="{1AEB53A5-057B-476C-A81F-25BF20C9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3909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One dataset, one model call.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wrong predictions.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Tune prompt and description.</a:t>
            </a:r>
          </a:p>
        </p:txBody>
      </p:sp>
      <p:sp>
        <p:nvSpPr>
          <p:cNvPr id="8" name="c3-shape-227">
            <a:extLst xmlns:a="http://schemas.openxmlformats.org/drawingml/2006/main">
              <a:ext uri="{FF2B5EF4-FFF2-40B4-BE49-F238E27FC236}">
                <a16:creationId xmlns:a16="http://schemas.microsoft.com/office/drawing/2014/main" id="{FDE2D8D5-67CE-4647-89B3-66464985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3771900" cy="1933575"/>
          </a:xfrm>
          <a:prstGeom xmlns:a="http://schemas.openxmlformats.org/drawingml/2006/main" prst="roundRect">
            <a:avLst>
              <a:gd name="adj" fmla="val 3941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28">
            <a:extLst xmlns:a="http://schemas.openxmlformats.org/drawingml/2006/main">
              <a:ext uri="{FF2B5EF4-FFF2-40B4-BE49-F238E27FC236}">
                <a16:creationId xmlns:a16="http://schemas.microsoft.com/office/drawing/2014/main" id="{DF0B8EAD-B46B-426A-94D0-7D8DE47D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29">
            <a:extLst xmlns:a="http://schemas.openxmlformats.org/drawingml/2006/main">
              <a:ext uri="{FF2B5EF4-FFF2-40B4-BE49-F238E27FC236}">
                <a16:creationId xmlns:a16="http://schemas.microsoft.com/office/drawing/2014/main" id="{D18689F9-FA84-47C0-8633-38069CD1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One score</a:t>
            </a:r>
          </a:p>
        </p:txBody>
      </p:sp>
      <p:sp>
        <p:nvSpPr>
          <p:cNvPr id="11" name="c3-text-230">
            <a:extLst xmlns:a="http://schemas.openxmlformats.org/drawingml/2006/main">
              <a:ext uri="{FF2B5EF4-FFF2-40B4-BE49-F238E27FC236}">
                <a16:creationId xmlns:a16="http://schemas.microsoft.com/office/drawing/2014/main" id="{1A3B877E-FBE1-4D5B-81A4-08076220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3390900" cy="1209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labels out of the input.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Rerun the same evaluation.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Aim for the highest accuracy.</a:t>
            </a:r>
          </a:p>
        </p:txBody>
      </p:sp>
      <p:sp>
        <p:nvSpPr>
          <p:cNvPr id="12" name="c3-text-231">
            <a:extLst xmlns:a="http://schemas.openxmlformats.org/drawingml/2006/main">
              <a:ext uri="{FF2B5EF4-FFF2-40B4-BE49-F238E27FC236}">
                <a16:creationId xmlns:a16="http://schemas.microsoft.com/office/drawing/2014/main" id="{91B9B604-F342-4812-A0A2-2F03510C5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924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The code is ready. Tune the prompt and field description.</a:t>
            </a:r>
          </a:p>
        </p:txBody>
      </p:sp>
      <p:sp>
        <p:nvSpPr>
          <p:cNvPr id="13" name="c3-text-320">
            <a:extLst xmlns:a="http://schemas.openxmlformats.org/drawingml/2006/main">
              <a:ext uri="{FF2B5EF4-FFF2-40B4-BE49-F238E27FC236}">
                <a16:creationId xmlns:a16="http://schemas.microsoft.com/office/drawing/2014/main" id="{C8A9C564-87E1-4955-B981-34349548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8769632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3-text-232">
            <a:extLst xmlns:a="http://schemas.openxmlformats.org/drawingml/2006/main">
              <a:ext uri="{FF2B5EF4-FFF2-40B4-BE49-F238E27FC236}">
                <a16:creationId xmlns:a16="http://schemas.microsoft.com/office/drawing/2014/main" id="{94431C4A-A9CD-423F-82F4-6BE763EB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33">
            <a:extLst xmlns:a="http://schemas.openxmlformats.org/drawingml/2006/main">
              <a:ext uri="{FF2B5EF4-FFF2-40B4-BE49-F238E27FC236}">
                <a16:creationId xmlns:a16="http://schemas.microsoft.com/office/drawing/2014/main" id="{C0F2EF8D-E5CF-4BCB-8EF3-5FDAACC7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Errors and Improve Accuracy</a:t>
            </a:r>
          </a:p>
        </p:txBody>
      </p:sp>
      <p:sp>
        <p:nvSpPr>
          <p:cNvPr id="3" name="c3-text-234">
            <a:extLst xmlns:a="http://schemas.openxmlformats.org/drawingml/2006/main">
              <a:ext uri="{FF2B5EF4-FFF2-40B4-BE49-F238E27FC236}">
                <a16:creationId xmlns:a16="http://schemas.microsoft.com/office/drawing/2014/main" id="{019001B0-760B-4C0C-8359-F14D10A2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235">
            <a:extLst xmlns:a="http://schemas.openxmlformats.org/drawingml/2006/main">
              <a:ext uri="{FF2B5EF4-FFF2-40B4-BE49-F238E27FC236}">
                <a16:creationId xmlns:a16="http://schemas.microsoft.com/office/drawing/2014/main" id="{19619E6C-61F5-4ED8-B95E-EC83ED67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7924800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text-236">
            <a:extLst xmlns:a="http://schemas.openxmlformats.org/drawingml/2006/main">
              <a:ext uri="{FF2B5EF4-FFF2-40B4-BE49-F238E27FC236}">
                <a16:creationId xmlns:a16="http://schemas.microsoft.com/office/drawing/2014/main" id="{8823A244-F4D3-4A4E-B236-B7EC8871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7543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Accuracy = correct predictions / number of requests</a:t>
            </a:r>
          </a:p>
        </p:txBody>
      </p:sp>
      <p:sp>
        <p:nvSpPr>
          <p:cNvPr id="6" name="c3-text-237">
            <a:extLst xmlns:a="http://schemas.openxmlformats.org/drawingml/2006/main">
              <a:ext uri="{FF2B5EF4-FFF2-40B4-BE49-F238E27FC236}">
                <a16:creationId xmlns:a16="http://schemas.microsoft.com/office/drawing/2014/main" id="{0926BEAE-EE39-4485-8EF9-130C8538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7924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Inspect the errors, tune the prompt, then classify the requests again.</a:t>
            </a:r>
          </a:p>
        </p:txBody>
      </p:sp>
      <p:sp>
        <p:nvSpPr>
          <p:cNvPr id="7" name="c3-text-238">
            <a:hlinkClick xmlns:r="http://schemas.openxmlformats.org/officeDocument/2006/relationships" xmlns:a="http://schemas.openxmlformats.org/drawingml/2006/main" r:id="R06a3005047694a44"/>
            <a:extLst xmlns:a="http://schemas.openxmlformats.org/drawingml/2006/main">
              <a:ext uri="{FF2B5EF4-FFF2-40B4-BE49-F238E27FC236}">
                <a16:creationId xmlns:a16="http://schemas.microsoft.com/office/drawing/2014/main" id="{212928B2-2DC5-4E8D-8DE3-B78129BC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2. Tune a classifier prompt</a:t>
            </a:r>
          </a:p>
        </p:txBody>
      </p:sp>
      <p:sp>
        <p:nvSpPr>
          <p:cNvPr id="8" name="c3-text-321">
            <a:extLst xmlns:a="http://schemas.openxmlformats.org/drawingml/2006/main">
              <a:ext uri="{FF2B5EF4-FFF2-40B4-BE49-F238E27FC236}">
                <a16:creationId xmlns:a16="http://schemas.microsoft.com/office/drawing/2014/main" id="{6951323C-3498-49F1-B789-4676824A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9850612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3-text-239">
            <a:extLst xmlns:a="http://schemas.openxmlformats.org/drawingml/2006/main">
              <a:ext uri="{FF2B5EF4-FFF2-40B4-BE49-F238E27FC236}">
                <a16:creationId xmlns:a16="http://schemas.microsoft.com/office/drawing/2014/main" id="{AD197AE1-353B-475B-B2EE-E3B3D40D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40">
            <a:extLst xmlns:a="http://schemas.openxmlformats.org/drawingml/2006/main">
              <a:ext uri="{FF2B5EF4-FFF2-40B4-BE49-F238E27FC236}">
                <a16:creationId xmlns:a16="http://schemas.microsoft.com/office/drawing/2014/main" id="{722B10CD-B6A3-4D82-98C0-0A7204DA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 Structured Reply Controls the Avatar</a:t>
            </a:r>
          </a:p>
        </p:txBody>
      </p:sp>
      <p:sp>
        <p:nvSpPr>
          <p:cNvPr id="3" name="c3-text-241">
            <a:extLst xmlns:a="http://schemas.openxmlformats.org/drawingml/2006/main">
              <a:ext uri="{FF2B5EF4-FFF2-40B4-BE49-F238E27FC236}">
                <a16:creationId xmlns:a16="http://schemas.microsoft.com/office/drawing/2014/main" id="{9284DA92-3639-426D-9008-E579A73B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7924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Return the fields expected by the server.</a:t>
            </a:r>
          </a:p>
        </p:txBody>
      </p:sp>
      <p:sp>
        <p:nvSpPr>
          <p:cNvPr id="4" name="c3-text-242">
            <a:extLst xmlns:a="http://schemas.openxmlformats.org/drawingml/2006/main">
              <a:ext uri="{FF2B5EF4-FFF2-40B4-BE49-F238E27FC236}">
                <a16:creationId xmlns:a16="http://schemas.microsoft.com/office/drawing/2014/main" id="{2CD1CD9E-4E3C-49FE-AABE-428DCAED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5" name="c3-shape-243">
            <a:extLst xmlns:a="http://schemas.openxmlformats.org/drawingml/2006/main">
              <a:ext uri="{FF2B5EF4-FFF2-40B4-BE49-F238E27FC236}">
                <a16:creationId xmlns:a16="http://schemas.microsoft.com/office/drawing/2014/main" id="{3A963D49-53E5-4F84-9C1F-0CC0978F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4305300" cy="2028825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6" name="c3-text-244">
            <a:extLst xmlns:a="http://schemas.openxmlformats.org/drawingml/2006/main">
              <a:ext uri="{FF2B5EF4-FFF2-40B4-BE49-F238E27FC236}">
                <a16:creationId xmlns:a16="http://schemas.microsoft.com/office/drawing/2014/main" id="{5868A02F-75FF-47D4-860E-C6FF3D0B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76475"/>
            <a:ext cx="39624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"speech_text": "Welcome!",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"emotion": "HAPPY",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"expression": null,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  "gesture": "handup"</a:t>
            </a:r>
          </a:p>
          <a:p xmlns:a="http://schemas.openxmlformats.org/drawingml/2006/main">
            <a:pPr>
              <a:defRPr sz="1650" b="0">
                <a:solidFill>
                  <a:srgbClr val="ECE6D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CE6DE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c3-shape-245">
            <a:extLst xmlns:a="http://schemas.openxmlformats.org/drawingml/2006/main">
              <a:ext uri="{FF2B5EF4-FFF2-40B4-BE49-F238E27FC236}">
                <a16:creationId xmlns:a16="http://schemas.microsoft.com/office/drawing/2014/main" id="{8E2F65BA-1C21-44EA-89F3-7665B141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43125"/>
            <a:ext cx="3314700" cy="2028825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8" name="c3-shape-246">
            <a:extLst xmlns:a="http://schemas.openxmlformats.org/drawingml/2006/main">
              <a:ext uri="{FF2B5EF4-FFF2-40B4-BE49-F238E27FC236}">
                <a16:creationId xmlns:a16="http://schemas.microsoft.com/office/drawing/2014/main" id="{2FD25443-B49B-4B95-946C-323CDFE6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0505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9" name="c3-text-247">
            <a:extLst xmlns:a="http://schemas.openxmlformats.org/drawingml/2006/main">
              <a:ext uri="{FF2B5EF4-FFF2-40B4-BE49-F238E27FC236}">
                <a16:creationId xmlns:a16="http://schemas.microsoft.com/office/drawing/2014/main" id="{1AE18349-9328-45FF-A249-C74173C0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400300"/>
            <a:ext cx="293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Avatar behaviour</a:t>
            </a:r>
          </a:p>
        </p:txBody>
      </p:sp>
      <p:sp>
        <p:nvSpPr>
          <p:cNvPr id="10" name="c3-text-248">
            <a:extLst xmlns:a="http://schemas.openxmlformats.org/drawingml/2006/main">
              <a:ext uri="{FF2B5EF4-FFF2-40B4-BE49-F238E27FC236}">
                <a16:creationId xmlns:a16="http://schemas.microsoft.com/office/drawing/2014/main" id="{01D54ECD-6037-45D3-BBEE-0C201311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743200"/>
            <a:ext cx="293370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Speak the text.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Set emotion and expression.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Perform the gesture.</a:t>
            </a:r>
          </a:p>
        </p:txBody>
      </p:sp>
      <p:sp>
        <p:nvSpPr>
          <p:cNvPr id="11" name="c3-text-322">
            <a:extLst xmlns:a="http://schemas.openxmlformats.org/drawingml/2006/main">
              <a:ext uri="{FF2B5EF4-FFF2-40B4-BE49-F238E27FC236}">
                <a16:creationId xmlns:a16="http://schemas.microsoft.com/office/drawing/2014/main" id="{7D95421D-3A57-411F-95C4-1851D096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451557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c3-text-249">
            <a:extLst xmlns:a="http://schemas.openxmlformats.org/drawingml/2006/main">
              <a:ext uri="{FF2B5EF4-FFF2-40B4-BE49-F238E27FC236}">
                <a16:creationId xmlns:a16="http://schemas.microsoft.com/office/drawing/2014/main" id="{AAC007B0-2D62-4E8E-A258-6C4B603C5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50">
            <a:extLst xmlns:a="http://schemas.openxmlformats.org/drawingml/2006/main">
              <a:ext uri="{FF2B5EF4-FFF2-40B4-BE49-F238E27FC236}">
                <a16:creationId xmlns:a16="http://schemas.microsoft.com/office/drawing/2014/main" id="{8DB23F57-75F3-4239-9A63-BD27EB3E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Try on the Structured Agent</a:t>
            </a:r>
          </a:p>
        </p:txBody>
      </p:sp>
      <p:sp>
        <p:nvSpPr>
          <p:cNvPr id="3" name="c3-text-251">
            <a:extLst xmlns:a="http://schemas.openxmlformats.org/drawingml/2006/main">
              <a:ext uri="{FF2B5EF4-FFF2-40B4-BE49-F238E27FC236}">
                <a16:creationId xmlns:a16="http://schemas.microsoft.com/office/drawing/2014/main" id="{985B90AB-713C-4901-98FA-5B40E7561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252">
            <a:extLst xmlns:a="http://schemas.openxmlformats.org/drawingml/2006/main">
              <a:ext uri="{FF2B5EF4-FFF2-40B4-BE49-F238E27FC236}">
                <a16:creationId xmlns:a16="http://schemas.microsoft.com/office/drawing/2014/main" id="{C74415F1-4814-45D1-A6EC-3C3F0AAD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53">
            <a:extLst xmlns:a="http://schemas.openxmlformats.org/drawingml/2006/main">
              <a:ext uri="{FF2B5EF4-FFF2-40B4-BE49-F238E27FC236}">
                <a16:creationId xmlns:a16="http://schemas.microsoft.com/office/drawing/2014/main" id="{B38A259E-FFEB-4486-9CC8-1987464E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54">
            <a:extLst xmlns:a="http://schemas.openxmlformats.org/drawingml/2006/main">
              <a:ext uri="{FF2B5EF4-FFF2-40B4-BE49-F238E27FC236}">
                <a16:creationId xmlns:a16="http://schemas.microsoft.com/office/drawing/2014/main" id="{94DFC3BF-4B0C-4A7E-B621-33A890AB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Reuse the same pattern</a:t>
            </a:r>
          </a:p>
        </p:txBody>
      </p:sp>
      <p:sp>
        <p:nvSpPr>
          <p:cNvPr id="7" name="c3-text-255">
            <a:extLst xmlns:a="http://schemas.openxmlformats.org/drawingml/2006/main">
              <a:ext uri="{FF2B5EF4-FFF2-40B4-BE49-F238E27FC236}">
                <a16:creationId xmlns:a16="http://schemas.microsoft.com/office/drawing/2014/main" id="{7FBF80D8-0B44-455A-B650-46F8FAE0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ModelReply defines the fields.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 supplies its schema.</a:t>
            </a:r>
          </a:p>
          <a:p xmlns:a="http://schemas.openxmlformats.org/drawingml/2006/main">
            <a:pPr>
              <a:defRPr sz="172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Human supplies the request.</a:t>
            </a:r>
          </a:p>
        </p:txBody>
      </p:sp>
      <p:sp>
        <p:nvSpPr>
          <p:cNvPr id="8" name="c3-shape-256">
            <a:extLst xmlns:a="http://schemas.openxmlformats.org/drawingml/2006/main">
              <a:ext uri="{FF2B5EF4-FFF2-40B4-BE49-F238E27FC236}">
                <a16:creationId xmlns:a16="http://schemas.microsoft.com/office/drawing/2014/main" id="{332FE1EA-7794-4E6A-9950-037D7CF02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3771900" cy="2057400"/>
          </a:xfrm>
          <a:prstGeom xmlns:a="http://schemas.openxmlformats.org/drawingml/2006/main" prst="roundRect">
            <a:avLst>
              <a:gd name="adj" fmla="val 3704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57">
            <a:extLst xmlns:a="http://schemas.openxmlformats.org/drawingml/2006/main">
              <a:ext uri="{FF2B5EF4-FFF2-40B4-BE49-F238E27FC236}">
                <a16:creationId xmlns:a16="http://schemas.microsoft.com/office/drawing/2014/main" id="{389FF947-46B6-4377-B0B5-B6A487CC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47900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58">
            <a:extLst xmlns:a="http://schemas.openxmlformats.org/drawingml/2006/main">
              <a:ext uri="{FF2B5EF4-FFF2-40B4-BE49-F238E27FC236}">
                <a16:creationId xmlns:a16="http://schemas.microsoft.com/office/drawing/2014/main" id="{BC4DF6B5-5A7B-4AB3-84E3-EE39D1B4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43150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Try on the agent</a:t>
            </a:r>
          </a:p>
        </p:txBody>
      </p:sp>
      <p:sp>
        <p:nvSpPr>
          <p:cNvPr id="11" name="c3-text-259">
            <a:extLst xmlns:a="http://schemas.openxmlformats.org/drawingml/2006/main">
              <a:ext uri="{FF2B5EF4-FFF2-40B4-BE49-F238E27FC236}">
                <a16:creationId xmlns:a16="http://schemas.microsoft.com/office/drawing/2014/main" id="{A33C4B51-5182-47F9-85E1-57B95E19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86050"/>
            <a:ext cx="33909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Select the structured agent.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Ask for a happy welcome</a:t>
            </a:r>
          </a:p>
          <a:p xmlns:a="http://schemas.openxmlformats.org/drawingml/2006/main">
            <a:pPr>
              <a:defRPr sz="18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a raised hand.</a:t>
            </a:r>
          </a:p>
        </p:txBody>
      </p:sp>
      <p:sp>
        <p:nvSpPr>
          <p:cNvPr id="12" name="c3-text-260">
            <a:hlinkClick xmlns:r="http://schemas.openxmlformats.org/officeDocument/2006/relationships" xmlns:a="http://schemas.openxmlformats.org/drawingml/2006/main" r:id="Re6dacd47b3b94171"/>
            <a:extLst xmlns:a="http://schemas.openxmlformats.org/drawingml/2006/main">
              <a:ext uri="{FF2B5EF4-FFF2-40B4-BE49-F238E27FC236}">
                <a16:creationId xmlns:a16="http://schemas.microsoft.com/office/drawing/2014/main" id="{3EB29164-04D7-42D1-AB22-B8EB28C1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3. A response that controls the avatar</a:t>
            </a:r>
          </a:p>
        </p:txBody>
      </p:sp>
      <p:sp>
        <p:nvSpPr>
          <p:cNvPr id="13" name="c3-text-323">
            <a:extLst xmlns:a="http://schemas.openxmlformats.org/drawingml/2006/main">
              <a:ext uri="{FF2B5EF4-FFF2-40B4-BE49-F238E27FC236}">
                <a16:creationId xmlns:a16="http://schemas.microsoft.com/office/drawing/2014/main" id="{FC844AEC-39C9-418D-BE24-343C2D34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178081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3-text-261">
            <a:extLst xmlns:a="http://schemas.openxmlformats.org/drawingml/2006/main">
              <a:ext uri="{FF2B5EF4-FFF2-40B4-BE49-F238E27FC236}">
                <a16:creationId xmlns:a16="http://schemas.microsoft.com/office/drawing/2014/main" id="{B7EEA41E-2CE7-401C-92AE-3585E650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62">
            <a:extLst xmlns:a="http://schemas.openxmlformats.org/drawingml/2006/main">
              <a:ext uri="{FF2B5EF4-FFF2-40B4-BE49-F238E27FC236}">
                <a16:creationId xmlns:a16="http://schemas.microsoft.com/office/drawing/2014/main" id="{435D5B54-0794-4262-87CE-3DEC26BD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Exercise: Short-Term Conversation Memory</a:t>
            </a:r>
          </a:p>
        </p:txBody>
      </p:sp>
      <p:sp>
        <p:nvSpPr>
          <p:cNvPr id="3" name="c3-text-263">
            <a:extLst xmlns:a="http://schemas.openxmlformats.org/drawingml/2006/main">
              <a:ext uri="{FF2B5EF4-FFF2-40B4-BE49-F238E27FC236}">
                <a16:creationId xmlns:a16="http://schemas.microsoft.com/office/drawing/2014/main" id="{02D3B84C-CBD1-43A7-8221-E2990E66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shape-264">
            <a:extLst xmlns:a="http://schemas.openxmlformats.org/drawingml/2006/main">
              <a:ext uri="{FF2B5EF4-FFF2-40B4-BE49-F238E27FC236}">
                <a16:creationId xmlns:a16="http://schemas.microsoft.com/office/drawing/2014/main" id="{C5AD46D8-962D-435F-9DC9-5573CF21E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771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5" name="c3-shape-265">
            <a:extLst xmlns:a="http://schemas.openxmlformats.org/drawingml/2006/main">
              <a:ext uri="{FF2B5EF4-FFF2-40B4-BE49-F238E27FC236}">
                <a16:creationId xmlns:a16="http://schemas.microsoft.com/office/drawing/2014/main" id="{C1601E7C-EF33-4283-8637-89E7486B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06B"/>
          </a:solidFill>
          <a:ln xmlns:a="http://schemas.openxmlformats.org/drawingml/2006/main" w="9525">
            <a:solidFill>
              <a:srgbClr val="D9A06B"/>
            </a:solidFill>
          </a:ln>
        </p:spPr>
      </p:sp>
      <p:sp>
        <p:nvSpPr>
          <p:cNvPr id="6" name="c3-text-266">
            <a:extLst xmlns:a="http://schemas.openxmlformats.org/drawingml/2006/main">
              <a:ext uri="{FF2B5EF4-FFF2-40B4-BE49-F238E27FC236}">
                <a16:creationId xmlns:a16="http://schemas.microsoft.com/office/drawing/2014/main" id="{48ABE5C7-9EAB-4F51-ADD9-4CFA8EC8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Earlier turn</a:t>
            </a:r>
          </a:p>
        </p:txBody>
      </p:sp>
      <p:sp>
        <p:nvSpPr>
          <p:cNvPr id="7" name="c3-text-267">
            <a:extLst xmlns:a="http://schemas.openxmlformats.org/drawingml/2006/main">
              <a:ext uri="{FF2B5EF4-FFF2-40B4-BE49-F238E27FC236}">
                <a16:creationId xmlns:a16="http://schemas.microsoft.com/office/drawing/2014/main" id="{FD714155-DB94-4F93-B762-C6F72BCD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43175"/>
            <a:ext cx="33909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"My name is Lea.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My favourite colour is green."</a:t>
            </a:r>
          </a:p>
        </p:txBody>
      </p:sp>
      <p:sp>
        <p:nvSpPr>
          <p:cNvPr id="8" name="c3-shape-268">
            <a:extLst xmlns:a="http://schemas.openxmlformats.org/drawingml/2006/main">
              <a:ext uri="{FF2B5EF4-FFF2-40B4-BE49-F238E27FC236}">
                <a16:creationId xmlns:a16="http://schemas.microsoft.com/office/drawing/2014/main" id="{1F17CE17-E4F8-43AE-81E6-778FE011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3771900" cy="1952625"/>
          </a:xfrm>
          <a:prstGeom xmlns:a="http://schemas.openxmlformats.org/drawingml/2006/main" prst="roundRect">
            <a:avLst>
              <a:gd name="adj" fmla="val 3902"/>
            </a:avLst>
          </a:prstGeom>
          <a:solidFill xmlns:a="http://schemas.openxmlformats.org/drawingml/2006/main">
            <a:srgbClr val="121A27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9" name="c3-shape-269">
            <a:extLst xmlns:a="http://schemas.openxmlformats.org/drawingml/2006/main">
              <a:ext uri="{FF2B5EF4-FFF2-40B4-BE49-F238E27FC236}">
                <a16:creationId xmlns:a16="http://schemas.microsoft.com/office/drawing/2014/main" id="{B0869FD5-5270-4340-A300-BD4DBB5B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342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A8E3"/>
          </a:solidFill>
          <a:ln xmlns:a="http://schemas.openxmlformats.org/drawingml/2006/main" w="9525">
            <a:solidFill>
              <a:srgbClr val="7FA8E3"/>
            </a:solidFill>
          </a:ln>
        </p:spPr>
      </p:sp>
      <p:sp>
        <p:nvSpPr>
          <p:cNvPr id="10" name="c3-text-270">
            <a:extLst xmlns:a="http://schemas.openxmlformats.org/drawingml/2006/main">
              <a:ext uri="{FF2B5EF4-FFF2-40B4-BE49-F238E27FC236}">
                <a16:creationId xmlns:a16="http://schemas.microsoft.com/office/drawing/2014/main" id="{04AB3EBA-6F3E-46AE-9B35-84916BB0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0275"/>
            <a:ext cx="3390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Later question</a:t>
            </a:r>
          </a:p>
        </p:txBody>
      </p:sp>
      <p:sp>
        <p:nvSpPr>
          <p:cNvPr id="11" name="c3-text-271">
            <a:extLst xmlns:a="http://schemas.openxmlformats.org/drawingml/2006/main">
              <a:ext uri="{FF2B5EF4-FFF2-40B4-BE49-F238E27FC236}">
                <a16:creationId xmlns:a16="http://schemas.microsoft.com/office/drawing/2014/main" id="{B8CDE514-FE97-42EA-AEEE-F223FEF6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43175"/>
            <a:ext cx="339090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"What is my name</a:t>
            </a:r>
          </a:p>
          <a:p xmlns:a="http://schemas.openxmlformats.org/drawingml/2006/main">
            <a:pPr>
              <a:defRPr sz="1875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and my favourite colour?"</a:t>
            </a:r>
          </a:p>
        </p:txBody>
      </p:sp>
      <p:sp>
        <p:nvSpPr>
          <p:cNvPr id="12" name="c3-text-272">
            <a:extLst xmlns:a="http://schemas.openxmlformats.org/drawingml/2006/main">
              <a:ext uri="{FF2B5EF4-FFF2-40B4-BE49-F238E27FC236}">
                <a16:creationId xmlns:a16="http://schemas.microsoft.com/office/drawing/2014/main" id="{C40D3ADC-A0CD-4C39-8580-2721F1C1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92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Keep human and AI messages in a list and resend them on every call.</a:t>
            </a:r>
          </a:p>
          <a:p xmlns:a="http://schemas.openxmlformats.org/drawingml/2006/main">
            <a:pPr>
              <a:defRPr sz="150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your own memory agent from the naive agent, then try both turns.</a:t>
            </a:r>
          </a:p>
        </p:txBody>
      </p:sp>
      <p:sp>
        <p:nvSpPr>
          <p:cNvPr id="13" name="c3-text-273">
            <a:hlinkClick xmlns:r="http://schemas.openxmlformats.org/officeDocument/2006/relationships" xmlns:a="http://schemas.openxmlformats.org/drawingml/2006/main" r:id="R8442b1163c5043ce"/>
            <a:extLst xmlns:a="http://schemas.openxmlformats.org/drawingml/2006/main">
              <a:ext uri="{FF2B5EF4-FFF2-40B4-BE49-F238E27FC236}">
                <a16:creationId xmlns:a16="http://schemas.microsoft.com/office/drawing/2014/main" id="{E275F1D6-B988-4C90-881A-23685A553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7924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FA8E3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7FA8E3"/>
                </a:solidFill>
                <a:latin typeface="Calibri"/>
                <a:ea typeface="Calibri"/>
                <a:cs typeface="Calibri"/>
              </a:rPr>
              <a:t>Open 02_structured_output.ipynb: 4. Short-term conversation memory</a:t>
            </a:r>
          </a:p>
        </p:txBody>
      </p:sp>
      <p:sp>
        <p:nvSpPr>
          <p:cNvPr id="14" name="c3-text-324">
            <a:extLst xmlns:a="http://schemas.openxmlformats.org/drawingml/2006/main">
              <a:ext uri="{FF2B5EF4-FFF2-40B4-BE49-F238E27FC236}">
                <a16:creationId xmlns:a16="http://schemas.microsoft.com/office/drawing/2014/main" id="{AA6C38ED-5566-4DFA-9F1B-FD6E048BA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423489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A0D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c3-text-274">
            <a:extLst xmlns:a="http://schemas.openxmlformats.org/drawingml/2006/main">
              <a:ext uri="{FF2B5EF4-FFF2-40B4-BE49-F238E27FC236}">
                <a16:creationId xmlns:a16="http://schemas.microsoft.com/office/drawing/2014/main" id="{439384F7-31BD-4AEE-8F3B-72399EE3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"/>
            <a:ext cx="792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AI-Powered Virtual Humans: LLM-Powered Cognitive Architectures</a:t>
            </a:r>
          </a:p>
        </p:txBody>
      </p:sp>
      <p:sp>
        <p:nvSpPr>
          <p:cNvPr id="2" name="c3-text-275">
            <a:extLst xmlns:a="http://schemas.openxmlformats.org/drawingml/2006/main">
              <a:ext uri="{FF2B5EF4-FFF2-40B4-BE49-F238E27FC236}">
                <a16:creationId xmlns:a16="http://schemas.microsoft.com/office/drawing/2014/main" id="{AD1A60BD-ED57-4931-A641-32183B1B1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7924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c3-text-276">
            <a:extLst xmlns:a="http://schemas.openxmlformats.org/drawingml/2006/main">
              <a:ext uri="{FF2B5EF4-FFF2-40B4-BE49-F238E27FC236}">
                <a16:creationId xmlns:a16="http://schemas.microsoft.com/office/drawing/2014/main" id="{72415E41-03FE-40A0-BC2B-70655CC4A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81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Module 1 Â· Chapter 03</a:t>
            </a:r>
          </a:p>
        </p:txBody>
      </p:sp>
      <p:sp>
        <p:nvSpPr>
          <p:cNvPr id="4" name="c3-text-277">
            <a:hlinkClick xmlns:r="http://schemas.openxmlformats.org/officeDocument/2006/relationships" xmlns:a="http://schemas.openxmlformats.org/drawingml/2006/main" r:id="R3dab7655c8c84d85"/>
            <a:extLst xmlns:a="http://schemas.openxmlformats.org/drawingml/2006/main">
              <a:ext uri="{FF2B5EF4-FFF2-40B4-BE49-F238E27FC236}">
                <a16:creationId xmlns:a16="http://schemas.microsoft.com/office/drawing/2014/main" id="{550E9E12-9E4B-459E-87BB-0BBD6D64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[1] LangChain models</a:t>
            </a:r>
          </a:p>
        </p:txBody>
      </p:sp>
      <p:sp>
        <p:nvSpPr>
          <p:cNvPr id="5" name="c3-text-278">
            <a:hlinkClick xmlns:r="http://schemas.openxmlformats.org/officeDocument/2006/relationships" xmlns:a="http://schemas.openxmlformats.org/drawingml/2006/main" r:id="Rd2a2b5dd40c140c2"/>
            <a:extLst xmlns:a="http://schemas.openxmlformats.org/drawingml/2006/main">
              <a:ext uri="{FF2B5EF4-FFF2-40B4-BE49-F238E27FC236}">
                <a16:creationId xmlns:a16="http://schemas.microsoft.com/office/drawing/2014/main" id="{BE18C5E8-F861-4CD6-8256-2E7DF6C8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Common interfaces and composition</a:t>
            </a:r>
          </a:p>
        </p:txBody>
      </p:sp>
      <p:sp>
        <p:nvSpPr>
          <p:cNvPr id="6" name="c3-shape-279">
            <a:extLst xmlns:a="http://schemas.openxmlformats.org/drawingml/2006/main">
              <a:ext uri="{FF2B5EF4-FFF2-40B4-BE49-F238E27FC236}">
                <a16:creationId xmlns:a16="http://schemas.microsoft.com/office/drawing/2014/main" id="{1B8FA45B-B816-4BEC-9D57-9DCCE4071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7" name="c3-text-280">
            <a:hlinkClick xmlns:r="http://schemas.openxmlformats.org/officeDocument/2006/relationships" xmlns:a="http://schemas.openxmlformats.org/drawingml/2006/main" r:id="Rf910d9152b2a4752"/>
            <a:extLst xmlns:a="http://schemas.openxmlformats.org/drawingml/2006/main">
              <a:ext uri="{FF2B5EF4-FFF2-40B4-BE49-F238E27FC236}">
                <a16:creationId xmlns:a16="http://schemas.microsoft.com/office/drawing/2014/main" id="{5DC0A918-B94C-4011-A2F7-31F17EB6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[2] ChatOllama</a:t>
            </a:r>
          </a:p>
        </p:txBody>
      </p:sp>
      <p:sp>
        <p:nvSpPr>
          <p:cNvPr id="8" name="c3-text-281">
            <a:hlinkClick xmlns:r="http://schemas.openxmlformats.org/officeDocument/2006/relationships" xmlns:a="http://schemas.openxmlformats.org/drawingml/2006/main" r:id="R5123edfb45704939"/>
            <a:extLst xmlns:a="http://schemas.openxmlformats.org/drawingml/2006/main">
              <a:ext uri="{FF2B5EF4-FFF2-40B4-BE49-F238E27FC236}">
                <a16:creationId xmlns:a16="http://schemas.microsoft.com/office/drawing/2014/main" id="{43141612-66AE-4EF3-BBA6-78708800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Provider integration and model calls</a:t>
            </a:r>
          </a:p>
        </p:txBody>
      </p:sp>
      <p:sp>
        <p:nvSpPr>
          <p:cNvPr id="9" name="c3-shape-282">
            <a:extLst xmlns:a="http://schemas.openxmlformats.org/drawingml/2006/main">
              <a:ext uri="{FF2B5EF4-FFF2-40B4-BE49-F238E27FC236}">
                <a16:creationId xmlns:a16="http://schemas.microsoft.com/office/drawing/2014/main" id="{D8FDB354-2E28-4FAE-BCAE-417C50C45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0" name="c3-text-283">
            <a:hlinkClick xmlns:r="http://schemas.openxmlformats.org/officeDocument/2006/relationships" xmlns:a="http://schemas.openxmlformats.org/drawingml/2006/main" r:id="R4857e05a06b344bb"/>
            <a:extLst xmlns:a="http://schemas.openxmlformats.org/drawingml/2006/main">
              <a:ext uri="{FF2B5EF4-FFF2-40B4-BE49-F238E27FC236}">
                <a16:creationId xmlns:a16="http://schemas.microsoft.com/office/drawing/2014/main" id="{1BE5AFBB-0596-42BC-B5A6-785CA232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[3] RunnableSequence</a:t>
            </a:r>
          </a:p>
        </p:txBody>
      </p:sp>
      <p:sp>
        <p:nvSpPr>
          <p:cNvPr id="11" name="c3-text-284">
            <a:hlinkClick xmlns:r="http://schemas.openxmlformats.org/officeDocument/2006/relationships" xmlns:a="http://schemas.openxmlformats.org/drawingml/2006/main" r:id="Ra9eee445c3b84bed"/>
            <a:extLst xmlns:a="http://schemas.openxmlformats.org/drawingml/2006/main">
              <a:ext uri="{FF2B5EF4-FFF2-40B4-BE49-F238E27FC236}">
                <a16:creationId xmlns:a16="http://schemas.microsoft.com/office/drawing/2014/main" id="{1051B754-7425-4F1D-831D-CAC30416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Compose components with the pipe operator</a:t>
            </a:r>
          </a:p>
        </p:txBody>
      </p:sp>
      <p:sp>
        <p:nvSpPr>
          <p:cNvPr id="12" name="c3-shape-285">
            <a:extLst xmlns:a="http://schemas.openxmlformats.org/drawingml/2006/main">
              <a:ext uri="{FF2B5EF4-FFF2-40B4-BE49-F238E27FC236}">
                <a16:creationId xmlns:a16="http://schemas.microsoft.com/office/drawing/2014/main" id="{9129CA77-F6EE-4F9A-853E-BDACB9A7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3" name="c3-text-286">
            <a:hlinkClick xmlns:r="http://schemas.openxmlformats.org/officeDocument/2006/relationships" xmlns:a="http://schemas.openxmlformats.org/drawingml/2006/main" r:id="Ra5514c4786204e90"/>
            <a:extLst xmlns:a="http://schemas.openxmlformats.org/drawingml/2006/main">
              <a:ext uri="{FF2B5EF4-FFF2-40B4-BE49-F238E27FC236}">
                <a16:creationId xmlns:a16="http://schemas.microsoft.com/office/drawing/2014/main" id="{9E7E2E8B-A720-4BA0-B295-C4CC9D93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[4] Chat templates</a:t>
            </a:r>
          </a:p>
        </p:txBody>
      </p:sp>
      <p:sp>
        <p:nvSpPr>
          <p:cNvPr id="14" name="c3-text-287">
            <a:hlinkClick xmlns:r="http://schemas.openxmlformats.org/officeDocument/2006/relationships" xmlns:a="http://schemas.openxmlformats.org/drawingml/2006/main" r:id="R53f21be8e7744e2c"/>
            <a:extLst xmlns:a="http://schemas.openxmlformats.org/drawingml/2006/main">
              <a:ext uri="{FF2B5EF4-FFF2-40B4-BE49-F238E27FC236}">
                <a16:creationId xmlns:a16="http://schemas.microsoft.com/office/drawing/2014/main" id="{A774D2D6-4A8B-46BD-91D1-D2AFD341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Conversations, tokens and model-specific formats</a:t>
            </a:r>
          </a:p>
        </p:txBody>
      </p:sp>
      <p:sp>
        <p:nvSpPr>
          <p:cNvPr id="15" name="c3-text-288">
            <a:hlinkClick xmlns:r="http://schemas.openxmlformats.org/officeDocument/2006/relationships" xmlns:a="http://schemas.openxmlformats.org/drawingml/2006/main" r:id="R914eb66d96514deb"/>
            <a:extLst xmlns:a="http://schemas.openxmlformats.org/drawingml/2006/main">
              <a:ext uri="{FF2B5EF4-FFF2-40B4-BE49-F238E27FC236}">
                <a16:creationId xmlns:a16="http://schemas.microsoft.com/office/drawing/2014/main" id="{EF24E5B6-6F2A-4B4B-A6F2-7BE14D12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049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[5] LangChain messages</a:t>
            </a:r>
          </a:p>
        </p:txBody>
      </p:sp>
      <p:sp>
        <p:nvSpPr>
          <p:cNvPr id="16" name="c3-text-289">
            <a:hlinkClick xmlns:r="http://schemas.openxmlformats.org/officeDocument/2006/relationships" xmlns:a="http://schemas.openxmlformats.org/drawingml/2006/main" r:id="R5c94f7fee5cb4cdd"/>
            <a:extLst xmlns:a="http://schemas.openxmlformats.org/drawingml/2006/main">
              <a:ext uri="{FF2B5EF4-FFF2-40B4-BE49-F238E27FC236}">
                <a16:creationId xmlns:a16="http://schemas.microsoft.com/office/drawing/2014/main" id="{4B230717-E77B-4BD5-ACB4-D02AED74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System, human and AI message objects</a:t>
            </a:r>
          </a:p>
        </p:txBody>
      </p:sp>
      <p:sp>
        <p:nvSpPr>
          <p:cNvPr id="17" name="c3-shape-290">
            <a:extLst xmlns:a="http://schemas.openxmlformats.org/drawingml/2006/main">
              <a:ext uri="{FF2B5EF4-FFF2-40B4-BE49-F238E27FC236}">
                <a16:creationId xmlns:a16="http://schemas.microsoft.com/office/drawing/2014/main" id="{F3DF2911-FBD0-4974-B801-675FDDE9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383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18" name="c3-text-291">
            <a:hlinkClick xmlns:r="http://schemas.openxmlformats.org/officeDocument/2006/relationships" xmlns:a="http://schemas.openxmlformats.org/drawingml/2006/main" r:id="R52d4180f4c624d1a"/>
            <a:extLst xmlns:a="http://schemas.openxmlformats.org/drawingml/2006/main">
              <a:ext uri="{FF2B5EF4-FFF2-40B4-BE49-F238E27FC236}">
                <a16:creationId xmlns:a16="http://schemas.microsoft.com/office/drawing/2014/main" id="{919BFC1C-4157-461D-AD21-F0BF09A3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[6] ChatPromptTemplate</a:t>
            </a:r>
          </a:p>
        </p:txBody>
      </p:sp>
      <p:sp>
        <p:nvSpPr>
          <p:cNvPr id="19" name="c3-text-292">
            <a:hlinkClick xmlns:r="http://schemas.openxmlformats.org/officeDocument/2006/relationships" xmlns:a="http://schemas.openxmlformats.org/drawingml/2006/main" r:id="R3c1f0535a1214d04"/>
            <a:extLst xmlns:a="http://schemas.openxmlformats.org/drawingml/2006/main">
              <a:ext uri="{FF2B5EF4-FFF2-40B4-BE49-F238E27FC236}">
                <a16:creationId xmlns:a16="http://schemas.microsoft.com/office/drawing/2014/main" id="{119D5D82-9643-4FB7-B7A9-2A665F6F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908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Build and fill reusable message templates</a:t>
            </a:r>
          </a:p>
        </p:txBody>
      </p:sp>
      <p:sp>
        <p:nvSpPr>
          <p:cNvPr id="20" name="c3-shape-293">
            <a:extLst xmlns:a="http://schemas.openxmlformats.org/drawingml/2006/main">
              <a:ext uri="{FF2B5EF4-FFF2-40B4-BE49-F238E27FC236}">
                <a16:creationId xmlns:a16="http://schemas.microsoft.com/office/drawing/2014/main" id="{3607AB7C-1198-4B19-B425-756EC1EB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1942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1" name="c3-text-294">
            <a:hlinkClick xmlns:r="http://schemas.openxmlformats.org/officeDocument/2006/relationships" xmlns:a="http://schemas.openxmlformats.org/drawingml/2006/main" r:id="R00747809a7034e3a"/>
            <a:extLst xmlns:a="http://schemas.openxmlformats.org/drawingml/2006/main">
              <a:ext uri="{FF2B5EF4-FFF2-40B4-BE49-F238E27FC236}">
                <a16:creationId xmlns:a16="http://schemas.microsoft.com/office/drawing/2014/main" id="{3B31D05D-C6BD-433B-9CEA-E6F1052D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[7] ChatOllama structured output</a:t>
            </a:r>
          </a:p>
        </p:txBody>
      </p:sp>
      <p:sp>
        <p:nvSpPr>
          <p:cNvPr id="22" name="c3-text-295">
            <a:hlinkClick xmlns:r="http://schemas.openxmlformats.org/officeDocument/2006/relationships" xmlns:a="http://schemas.openxmlformats.org/drawingml/2006/main" r:id="R904dc3b90491480b"/>
            <a:extLst xmlns:a="http://schemas.openxmlformats.org/drawingml/2006/main">
              <a:ext uri="{FF2B5EF4-FFF2-40B4-BE49-F238E27FC236}">
                <a16:creationId xmlns:a16="http://schemas.microsoft.com/office/drawing/2014/main" id="{EC8D8AF4-B3C5-4A20-B3D7-96C6555C6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7185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Schema wrapper and provider-compatible methods</a:t>
            </a:r>
          </a:p>
        </p:txBody>
      </p:sp>
      <p:sp>
        <p:nvSpPr>
          <p:cNvPr id="23" name="c3-shape-296">
            <a:extLst xmlns:a="http://schemas.openxmlformats.org/drawingml/2006/main">
              <a:ext uri="{FF2B5EF4-FFF2-40B4-BE49-F238E27FC236}">
                <a16:creationId xmlns:a16="http://schemas.microsoft.com/office/drawing/2014/main" id="{01E1579B-DF7E-45F7-8ED5-358964BC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00475"/>
            <a:ext cx="377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458"/>
          </a:solidFill>
          <a:ln xmlns:a="http://schemas.openxmlformats.org/drawingml/2006/main" w="9525">
            <a:solidFill>
              <a:srgbClr val="3A4458"/>
            </a:solidFill>
          </a:ln>
        </p:spPr>
      </p:sp>
      <p:sp>
        <p:nvSpPr>
          <p:cNvPr id="24" name="c3-text-297">
            <a:hlinkClick xmlns:r="http://schemas.openxmlformats.org/officeDocument/2006/relationships" xmlns:a="http://schemas.openxmlformats.org/drawingml/2006/main" r:id="Rcd3707c4f60b4d3f"/>
            <a:extLst xmlns:a="http://schemas.openxmlformats.org/drawingml/2006/main">
              <a:ext uri="{FF2B5EF4-FFF2-40B4-BE49-F238E27FC236}">
                <a16:creationId xmlns:a16="http://schemas.microsoft.com/office/drawing/2014/main" id="{85315448-6AD7-4D08-B35C-DA1932CB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3771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9A06B"/>
                </a:solidFill>
                <a:latin typeface="Calibri"/>
                <a:ea typeface="Calibri"/>
                <a:cs typeface="Calibri"/>
              </a:defRPr>
            </a:pPr>
            <a:r>
              <a:rPr sz="1500" b="0" u="sng">
                <a:solidFill>
                  <a:srgbClr val="D9A06B"/>
                </a:solidFill>
                <a:latin typeface="Calibri"/>
                <a:ea typeface="Calibri"/>
                <a:cs typeface="Calibri"/>
              </a:rPr>
              <a:t>[8] Ollama structured outputs</a:t>
            </a:r>
          </a:p>
        </p:txBody>
      </p:sp>
      <p:sp>
        <p:nvSpPr>
          <p:cNvPr id="25" name="c3-text-298">
            <a:hlinkClick xmlns:r="http://schemas.openxmlformats.org/officeDocument/2006/relationships" xmlns:a="http://schemas.openxmlformats.org/drawingml/2006/main" r:id="R4d753982bd354477"/>
            <a:extLst xmlns:a="http://schemas.openxmlformats.org/drawingml/2006/main">
              <a:ext uri="{FF2B5EF4-FFF2-40B4-BE49-F238E27FC236}">
                <a16:creationId xmlns:a16="http://schemas.microsoft.com/office/drawing/2014/main" id="{427FB988-6F83-41BB-AC7F-330E2D2A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152900"/>
            <a:ext cx="37719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ECE6DE"/>
                </a:solidFill>
                <a:latin typeface="Calibri"/>
                <a:ea typeface="Calibri"/>
                <a:cs typeface="Calibri"/>
              </a:defRPr>
            </a:pPr>
            <a:r>
              <a:rPr sz="1350" b="0" u="sng">
                <a:solidFill>
                  <a:srgbClr val="ECE6DE"/>
                </a:solidFill>
                <a:latin typeface="Calibri"/>
                <a:ea typeface="Calibri"/>
                <a:cs typeface="Calibri"/>
              </a:rPr>
              <a:t>Cloud support and native schema limitations</a:t>
            </a:r>
          </a:p>
        </p:txBody>
      </p:sp>
      <p:sp>
        <p:nvSpPr>
          <p:cNvPr id="26" name="c3-text-325">
            <a:extLst xmlns:a="http://schemas.openxmlformats.org/drawingml/2006/main">
              <a:ext uri="{FF2B5EF4-FFF2-40B4-BE49-F238E27FC236}">
                <a16:creationId xmlns:a16="http://schemas.microsoft.com/office/drawing/2014/main" id="{6C8D7860-88C3-41C2-A1B2-6A8853B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781550"/>
            <a:ext cx="3524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9525" tIns="9525" rIns="9525" bIns="9525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B4BDCB"/>
                </a:solidFill>
                <a:latin typeface="Calibri"/>
                <a:ea typeface="Calibri"/>
                <a:cs typeface="Calibri"/>
              </a:defRPr>
            </a:pPr>
            <a:r>
              <a:rPr sz="750" b="0">
                <a:solidFill>
                  <a:srgbClr val="B4BDCB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22225707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FFFFF"/>
      </a:hlink>
      <a:folHlink>
        <a:srgbClr val="FFFFFF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2026-10-28T20:16:50.9620000Z</dcterms:created>
  <dcterms:modified xsi:type="dcterms:W3CDTF">2026-10-28T20:16:50.9620000Z</dcterms:modified>
</coreProperties>
</file>