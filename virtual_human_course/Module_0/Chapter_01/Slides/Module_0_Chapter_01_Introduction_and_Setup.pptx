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0f11db6a9446c3" /><Relationship Type="http://schemas.openxmlformats.org/officeDocument/2006/relationships/extended-properties" Target="/docProps/app.xml" Id="R69e4cfe79ed34661" /><Relationship Type="http://schemas.openxmlformats.org/officeDocument/2006/relationships/officeDocument" Target="/ppt/presentation.xml" Id="Rf7a522536b794b61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8b1e0d934cc64f0b"/>
  </ns0:sldMasterIdLst>
  <ns0:sldIdLst>
    <ns0:sldId id="256" ns1:id="Ra4a64569af174e4d"/>
    <ns0:sldId id="257" ns1:id="R377c3573193744de"/>
    <ns0:sldId id="258" ns1:id="R7e44745fc0bb4007"/>
    <ns0:sldId id="259" ns1:id="Re4c987dfd90a4619"/>
    <ns0:sldId id="260" ns1:id="Rde6c9256d7e44d32"/>
    <ns0:sldId id="261" ns1:id="Rbd26f664d57f4645"/>
    <ns0:sldId id="262" ns1:id="R9f557686404640e6"/>
    <ns0:sldId id="263" ns1:id="R2a1114fb3c864943"/>
    <ns0:sldId id="264" ns1:id="Raf30159c0f1c48b2"/>
    <ns0:sldId id="265" ns1:id="Rddbb13d92e0e4b3b"/>
    <ns0:sldId id="266" ns1:id="Rd86cb3a836114ec3"/>
    <ns0:sldId id="267" ns1:id="Raa093e4fc89c42d8"/>
    <ns0:sldId id="268" ns1:id="Rb42c28f28cb14c80"/>
    <ns0:sldId id="269" ns1:id="Ra40d3e744c6d49b3"/>
    <ns0:sldId id="270" ns1:id="R6baa9641185d440f"/>
    <ns0:sldId id="271" ns1:id="R7b2ca31f94c94e80"/>
    <ns0:sldId id="272" ns1:id="R6c730f9106fa4744"/>
    <ns0:sldId id="273" ns1:id="Rbefd5d70af0642ea"/>
    <ns0:sldId id="274" ns1:id="R464281df164a4c03"/>
    <ns0:sldId id="275" ns1:id="R08eb063bc4d8465c"/>
    <ns0:sldId id="276" ns1:id="R63189e5c276f42e9"/>
    <ns0:sldId id="277" ns1:id="R1d0cd1d344834e56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60bae46af3aa4de2" /><ns0:Relationship Type="http://schemas.openxmlformats.org/officeDocument/2006/relationships/slideMaster" Target="/ppt/slideMasters/slideMaster1.xml" Id="R8b1e0d934cc64f0b" /><ns0:Relationship Type="http://schemas.openxmlformats.org/officeDocument/2006/relationships/presProps" Target="/ppt/presProps.xml" Id="Rb1e8aaf861964795" /><ns0:Relationship Type="http://schemas.openxmlformats.org/officeDocument/2006/relationships/viewProps" Target="/ppt/viewProps.xml" Id="R618a8a136a794adb" /><ns0:Relationship Type="http://schemas.openxmlformats.org/officeDocument/2006/relationships/tableStyles" Target="/ppt/tableStyles.xml" Id="R2f7dc2e57d244897" /><ns0:Relationship Type="http://schemas.openxmlformats.org/officeDocument/2006/relationships/slide" Target="/ppt/slides/slide1.xml" Id="Ra4a64569af174e4d" /><ns0:Relationship Type="http://schemas.openxmlformats.org/officeDocument/2006/relationships/slide" Target="/ppt/slides/slide2.xml" Id="R377c3573193744de" /><ns0:Relationship Type="http://schemas.openxmlformats.org/officeDocument/2006/relationships/slide" Target="/ppt/slides/slide3.xml" Id="R7e44745fc0bb4007" /><ns0:Relationship Type="http://schemas.openxmlformats.org/officeDocument/2006/relationships/slide" Target="/ppt/slides/slide4.xml" Id="Re4c987dfd90a4619" /><ns0:Relationship Type="http://schemas.openxmlformats.org/officeDocument/2006/relationships/slide" Target="/ppt/slides/slide5.xml" Id="Rde6c9256d7e44d32" /><ns0:Relationship Type="http://schemas.openxmlformats.org/officeDocument/2006/relationships/slide" Target="/ppt/slides/slide6.xml" Id="Rbd26f664d57f4645" /><ns0:Relationship Type="http://schemas.openxmlformats.org/officeDocument/2006/relationships/slide" Target="/ppt/slides/slide7.xml" Id="R9f557686404640e6" /><ns0:Relationship Type="http://schemas.openxmlformats.org/officeDocument/2006/relationships/slide" Target="/ppt/slides/slide8.xml" Id="R2a1114fb3c864943" /><ns0:Relationship Type="http://schemas.openxmlformats.org/officeDocument/2006/relationships/slide" Target="/ppt/slides/slide9.xml" Id="Raf30159c0f1c48b2" /><ns0:Relationship Type="http://schemas.openxmlformats.org/officeDocument/2006/relationships/slide" Target="/ppt/slides/slide10.xml" Id="Rddbb13d92e0e4b3b" /><ns0:Relationship Type="http://schemas.openxmlformats.org/officeDocument/2006/relationships/slide" Target="/ppt/slides/slide11.xml" Id="Rd86cb3a836114ec3" /><ns0:Relationship Type="http://schemas.openxmlformats.org/officeDocument/2006/relationships/slide" Target="/ppt/slides/slide12.xml" Id="Raa093e4fc89c42d8" /><ns0:Relationship Type="http://schemas.openxmlformats.org/officeDocument/2006/relationships/slide" Target="/ppt/slides/slide13.xml" Id="Rb42c28f28cb14c80" /><ns0:Relationship Type="http://schemas.openxmlformats.org/officeDocument/2006/relationships/slide" Target="/ppt/slides/slide14.xml" Id="Ra40d3e744c6d49b3" /><ns0:Relationship Type="http://schemas.openxmlformats.org/officeDocument/2006/relationships/slide" Target="/ppt/slides/slide15.xml" Id="R6baa9641185d440f" /><ns0:Relationship Type="http://schemas.openxmlformats.org/officeDocument/2006/relationships/slide" Target="/ppt/slides/slide16.xml" Id="R7b2ca31f94c94e80" /><ns0:Relationship Type="http://schemas.openxmlformats.org/officeDocument/2006/relationships/slide" Target="/ppt/slides/slide17.xml" Id="R6c730f9106fa4744" /><ns0:Relationship Type="http://schemas.openxmlformats.org/officeDocument/2006/relationships/slide" Target="/ppt/slides/slide18.xml" Id="Rbefd5d70af0642ea" /><ns0:Relationship Type="http://schemas.openxmlformats.org/officeDocument/2006/relationships/slide" Target="/ppt/slides/slide19.xml" Id="R464281df164a4c03" /><ns0:Relationship Type="http://schemas.openxmlformats.org/officeDocument/2006/relationships/slide" Target="/ppt/slides/slide20.xml" Id="R08eb063bc4d8465c" /><ns0:Relationship Type="http://schemas.openxmlformats.org/officeDocument/2006/relationships/slide" Target="/ppt/slides/slide21.xml" Id="R63189e5c276f42e9" /><ns0:Relationship Type="http://schemas.openxmlformats.org/officeDocument/2006/relationships/slide" Target="/ppt/slides/slide22.xml" Id="R1d0cd1d344834e56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bfb3e07c58484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1a5b39028e48fd" /><Relationship Type="http://schemas.openxmlformats.org/officeDocument/2006/relationships/image" Target="/ppt/media/image.jpeg" Id="Rf6d8fedf2a6b440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846757815c4170" /><Relationship Type="http://schemas.openxmlformats.org/officeDocument/2006/relationships/image" Target="/ppt/media/image.png" Id="R8059d597dcd9418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3c6f8ff14c47c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25fd79b88448c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21951be0f1466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c0fea8fe5b4c5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1ae30c73d14ff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d8fedf2a6b440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3A5C792-7244-404D-9117-AACE568C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043F0A1-0F32-4F0B-AECC-633EC822ED8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59d597dcd9418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43C6A619-8328-4959-AFC4-A05CF02C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103A16D-327A-47C4-B2C2-FDD25FE55A9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0D18C66-5DD9-48FE-93C9-6823B490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6657934-D720-4143-B351-54DA8D21E8C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96D77E-24AB-42F6-BE68-212A4C4D9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C8E0C3B-4292-40F8-92C8-A25202AD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8268DA1-6431-4643-AE60-C100064547D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937BBB3-8F4E-400B-9194-45151A1D7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4742D67-043C-42E2-B470-E342CFF2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96950FE-F99D-4C58-AD07-A50237DAE61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E4E7326-DA6C-45AF-B90C-407D5B93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E577D4B-F412-473D-8882-E2D47AF2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DB0EDC3-522E-4FE1-A6CE-84A5AD733B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4218C2-B7E8-49ED-A782-988FF59D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2374C84-9E9E-4723-948E-2EF37D2449C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61a915355742d3" /><Relationship Type="http://schemas.openxmlformats.org/officeDocument/2006/relationships/slideLayout" Target="/ppt/slideLayouts/slideLayout1.xml" Id="Rfb972231f17f47cf" /><Relationship Type="http://schemas.openxmlformats.org/officeDocument/2006/relationships/slideLayout" Target="/ppt/slideLayouts/slideLayout2.xml" Id="R505e5f3c01f24a0d" /><Relationship Type="http://schemas.openxmlformats.org/officeDocument/2006/relationships/slideLayout" Target="/ppt/slideLayouts/slideLayout3.xml" Id="R3722c5eea1b94020" /><Relationship Type="http://schemas.openxmlformats.org/officeDocument/2006/relationships/slideLayout" Target="/ppt/slideLayouts/slideLayout4.xml" Id="Rc663eeaab6e84d1e" /><Relationship Type="http://schemas.openxmlformats.org/officeDocument/2006/relationships/slideLayout" Target="/ppt/slideLayouts/slideLayout5.xml" Id="R8a56c386ff704466" /><Relationship Type="http://schemas.openxmlformats.org/officeDocument/2006/relationships/slideLayout" Target="/ppt/slideLayouts/slideLayout6.xml" Id="R1dd9d4eae25a43a7" /><Relationship Type="http://schemas.openxmlformats.org/officeDocument/2006/relationships/slideLayout" Target="/ppt/slideLayouts/slideLayout7.xml" Id="R2cc9d6d0d75c46a7" /><Relationship Type="http://schemas.openxmlformats.org/officeDocument/2006/relationships/slideLayout" Target="/ppt/slideLayouts/slideLayout8.xml" Id="Ra0de94579f02429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655D3E3-A6ED-45C7-95E9-7F136EE06D1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972231f17f47cf"/>
    <p:sldLayoutId xmlns:r="http://schemas.openxmlformats.org/officeDocument/2006/relationships" id="2147483650" r:id="R505e5f3c01f24a0d"/>
    <p:sldLayoutId xmlns:r="http://schemas.openxmlformats.org/officeDocument/2006/relationships" id="2147483651" r:id="R3722c5eea1b94020"/>
    <p:sldLayoutId xmlns:r="http://schemas.openxmlformats.org/officeDocument/2006/relationships" id="2147483652" r:id="Rc663eeaab6e84d1e"/>
    <p:sldLayoutId xmlns:r="http://schemas.openxmlformats.org/officeDocument/2006/relationships" id="2147483653" r:id="R8a56c386ff704466"/>
    <p:sldLayoutId xmlns:r="http://schemas.openxmlformats.org/officeDocument/2006/relationships" id="2147483654" r:id="R1dd9d4eae25a43a7"/>
    <p:sldLayoutId xmlns:r="http://schemas.openxmlformats.org/officeDocument/2006/relationships" id="2147483655" r:id="R2cc9d6d0d75c46a7"/>
    <p:sldLayoutId xmlns:r="http://schemas.openxmlformats.org/officeDocument/2006/relationships" id="2147483656" r:id="Ra0de94579f02429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274284c80ec94b6a" /><ns0:Relationship Type="http://schemas.openxmlformats.org/officeDocument/2006/relationships/image" Target="/ppt/media/image2.png" Id="Rd0a8283458484ad1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8950a4c4f7a94ef1" /><ns0:Relationship Type="http://schemas.openxmlformats.org/officeDocument/2006/relationships/image" Target="/ppt/media/image3.png" Id="R8457026c93014d77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1a789c939cf74746" /><ns0:Relationship Type="http://schemas.openxmlformats.org/officeDocument/2006/relationships/hyperlink" Target="https://github.com/alessandropec/virtual-humans-cognitive-architectures" TargetMode="External" Id="Rad3e891735b240fe" /><ns0:Relationship Type="http://schemas.openxmlformats.org/officeDocument/2006/relationships/hyperlink" Target="https://github.com/alessandropec/virtual-humans-cognitive-architectures" TargetMode="External" Id="R44d45447972a4cdf" /><ns0:Relationship Type="http://schemas.openxmlformats.org/officeDocument/2006/relationships/image" Target="/ppt/media/image4.png" Id="R6df903e8919943d3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d9fa3a14a9a544a2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e7e429636edb47e9" /><ns0:Relationship Type="http://schemas.openxmlformats.org/officeDocument/2006/relationships/hyperlink" Target="https://github.com/stevieTheTurtle/AI_powered_VH_2026-Part_1" TargetMode="External" Id="R6dd1596f2bd34f90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0c97bd5d9afd4191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6351a18fdd034821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8a59c56f3bfb4bfa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e0cbf2157b1c4d28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2a2d7da60c724901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fc27011aa213459d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d2e5b5406c0e4640" /><ns0:Relationship Type="http://schemas.openxmlformats.org/officeDocument/2006/relationships/image" Target="/ppt/media/image5.png" Id="R477bfc8abc2c4ae7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8cae80d3dc7d4771" /><ns0:Relationship Type="http://schemas.openxmlformats.org/officeDocument/2006/relationships/hyperlink" Target="https://aistudio.google.com/" TargetMode="External" Id="R5daa934c8a334b83" /><ns0:Relationship Type="http://schemas.openxmlformats.org/officeDocument/2006/relationships/hyperlink" Target="https://console.groq.com/" TargetMode="External" Id="R4430585bf13a401f" /><ns0:Relationship Type="http://schemas.openxmlformats.org/officeDocument/2006/relationships/hyperlink" Target="https://openrouter.ai/" TargetMode="External" Id="R6b2f3e021a9445cc" /><ns0:Relationship Type="http://schemas.openxmlformats.org/officeDocument/2006/relationships/hyperlink" Target="https://ollama.com/" TargetMode="External" Id="R985b9956ad114bf3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ae66352c03994e38" /><ns0:Relationship Type="http://schemas.openxmlformats.org/officeDocument/2006/relationships/hyperlink" Target="https://ollama.com/download" TargetMode="External" Id="R746e9c50a1be4a26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4c7e0012efd744f2" /><ns0:Relationship Type="http://schemas.openxmlformats.org/officeDocument/2006/relationships/hyperlink" Target="https://code.visualstudio.com/download" TargetMode="External" Id="R494c152b48f247e0" /><ns0:Relationship Type="http://schemas.openxmlformats.org/officeDocument/2006/relationships/hyperlink" Target="https://www.python.org/downloads/" TargetMode="External" Id="R7f481f4593314938" /><ns0:Relationship Type="http://schemas.openxmlformats.org/officeDocument/2006/relationships/hyperlink" Target="https://code.visualstudio.com/docs/datascience/jupyter-notebooks" TargetMode="External" Id="R9b3dc01bd8294769" /><ns0:Relationship Type="http://schemas.openxmlformats.org/officeDocument/2006/relationships/hyperlink" Target="https://github.com/alessandropec/virtual-humans-cognitive-architectures/blob/main/virtual_human_course/requirements.txt" TargetMode="External" Id="R6abcb77f082c47e6" /><ns0:Relationship Type="http://schemas.openxmlformats.org/officeDocument/2006/relationships/hyperlink" Target="https://docs.langchain.com/oss/python/langchain/overview" TargetMode="External" Id="R83c3137891314d96" /><ns0:Relationship Type="http://schemas.openxmlformats.org/officeDocument/2006/relationships/hyperlink" Target="https://docs.langchain.com/oss/python/langgraph/overview" TargetMode="External" Id="R1abe35206aca4c43" /><ns0:Relationship Type="http://schemas.openxmlformats.org/officeDocument/2006/relationships/hyperlink" Target="https://docs.pydantic.dev/latest/" TargetMode="External" Id="R155b89f6768d46ee" /><ns0:Relationship Type="http://schemas.openxmlformats.org/officeDocument/2006/relationships/hyperlink" Target="https://fastapi.tiangolo.com/" TargetMode="External" Id="R5aaf596c6a7e46a4" /><ns0:Relationship Type="http://schemas.openxmlformats.org/officeDocument/2006/relationships/hyperlink" Target="https://ollama.com/download" TargetMode="External" Id="R7ea19ed77c7f473a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cf316193c0ea4a2a" /><ns0:Relationship Type="http://schemas.openxmlformats.org/officeDocument/2006/relationships/hyperlink" Target="https://github.com/alessandropec/virtual-humans-cognitive-architectures" TargetMode="External" Id="Rf0c9c81caf664569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bc1aba12ff5d4a43" /><ns0:Relationship Type="http://schemas.openxmlformats.org/officeDocument/2006/relationships/hyperlink" Target="https://marketplace.visualstudio.com/items?itemName=ms-python.python" TargetMode="External" Id="Re9abc9cd1e354b91" /><ns0:Relationship Type="http://schemas.openxmlformats.org/officeDocument/2006/relationships/hyperlink" Target="https://marketplace.visualstudio.com/items?itemName=ms-toolsai.jupyter" TargetMode="External" Id="Rd5c3b7e4affc4bcf" /><ns0:Relationship Type="http://schemas.openxmlformats.org/officeDocument/2006/relationships/hyperlink" Target="https://code.visualstudio.com/download" TargetMode="External" Id="Rbf06a1f656374e99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efac0c0e81914258" /><ns0:Relationship Type="http://schemas.openxmlformats.org/officeDocument/2006/relationships/hyperlink" Target="https://github.com/alessandropec/virtual-humans-cognitive-architectures/blob/main/virtual_human_project/vh_embodiment_server/README.md" TargetMode="External" Id="Recb0bf635fab4696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2473b1177d0645ad" /><ns0:Relationship Type="http://schemas.openxmlformats.org/officeDocument/2006/relationships/image" Target="/ppt/media/image6.png" Id="R5eb6549ad0ec4b80" /><ns0:Relationship Type="http://schemas.openxmlformats.org/officeDocument/2006/relationships/hyperlink" Target="https://github.com/alessandropec/virtual-humans-cognitive-architectures/blob/main/virtual_human_project/vh_cognitive_architecture_server/README.md" TargetMode="External" Id="R2e4e08dcce314175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3c629f013e2d4dd7" /><ns0:Relationship Type="http://schemas.openxmlformats.org/officeDocument/2006/relationships/image" Target="/ppt/media/image7.png" Id="Rd79b258b4fb441d7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68d4f3baf71d4ea6" /><ns0:Relationship Type="http://schemas.openxmlformats.org/officeDocument/2006/relationships/hyperlink" Target="https://ollama.com/settings/keys" TargetMode="External" Id="R0516ca8fa6144ed4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ff6af3c2692f4ff8" /><ns0:Relationship Type="http://schemas.openxmlformats.org/officeDocument/2006/relationships/hyperlink" Target="https://github.com/alessandropec/virtual-humans-cognitive-architectures/blob/main/virtual_human_course/Module_0/Chapter_01/Code/00_first_call.ipynb" TargetMode="External" Id="Ra2747adf4ece42ff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C17B6EA-7065-41BD-A4E4-9C33BD64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Alessandro Emmanuel Pecora · 29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8A24FCE-B1F6-4985-8328-249739E9824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8283458484ad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97D20B40-A63D-4FDA-870A-A6B0CD4D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90925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Module 0 — Course Introduction and Setup</a:t>
            </a:r>
          </a:p>
        </p:txBody>
      </p:sp>
    </p:spTree>
    <p:extLst>
      <p:ext uri="{BB962C8B-B14F-4D97-AF65-F5344CB8AC3E}">
        <p14:creationId xmlns:p14="http://schemas.microsoft.com/office/powerpoint/2010/main" val="186226029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m0-text-2">
            <a:extLst xmlns:a="http://schemas.openxmlformats.org/drawingml/2006/main">
              <a:ext uri="{FF2B5EF4-FFF2-40B4-BE49-F238E27FC236}">
                <a16:creationId xmlns:a16="http://schemas.microsoft.com/office/drawing/2014/main" id="{8D8EBF7D-0F4B-41D8-A9C3-A2E90A5E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57026c93014d7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m0-text-3">
            <a:extLst xmlns:a="http://schemas.openxmlformats.org/drawingml/2006/main">
              <a:ext uri="{FF2B5EF4-FFF2-40B4-BE49-F238E27FC236}">
                <a16:creationId xmlns:a16="http://schemas.microsoft.com/office/drawing/2014/main" id="{E8181EF7-BFFD-4535-88F2-45A74E13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9775"/>
            <a:ext cx="5429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</a:t>
            </a:r>
          </a:p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Introduction</a:t>
            </a:r>
          </a:p>
        </p:txBody>
      </p:sp>
      <p:sp>
        <p:nvSpPr>
          <p:cNvPr id="4" name="m0-text-4">
            <a:extLst xmlns:a="http://schemas.openxmlformats.org/drawingml/2006/main">
              <a:ext uri="{FF2B5EF4-FFF2-40B4-BE49-F238E27FC236}">
                <a16:creationId xmlns:a16="http://schemas.microsoft.com/office/drawing/2014/main" id="{9F214B64-AF7B-4353-9327-3E83D167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735240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m0-text-5">
            <a:extLst xmlns:a="http://schemas.openxmlformats.org/drawingml/2006/main">
              <a:ext uri="{FF2B5EF4-FFF2-40B4-BE49-F238E27FC236}">
                <a16:creationId xmlns:a16="http://schemas.microsoft.com/office/drawing/2014/main" id="{10815AFE-C3B8-4EB3-B397-EE50298E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6">
            <a:extLst xmlns:a="http://schemas.openxmlformats.org/drawingml/2006/main">
              <a:ext uri="{FF2B5EF4-FFF2-40B4-BE49-F238E27FC236}">
                <a16:creationId xmlns:a16="http://schemas.microsoft.com/office/drawing/2014/main" id="{CB651766-A9DA-4817-8526-77592AC5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7">
            <a:extLst xmlns:a="http://schemas.openxmlformats.org/drawingml/2006/main">
              <a:ext uri="{FF2B5EF4-FFF2-40B4-BE49-F238E27FC236}">
                <a16:creationId xmlns:a16="http://schemas.microsoft.com/office/drawing/2014/main" id="{8226F570-B2B2-437A-A659-31665189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" name="m0-text-8">
            <a:extLst xmlns:a="http://schemas.openxmlformats.org/drawingml/2006/main">
              <a:ext uri="{FF2B5EF4-FFF2-40B4-BE49-F238E27FC236}">
                <a16:creationId xmlns:a16="http://schemas.microsoft.com/office/drawing/2014/main" id="{738CA43D-E7D6-43C5-97DB-AD29E361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 Materials</a:t>
            </a:r>
          </a:p>
        </p:txBody>
      </p:sp>
      <p:sp>
        <p:nvSpPr>
          <p:cNvPr id="5" name="m0-text-9">
            <a:extLst xmlns:a="http://schemas.openxmlformats.org/drawingml/2006/main">
              <a:ext uri="{FF2B5EF4-FFF2-40B4-BE49-F238E27FC236}">
                <a16:creationId xmlns:a16="http://schemas.microsoft.com/office/drawing/2014/main" id="{80DB896B-0656-4FFC-A739-DF466AF0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1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Everything you need is on GitHub.</a:t>
            </a:r>
          </a:p>
        </p:txBody>
      </p:sp>
      <p:sp>
        <p:nvSpPr>
          <p:cNvPr id="6" name="m0-text-10">
            <a:extLst xmlns:a="http://schemas.openxmlformats.org/drawingml/2006/main">
              <a:ext uri="{FF2B5EF4-FFF2-40B4-BE49-F238E27FC236}">
                <a16:creationId xmlns:a16="http://schemas.microsoft.com/office/drawing/2014/main" id="{81FE7793-4390-422A-80BA-4FD04E7A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54292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Slides in PowerPoint and PDF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Notebooks and setup instructions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Browser avatar and Python agent</a:t>
            </a:r>
          </a:p>
        </p:txBody>
      </p:sp>
      <p:sp>
        <p:nvSpPr>
          <p:cNvPr id="7" name="m0-text-11">
            <a:extLst xmlns:a="http://schemas.openxmlformats.org/drawingml/2006/main">
              <a:ext uri="{FF2B5EF4-FFF2-40B4-BE49-F238E27FC236}">
                <a16:creationId xmlns:a16="http://schemas.microsoft.com/office/drawing/2014/main" id="{CD39748D-2C10-4A30-A0B8-7861225D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24275"/>
            <a:ext cx="571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d3e891735b240fe"/>
              </a:rPr>
              <a:t>github.com/alessandropec/</a:t>
            </a:r>
          </a:p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44d45447972a4cdf"/>
              </a:rPr>
              <a:t>virtual-humans-cognitive-architectures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903e8919943d3"/>
          <a:stretch xmlns:a="http://schemas.openxmlformats.org/drawingml/2006/main"/>
        </p:blipFill>
        <p:spPr>
          <a:xfrm xmlns:a="http://schemas.openxmlformats.org/drawingml/2006/main">
            <a:off x="6534150" y="1847850"/>
            <a:ext cx="2076450" cy="2076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42849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m0-text-12">
            <a:extLst xmlns:a="http://schemas.openxmlformats.org/drawingml/2006/main">
              <a:ext uri="{FF2B5EF4-FFF2-40B4-BE49-F238E27FC236}">
                <a16:creationId xmlns:a16="http://schemas.microsoft.com/office/drawing/2014/main" id="{B3BFD193-F54D-4996-90BB-3CCC2764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3">
            <a:extLst xmlns:a="http://schemas.openxmlformats.org/drawingml/2006/main">
              <a:ext uri="{FF2B5EF4-FFF2-40B4-BE49-F238E27FC236}">
                <a16:creationId xmlns:a16="http://schemas.microsoft.com/office/drawing/2014/main" id="{0DFB793E-896A-4721-99F7-1A472164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4">
            <a:extLst xmlns:a="http://schemas.openxmlformats.org/drawingml/2006/main">
              <a:ext uri="{FF2B5EF4-FFF2-40B4-BE49-F238E27FC236}">
                <a16:creationId xmlns:a16="http://schemas.microsoft.com/office/drawing/2014/main" id="{7ABA24C9-97EB-43AF-9BAC-CB6A292D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4" name="m0-text-15">
            <a:extLst xmlns:a="http://schemas.openxmlformats.org/drawingml/2006/main">
              <a:ext uri="{FF2B5EF4-FFF2-40B4-BE49-F238E27FC236}">
                <a16:creationId xmlns:a16="http://schemas.microsoft.com/office/drawing/2014/main" id="{3C7046E2-808C-4CF4-87AE-25BBA3E0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 Programme</a:t>
            </a:r>
          </a:p>
        </p:txBody>
      </p:sp>
      <p:sp>
        <p:nvSpPr>
          <p:cNvPr id="5" name="m0-text-16">
            <a:extLst xmlns:a="http://schemas.openxmlformats.org/drawingml/2006/main">
              <a:ext uri="{FF2B5EF4-FFF2-40B4-BE49-F238E27FC236}">
                <a16:creationId xmlns:a16="http://schemas.microsoft.com/office/drawing/2014/main" id="{832DC4A1-1960-47BC-ACF9-057005CE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0</a:t>
            </a:r>
          </a:p>
        </p:txBody>
      </p:sp>
      <p:sp>
        <p:nvSpPr>
          <p:cNvPr id="6" name="m0-text-17">
            <a:extLst xmlns:a="http://schemas.openxmlformats.org/drawingml/2006/main">
              <a:ext uri="{FF2B5EF4-FFF2-40B4-BE49-F238E27FC236}">
                <a16:creationId xmlns:a16="http://schemas.microsoft.com/office/drawing/2014/main" id="{72337146-9910-49E3-96EC-97746CA2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135255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Course Introduction and Setup</a:t>
            </a:r>
          </a:p>
        </p:txBody>
      </p:sp>
      <p:sp>
        <p:nvSpPr>
          <p:cNvPr id="7" name="m0-text-18">
            <a:extLst xmlns:a="http://schemas.openxmlformats.org/drawingml/2006/main">
              <a:ext uri="{FF2B5EF4-FFF2-40B4-BE49-F238E27FC236}">
                <a16:creationId xmlns:a16="http://schemas.microsoft.com/office/drawing/2014/main" id="{B6741F68-0E55-4184-930F-1F90EF22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21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1</a:t>
            </a:r>
          </a:p>
        </p:txBody>
      </p:sp>
      <p:sp>
        <p:nvSpPr>
          <p:cNvPr id="8" name="m0-text-19">
            <a:extLst xmlns:a="http://schemas.openxmlformats.org/drawingml/2006/main">
              <a:ext uri="{FF2B5EF4-FFF2-40B4-BE49-F238E27FC236}">
                <a16:creationId xmlns:a16="http://schemas.microsoft.com/office/drawing/2014/main" id="{F97FD998-6CB9-4756-BD09-F85AC75B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196215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Cognitive Architectures and Large Language Models</a:t>
            </a:r>
          </a:p>
        </p:txBody>
      </p:sp>
      <p:sp>
        <p:nvSpPr>
          <p:cNvPr id="9" name="m0-text-20">
            <a:extLst xmlns:a="http://schemas.openxmlformats.org/drawingml/2006/main">
              <a:ext uri="{FF2B5EF4-FFF2-40B4-BE49-F238E27FC236}">
                <a16:creationId xmlns:a16="http://schemas.microsoft.com/office/drawing/2014/main" id="{AB8CD5E6-F8A0-4233-AFFB-EB0AF215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343150"/>
            <a:ext cx="6715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Psychological Foundations of Cognitive Architectures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LLMs, Working Memory and Prompting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Introduction to LangChain</a:t>
            </a:r>
          </a:p>
        </p:txBody>
      </p:sp>
      <p:sp>
        <p:nvSpPr>
          <p:cNvPr id="10" name="m0-text-21">
            <a:extLst xmlns:a="http://schemas.openxmlformats.org/drawingml/2006/main">
              <a:ext uri="{FF2B5EF4-FFF2-40B4-BE49-F238E27FC236}">
                <a16:creationId xmlns:a16="http://schemas.microsoft.com/office/drawing/2014/main" id="{31DD1050-7955-414F-A50F-95714277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2</a:t>
            </a:r>
          </a:p>
        </p:txBody>
      </p:sp>
      <p:sp>
        <p:nvSpPr>
          <p:cNvPr id="11" name="m0-text-22">
            <a:extLst xmlns:a="http://schemas.openxmlformats.org/drawingml/2006/main">
              <a:ext uri="{FF2B5EF4-FFF2-40B4-BE49-F238E27FC236}">
                <a16:creationId xmlns:a16="http://schemas.microsoft.com/office/drawing/2014/main" id="{867BA7ED-851F-47CB-A3BC-070A2A8D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323850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From Large Language Models to Virtual Humans</a:t>
            </a:r>
          </a:p>
        </p:txBody>
      </p:sp>
      <p:sp>
        <p:nvSpPr>
          <p:cNvPr id="12" name="m0-text-23">
            <a:extLst xmlns:a="http://schemas.openxmlformats.org/drawingml/2006/main">
              <a:ext uri="{FF2B5EF4-FFF2-40B4-BE49-F238E27FC236}">
                <a16:creationId xmlns:a16="http://schemas.microsoft.com/office/drawing/2014/main" id="{8CB8BE97-F07C-4AEE-840D-452CB0CA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3619500"/>
            <a:ext cx="6715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Agentic Frameworks and LangGraph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Building Stateful Agents with Memory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Integration with the Virtual Human</a:t>
            </a:r>
          </a:p>
        </p:txBody>
      </p:sp>
      <p:sp>
        <p:nvSpPr>
          <p:cNvPr id="13" name="m0-text-24">
            <a:extLst xmlns:a="http://schemas.openxmlformats.org/drawingml/2006/main">
              <a:ext uri="{FF2B5EF4-FFF2-40B4-BE49-F238E27FC236}">
                <a16:creationId xmlns:a16="http://schemas.microsoft.com/office/drawing/2014/main" id="{2AD97322-D53B-46EB-8679-DEF8345B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Webinar</a:t>
            </a:r>
          </a:p>
        </p:txBody>
      </p:sp>
      <p:sp>
        <p:nvSpPr>
          <p:cNvPr id="14" name="m0-text-25">
            <a:extLst xmlns:a="http://schemas.openxmlformats.org/drawingml/2006/main">
              <a:ext uri="{FF2B5EF4-FFF2-40B4-BE49-F238E27FC236}">
                <a16:creationId xmlns:a16="http://schemas.microsoft.com/office/drawing/2014/main" id="{0562684E-3C9A-4206-9CE7-24C78EAE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445770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The Virtual Meteorologist</a:t>
            </a:r>
          </a:p>
        </p:txBody>
      </p:sp>
    </p:spTree>
    <p:extLst>
      <p:ext uri="{BB962C8B-B14F-4D97-AF65-F5344CB8AC3E}">
        <p14:creationId xmlns:p14="http://schemas.microsoft.com/office/powerpoint/2010/main" val="8426957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26">
            <a:extLst xmlns:a="http://schemas.openxmlformats.org/drawingml/2006/main">
              <a:ext uri="{FF2B5EF4-FFF2-40B4-BE49-F238E27FC236}">
                <a16:creationId xmlns:a16="http://schemas.microsoft.com/office/drawing/2014/main" id="{2066EE0E-FD44-469F-893F-1C809A47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7">
            <a:extLst xmlns:a="http://schemas.openxmlformats.org/drawingml/2006/main">
              <a:ext uri="{FF2B5EF4-FFF2-40B4-BE49-F238E27FC236}">
                <a16:creationId xmlns:a16="http://schemas.microsoft.com/office/drawing/2014/main" id="{C7495CD0-EEE0-470D-AD4F-5BABFE8F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8">
            <a:extLst xmlns:a="http://schemas.openxmlformats.org/drawingml/2006/main">
              <a:ext uri="{FF2B5EF4-FFF2-40B4-BE49-F238E27FC236}">
                <a16:creationId xmlns:a16="http://schemas.microsoft.com/office/drawing/2014/main" id="{C90C3622-2A68-49BC-A159-41B88F21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4" name="m0-text-29">
            <a:extLst xmlns:a="http://schemas.openxmlformats.org/drawingml/2006/main">
              <a:ext uri="{FF2B5EF4-FFF2-40B4-BE49-F238E27FC236}">
                <a16:creationId xmlns:a16="http://schemas.microsoft.com/office/drawing/2014/main" id="{1DB24869-46E2-47AE-88A5-3DF7D288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Virtual Humans Foundations</a:t>
            </a:r>
          </a:p>
        </p:txBody>
      </p:sp>
      <p:sp>
        <p:nvSpPr>
          <p:cNvPr id="5" name="m0-text-30">
            <a:extLst xmlns:a="http://schemas.openxmlformats.org/drawingml/2006/main">
              <a:ext uri="{FF2B5EF4-FFF2-40B4-BE49-F238E27FC236}">
                <a16:creationId xmlns:a16="http://schemas.microsoft.com/office/drawing/2014/main" id="{2E120BB0-2FA6-4833-8060-FD5C73D5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822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1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AI-Powered Virtual Humans</a:t>
            </a:r>
          </a:p>
        </p:txBody>
      </p:sp>
      <p:sp>
        <p:nvSpPr>
          <p:cNvPr id="6" name="m0-text-31">
            <a:extLst xmlns:a="http://schemas.openxmlformats.org/drawingml/2006/main">
              <a:ext uri="{FF2B5EF4-FFF2-40B4-BE49-F238E27FC236}">
                <a16:creationId xmlns:a16="http://schemas.microsoft.com/office/drawing/2014/main" id="{9A21FCBD-EFE0-402D-B56B-75A8FD37E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822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 optional course to take before this one.</a:t>
            </a:r>
          </a:p>
        </p:txBody>
      </p:sp>
      <p:sp>
        <p:nvSpPr>
          <p:cNvPr id="7" name="m0-text-32">
            <a:extLst xmlns:a="http://schemas.openxmlformats.org/drawingml/2006/main">
              <a:ext uri="{FF2B5EF4-FFF2-40B4-BE49-F238E27FC236}">
                <a16:creationId xmlns:a16="http://schemas.microsoft.com/office/drawing/2014/main" id="{BAB0A7C4-B9F5-452C-82A1-E527AADE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Foundations of virtual humans.</a:t>
            </a:r>
          </a:p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Build an embodiment in Unity with speech,</a:t>
            </a:r>
          </a:p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lip-sync, gestures and emotions.</a:t>
            </a:r>
          </a:p>
        </p:txBody>
      </p:sp>
      <p:sp>
        <p:nvSpPr>
          <p:cNvPr id="8" name="m0-text-33">
            <a:extLst xmlns:a="http://schemas.openxmlformats.org/drawingml/2006/main">
              <a:ext uri="{FF2B5EF4-FFF2-40B4-BE49-F238E27FC236}">
                <a16:creationId xmlns:a16="http://schemas.microsoft.com/office/drawing/2014/main" id="{B66BA1B9-A67A-4798-860D-2FD4585D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0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Recommended background; not required for this course.</a:t>
            </a:r>
          </a:p>
        </p:txBody>
      </p:sp>
      <p:sp>
        <p:nvSpPr>
          <p:cNvPr id="9" name="m0-text-34">
            <a:extLst xmlns:a="http://schemas.openxmlformats.org/drawingml/2006/main">
              <a:ext uri="{FF2B5EF4-FFF2-40B4-BE49-F238E27FC236}">
                <a16:creationId xmlns:a16="http://schemas.microsoft.com/office/drawing/2014/main" id="{9CE09A80-0DD7-4EEA-989D-B7008A41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dd1596f2bd34f90"/>
              </a:rPr>
              <a:t>Course repository</a:t>
            </a:r>
          </a:p>
        </p:txBody>
      </p:sp>
    </p:spTree>
    <p:extLst>
      <p:ext uri="{BB962C8B-B14F-4D97-AF65-F5344CB8AC3E}">
        <p14:creationId xmlns:p14="http://schemas.microsoft.com/office/powerpoint/2010/main" val="1805955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0-text-35">
            <a:extLst xmlns:a="http://schemas.openxmlformats.org/drawingml/2006/main">
              <a:ext uri="{FF2B5EF4-FFF2-40B4-BE49-F238E27FC236}">
                <a16:creationId xmlns:a16="http://schemas.microsoft.com/office/drawing/2014/main" id="{9005C20F-A91D-4C2D-BA32-5D562FBA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36">
            <a:extLst xmlns:a="http://schemas.openxmlformats.org/drawingml/2006/main">
              <a:ext uri="{FF2B5EF4-FFF2-40B4-BE49-F238E27FC236}">
                <a16:creationId xmlns:a16="http://schemas.microsoft.com/office/drawing/2014/main" id="{B51A943E-E39E-411D-8272-5CF881BF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37">
            <a:extLst xmlns:a="http://schemas.openxmlformats.org/drawingml/2006/main">
              <a:ext uri="{FF2B5EF4-FFF2-40B4-BE49-F238E27FC236}">
                <a16:creationId xmlns:a16="http://schemas.microsoft.com/office/drawing/2014/main" id="{40835703-8D0E-417D-AA7E-A855331F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4" name="m0-text-38">
            <a:extLst xmlns:a="http://schemas.openxmlformats.org/drawingml/2006/main">
              <a:ext uri="{FF2B5EF4-FFF2-40B4-BE49-F238E27FC236}">
                <a16:creationId xmlns:a16="http://schemas.microsoft.com/office/drawing/2014/main" id="{5F052E73-6517-4CFB-B478-80EE1F85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CAC16342-77B7-4A0B-AE02-669970A8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39">
            <a:extLst xmlns:a="http://schemas.openxmlformats.org/drawingml/2006/main">
              <a:ext uri="{FF2B5EF4-FFF2-40B4-BE49-F238E27FC236}">
                <a16:creationId xmlns:a16="http://schemas.microsoft.com/office/drawing/2014/main" id="{B42C607C-54F9-4BE6-B17D-BABE21D1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40">
            <a:extLst xmlns:a="http://schemas.openxmlformats.org/drawingml/2006/main">
              <a:ext uri="{FF2B5EF4-FFF2-40B4-BE49-F238E27FC236}">
                <a16:creationId xmlns:a16="http://schemas.microsoft.com/office/drawing/2014/main" id="{6746051B-837D-40AD-AD79-5A1020D1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</p:spTree>
    <p:extLst>
      <p:ext uri="{BB962C8B-B14F-4D97-AF65-F5344CB8AC3E}">
        <p14:creationId xmlns:p14="http://schemas.microsoft.com/office/powerpoint/2010/main" val="81954342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m0-text-41">
            <a:extLst xmlns:a="http://schemas.openxmlformats.org/drawingml/2006/main">
              <a:ext uri="{FF2B5EF4-FFF2-40B4-BE49-F238E27FC236}">
                <a16:creationId xmlns:a16="http://schemas.microsoft.com/office/drawing/2014/main" id="{15A6B955-0335-44AD-9BB4-E548A875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42">
            <a:extLst xmlns:a="http://schemas.openxmlformats.org/drawingml/2006/main">
              <a:ext uri="{FF2B5EF4-FFF2-40B4-BE49-F238E27FC236}">
                <a16:creationId xmlns:a16="http://schemas.microsoft.com/office/drawing/2014/main" id="{0443C33F-8F54-4ABE-BC1A-F96BB591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43">
            <a:extLst xmlns:a="http://schemas.openxmlformats.org/drawingml/2006/main">
              <a:ext uri="{FF2B5EF4-FFF2-40B4-BE49-F238E27FC236}">
                <a16:creationId xmlns:a16="http://schemas.microsoft.com/office/drawing/2014/main" id="{554D0B3A-49A1-4996-8EB6-67CE3BEE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4" name="m0-text-44">
            <a:extLst xmlns:a="http://schemas.openxmlformats.org/drawingml/2006/main">
              <a:ext uri="{FF2B5EF4-FFF2-40B4-BE49-F238E27FC236}">
                <a16:creationId xmlns:a16="http://schemas.microsoft.com/office/drawing/2014/main" id="{1632BF10-3450-4646-8429-DBE4A989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8EA91909-3815-43DF-91EE-7CED51AA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45">
            <a:extLst xmlns:a="http://schemas.openxmlformats.org/drawingml/2006/main">
              <a:ext uri="{FF2B5EF4-FFF2-40B4-BE49-F238E27FC236}">
                <a16:creationId xmlns:a16="http://schemas.microsoft.com/office/drawing/2014/main" id="{22BFFDCB-E527-48F6-BD20-4DA8EB62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46">
            <a:extLst xmlns:a="http://schemas.openxmlformats.org/drawingml/2006/main">
              <a:ext uri="{FF2B5EF4-FFF2-40B4-BE49-F238E27FC236}">
                <a16:creationId xmlns:a16="http://schemas.microsoft.com/office/drawing/2014/main" id="{5A0259C1-96AF-4243-8C8A-4A20AAEA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5DB1730B-AF08-486B-AC59-268F469E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47">
            <a:extLst xmlns:a="http://schemas.openxmlformats.org/drawingml/2006/main">
              <a:ext uri="{FF2B5EF4-FFF2-40B4-BE49-F238E27FC236}">
                <a16:creationId xmlns:a16="http://schemas.microsoft.com/office/drawing/2014/main" id="{BB3F0D78-6EB8-47B2-A596-FFAFF3BB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48">
            <a:extLst xmlns:a="http://schemas.openxmlformats.org/drawingml/2006/main">
              <a:ext uri="{FF2B5EF4-FFF2-40B4-BE49-F238E27FC236}">
                <a16:creationId xmlns:a16="http://schemas.microsoft.com/office/drawing/2014/main" id="{31566D78-FF1D-448F-B36C-F1991664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</p:spTree>
    <p:extLst>
      <p:ext uri="{BB962C8B-B14F-4D97-AF65-F5344CB8AC3E}">
        <p14:creationId xmlns:p14="http://schemas.microsoft.com/office/powerpoint/2010/main" val="76594462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m0-text-49">
            <a:extLst xmlns:a="http://schemas.openxmlformats.org/drawingml/2006/main">
              <a:ext uri="{FF2B5EF4-FFF2-40B4-BE49-F238E27FC236}">
                <a16:creationId xmlns:a16="http://schemas.microsoft.com/office/drawing/2014/main" id="{D4AFBC67-7F39-4E84-AA97-CC951554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50">
            <a:extLst xmlns:a="http://schemas.openxmlformats.org/drawingml/2006/main">
              <a:ext uri="{FF2B5EF4-FFF2-40B4-BE49-F238E27FC236}">
                <a16:creationId xmlns:a16="http://schemas.microsoft.com/office/drawing/2014/main" id="{4A0EE5E0-D770-4B78-B950-84E2E0E04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51">
            <a:extLst xmlns:a="http://schemas.openxmlformats.org/drawingml/2006/main">
              <a:ext uri="{FF2B5EF4-FFF2-40B4-BE49-F238E27FC236}">
                <a16:creationId xmlns:a16="http://schemas.microsoft.com/office/drawing/2014/main" id="{32E2872F-2520-4D75-BEEE-F26DB26B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" name="m0-text-52">
            <a:extLst xmlns:a="http://schemas.openxmlformats.org/drawingml/2006/main">
              <a:ext uri="{FF2B5EF4-FFF2-40B4-BE49-F238E27FC236}">
                <a16:creationId xmlns:a16="http://schemas.microsoft.com/office/drawing/2014/main" id="{6C46E46F-476F-4C83-954B-EDAC28DD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78CD096A-8442-4A49-A1E9-4EC5966E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53">
            <a:extLst xmlns:a="http://schemas.openxmlformats.org/drawingml/2006/main">
              <a:ext uri="{FF2B5EF4-FFF2-40B4-BE49-F238E27FC236}">
                <a16:creationId xmlns:a16="http://schemas.microsoft.com/office/drawing/2014/main" id="{CDD84B9A-DD56-44D1-AA9D-E2DDAE05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54">
            <a:extLst xmlns:a="http://schemas.openxmlformats.org/drawingml/2006/main">
              <a:ext uri="{FF2B5EF4-FFF2-40B4-BE49-F238E27FC236}">
                <a16:creationId xmlns:a16="http://schemas.microsoft.com/office/drawing/2014/main" id="{09F3CD48-547D-42AE-87E2-AA7DFDCB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9D6788D6-3360-40A0-BF7A-25FB6FDB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55">
            <a:extLst xmlns:a="http://schemas.openxmlformats.org/drawingml/2006/main">
              <a:ext uri="{FF2B5EF4-FFF2-40B4-BE49-F238E27FC236}">
                <a16:creationId xmlns:a16="http://schemas.microsoft.com/office/drawing/2014/main" id="{5DC7F69E-695E-4829-9D52-669BD9B6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56">
            <a:extLst xmlns:a="http://schemas.openxmlformats.org/drawingml/2006/main">
              <a:ext uri="{FF2B5EF4-FFF2-40B4-BE49-F238E27FC236}">
                <a16:creationId xmlns:a16="http://schemas.microsoft.com/office/drawing/2014/main" id="{74264542-80AF-4C9B-B285-D82C640E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1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A078F261-696A-49EB-87C5-11AC20668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05250"/>
            <a:ext cx="5334000" cy="809625"/>
          </a:xfrm>
          <a:prstGeom xmlns:a="http://schemas.openxmlformats.org/drawingml/2006/main" prst="roundRect">
            <a:avLst>
              <a:gd name="adj" fmla="val 21176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2" name="m0-text-57">
            <a:extLst xmlns:a="http://schemas.openxmlformats.org/drawingml/2006/main">
              <a:ext uri="{FF2B5EF4-FFF2-40B4-BE49-F238E27FC236}">
                <a16:creationId xmlns:a16="http://schemas.microsoft.com/office/drawing/2014/main" id="{85673CA1-973F-4975-A287-D7E5E39D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1955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3" name="m0-text-58">
            <a:extLst xmlns:a="http://schemas.openxmlformats.org/drawingml/2006/main">
              <a:ext uri="{FF2B5EF4-FFF2-40B4-BE49-F238E27FC236}">
                <a16:creationId xmlns:a16="http://schemas.microsoft.com/office/drawing/2014/main" id="{EB16F37B-9682-46C5-8A21-3F072CAC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286250"/>
            <a:ext cx="4914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</p:spTree>
    <p:extLst>
      <p:ext uri="{BB962C8B-B14F-4D97-AF65-F5344CB8AC3E}">
        <p14:creationId xmlns:p14="http://schemas.microsoft.com/office/powerpoint/2010/main" val="51900570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m0-text-59">
            <a:extLst xmlns:a="http://schemas.openxmlformats.org/drawingml/2006/main">
              <a:ext uri="{FF2B5EF4-FFF2-40B4-BE49-F238E27FC236}">
                <a16:creationId xmlns:a16="http://schemas.microsoft.com/office/drawing/2014/main" id="{30A8E98E-93C0-42F8-9A7B-BC63A6CB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60">
            <a:extLst xmlns:a="http://schemas.openxmlformats.org/drawingml/2006/main">
              <a:ext uri="{FF2B5EF4-FFF2-40B4-BE49-F238E27FC236}">
                <a16:creationId xmlns:a16="http://schemas.microsoft.com/office/drawing/2014/main" id="{5E2410C0-F768-4D76-8012-2F62E8AC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61">
            <a:extLst xmlns:a="http://schemas.openxmlformats.org/drawingml/2006/main">
              <a:ext uri="{FF2B5EF4-FFF2-40B4-BE49-F238E27FC236}">
                <a16:creationId xmlns:a16="http://schemas.microsoft.com/office/drawing/2014/main" id="{894577F6-B50E-4835-963B-F23320CD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4" name="m0-text-62">
            <a:extLst xmlns:a="http://schemas.openxmlformats.org/drawingml/2006/main">
              <a:ext uri="{FF2B5EF4-FFF2-40B4-BE49-F238E27FC236}">
                <a16:creationId xmlns:a16="http://schemas.microsoft.com/office/drawing/2014/main" id="{FBD52FC2-6747-47D0-8813-B64D217F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5AF548F8-1C5C-4F78-8C83-09A146D8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63">
            <a:extLst xmlns:a="http://schemas.openxmlformats.org/drawingml/2006/main">
              <a:ext uri="{FF2B5EF4-FFF2-40B4-BE49-F238E27FC236}">
                <a16:creationId xmlns:a16="http://schemas.microsoft.com/office/drawing/2014/main" id="{4A72A5F9-435C-4C92-B6E1-25B22848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64">
            <a:extLst xmlns:a="http://schemas.openxmlformats.org/drawingml/2006/main">
              <a:ext uri="{FF2B5EF4-FFF2-40B4-BE49-F238E27FC236}">
                <a16:creationId xmlns:a16="http://schemas.microsoft.com/office/drawing/2014/main" id="{706ACE83-E002-4ED7-85DE-1D4C7D78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AD0D5D60-49F9-43CC-980C-E3A60B9C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65">
            <a:extLst xmlns:a="http://schemas.openxmlformats.org/drawingml/2006/main">
              <a:ext uri="{FF2B5EF4-FFF2-40B4-BE49-F238E27FC236}">
                <a16:creationId xmlns:a16="http://schemas.microsoft.com/office/drawing/2014/main" id="{B9D23EFA-4568-422F-B214-AD92EE45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66">
            <a:extLst xmlns:a="http://schemas.openxmlformats.org/drawingml/2006/main">
              <a:ext uri="{FF2B5EF4-FFF2-40B4-BE49-F238E27FC236}">
                <a16:creationId xmlns:a16="http://schemas.microsoft.com/office/drawing/2014/main" id="{75CD9B02-E3DC-4BF0-82CF-E4D27B2F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1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CC665594-C3F2-4317-ABAA-FFDC8F09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05250"/>
            <a:ext cx="5334000" cy="809625"/>
          </a:xfrm>
          <a:prstGeom xmlns:a="http://schemas.openxmlformats.org/drawingml/2006/main" prst="roundRect">
            <a:avLst>
              <a:gd name="adj" fmla="val 21176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2" name="m0-text-67">
            <a:extLst xmlns:a="http://schemas.openxmlformats.org/drawingml/2006/main">
              <a:ext uri="{FF2B5EF4-FFF2-40B4-BE49-F238E27FC236}">
                <a16:creationId xmlns:a16="http://schemas.microsoft.com/office/drawing/2014/main" id="{89E07D33-1364-4235-94A0-BE0B0620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1955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3" name="m0-text-68">
            <a:extLst xmlns:a="http://schemas.openxmlformats.org/drawingml/2006/main">
              <a:ext uri="{FF2B5EF4-FFF2-40B4-BE49-F238E27FC236}">
                <a16:creationId xmlns:a16="http://schemas.microsoft.com/office/drawing/2014/main" id="{6C0A02D4-0438-4B20-898D-987963C9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286250"/>
            <a:ext cx="4914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  <p:sp>
        <p:nvSpPr>
          <p:cNvPr id="14" name="Prediction question sticker">
            <a:extLst xmlns:a="http://schemas.openxmlformats.org/drawingml/2006/main">
              <a:ext uri="{FF2B5EF4-FFF2-40B4-BE49-F238E27FC236}">
                <a16:creationId xmlns:a16="http://schemas.microsoft.com/office/drawing/2014/main" id="{DC2303CD-85C1-4397-9A0E-F80F9BEA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2352675" y="2476500"/>
            <a:ext cx="44386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87C"/>
          </a:solidFill>
          <a:ln xmlns:a="http://schemas.openxmlformats.org/drawingml/2006/main" w="0">
            <a:solidFill>
              <a:srgbClr val="E8B87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B23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61B23"/>
                </a:solidFill>
                <a:latin typeface="Calibri"/>
                <a:ea typeface="Calibri"/>
                <a:cs typeface="Calibri"/>
              </a:rPr>
              <a:t>What will it answer?</a:t>
            </a:r>
          </a:p>
          <a:p xmlns:a="http://schemas.openxmlformats.org/drawingml/2006/main">
            <a:pPr algn="ctr">
              <a:defRPr sz="2325" b="1">
                <a:solidFill>
                  <a:srgbClr val="161B23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61B23"/>
                </a:solidFill>
                <a:latin typeface="Calibri"/>
                <a:ea typeface="Calibri"/>
                <a:cs typeface="Calibri"/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48296890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m0-text-69">
            <a:extLst xmlns:a="http://schemas.openxmlformats.org/drawingml/2006/main">
              <a:ext uri="{FF2B5EF4-FFF2-40B4-BE49-F238E27FC236}">
                <a16:creationId xmlns:a16="http://schemas.microsoft.com/office/drawing/2014/main" id="{9A2D0C24-FC39-4BE8-9D9E-9ED0EF5F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70">
            <a:extLst xmlns:a="http://schemas.openxmlformats.org/drawingml/2006/main">
              <a:ext uri="{FF2B5EF4-FFF2-40B4-BE49-F238E27FC236}">
                <a16:creationId xmlns:a16="http://schemas.microsoft.com/office/drawing/2014/main" id="{9D4B9BE4-E76F-456A-8D8C-30FC0388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71">
            <a:extLst xmlns:a="http://schemas.openxmlformats.org/drawingml/2006/main">
              <a:ext uri="{FF2B5EF4-FFF2-40B4-BE49-F238E27FC236}">
                <a16:creationId xmlns:a16="http://schemas.microsoft.com/office/drawing/2014/main" id="{D5CEBDCE-18A4-4910-8A1C-EF27180A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4" name="m0-text-72">
            <a:extLst xmlns:a="http://schemas.openxmlformats.org/drawingml/2006/main">
              <a:ext uri="{FF2B5EF4-FFF2-40B4-BE49-F238E27FC236}">
                <a16:creationId xmlns:a16="http://schemas.microsoft.com/office/drawing/2014/main" id="{C891F9A8-C6A8-469F-95E8-7BCA9135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Without Memory, Each Call Starts Again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CCD61A-803F-4562-8258-0AAE93D6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52550"/>
            <a:ext cx="5334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73">
            <a:extLst xmlns:a="http://schemas.openxmlformats.org/drawingml/2006/main">
              <a:ext uri="{FF2B5EF4-FFF2-40B4-BE49-F238E27FC236}">
                <a16:creationId xmlns:a16="http://schemas.microsoft.com/office/drawing/2014/main" id="{5AFBD996-B658-4844-8916-865BA461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438275"/>
            <a:ext cx="499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74">
            <a:extLst xmlns:a="http://schemas.openxmlformats.org/drawingml/2006/main">
              <a:ext uri="{FF2B5EF4-FFF2-40B4-BE49-F238E27FC236}">
                <a16:creationId xmlns:a16="http://schemas.microsoft.com/office/drawing/2014/main" id="{2ED5A36E-CCFD-49C0-B8BD-C6A86FF4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28775"/>
            <a:ext cx="499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t>Hi, </a:t>
            </a:r>
            <a:r>
              <a:rPr sz="16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I’m Alessandro</a:t>
            </a:r>
            <a:r>
              <a:t>. And you?</a:t>
            </a:r>
          </a:p>
        </p:txBody>
      </p:sp>
      <p:sp>
        <p:nvSpPr>
          <p:cNvPr id="8" name="Underline the earlier introduction">
            <a:extLst xmlns:a="http://schemas.openxmlformats.org/drawingml/2006/main">
              <a:ext uri="{FF2B5EF4-FFF2-40B4-BE49-F238E27FC236}">
                <a16:creationId xmlns:a16="http://schemas.microsoft.com/office/drawing/2014/main" id="{4040FBEB-A764-441A-BD1E-D1087690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895475"/>
            <a:ext cx="1381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0">
            <a:solidFill>
              <a:srgbClr val="D9A06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4387BD-EC5F-4A74-A832-D20F3908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66925"/>
            <a:ext cx="590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m0-text-75">
            <a:extLst xmlns:a="http://schemas.openxmlformats.org/drawingml/2006/main">
              <a:ext uri="{FF2B5EF4-FFF2-40B4-BE49-F238E27FC236}">
                <a16:creationId xmlns:a16="http://schemas.microsoft.com/office/drawing/2014/main" id="{8708D420-94B1-4B0A-A7A1-0A69700BB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52650"/>
            <a:ext cx="5562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1" name="m0-text-76">
            <a:extLst xmlns:a="http://schemas.openxmlformats.org/drawingml/2006/main">
              <a:ext uri="{FF2B5EF4-FFF2-40B4-BE49-F238E27FC236}">
                <a16:creationId xmlns:a16="http://schemas.microsoft.com/office/drawing/2014/main" id="{88A6CCE2-EE97-4353-B1D1-D258A7B7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43150"/>
            <a:ext cx="5562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F1AF43-685B-45AE-BBF2-D14C589C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19425"/>
            <a:ext cx="5334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3" name="m0-text-77">
            <a:extLst xmlns:a="http://schemas.openxmlformats.org/drawingml/2006/main">
              <a:ext uri="{FF2B5EF4-FFF2-40B4-BE49-F238E27FC236}">
                <a16:creationId xmlns:a16="http://schemas.microsoft.com/office/drawing/2014/main" id="{8A954C58-1779-4428-AA48-5AE09B70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05150"/>
            <a:ext cx="499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4" name="m0-text-78">
            <a:extLst xmlns:a="http://schemas.openxmlformats.org/drawingml/2006/main">
              <a:ext uri="{FF2B5EF4-FFF2-40B4-BE49-F238E27FC236}">
                <a16:creationId xmlns:a16="http://schemas.microsoft.com/office/drawing/2014/main" id="{E0445BC0-6A4E-4E46-A4EA-C326F872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95650"/>
            <a:ext cx="499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3DD90A-54A7-484E-9017-691DB9C4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33800"/>
            <a:ext cx="7239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m0-text-79">
            <a:extLst xmlns:a="http://schemas.openxmlformats.org/drawingml/2006/main">
              <a:ext uri="{FF2B5EF4-FFF2-40B4-BE49-F238E27FC236}">
                <a16:creationId xmlns:a16="http://schemas.microsoft.com/office/drawing/2014/main" id="{CB5A6CE2-40C5-4E05-89F3-BD2D02E4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9525"/>
            <a:ext cx="6896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7" name="m0-text-80">
            <a:extLst xmlns:a="http://schemas.openxmlformats.org/drawingml/2006/main">
              <a:ext uri="{FF2B5EF4-FFF2-40B4-BE49-F238E27FC236}">
                <a16:creationId xmlns:a16="http://schemas.microsoft.com/office/drawing/2014/main" id="{40FE10CF-C624-456B-981F-9B85163A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10025"/>
            <a:ext cx="689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 do not know your name. Could you tell me?</a:t>
            </a:r>
          </a:p>
        </p:txBody>
      </p:sp>
      <p:sp>
        <p:nvSpPr>
          <p:cNvPr id="18" name="m0-text-81">
            <a:extLst xmlns:a="http://schemas.openxmlformats.org/drawingml/2006/main">
              <a:ext uri="{FF2B5EF4-FFF2-40B4-BE49-F238E27FC236}">
                <a16:creationId xmlns:a16="http://schemas.microsoft.com/office/drawing/2014/main" id="{C821FBE5-971E-4696-BAE0-7F53CE22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33900"/>
            <a:ext cx="8229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LLM calls are stateless: we must supply earlier information again.</a:t>
            </a:r>
          </a:p>
        </p:txBody>
      </p:sp>
    </p:spTree>
    <p:extLst>
      <p:ext uri="{BB962C8B-B14F-4D97-AF65-F5344CB8AC3E}">
        <p14:creationId xmlns:p14="http://schemas.microsoft.com/office/powerpoint/2010/main" val="98079999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82">
            <a:extLst xmlns:a="http://schemas.openxmlformats.org/drawingml/2006/main">
              <a:ext uri="{FF2B5EF4-FFF2-40B4-BE49-F238E27FC236}">
                <a16:creationId xmlns:a16="http://schemas.microsoft.com/office/drawing/2014/main" id="{75B1C55E-4513-431F-A4D6-28B569ABD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83">
            <a:extLst xmlns:a="http://schemas.openxmlformats.org/drawingml/2006/main">
              <a:ext uri="{FF2B5EF4-FFF2-40B4-BE49-F238E27FC236}">
                <a16:creationId xmlns:a16="http://schemas.microsoft.com/office/drawing/2014/main" id="{0ED9C5B7-9984-4285-BC54-F7E7DCF1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84">
            <a:extLst xmlns:a="http://schemas.openxmlformats.org/drawingml/2006/main">
              <a:ext uri="{FF2B5EF4-FFF2-40B4-BE49-F238E27FC236}">
                <a16:creationId xmlns:a16="http://schemas.microsoft.com/office/drawing/2014/main" id="{E4984423-1648-494D-A437-47E665C6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4" name="m0-text-85">
            <a:extLst xmlns:a="http://schemas.openxmlformats.org/drawingml/2006/main">
              <a:ext uri="{FF2B5EF4-FFF2-40B4-BE49-F238E27FC236}">
                <a16:creationId xmlns:a16="http://schemas.microsoft.com/office/drawing/2014/main" id="{0690ABF6-0BFB-479D-AFE5-88E00984A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From Stateless Calls to Cognitive Architecture</a:t>
            </a:r>
          </a:p>
        </p:txBody>
      </p:sp>
      <p:sp>
        <p:nvSpPr>
          <p:cNvPr id="5" name="m0-text-86">
            <a:extLst xmlns:a="http://schemas.openxmlformats.org/drawingml/2006/main">
              <a:ext uri="{FF2B5EF4-FFF2-40B4-BE49-F238E27FC236}">
                <a16:creationId xmlns:a16="http://schemas.microsoft.com/office/drawing/2014/main" id="{8E512247-E810-4A5A-A978-F36CC84F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8229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receives the question, not the conversation.</a:t>
            </a:r>
          </a:p>
        </p:txBody>
      </p:sp>
      <p:sp>
        <p:nvSpPr>
          <p:cNvPr id="6" name="m0-text-87">
            <a:extLst xmlns:a="http://schemas.openxmlformats.org/drawingml/2006/main">
              <a:ext uri="{FF2B5EF4-FFF2-40B4-BE49-F238E27FC236}">
                <a16:creationId xmlns:a16="http://schemas.microsoft.com/office/drawing/2014/main" id="{ADD8EC62-319C-48D6-91D1-297823F42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479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remember the name</a:t>
            </a:r>
          </a:p>
        </p:txBody>
      </p:sp>
      <p:sp>
        <p:nvSpPr>
          <p:cNvPr id="7" name="m0-text-88">
            <a:extLst xmlns:a="http://schemas.openxmlformats.org/drawingml/2006/main">
              <a:ext uri="{FF2B5EF4-FFF2-40B4-BE49-F238E27FC236}">
                <a16:creationId xmlns:a16="http://schemas.microsoft.com/office/drawing/2014/main" id="{7F6E05AF-2BFF-4D8D-9541-A3C1D2EE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647950"/>
            <a:ext cx="3886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build a virtual human</a:t>
            </a:r>
          </a:p>
        </p:txBody>
      </p:sp>
      <p:sp>
        <p:nvSpPr>
          <p:cNvPr id="8" name="m0-text-89">
            <a:extLst xmlns:a="http://schemas.openxmlformats.org/drawingml/2006/main">
              <a:ext uri="{FF2B5EF4-FFF2-40B4-BE49-F238E27FC236}">
                <a16:creationId xmlns:a16="http://schemas.microsoft.com/office/drawing/2014/main" id="{8334F32F-A984-4095-8B41-C796AA3D3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76600"/>
            <a:ext cx="3886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 need a </a:t>
            </a:r>
            <a:r>
              <a:rPr sz="202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memory model</a:t>
            </a: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m0-text-90">
            <a:extLst xmlns:a="http://schemas.openxmlformats.org/drawingml/2006/main">
              <a:ext uri="{FF2B5EF4-FFF2-40B4-BE49-F238E27FC236}">
                <a16:creationId xmlns:a16="http://schemas.microsoft.com/office/drawing/2014/main" id="{F1503FB6-0DA9-4D50-906A-2B254C8B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76600"/>
            <a:ext cx="3886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 need a </a:t>
            </a:r>
            <a:r>
              <a:rPr sz="202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cognitive architecture</a:t>
            </a: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m0-text-91">
            <a:extLst xmlns:a="http://schemas.openxmlformats.org/drawingml/2006/main">
              <a:ext uri="{FF2B5EF4-FFF2-40B4-BE49-F238E27FC236}">
                <a16:creationId xmlns:a16="http://schemas.microsoft.com/office/drawing/2014/main" id="{B5C020F2-9A36-4618-9E53-24777987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24325"/>
            <a:ext cx="3886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Keep earlier messages available.</a:t>
            </a:r>
          </a:p>
        </p:txBody>
      </p:sp>
      <p:sp>
        <p:nvSpPr>
          <p:cNvPr id="11" name="m0-text-92">
            <a:extLst xmlns:a="http://schemas.openxmlformats.org/drawingml/2006/main">
              <a:ext uri="{FF2B5EF4-FFF2-40B4-BE49-F238E27FC236}">
                <a16:creationId xmlns:a16="http://schemas.microsoft.com/office/drawing/2014/main" id="{600C8004-DB5C-4B13-B5D4-D849242F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24325"/>
            <a:ext cx="3886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Perception, reasoning (memory),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action.</a:t>
            </a:r>
          </a:p>
        </p:txBody>
      </p:sp>
    </p:spTree>
    <p:extLst>
      <p:ext uri="{BB962C8B-B14F-4D97-AF65-F5344CB8AC3E}">
        <p14:creationId xmlns:p14="http://schemas.microsoft.com/office/powerpoint/2010/main" val="20148181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m0-text-93">
            <a:extLst xmlns:a="http://schemas.openxmlformats.org/drawingml/2006/main">
              <a:ext uri="{FF2B5EF4-FFF2-40B4-BE49-F238E27FC236}">
                <a16:creationId xmlns:a16="http://schemas.microsoft.com/office/drawing/2014/main" id="{4DE91B11-BB38-452C-B86B-F88DABA4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7bfc8abc2c4ae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m0-text-94">
            <a:extLst xmlns:a="http://schemas.openxmlformats.org/drawingml/2006/main">
              <a:ext uri="{FF2B5EF4-FFF2-40B4-BE49-F238E27FC236}">
                <a16:creationId xmlns:a16="http://schemas.microsoft.com/office/drawing/2014/main" id="{13A28820-2E3A-49B2-9A3E-55E1EA75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9775"/>
            <a:ext cx="5429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Setting Up</a:t>
            </a:r>
          </a:p>
        </p:txBody>
      </p:sp>
      <p:sp>
        <p:nvSpPr>
          <p:cNvPr id="4" name="m0-text-95">
            <a:extLst xmlns:a="http://schemas.openxmlformats.org/drawingml/2006/main">
              <a:ext uri="{FF2B5EF4-FFF2-40B4-BE49-F238E27FC236}">
                <a16:creationId xmlns:a16="http://schemas.microsoft.com/office/drawing/2014/main" id="{BCF3C369-F353-4FA2-BBA4-5283DFE2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3513369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0-text-96">
            <a:extLst xmlns:a="http://schemas.openxmlformats.org/drawingml/2006/main">
              <a:ext uri="{FF2B5EF4-FFF2-40B4-BE49-F238E27FC236}">
                <a16:creationId xmlns:a16="http://schemas.microsoft.com/office/drawing/2014/main" id="{52A72100-562D-4D55-BA5E-1A44565E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97">
            <a:extLst xmlns:a="http://schemas.openxmlformats.org/drawingml/2006/main">
              <a:ext uri="{FF2B5EF4-FFF2-40B4-BE49-F238E27FC236}">
                <a16:creationId xmlns:a16="http://schemas.microsoft.com/office/drawing/2014/main" id="{9799C136-B84A-4D4A-8AF2-0C140DE2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98">
            <a:extLst xmlns:a="http://schemas.openxmlformats.org/drawingml/2006/main">
              <a:ext uri="{FF2B5EF4-FFF2-40B4-BE49-F238E27FC236}">
                <a16:creationId xmlns:a16="http://schemas.microsoft.com/office/drawing/2014/main" id="{B1DC784B-55D8-4CA5-9546-ECC5B842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4" name="m0-text-99">
            <a:extLst xmlns:a="http://schemas.openxmlformats.org/drawingml/2006/main">
              <a:ext uri="{FF2B5EF4-FFF2-40B4-BE49-F238E27FC236}">
                <a16:creationId xmlns:a16="http://schemas.microsoft.com/office/drawing/2014/main" id="{9B4EB888-4D7E-41F0-BAB6-16486F79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First, We Need the Models</a:t>
            </a:r>
          </a:p>
        </p:txBody>
      </p:sp>
      <p:sp>
        <p:nvSpPr>
          <p:cNvPr id="5" name="m0-text-100">
            <a:extLst xmlns:a="http://schemas.openxmlformats.org/drawingml/2006/main">
              <a:ext uri="{FF2B5EF4-FFF2-40B4-BE49-F238E27FC236}">
                <a16:creationId xmlns:a16="http://schemas.microsoft.com/office/drawing/2014/main" id="{9BB7C924-F999-43E2-A5E2-43BBDBFC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822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Providers host models and make them available through an API.</a:t>
            </a:r>
          </a:p>
        </p:txBody>
      </p:sp>
      <p:sp>
        <p:nvSpPr>
          <p:cNvPr id="6" name="m0-text-101">
            <a:extLst xmlns:a="http://schemas.openxmlformats.org/drawingml/2006/main">
              <a:ext uri="{FF2B5EF4-FFF2-40B4-BE49-F238E27FC236}">
                <a16:creationId xmlns:a16="http://schemas.microsoft.com/office/drawing/2014/main" id="{6C7B4AAD-BC9B-483A-AC09-9DEC2475E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Google AI Studio</a:t>
            </a:r>
          </a:p>
        </p:txBody>
      </p:sp>
      <p:sp>
        <p:nvSpPr>
          <p:cNvPr id="7" name="m0-text-102">
            <a:extLst xmlns:a="http://schemas.openxmlformats.org/drawingml/2006/main">
              <a:ext uri="{FF2B5EF4-FFF2-40B4-BE49-F238E27FC236}">
                <a16:creationId xmlns:a16="http://schemas.microsoft.com/office/drawing/2014/main" id="{E674D5AF-1721-495C-87A0-DBBC08148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5742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daa934c8a334b83"/>
              </a:rPr>
              <a:t>aistudio.google.com</a:t>
            </a:r>
          </a:p>
        </p:txBody>
      </p:sp>
      <p:sp>
        <p:nvSpPr>
          <p:cNvPr id="8" name="m0-text-103">
            <a:extLst xmlns:a="http://schemas.openxmlformats.org/drawingml/2006/main">
              <a:ext uri="{FF2B5EF4-FFF2-40B4-BE49-F238E27FC236}">
                <a16:creationId xmlns:a16="http://schemas.microsoft.com/office/drawing/2014/main" id="{5A3E1FF6-61FF-4BAC-A4E8-6BDDA0A2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765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Groq</a:t>
            </a:r>
          </a:p>
        </p:txBody>
      </p:sp>
      <p:sp>
        <p:nvSpPr>
          <p:cNvPr id="9" name="m0-text-104">
            <a:extLst xmlns:a="http://schemas.openxmlformats.org/drawingml/2006/main">
              <a:ext uri="{FF2B5EF4-FFF2-40B4-BE49-F238E27FC236}">
                <a16:creationId xmlns:a16="http://schemas.microsoft.com/office/drawing/2014/main" id="{8975C89A-3FB4-42B5-97EC-897B1978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69557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4430585bf13a401f"/>
              </a:rPr>
              <a:t>console.groq.com</a:t>
            </a:r>
          </a:p>
        </p:txBody>
      </p:sp>
      <p:sp>
        <p:nvSpPr>
          <p:cNvPr id="10" name="m0-text-105">
            <a:extLst xmlns:a="http://schemas.openxmlformats.org/drawingml/2006/main">
              <a:ext uri="{FF2B5EF4-FFF2-40B4-BE49-F238E27FC236}">
                <a16:creationId xmlns:a16="http://schemas.microsoft.com/office/drawing/2014/main" id="{EB939C48-A312-49C5-BAB3-1D12CB1B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146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OpenRouter</a:t>
            </a:r>
          </a:p>
        </p:txBody>
      </p:sp>
      <p:sp>
        <p:nvSpPr>
          <p:cNvPr id="11" name="m0-text-106">
            <a:extLst xmlns:a="http://schemas.openxmlformats.org/drawingml/2006/main">
              <a:ext uri="{FF2B5EF4-FFF2-40B4-BE49-F238E27FC236}">
                <a16:creationId xmlns:a16="http://schemas.microsoft.com/office/drawing/2014/main" id="{D46A9A78-8E3B-4591-9B78-65B76C2B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3372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b2f3e021a9445cc"/>
              </a:rPr>
              <a:t>openrouter.ai</a:t>
            </a:r>
          </a:p>
        </p:txBody>
      </p:sp>
      <p:sp>
        <p:nvSpPr>
          <p:cNvPr id="12" name="m0-text-107">
            <a:extLst xmlns:a="http://schemas.openxmlformats.org/drawingml/2006/main">
              <a:ext uri="{FF2B5EF4-FFF2-40B4-BE49-F238E27FC236}">
                <a16:creationId xmlns:a16="http://schemas.microsoft.com/office/drawing/2014/main" id="{15CBDC91-D6FB-4548-8598-1DABC65C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528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Ollama Cloud</a:t>
            </a:r>
          </a:p>
        </p:txBody>
      </p:sp>
      <p:sp>
        <p:nvSpPr>
          <p:cNvPr id="13" name="m0-text-108">
            <a:extLst xmlns:a="http://schemas.openxmlformats.org/drawingml/2006/main">
              <a:ext uri="{FF2B5EF4-FFF2-40B4-BE49-F238E27FC236}">
                <a16:creationId xmlns:a16="http://schemas.microsoft.com/office/drawing/2014/main" id="{8A277880-2901-407D-A4BE-83F505FC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57187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85b9956ad114bf3"/>
              </a:rPr>
              <a:t>ollama.com</a:t>
            </a:r>
          </a:p>
        </p:txBody>
      </p:sp>
      <p:sp>
        <p:nvSpPr>
          <p:cNvPr id="14" name="m0-text-109">
            <a:extLst xmlns:a="http://schemas.openxmlformats.org/drawingml/2006/main">
              <a:ext uri="{FF2B5EF4-FFF2-40B4-BE49-F238E27FC236}">
                <a16:creationId xmlns:a16="http://schemas.microsoft.com/office/drawing/2014/main" id="{F9A2FE7A-456A-43BF-A96D-96EFB8A9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43375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Create an account, generate an API key and save it in the YAML file.</a:t>
            </a:r>
          </a:p>
        </p:txBody>
      </p:sp>
      <p:sp>
        <p:nvSpPr>
          <p:cNvPr id="15" name="m0-text-110">
            <a:extLst xmlns:a="http://schemas.openxmlformats.org/drawingml/2006/main">
              <a:ext uri="{FF2B5EF4-FFF2-40B4-BE49-F238E27FC236}">
                <a16:creationId xmlns:a16="http://schemas.microsoft.com/office/drawing/2014/main" id="{A9FAD296-529B-481A-ABF9-2C6BC38F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822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Free access has limits: selected models, request quotas and account eligibility.</a:t>
            </a:r>
          </a:p>
        </p:txBody>
      </p:sp>
    </p:spTree>
    <p:extLst>
      <p:ext uri="{BB962C8B-B14F-4D97-AF65-F5344CB8AC3E}">
        <p14:creationId xmlns:p14="http://schemas.microsoft.com/office/powerpoint/2010/main" val="153656108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111">
            <a:extLst xmlns:a="http://schemas.openxmlformats.org/drawingml/2006/main">
              <a:ext uri="{FF2B5EF4-FFF2-40B4-BE49-F238E27FC236}">
                <a16:creationId xmlns:a16="http://schemas.microsoft.com/office/drawing/2014/main" id="{D84A8ACD-3047-43DA-92C0-7F576B5F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12">
            <a:extLst xmlns:a="http://schemas.openxmlformats.org/drawingml/2006/main">
              <a:ext uri="{FF2B5EF4-FFF2-40B4-BE49-F238E27FC236}">
                <a16:creationId xmlns:a16="http://schemas.microsoft.com/office/drawing/2014/main" id="{3CB76612-C960-444A-BDD5-3A74F3EB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13">
            <a:extLst xmlns:a="http://schemas.openxmlformats.org/drawingml/2006/main">
              <a:ext uri="{FF2B5EF4-FFF2-40B4-BE49-F238E27FC236}">
                <a16:creationId xmlns:a16="http://schemas.microsoft.com/office/drawing/2014/main" id="{320C1A2D-5D9D-4970-9343-AB8D01F3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4" name="m0-text-114">
            <a:extLst xmlns:a="http://schemas.openxmlformats.org/drawingml/2006/main">
              <a:ext uri="{FF2B5EF4-FFF2-40B4-BE49-F238E27FC236}">
                <a16:creationId xmlns:a16="http://schemas.microsoft.com/office/drawing/2014/main" id="{C7C80CA2-BB7C-4729-8BDA-EEC5A5A0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Cloud and Local Models</a:t>
            </a:r>
          </a:p>
        </p:txBody>
      </p:sp>
      <p:sp>
        <p:nvSpPr>
          <p:cNvPr id="5" name="m0-text-115">
            <a:extLst xmlns:a="http://schemas.openxmlformats.org/drawingml/2006/main">
              <a:ext uri="{FF2B5EF4-FFF2-40B4-BE49-F238E27FC236}">
                <a16:creationId xmlns:a16="http://schemas.microsoft.com/office/drawing/2014/main" id="{787B8E6B-EB47-4953-9AA5-98F22BC4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3790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Cloud</a:t>
            </a:r>
          </a:p>
        </p:txBody>
      </p:sp>
      <p:sp>
        <p:nvSpPr>
          <p:cNvPr id="6" name="m0-text-116">
            <a:extLst xmlns:a="http://schemas.openxmlformats.org/drawingml/2006/main">
              <a:ext uri="{FF2B5EF4-FFF2-40B4-BE49-F238E27FC236}">
                <a16:creationId xmlns:a16="http://schemas.microsoft.com/office/drawing/2014/main" id="{58F6C0CE-0426-4304-8B32-946AF1DA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19325"/>
            <a:ext cx="37909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Models run on a provider’s servers.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Access them through an API.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an account and an API key.</a:t>
            </a:r>
          </a:p>
        </p:txBody>
      </p:sp>
      <p:sp>
        <p:nvSpPr>
          <p:cNvPr id="7" name="m0-text-117">
            <a:extLst xmlns:a="http://schemas.openxmlformats.org/drawingml/2006/main">
              <a:ext uri="{FF2B5EF4-FFF2-40B4-BE49-F238E27FC236}">
                <a16:creationId xmlns:a16="http://schemas.microsoft.com/office/drawing/2014/main" id="{454A1106-AD61-4D0D-9F2F-A7BB8797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24000"/>
            <a:ext cx="3790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Local</a:t>
            </a:r>
          </a:p>
        </p:txBody>
      </p:sp>
      <p:sp>
        <p:nvSpPr>
          <p:cNvPr id="8" name="m0-text-118">
            <a:extLst xmlns:a="http://schemas.openxmlformats.org/drawingml/2006/main">
              <a:ext uri="{FF2B5EF4-FFF2-40B4-BE49-F238E27FC236}">
                <a16:creationId xmlns:a16="http://schemas.microsoft.com/office/drawing/2014/main" id="{46CF78D5-EE87-4F27-B4FD-9F2B8F81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9325"/>
            <a:ext cx="37909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Models run on your computer.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46e9c50a1be4a26"/>
              </a:rPr>
              <a:t>Ollama</a:t>
            </a: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 is one way to run them;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other tools are available.</a:t>
            </a:r>
          </a:p>
        </p:txBody>
      </p:sp>
      <p:sp>
        <p:nvSpPr>
          <p:cNvPr id="9" name="m0-text-119">
            <a:extLst xmlns:a="http://schemas.openxmlformats.org/drawingml/2006/main">
              <a:ext uri="{FF2B5EF4-FFF2-40B4-BE49-F238E27FC236}">
                <a16:creationId xmlns:a16="http://schemas.microsoft.com/office/drawing/2014/main" id="{E8DAED5C-81BD-4212-B50D-0CD8BC72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9100"/>
            <a:ext cx="8229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In this course, we use cloud models with free tiers.</a:t>
            </a:r>
          </a:p>
        </p:txBody>
      </p:sp>
    </p:spTree>
    <p:extLst>
      <p:ext uri="{BB962C8B-B14F-4D97-AF65-F5344CB8AC3E}">
        <p14:creationId xmlns:p14="http://schemas.microsoft.com/office/powerpoint/2010/main" val="24987718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m0-text-120">
            <a:extLst xmlns:a="http://schemas.openxmlformats.org/drawingml/2006/main">
              <a:ext uri="{FF2B5EF4-FFF2-40B4-BE49-F238E27FC236}">
                <a16:creationId xmlns:a16="http://schemas.microsoft.com/office/drawing/2014/main" id="{BDBB95E1-032D-4121-9E08-C88DD1C2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21">
            <a:extLst xmlns:a="http://schemas.openxmlformats.org/drawingml/2006/main">
              <a:ext uri="{FF2B5EF4-FFF2-40B4-BE49-F238E27FC236}">
                <a16:creationId xmlns:a16="http://schemas.microsoft.com/office/drawing/2014/main" id="{022EE24B-5AD9-4EE1-977F-6D9FAC5F2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22">
            <a:extLst xmlns:a="http://schemas.openxmlformats.org/drawingml/2006/main">
              <a:ext uri="{FF2B5EF4-FFF2-40B4-BE49-F238E27FC236}">
                <a16:creationId xmlns:a16="http://schemas.microsoft.com/office/drawing/2014/main" id="{343BA4C7-82FA-4492-88FD-EAB34AA6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4" name="m0-text-123">
            <a:extLst xmlns:a="http://schemas.openxmlformats.org/drawingml/2006/main">
              <a:ext uri="{FF2B5EF4-FFF2-40B4-BE49-F238E27FC236}">
                <a16:creationId xmlns:a16="http://schemas.microsoft.com/office/drawing/2014/main" id="{3F3F5E87-ACAD-4BA7-A627-12ADB4A69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The Technology Stack</a:t>
            </a:r>
          </a:p>
        </p:txBody>
      </p:sp>
      <p:sp>
        <p:nvSpPr>
          <p:cNvPr id="5" name="m0-text-124">
            <a:extLst xmlns:a="http://schemas.openxmlformats.org/drawingml/2006/main">
              <a:ext uri="{FF2B5EF4-FFF2-40B4-BE49-F238E27FC236}">
                <a16:creationId xmlns:a16="http://schemas.microsoft.com/office/drawing/2014/main" id="{BB5FD3B9-5EFE-4A05-A0C9-FE5C05FB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43025"/>
            <a:ext cx="22288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COMPONENT</a:t>
            </a:r>
          </a:p>
        </p:txBody>
      </p:sp>
      <p:sp>
        <p:nvSpPr>
          <p:cNvPr id="6" name="m0-text-125">
            <a:extLst xmlns:a="http://schemas.openxmlformats.org/drawingml/2006/main">
              <a:ext uri="{FF2B5EF4-FFF2-40B4-BE49-F238E27FC236}">
                <a16:creationId xmlns:a16="http://schemas.microsoft.com/office/drawing/2014/main" id="{0A7441FE-6C95-4AD6-B6FF-D54046DF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43025"/>
            <a:ext cx="419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PURPOSE</a:t>
            </a:r>
          </a:p>
        </p:txBody>
      </p:sp>
      <p:sp>
        <p:nvSpPr>
          <p:cNvPr id="7" name="m0-text-126">
            <a:extLst xmlns:a="http://schemas.openxmlformats.org/drawingml/2006/main">
              <a:ext uri="{FF2B5EF4-FFF2-40B4-BE49-F238E27FC236}">
                <a16:creationId xmlns:a16="http://schemas.microsoft.com/office/drawing/2014/main" id="{84DEF9F4-E4FF-4244-8DBE-2C434556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43025"/>
            <a:ext cx="1162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RESOURCE</a:t>
            </a:r>
          </a:p>
        </p:txBody>
      </p:sp>
      <p:sp>
        <p:nvSpPr>
          <p:cNvPr id="8" name="m0-text-127">
            <a:extLst xmlns:a="http://schemas.openxmlformats.org/drawingml/2006/main">
              <a:ext uri="{FF2B5EF4-FFF2-40B4-BE49-F238E27FC236}">
                <a16:creationId xmlns:a16="http://schemas.microsoft.com/office/drawing/2014/main" id="{4C5A7CD3-6426-441B-8517-25C23AFB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859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VS Code</a:t>
            </a:r>
          </a:p>
        </p:txBody>
      </p:sp>
      <p:sp>
        <p:nvSpPr>
          <p:cNvPr id="9" name="m0-text-128">
            <a:extLst xmlns:a="http://schemas.openxmlformats.org/drawingml/2006/main">
              <a:ext uri="{FF2B5EF4-FFF2-40B4-BE49-F238E27FC236}">
                <a16:creationId xmlns:a16="http://schemas.microsoft.com/office/drawing/2014/main" id="{84A4387B-A945-4B6F-A470-A4372558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954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IDE and notebook editor</a:t>
            </a:r>
          </a:p>
        </p:txBody>
      </p:sp>
      <p:sp>
        <p:nvSpPr>
          <p:cNvPr id="10" name="m0-text-129">
            <a:extLst xmlns:a="http://schemas.openxmlformats.org/drawingml/2006/main">
              <a:ext uri="{FF2B5EF4-FFF2-40B4-BE49-F238E27FC236}">
                <a16:creationId xmlns:a16="http://schemas.microsoft.com/office/drawing/2014/main" id="{3C2BD981-A6CD-47B7-BA90-D795BBE7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954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494c152b48f247e0"/>
              </a:rPr>
              <a:t>Open</a:t>
            </a:r>
          </a:p>
        </p:txBody>
      </p:sp>
      <p:sp>
        <p:nvSpPr>
          <p:cNvPr id="11" name="m0-text-130">
            <a:extLst xmlns:a="http://schemas.openxmlformats.org/drawingml/2006/main">
              <a:ext uri="{FF2B5EF4-FFF2-40B4-BE49-F238E27FC236}">
                <a16:creationId xmlns:a16="http://schemas.microsoft.com/office/drawing/2014/main" id="{49AF340E-85B6-4947-9F50-7E312315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288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Python</a:t>
            </a:r>
          </a:p>
        </p:txBody>
      </p:sp>
      <p:sp>
        <p:nvSpPr>
          <p:cNvPr id="12" name="m0-text-131">
            <a:extLst xmlns:a="http://schemas.openxmlformats.org/drawingml/2006/main">
              <a:ext uri="{FF2B5EF4-FFF2-40B4-BE49-F238E27FC236}">
                <a16:creationId xmlns:a16="http://schemas.microsoft.com/office/drawing/2014/main" id="{22B0013B-6E48-47B4-8D8C-647A0FA7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383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Runtime for all course code</a:t>
            </a:r>
          </a:p>
        </p:txBody>
      </p:sp>
      <p:sp>
        <p:nvSpPr>
          <p:cNvPr id="13" name="m0-text-132">
            <a:extLst xmlns:a="http://schemas.openxmlformats.org/drawingml/2006/main">
              <a:ext uri="{FF2B5EF4-FFF2-40B4-BE49-F238E27FC236}">
                <a16:creationId xmlns:a16="http://schemas.microsoft.com/office/drawing/2014/main" id="{BCF1848D-4452-4644-B2DA-78B567FF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f481f4593314938"/>
              </a:rPr>
              <a:t>Open</a:t>
            </a:r>
          </a:p>
        </p:txBody>
      </p:sp>
      <p:sp>
        <p:nvSpPr>
          <p:cNvPr id="14" name="m0-text-133">
            <a:extLst xmlns:a="http://schemas.openxmlformats.org/drawingml/2006/main">
              <a:ext uri="{FF2B5EF4-FFF2-40B4-BE49-F238E27FC236}">
                <a16:creationId xmlns:a16="http://schemas.microsoft.com/office/drawing/2014/main" id="{57E83396-212E-4C08-8BE7-FEE9F992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17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VS Code extensions</a:t>
            </a:r>
          </a:p>
        </p:txBody>
      </p:sp>
      <p:sp>
        <p:nvSpPr>
          <p:cNvPr id="15" name="m0-text-134">
            <a:extLst xmlns:a="http://schemas.openxmlformats.org/drawingml/2006/main">
              <a:ext uri="{FF2B5EF4-FFF2-40B4-BE49-F238E27FC236}">
                <a16:creationId xmlns:a16="http://schemas.microsoft.com/office/drawing/2014/main" id="{FD9A193C-647E-4A7A-A39C-5D7DC20F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3812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Python and Jupyter support</a:t>
            </a:r>
          </a:p>
        </p:txBody>
      </p:sp>
      <p:sp>
        <p:nvSpPr>
          <p:cNvPr id="16" name="m0-text-135">
            <a:extLst xmlns:a="http://schemas.openxmlformats.org/drawingml/2006/main">
              <a:ext uri="{FF2B5EF4-FFF2-40B4-BE49-F238E27FC236}">
                <a16:creationId xmlns:a16="http://schemas.microsoft.com/office/drawing/2014/main" id="{6CD7555F-5767-4BE7-A286-8C56700E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812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b3dc01bd8294769"/>
              </a:rPr>
              <a:t>Open</a:t>
            </a:r>
          </a:p>
        </p:txBody>
      </p:sp>
      <p:sp>
        <p:nvSpPr>
          <p:cNvPr id="17" name="m0-text-136">
            <a:extLst xmlns:a="http://schemas.openxmlformats.org/drawingml/2006/main">
              <a:ext uri="{FF2B5EF4-FFF2-40B4-BE49-F238E27FC236}">
                <a16:creationId xmlns:a16="http://schemas.microsoft.com/office/drawing/2014/main" id="{20A2A56D-4C5F-42C2-8A7C-695ED89D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146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Provider SDKs</a:t>
            </a:r>
          </a:p>
        </p:txBody>
      </p:sp>
      <p:sp>
        <p:nvSpPr>
          <p:cNvPr id="18" name="m0-text-137">
            <a:extLst xmlns:a="http://schemas.openxmlformats.org/drawingml/2006/main">
              <a:ext uri="{FF2B5EF4-FFF2-40B4-BE49-F238E27FC236}">
                <a16:creationId xmlns:a16="http://schemas.microsoft.com/office/drawing/2014/main" id="{D5D7D643-C23C-4D09-9A3B-42F9576E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7241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Python clients for model providers</a:t>
            </a:r>
          </a:p>
        </p:txBody>
      </p:sp>
      <p:sp>
        <p:nvSpPr>
          <p:cNvPr id="19" name="m0-text-138">
            <a:extLst xmlns:a="http://schemas.openxmlformats.org/drawingml/2006/main">
              <a:ext uri="{FF2B5EF4-FFF2-40B4-BE49-F238E27FC236}">
                <a16:creationId xmlns:a16="http://schemas.microsoft.com/office/drawing/2014/main" id="{82291196-A153-4D24-956C-28F80ECD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abcb77f082c47e6"/>
              </a:rPr>
              <a:t>Open</a:t>
            </a:r>
          </a:p>
        </p:txBody>
      </p:sp>
      <p:sp>
        <p:nvSpPr>
          <p:cNvPr id="20" name="m0-text-139">
            <a:extLst xmlns:a="http://schemas.openxmlformats.org/drawingml/2006/main">
              <a:ext uri="{FF2B5EF4-FFF2-40B4-BE49-F238E27FC236}">
                <a16:creationId xmlns:a16="http://schemas.microsoft.com/office/drawing/2014/main" id="{BD2C6DD2-4F7A-4846-B693-EC4F6BDA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575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LangChain</a:t>
            </a:r>
          </a:p>
        </p:txBody>
      </p:sp>
      <p:sp>
        <p:nvSpPr>
          <p:cNvPr id="21" name="m0-text-140">
            <a:extLst xmlns:a="http://schemas.openxmlformats.org/drawingml/2006/main">
              <a:ext uri="{FF2B5EF4-FFF2-40B4-BE49-F238E27FC236}">
                <a16:creationId xmlns:a16="http://schemas.microsoft.com/office/drawing/2014/main" id="{217B3D83-C323-474F-8F6F-04E4B8BC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0670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interfaces and prompt workflows</a:t>
            </a:r>
          </a:p>
        </p:txBody>
      </p:sp>
      <p:sp>
        <p:nvSpPr>
          <p:cNvPr id="22" name="m0-text-141">
            <a:extLst xmlns:a="http://schemas.openxmlformats.org/drawingml/2006/main">
              <a:ext uri="{FF2B5EF4-FFF2-40B4-BE49-F238E27FC236}">
                <a16:creationId xmlns:a16="http://schemas.microsoft.com/office/drawing/2014/main" id="{B11A6674-2582-4F8A-85A5-CF96AC85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3c3137891314d96"/>
              </a:rPr>
              <a:t>Open</a:t>
            </a:r>
          </a:p>
        </p:txBody>
      </p:sp>
      <p:sp>
        <p:nvSpPr>
          <p:cNvPr id="23" name="m0-text-142">
            <a:extLst xmlns:a="http://schemas.openxmlformats.org/drawingml/2006/main">
              <a:ext uri="{FF2B5EF4-FFF2-40B4-BE49-F238E27FC236}">
                <a16:creationId xmlns:a16="http://schemas.microsoft.com/office/drawing/2014/main" id="{36403045-A585-4CEF-90FA-172A42B8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04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LangGraph</a:t>
            </a:r>
          </a:p>
        </p:txBody>
      </p:sp>
      <p:sp>
        <p:nvSpPr>
          <p:cNvPr id="24" name="m0-text-143">
            <a:extLst xmlns:a="http://schemas.openxmlformats.org/drawingml/2006/main">
              <a:ext uri="{FF2B5EF4-FFF2-40B4-BE49-F238E27FC236}">
                <a16:creationId xmlns:a16="http://schemas.microsoft.com/office/drawing/2014/main" id="{A6CCAFA6-9A09-4ACB-8C13-48001F13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099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 and agent orchestration</a:t>
            </a:r>
          </a:p>
        </p:txBody>
      </p:sp>
      <p:sp>
        <p:nvSpPr>
          <p:cNvPr id="25" name="m0-text-144">
            <a:extLst xmlns:a="http://schemas.openxmlformats.org/drawingml/2006/main">
              <a:ext uri="{FF2B5EF4-FFF2-40B4-BE49-F238E27FC236}">
                <a16:creationId xmlns:a16="http://schemas.microsoft.com/office/drawing/2014/main" id="{AB806B9E-0E0E-4F27-A8EA-F159E99A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099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abe35206aca4c43"/>
              </a:rPr>
              <a:t>Open</a:t>
            </a:r>
          </a:p>
        </p:txBody>
      </p:sp>
      <p:sp>
        <p:nvSpPr>
          <p:cNvPr id="26" name="m0-text-145">
            <a:extLst xmlns:a="http://schemas.openxmlformats.org/drawingml/2006/main">
              <a:ext uri="{FF2B5EF4-FFF2-40B4-BE49-F238E27FC236}">
                <a16:creationId xmlns:a16="http://schemas.microsoft.com/office/drawing/2014/main" id="{7480B0CC-E68A-4BF0-A7B2-964A4503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33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Pydantic</a:t>
            </a:r>
          </a:p>
        </p:txBody>
      </p:sp>
      <p:sp>
        <p:nvSpPr>
          <p:cNvPr id="27" name="m0-text-146">
            <a:extLst xmlns:a="http://schemas.openxmlformats.org/drawingml/2006/main">
              <a:ext uri="{FF2B5EF4-FFF2-40B4-BE49-F238E27FC236}">
                <a16:creationId xmlns:a16="http://schemas.microsoft.com/office/drawing/2014/main" id="{8FD50252-28BA-4EB7-8BA3-752EA659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7528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data and response validation</a:t>
            </a:r>
          </a:p>
        </p:txBody>
      </p:sp>
      <p:sp>
        <p:nvSpPr>
          <p:cNvPr id="28" name="m0-text-147">
            <a:extLst xmlns:a="http://schemas.openxmlformats.org/drawingml/2006/main">
              <a:ext uri="{FF2B5EF4-FFF2-40B4-BE49-F238E27FC236}">
                <a16:creationId xmlns:a16="http://schemas.microsoft.com/office/drawing/2014/main" id="{A76461F7-9D23-489E-B0EC-F8CDC2F5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528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55b89f6768d46ee"/>
              </a:rPr>
              <a:t>Open</a:t>
            </a:r>
          </a:p>
        </p:txBody>
      </p:sp>
      <p:sp>
        <p:nvSpPr>
          <p:cNvPr id="29" name="m0-text-148">
            <a:extLst xmlns:a="http://schemas.openxmlformats.org/drawingml/2006/main">
              <a:ext uri="{FF2B5EF4-FFF2-40B4-BE49-F238E27FC236}">
                <a16:creationId xmlns:a16="http://schemas.microsoft.com/office/drawing/2014/main" id="{A8DC8440-FE1F-40F3-B50A-9160D605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862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FastAPI</a:t>
            </a:r>
          </a:p>
        </p:txBody>
      </p:sp>
      <p:sp>
        <p:nvSpPr>
          <p:cNvPr id="30" name="m0-text-149">
            <a:extLst xmlns:a="http://schemas.openxmlformats.org/drawingml/2006/main">
              <a:ext uri="{FF2B5EF4-FFF2-40B4-BE49-F238E27FC236}">
                <a16:creationId xmlns:a16="http://schemas.microsoft.com/office/drawing/2014/main" id="{B7BBA87D-1EF1-4FA3-A8F1-415D0CBB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0957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API between the avatar and the agent</a:t>
            </a:r>
          </a:p>
        </p:txBody>
      </p:sp>
      <p:sp>
        <p:nvSpPr>
          <p:cNvPr id="31" name="m0-text-150">
            <a:extLst xmlns:a="http://schemas.openxmlformats.org/drawingml/2006/main">
              <a:ext uri="{FF2B5EF4-FFF2-40B4-BE49-F238E27FC236}">
                <a16:creationId xmlns:a16="http://schemas.microsoft.com/office/drawing/2014/main" id="{D63F4B4F-1DA8-40CD-BFE0-0C8F0430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aaf596c6a7e46a4"/>
              </a:rPr>
              <a:t>Open</a:t>
            </a:r>
          </a:p>
        </p:txBody>
      </p:sp>
      <p:sp>
        <p:nvSpPr>
          <p:cNvPr id="32" name="m0-text-151">
            <a:extLst xmlns:a="http://schemas.openxmlformats.org/drawingml/2006/main">
              <a:ext uri="{FF2B5EF4-FFF2-40B4-BE49-F238E27FC236}">
                <a16:creationId xmlns:a16="http://schemas.microsoft.com/office/drawing/2014/main" id="{4F9C18B7-9862-4A80-BE6A-343F2569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291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Ollama</a:t>
            </a:r>
          </a:p>
        </p:txBody>
      </p:sp>
      <p:sp>
        <p:nvSpPr>
          <p:cNvPr id="33" name="m0-text-152">
            <a:extLst xmlns:a="http://schemas.openxmlformats.org/drawingml/2006/main">
              <a:ext uri="{FF2B5EF4-FFF2-40B4-BE49-F238E27FC236}">
                <a16:creationId xmlns:a16="http://schemas.microsoft.com/office/drawing/2014/main" id="{9B9FCCCC-7BEF-4C4D-A060-54D261F7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386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Local model server</a:t>
            </a:r>
          </a:p>
        </p:txBody>
      </p:sp>
      <p:sp>
        <p:nvSpPr>
          <p:cNvPr id="34" name="m0-text-153">
            <a:extLst xmlns:a="http://schemas.openxmlformats.org/drawingml/2006/main">
              <a:ext uri="{FF2B5EF4-FFF2-40B4-BE49-F238E27FC236}">
                <a16:creationId xmlns:a16="http://schemas.microsoft.com/office/drawing/2014/main" id="{43282DA7-9054-4419-A3F4-179BFB07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386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a19ed77c7f473a"/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173974461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154">
            <a:extLst xmlns:a="http://schemas.openxmlformats.org/drawingml/2006/main">
              <a:ext uri="{FF2B5EF4-FFF2-40B4-BE49-F238E27FC236}">
                <a16:creationId xmlns:a16="http://schemas.microsoft.com/office/drawing/2014/main" id="{0C16E694-E1DE-4DCB-B05C-41DD697A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55">
            <a:extLst xmlns:a="http://schemas.openxmlformats.org/drawingml/2006/main">
              <a:ext uri="{FF2B5EF4-FFF2-40B4-BE49-F238E27FC236}">
                <a16:creationId xmlns:a16="http://schemas.microsoft.com/office/drawing/2014/main" id="{5A22B72E-0F6F-4AC6-AC42-AE60FFA1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56">
            <a:extLst xmlns:a="http://schemas.openxmlformats.org/drawingml/2006/main">
              <a:ext uri="{FF2B5EF4-FFF2-40B4-BE49-F238E27FC236}">
                <a16:creationId xmlns:a16="http://schemas.microsoft.com/office/drawing/2014/main" id="{DEACB481-4973-4F2B-ACB0-BA9D49E5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4" name="m0-text-157">
            <a:extLst xmlns:a="http://schemas.openxmlformats.org/drawingml/2006/main">
              <a:ext uri="{FF2B5EF4-FFF2-40B4-BE49-F238E27FC236}">
                <a16:creationId xmlns:a16="http://schemas.microsoft.com/office/drawing/2014/main" id="{420DBD2B-9C17-4971-92F8-72B2021E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1. Download the Course Project</a:t>
            </a:r>
          </a:p>
        </p:txBody>
      </p:sp>
      <p:sp>
        <p:nvSpPr>
          <p:cNvPr id="5" name="m0-text-158">
            <a:extLst xmlns:a="http://schemas.openxmlformats.org/drawingml/2006/main">
              <a:ext uri="{FF2B5EF4-FFF2-40B4-BE49-F238E27FC236}">
                <a16:creationId xmlns:a16="http://schemas.microsoft.com/office/drawing/2014/main" id="{86EB4166-D6A9-48AA-9F34-7CDAD52A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76375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0c9c81caf664569"/>
              </a:rPr>
              <a:t>Open the course repository on GitHub.</a:t>
            </a:r>
          </a:p>
        </p:txBody>
      </p:sp>
      <p:sp>
        <p:nvSpPr>
          <p:cNvPr id="6" name="m0-text-159">
            <a:extLst xmlns:a="http://schemas.openxmlformats.org/drawingml/2006/main">
              <a:ext uri="{FF2B5EF4-FFF2-40B4-BE49-F238E27FC236}">
                <a16:creationId xmlns:a16="http://schemas.microsoft.com/office/drawing/2014/main" id="{DB278B2D-48BE-44F6-AE9D-6EF26331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8229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Code &gt; Download ZIP, then extract the archive.</a:t>
            </a:r>
          </a:p>
        </p:txBody>
      </p:sp>
      <p:sp>
        <p:nvSpPr>
          <p:cNvPr id="7" name="m0-text-160">
            <a:extLst xmlns:a="http://schemas.openxmlformats.org/drawingml/2006/main">
              <a:ext uri="{FF2B5EF4-FFF2-40B4-BE49-F238E27FC236}">
                <a16:creationId xmlns:a16="http://schemas.microsoft.com/office/drawing/2014/main" id="{33C83EE0-0B41-4B13-8E38-A1D9E3F8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D9A06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virtual_human_course/</a:t>
            </a:r>
          </a:p>
        </p:txBody>
      </p:sp>
      <p:sp>
        <p:nvSpPr>
          <p:cNvPr id="8" name="m0-text-161">
            <a:extLst xmlns:a="http://schemas.openxmlformats.org/drawingml/2006/main">
              <a:ext uri="{FF2B5EF4-FFF2-40B4-BE49-F238E27FC236}">
                <a16:creationId xmlns:a16="http://schemas.microsoft.com/office/drawing/2014/main" id="{7F2AB6A3-5907-46A1-9BCD-4989A8A8A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38525"/>
            <a:ext cx="371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Slides, notebooks and course requirements.</a:t>
            </a:r>
          </a:p>
        </p:txBody>
      </p:sp>
      <p:sp>
        <p:nvSpPr>
          <p:cNvPr id="9" name="m0-text-162">
            <a:extLst xmlns:a="http://schemas.openxmlformats.org/drawingml/2006/main">
              <a:ext uri="{FF2B5EF4-FFF2-40B4-BE49-F238E27FC236}">
                <a16:creationId xmlns:a16="http://schemas.microsoft.com/office/drawing/2014/main" id="{D22DEEB4-D44C-444D-8350-62A8D735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52750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D9A06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virtual_human_project/</a:t>
            </a:r>
          </a:p>
        </p:txBody>
      </p:sp>
      <p:sp>
        <p:nvSpPr>
          <p:cNvPr id="10" name="m0-text-163">
            <a:extLst xmlns:a="http://schemas.openxmlformats.org/drawingml/2006/main">
              <a:ext uri="{FF2B5EF4-FFF2-40B4-BE49-F238E27FC236}">
                <a16:creationId xmlns:a16="http://schemas.microsoft.com/office/drawing/2014/main" id="{A4110E4B-BD88-41A4-9405-9543DBB1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38525"/>
            <a:ext cx="3886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Avatar, cognitive server and installers.</a:t>
            </a:r>
          </a:p>
        </p:txBody>
      </p:sp>
      <p:sp>
        <p:nvSpPr>
          <p:cNvPr id="11" name="m0-text-164">
            <a:extLst xmlns:a="http://schemas.openxmlformats.org/drawingml/2006/main">
              <a:ext uri="{FF2B5EF4-FFF2-40B4-BE49-F238E27FC236}">
                <a16:creationId xmlns:a16="http://schemas.microsoft.com/office/drawing/2014/main" id="{250A24DF-F089-4ED7-9B7B-8710A2C7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95800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Keep both folders together in the extracted repository.</a:t>
            </a:r>
          </a:p>
        </p:txBody>
      </p:sp>
    </p:spTree>
    <p:extLst>
      <p:ext uri="{BB962C8B-B14F-4D97-AF65-F5344CB8AC3E}">
        <p14:creationId xmlns:p14="http://schemas.microsoft.com/office/powerpoint/2010/main" val="26822676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m0-text-165">
            <a:extLst xmlns:a="http://schemas.openxmlformats.org/drawingml/2006/main">
              <a:ext uri="{FF2B5EF4-FFF2-40B4-BE49-F238E27FC236}">
                <a16:creationId xmlns:a16="http://schemas.microsoft.com/office/drawing/2014/main" id="{3748AE7C-6014-4531-A6FF-1CBDEF64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66">
            <a:extLst xmlns:a="http://schemas.openxmlformats.org/drawingml/2006/main">
              <a:ext uri="{FF2B5EF4-FFF2-40B4-BE49-F238E27FC236}">
                <a16:creationId xmlns:a16="http://schemas.microsoft.com/office/drawing/2014/main" id="{6EDA147D-24AF-4CEC-9859-21C70424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67">
            <a:extLst xmlns:a="http://schemas.openxmlformats.org/drawingml/2006/main">
              <a:ext uri="{FF2B5EF4-FFF2-40B4-BE49-F238E27FC236}">
                <a16:creationId xmlns:a16="http://schemas.microsoft.com/office/drawing/2014/main" id="{76369BD7-803B-4FEA-891F-410A25CF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sp>
        <p:nvSpPr>
          <p:cNvPr id="4" name="m0-text-168">
            <a:extLst xmlns:a="http://schemas.openxmlformats.org/drawingml/2006/main">
              <a:ext uri="{FF2B5EF4-FFF2-40B4-BE49-F238E27FC236}">
                <a16:creationId xmlns:a16="http://schemas.microsoft.com/office/drawing/2014/main" id="{58D4819D-A4DD-4E39-884E-639D020C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2. Install VS Code and Extensions</a:t>
            </a:r>
          </a:p>
        </p:txBody>
      </p:sp>
      <p:sp>
        <p:nvSpPr>
          <p:cNvPr id="5" name="m0-text-169">
            <a:extLst xmlns:a="http://schemas.openxmlformats.org/drawingml/2006/main">
              <a:ext uri="{FF2B5EF4-FFF2-40B4-BE49-F238E27FC236}">
                <a16:creationId xmlns:a16="http://schemas.microsoft.com/office/drawing/2014/main" id="{B111AC7D-C556-4BC6-9DB9-5A599A08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95425"/>
            <a:ext cx="8229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Visual Studio Code, then open Extensions.</a:t>
            </a:r>
          </a:p>
        </p:txBody>
      </p:sp>
      <p:sp>
        <p:nvSpPr>
          <p:cNvPr id="6" name="m0-text-170">
            <a:extLst xmlns:a="http://schemas.openxmlformats.org/drawingml/2006/main">
              <a:ext uri="{FF2B5EF4-FFF2-40B4-BE49-F238E27FC236}">
                <a16:creationId xmlns:a16="http://schemas.microsoft.com/office/drawing/2014/main" id="{ACFD038A-5056-4F44-B541-DCE70A21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8597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the Extensions icon or Ctrl+Shift+X.</a:t>
            </a:r>
          </a:p>
        </p:txBody>
      </p:sp>
      <p:sp>
        <p:nvSpPr>
          <p:cNvPr id="7" name="m0-text-171">
            <a:extLst xmlns:a="http://schemas.openxmlformats.org/drawingml/2006/main">
              <a:ext uri="{FF2B5EF4-FFF2-40B4-BE49-F238E27FC236}">
                <a16:creationId xmlns:a16="http://schemas.microsoft.com/office/drawing/2014/main" id="{57391874-47CB-4A3B-BCAD-8BE67709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5272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both Microsoft extensions:</a:t>
            </a:r>
          </a:p>
        </p:txBody>
      </p:sp>
      <p:sp>
        <p:nvSpPr>
          <p:cNvPr id="8" name="m0-text-172">
            <a:extLst xmlns:a="http://schemas.openxmlformats.org/drawingml/2006/main">
              <a:ext uri="{FF2B5EF4-FFF2-40B4-BE49-F238E27FC236}">
                <a16:creationId xmlns:a16="http://schemas.microsoft.com/office/drawing/2014/main" id="{B703837D-4800-49E9-82D3-162E833B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D9A06B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9abc9cd1e354b91"/>
              </a:rPr>
              <a:t>Python</a:t>
            </a:r>
          </a:p>
        </p:txBody>
      </p:sp>
      <p:sp>
        <p:nvSpPr>
          <p:cNvPr id="9" name="m0-text-173">
            <a:extLst xmlns:a="http://schemas.openxmlformats.org/drawingml/2006/main">
              <a:ext uri="{FF2B5EF4-FFF2-40B4-BE49-F238E27FC236}">
                <a16:creationId xmlns:a16="http://schemas.microsoft.com/office/drawing/2014/main" id="{BDA1F18D-4635-4831-80E8-3ADBEFC8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33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D9A06B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5c3b7e4affc4bcf"/>
              </a:rPr>
              <a:t>Jupyter</a:t>
            </a:r>
          </a:p>
        </p:txBody>
      </p:sp>
      <p:sp>
        <p:nvSpPr>
          <p:cNvPr id="10" name="m0-text-174">
            <a:extLst xmlns:a="http://schemas.openxmlformats.org/drawingml/2006/main">
              <a:ext uri="{FF2B5EF4-FFF2-40B4-BE49-F238E27FC236}">
                <a16:creationId xmlns:a16="http://schemas.microsoft.com/office/drawing/2014/main" id="{5A576760-80B9-4D0C-B0AA-A410DB30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195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 Python code and choose interpreters.</a:t>
            </a:r>
          </a:p>
        </p:txBody>
      </p:sp>
      <p:sp>
        <p:nvSpPr>
          <p:cNvPr id="11" name="m0-text-175">
            <a:extLst xmlns:a="http://schemas.openxmlformats.org/drawingml/2006/main">
              <a:ext uri="{FF2B5EF4-FFF2-40B4-BE49-F238E27FC236}">
                <a16:creationId xmlns:a16="http://schemas.microsoft.com/office/drawing/2014/main" id="{5B45A955-F3D8-45EF-86BC-985BED53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195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and run .ipynb notebooks.</a:t>
            </a:r>
          </a:p>
        </p:txBody>
      </p:sp>
      <p:sp>
        <p:nvSpPr>
          <p:cNvPr id="12" name="m0-text-176">
            <a:extLst xmlns:a="http://schemas.openxmlformats.org/drawingml/2006/main">
              <a:ext uri="{FF2B5EF4-FFF2-40B4-BE49-F238E27FC236}">
                <a16:creationId xmlns:a16="http://schemas.microsoft.com/office/drawing/2014/main" id="{1F46FCE8-DB4E-45A5-902B-5E4810519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1485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f06a1f656374e99"/>
              </a:rPr>
              <a:t>Download VS Code</a:t>
            </a:r>
          </a:p>
        </p:txBody>
      </p:sp>
    </p:spTree>
    <p:extLst>
      <p:ext uri="{BB962C8B-B14F-4D97-AF65-F5344CB8AC3E}">
        <p14:creationId xmlns:p14="http://schemas.microsoft.com/office/powerpoint/2010/main" val="76048628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177">
            <a:extLst xmlns:a="http://schemas.openxmlformats.org/drawingml/2006/main">
              <a:ext uri="{FF2B5EF4-FFF2-40B4-BE49-F238E27FC236}">
                <a16:creationId xmlns:a16="http://schemas.microsoft.com/office/drawing/2014/main" id="{1B5763A5-331A-4A8F-AC54-717D04E1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78">
            <a:extLst xmlns:a="http://schemas.openxmlformats.org/drawingml/2006/main">
              <a:ext uri="{FF2B5EF4-FFF2-40B4-BE49-F238E27FC236}">
                <a16:creationId xmlns:a16="http://schemas.microsoft.com/office/drawing/2014/main" id="{E8F765BC-C092-4363-ADC7-0F22B3C0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79">
            <a:extLst xmlns:a="http://schemas.openxmlformats.org/drawingml/2006/main">
              <a:ext uri="{FF2B5EF4-FFF2-40B4-BE49-F238E27FC236}">
                <a16:creationId xmlns:a16="http://schemas.microsoft.com/office/drawing/2014/main" id="{FE96586B-7E97-40EA-AD43-81A9547E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4" name="m0-text-180">
            <a:extLst xmlns:a="http://schemas.openxmlformats.org/drawingml/2006/main">
              <a:ext uri="{FF2B5EF4-FFF2-40B4-BE49-F238E27FC236}">
                <a16:creationId xmlns:a16="http://schemas.microsoft.com/office/drawing/2014/main" id="{747676B0-92D9-4C7D-B21A-06BA332A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3. Install the Virtual Human</a:t>
            </a:r>
          </a:p>
        </p:txBody>
      </p:sp>
      <p:sp>
        <p:nvSpPr>
          <p:cNvPr id="5" name="m0-text-181">
            <a:extLst xmlns:a="http://schemas.openxmlformats.org/drawingml/2006/main">
              <a:ext uri="{FF2B5EF4-FFF2-40B4-BE49-F238E27FC236}">
                <a16:creationId xmlns:a16="http://schemas.microsoft.com/office/drawing/2014/main" id="{7064BD20-97BB-45CB-ACB0-3AE28F37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8229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cb0bf635fab4696"/>
              </a:rPr>
              <a:t>Follow the Installation guide for your computer.</a:t>
            </a:r>
          </a:p>
        </p:txBody>
      </p:sp>
      <p:sp>
        <p:nvSpPr>
          <p:cNvPr id="6" name="m0-text-182">
            <a:extLst xmlns:a="http://schemas.openxmlformats.org/drawingml/2006/main">
              <a:ext uri="{FF2B5EF4-FFF2-40B4-BE49-F238E27FC236}">
                <a16:creationId xmlns:a16="http://schemas.microsoft.com/office/drawing/2014/main" id="{A7424D63-F45C-4877-8F4C-FBD7BF36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installer inside virtual_human_project.</a:t>
            </a:r>
          </a:p>
        </p:txBody>
      </p:sp>
      <p:sp>
        <p:nvSpPr>
          <p:cNvPr id="7" name="m0-text-183">
            <a:extLst xmlns:a="http://schemas.openxmlformats.org/drawingml/2006/main">
              <a:ext uri="{FF2B5EF4-FFF2-40B4-BE49-F238E27FC236}">
                <a16:creationId xmlns:a16="http://schemas.microsoft.com/office/drawing/2014/main" id="{CC853E11-7DB7-46A5-9AD5-B8D7E17F9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33675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9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Windows</a:t>
            </a:r>
          </a:p>
        </p:txBody>
      </p:sp>
      <p:sp>
        <p:nvSpPr>
          <p:cNvPr id="8" name="m0-text-184">
            <a:extLst xmlns:a="http://schemas.openxmlformats.org/drawingml/2006/main">
              <a:ext uri="{FF2B5EF4-FFF2-40B4-BE49-F238E27FC236}">
                <a16:creationId xmlns:a16="http://schemas.microsoft.com/office/drawing/2014/main" id="{07391E53-E339-4DEC-860E-7B12B7A9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67075"/>
            <a:ext cx="3886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VirtualHuman-Setup.exe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Enable NVIDIA options only if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setup detects a compatible GPU.</a:t>
            </a:r>
          </a:p>
        </p:txBody>
      </p:sp>
      <p:sp>
        <p:nvSpPr>
          <p:cNvPr id="9" name="m0-text-185">
            <a:extLst xmlns:a="http://schemas.openxmlformats.org/drawingml/2006/main">
              <a:ext uri="{FF2B5EF4-FFF2-40B4-BE49-F238E27FC236}">
                <a16:creationId xmlns:a16="http://schemas.microsoft.com/office/drawing/2014/main" id="{69D15FE8-224E-4783-B354-9FB4D23F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33675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9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Mac</a:t>
            </a:r>
          </a:p>
        </p:txBody>
      </p:sp>
      <p:sp>
        <p:nvSpPr>
          <p:cNvPr id="10" name="m0-text-186">
            <a:extLst xmlns:a="http://schemas.openxmlformats.org/drawingml/2006/main">
              <a:ext uri="{FF2B5EF4-FFF2-40B4-BE49-F238E27FC236}">
                <a16:creationId xmlns:a16="http://schemas.microsoft.com/office/drawing/2014/main" id="{5CC25E16-D216-4456-A85A-0DC45854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67075"/>
            <a:ext cx="3886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Virtual Human.app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CPU only; no GPU acceleration.</a:t>
            </a:r>
          </a:p>
        </p:txBody>
      </p:sp>
      <p:sp>
        <p:nvSpPr>
          <p:cNvPr id="11" name="m0-text-187">
            <a:extLst xmlns:a="http://schemas.openxmlformats.org/drawingml/2006/main">
              <a:ext uri="{FF2B5EF4-FFF2-40B4-BE49-F238E27FC236}">
                <a16:creationId xmlns:a16="http://schemas.microsoft.com/office/drawing/2014/main" id="{E4496836-00E7-44AB-AA60-FBA3BE7C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Click Install. Setup prepares Python, dependencies and speech models.</a:t>
            </a:r>
          </a:p>
        </p:txBody>
      </p:sp>
    </p:spTree>
    <p:extLst>
      <p:ext uri="{BB962C8B-B14F-4D97-AF65-F5344CB8AC3E}">
        <p14:creationId xmlns:p14="http://schemas.microsoft.com/office/powerpoint/2010/main" val="137418928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188">
            <a:extLst xmlns:a="http://schemas.openxmlformats.org/drawingml/2006/main">
              <a:ext uri="{FF2B5EF4-FFF2-40B4-BE49-F238E27FC236}">
                <a16:creationId xmlns:a16="http://schemas.microsoft.com/office/drawing/2014/main" id="{AF06956F-29F0-4F52-8CE6-62F6EA14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89">
            <a:extLst xmlns:a="http://schemas.openxmlformats.org/drawingml/2006/main">
              <a:ext uri="{FF2B5EF4-FFF2-40B4-BE49-F238E27FC236}">
                <a16:creationId xmlns:a16="http://schemas.microsoft.com/office/drawing/2014/main" id="{DDAAA5C4-EA98-48C7-BFD9-B9F122F7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90">
            <a:extLst xmlns:a="http://schemas.openxmlformats.org/drawingml/2006/main">
              <a:ext uri="{FF2B5EF4-FFF2-40B4-BE49-F238E27FC236}">
                <a16:creationId xmlns:a16="http://schemas.microsoft.com/office/drawing/2014/main" id="{87ABE997-7F38-4382-90C8-849888EE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4" name="m0-text-191">
            <a:extLst xmlns:a="http://schemas.openxmlformats.org/drawingml/2006/main">
              <a:ext uri="{FF2B5EF4-FFF2-40B4-BE49-F238E27FC236}">
                <a16:creationId xmlns:a16="http://schemas.microsoft.com/office/drawing/2014/main" id="{EECCD5A6-CFF3-4DD1-9BBA-EA7B8834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4. Launch and Test the Avatar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b6549ad0ec4b80"/>
          <a:stretch xmlns:a="http://schemas.openxmlformats.org/drawingml/2006/main"/>
        </p:blipFill>
        <p:spPr>
          <a:xfrm xmlns:a="http://schemas.openxmlformats.org/drawingml/2006/main">
            <a:off x="762000" y="1323975"/>
            <a:ext cx="5486400" cy="3429000"/>
          </a:xfrm>
          <a:prstGeom xmlns:a="http://schemas.openxmlformats.org/drawingml/2006/main" prst="rect">
            <a:avLst/>
          </a:prstGeom>
        </p:spPr>
      </p:pic>
      <p:sp>
        <p:nvSpPr>
          <p:cNvPr id="6" name="m0-text-192">
            <a:extLst xmlns:a="http://schemas.openxmlformats.org/drawingml/2006/main">
              <a:ext uri="{FF2B5EF4-FFF2-40B4-BE49-F238E27FC236}">
                <a16:creationId xmlns:a16="http://schemas.microsoft.com/office/drawing/2014/main" id="{0AB5A1A9-67DE-49D8-B8AA-D91313CC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457325"/>
            <a:ext cx="1885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Check the result</a:t>
            </a:r>
          </a:p>
        </p:txBody>
      </p:sp>
      <p:sp>
        <p:nvSpPr>
          <p:cNvPr id="7" name="m0-text-193">
            <a:extLst xmlns:a="http://schemas.openxmlformats.org/drawingml/2006/main">
              <a:ext uri="{FF2B5EF4-FFF2-40B4-BE49-F238E27FC236}">
                <a16:creationId xmlns:a16="http://schemas.microsoft.com/office/drawing/2014/main" id="{3C620C23-346B-4611-B703-2D1092DD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66950"/>
            <a:ext cx="18859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Avatar visible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Connection green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Reply: Hello world</a:t>
            </a:r>
          </a:p>
        </p:txBody>
      </p:sp>
      <p:sp>
        <p:nvSpPr>
          <p:cNvPr id="8" name="m0-text-194">
            <a:extLst xmlns:a="http://schemas.openxmlformats.org/drawingml/2006/main">
              <a:ext uri="{FF2B5EF4-FFF2-40B4-BE49-F238E27FC236}">
                <a16:creationId xmlns:a16="http://schemas.microsoft.com/office/drawing/2014/main" id="{5B1415DA-33BC-4B19-B1E2-73880DF7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67175"/>
            <a:ext cx="1885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No API key needed.</a:t>
            </a:r>
          </a:p>
        </p:txBody>
      </p:sp>
      <p:sp>
        <p:nvSpPr>
          <p:cNvPr id="9" name="m0-text-195">
            <a:extLst xmlns:a="http://schemas.openxmlformats.org/drawingml/2006/main">
              <a:ext uri="{FF2B5EF4-FFF2-40B4-BE49-F238E27FC236}">
                <a16:creationId xmlns:a16="http://schemas.microsoft.com/office/drawing/2014/main" id="{1CA1DB53-5365-4E8B-AD62-6A498924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9580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e4e08dcce314175"/>
              </a:rPr>
              <a:t>Agent guide</a:t>
            </a:r>
          </a:p>
        </p:txBody>
      </p:sp>
    </p:spTree>
    <p:extLst>
      <p:ext uri="{BB962C8B-B14F-4D97-AF65-F5344CB8AC3E}">
        <p14:creationId xmlns:p14="http://schemas.microsoft.com/office/powerpoint/2010/main" val="55731833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0-text-196">
            <a:extLst xmlns:a="http://schemas.openxmlformats.org/drawingml/2006/main">
              <a:ext uri="{FF2B5EF4-FFF2-40B4-BE49-F238E27FC236}">
                <a16:creationId xmlns:a16="http://schemas.microsoft.com/office/drawing/2014/main" id="{CD37D937-92B1-46A5-8475-E182A717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97">
            <a:extLst xmlns:a="http://schemas.openxmlformats.org/drawingml/2006/main">
              <a:ext uri="{FF2B5EF4-FFF2-40B4-BE49-F238E27FC236}">
                <a16:creationId xmlns:a16="http://schemas.microsoft.com/office/drawing/2014/main" id="{C7A1A21F-80F3-40D3-A59D-5358858A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98">
            <a:extLst xmlns:a="http://schemas.openxmlformats.org/drawingml/2006/main">
              <a:ext uri="{FF2B5EF4-FFF2-40B4-BE49-F238E27FC236}">
                <a16:creationId xmlns:a16="http://schemas.microsoft.com/office/drawing/2014/main" id="{E28FEE68-CBF5-4D28-9E01-DF64F046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4" name="m0-text-199">
            <a:extLst xmlns:a="http://schemas.openxmlformats.org/drawingml/2006/main">
              <a:ext uri="{FF2B5EF4-FFF2-40B4-BE49-F238E27FC236}">
                <a16:creationId xmlns:a16="http://schemas.microsoft.com/office/drawing/2014/main" id="{75A1D635-0DDC-4168-B5D6-370B0FA0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5. Open the Notebook and Select the Kernel</a:t>
            </a:r>
          </a:p>
        </p:txBody>
      </p:sp>
      <p:sp>
        <p:nvSpPr>
          <p:cNvPr id="5" name="m0-text-200">
            <a:extLst xmlns:a="http://schemas.openxmlformats.org/drawingml/2006/main">
              <a:ext uri="{FF2B5EF4-FFF2-40B4-BE49-F238E27FC236}">
                <a16:creationId xmlns:a16="http://schemas.microsoft.com/office/drawing/2014/main" id="{1CA51C33-382B-4946-9DC9-17725535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8229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In virtual_human_course, open: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Module_0/Chapter_01/Code/00_first_call.ipynb</a:t>
            </a:r>
          </a:p>
        </p:txBody>
      </p:sp>
      <p:sp>
        <p:nvSpPr>
          <p:cNvPr id="6" name="m0-text-201">
            <a:extLst xmlns:a="http://schemas.openxmlformats.org/drawingml/2006/main">
              <a:ext uri="{FF2B5EF4-FFF2-40B4-BE49-F238E27FC236}">
                <a16:creationId xmlns:a16="http://schemas.microsoft.com/office/drawing/2014/main" id="{E68D78B6-7203-4EE8-89A4-ED312D21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312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Select Kernel: virtual_human_project/.venv-vh-course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9b258b4fb441d7"/>
          <a:stretch xmlns:a="http://schemas.openxmlformats.org/drawingml/2006/main"/>
        </p:blipFill>
        <p:spPr>
          <a:xfrm xmlns:a="http://schemas.openxmlformats.org/drawingml/2006/main">
            <a:off x="459033" y="2533650"/>
            <a:ext cx="8225935" cy="2266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37009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202">
            <a:extLst xmlns:a="http://schemas.openxmlformats.org/drawingml/2006/main">
              <a:ext uri="{FF2B5EF4-FFF2-40B4-BE49-F238E27FC236}">
                <a16:creationId xmlns:a16="http://schemas.microsoft.com/office/drawing/2014/main" id="{050BC74A-31C6-4374-8466-70A62C8A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03">
            <a:extLst xmlns:a="http://schemas.openxmlformats.org/drawingml/2006/main">
              <a:ext uri="{FF2B5EF4-FFF2-40B4-BE49-F238E27FC236}">
                <a16:creationId xmlns:a16="http://schemas.microsoft.com/office/drawing/2014/main" id="{23B6896A-FF79-4B7B-B5B8-D9D8FD13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04">
            <a:extLst xmlns:a="http://schemas.openxmlformats.org/drawingml/2006/main">
              <a:ext uri="{FF2B5EF4-FFF2-40B4-BE49-F238E27FC236}">
                <a16:creationId xmlns:a16="http://schemas.microsoft.com/office/drawing/2014/main" id="{5C97AE00-09BC-4D64-AC2C-2ACF0CFF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sp>
        <p:nvSpPr>
          <p:cNvPr id="4" name="m0-text-205">
            <a:extLst xmlns:a="http://schemas.openxmlformats.org/drawingml/2006/main">
              <a:ext uri="{FF2B5EF4-FFF2-40B4-BE49-F238E27FC236}">
                <a16:creationId xmlns:a16="http://schemas.microsoft.com/office/drawing/2014/main" id="{62FD2D09-CC0A-44CE-82D4-C9109040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6. Add Your Provider Key</a:t>
            </a:r>
          </a:p>
        </p:txBody>
      </p:sp>
      <p:sp>
        <p:nvSpPr>
          <p:cNvPr id="5" name="m0-text-206">
            <a:extLst xmlns:a="http://schemas.openxmlformats.org/drawingml/2006/main">
              <a:ext uri="{FF2B5EF4-FFF2-40B4-BE49-F238E27FC236}">
                <a16:creationId xmlns:a16="http://schemas.microsoft.com/office/drawing/2014/main" id="{678DB1F0-F542-4FAF-A0FC-A554CEB1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516ca8fa6144ed4"/>
              </a:rPr>
              <a:t>Create an Ollama API key</a:t>
            </a:r>
          </a:p>
        </p:txBody>
      </p:sp>
      <p:sp>
        <p:nvSpPr>
          <p:cNvPr id="6" name="m0-text-207">
            <a:extLst xmlns:a="http://schemas.openxmlformats.org/drawingml/2006/main">
              <a:ext uri="{FF2B5EF4-FFF2-40B4-BE49-F238E27FC236}">
                <a16:creationId xmlns:a16="http://schemas.microsoft.com/office/drawing/2014/main" id="{DCCCCE9C-5EB4-410C-AC0B-3A891508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4050"/>
            <a:ext cx="8229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Duplicate llm_provider_api_key.example.yaml.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Name the copy llm_provider_api_key.yaml and enter your key.</a:t>
            </a:r>
          </a:p>
        </p:txBody>
      </p:sp>
      <p:sp>
        <p:nvSpPr>
          <p:cNvPr id="7" name="m0-text-208">
            <a:extLst xmlns:a="http://schemas.openxmlformats.org/drawingml/2006/main">
              <a:ext uri="{FF2B5EF4-FFF2-40B4-BE49-F238E27FC236}">
                <a16:creationId xmlns:a16="http://schemas.microsoft.com/office/drawing/2014/main" id="{319D9C17-805D-42DD-B5D2-E1E0CCCE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33700"/>
            <a:ext cx="3714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For course notebooks</a:t>
            </a:r>
          </a:p>
        </p:txBody>
      </p:sp>
      <p:sp>
        <p:nvSpPr>
          <p:cNvPr id="8" name="m0-text-209">
            <a:extLst xmlns:a="http://schemas.openxmlformats.org/drawingml/2006/main">
              <a:ext uri="{FF2B5EF4-FFF2-40B4-BE49-F238E27FC236}">
                <a16:creationId xmlns:a16="http://schemas.microsoft.com/office/drawing/2014/main" id="{C0FD4A5C-D6F8-4297-A34B-A0292DA0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virtual_human_course/</a:t>
            </a:r>
          </a:p>
        </p:txBody>
      </p:sp>
      <p:sp>
        <p:nvSpPr>
          <p:cNvPr id="9" name="m0-text-210">
            <a:extLst xmlns:a="http://schemas.openxmlformats.org/drawingml/2006/main">
              <a:ext uri="{FF2B5EF4-FFF2-40B4-BE49-F238E27FC236}">
                <a16:creationId xmlns:a16="http://schemas.microsoft.com/office/drawing/2014/main" id="{5B18D366-AD19-4492-8987-50D42501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33700"/>
            <a:ext cx="3886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For the project agent</a:t>
            </a:r>
          </a:p>
        </p:txBody>
      </p:sp>
      <p:sp>
        <p:nvSpPr>
          <p:cNvPr id="10" name="m0-text-211">
            <a:extLst xmlns:a="http://schemas.openxmlformats.org/drawingml/2006/main">
              <a:ext uri="{FF2B5EF4-FFF2-40B4-BE49-F238E27FC236}">
                <a16:creationId xmlns:a16="http://schemas.microsoft.com/office/drawing/2014/main" id="{B1B65DEA-7DDB-472B-B3A2-D304C6A1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2900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virtual_human_project/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vh_cognitive_architecture_server/</a:t>
            </a:r>
          </a:p>
        </p:txBody>
      </p:sp>
      <p:sp>
        <p:nvSpPr>
          <p:cNvPr id="11" name="m0-text-212">
            <a:extLst xmlns:a="http://schemas.openxmlformats.org/drawingml/2006/main">
              <a:ext uri="{FF2B5EF4-FFF2-40B4-BE49-F238E27FC236}">
                <a16:creationId xmlns:a16="http://schemas.microsoft.com/office/drawing/2014/main" id="{9EE30F61-C3A9-4847-B6DB-E803772C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71975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Repeat in both folders when using LLMs in both. Keep key files private.</a:t>
            </a:r>
          </a:p>
        </p:txBody>
      </p:sp>
    </p:spTree>
    <p:extLst>
      <p:ext uri="{BB962C8B-B14F-4D97-AF65-F5344CB8AC3E}">
        <p14:creationId xmlns:p14="http://schemas.microsoft.com/office/powerpoint/2010/main" val="77804955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m0-text-213">
            <a:extLst xmlns:a="http://schemas.openxmlformats.org/drawingml/2006/main">
              <a:ext uri="{FF2B5EF4-FFF2-40B4-BE49-F238E27FC236}">
                <a16:creationId xmlns:a16="http://schemas.microsoft.com/office/drawing/2014/main" id="{39776AC6-5E5B-4EAD-B5D2-4CC7EBEA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14">
            <a:extLst xmlns:a="http://schemas.openxmlformats.org/drawingml/2006/main">
              <a:ext uri="{FF2B5EF4-FFF2-40B4-BE49-F238E27FC236}">
                <a16:creationId xmlns:a16="http://schemas.microsoft.com/office/drawing/2014/main" id="{F7817032-CFAF-473D-8B49-0D4D78D3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15">
            <a:extLst xmlns:a="http://schemas.openxmlformats.org/drawingml/2006/main">
              <a:ext uri="{FF2B5EF4-FFF2-40B4-BE49-F238E27FC236}">
                <a16:creationId xmlns:a16="http://schemas.microsoft.com/office/drawing/2014/main" id="{04A46BE8-D537-4780-ABA8-B73D728A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sp>
        <p:nvSpPr>
          <p:cNvPr id="4" name="m0-text-216">
            <a:extLst xmlns:a="http://schemas.openxmlformats.org/drawingml/2006/main">
              <a:ext uri="{FF2B5EF4-FFF2-40B4-BE49-F238E27FC236}">
                <a16:creationId xmlns:a16="http://schemas.microsoft.com/office/drawing/2014/main" id="{ED758EEE-8B5B-4A94-A6BC-D03071D3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Test with Ollama Cloud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03766-6476-40FA-9F5B-30F78484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76375"/>
            <a:ext cx="8229600" cy="2771775"/>
          </a:xfrm>
          <a:prstGeom xmlns:a="http://schemas.openxmlformats.org/drawingml/2006/main" prst="roundRect">
            <a:avLst>
              <a:gd name="adj" fmla="val 3436"/>
            </a:avLst>
          </a:prstGeom>
          <a:solidFill xmlns:a="http://schemas.openxmlformats.org/drawingml/2006/main">
            <a:srgbClr val="12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m0-text-217">
            <a:extLst xmlns:a="http://schemas.openxmlformats.org/drawingml/2006/main">
              <a:ext uri="{FF2B5EF4-FFF2-40B4-BE49-F238E27FC236}">
                <a16:creationId xmlns:a16="http://schemas.microsoft.com/office/drawing/2014/main" id="{EE85C253-999D-4604-9CC2-7E634BD5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47825"/>
            <a:ext cx="800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onsolas"/>
                <a:ea typeface="Consolas"/>
                <a:cs typeface="Consolas"/>
              </a:defRPr>
            </a:pPr>
            <a:r>
              <a:rPr sz="900">
                <a:solidFill>
                  <a:srgbClr val="8E97A8"/>
                </a:solidFill>
                <a:latin typeface="Consolas"/>
                <a:ea typeface="Consolas"/>
                <a:cs typeface="Consolas"/>
              </a:rPr>
              <a:t>In [1]:</a:t>
            </a:r>
          </a:p>
        </p:txBody>
      </p:sp>
      <p:sp>
        <p:nvSpPr>
          <p:cNvPr id="7" name="m0-text-218">
            <a:extLst xmlns:a="http://schemas.openxmlformats.org/drawingml/2006/main">
              <a:ext uri="{FF2B5EF4-FFF2-40B4-BE49-F238E27FC236}">
                <a16:creationId xmlns:a16="http://schemas.microsoft.com/office/drawing/2014/main" id="{712A5981-44E6-4FAD-8A30-F8C33348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47825"/>
            <a:ext cx="6972300" cy="2447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C792EA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ollama </a:t>
            </a:r>
            <a:r>
              <a:rPr sz="1350">
                <a:solidFill>
                  <a:srgbClr val="C792EA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Client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client = Client(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host=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"https://ollama.com"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headers={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"Authorization"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f"Bearer {OLLAMA_API_KEY}"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},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response = client.chat(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model=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"YOUR_CLOUD_MODEL"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messages=[{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"role"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"user"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"content"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350">
                <a:solidFill>
                  <a:srgbClr val="C3E88D"/>
                </a:solidFill>
                <a:latin typeface="Consolas"/>
                <a:ea typeface="Consolas"/>
                <a:cs typeface="Consolas"/>
              </a:rPr>
              <a:t>"Say hello!"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}],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3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(response.message.content)</a:t>
            </a:r>
          </a:p>
        </p:txBody>
      </p:sp>
      <p:sp>
        <p:nvSpPr>
          <p:cNvPr id="8" name="m0-text-219">
            <a:extLst xmlns:a="http://schemas.openxmlformats.org/drawingml/2006/main">
              <a:ext uri="{FF2B5EF4-FFF2-40B4-BE49-F238E27FC236}">
                <a16:creationId xmlns:a16="http://schemas.microsoft.com/office/drawing/2014/main" id="{F5B75147-18B8-412C-A59A-6E42A8AA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2747adf4ece42ff"/>
              </a:rPr>
              <a:t>Hands-on: 00_first_call.ipynb</a:t>
            </a:r>
          </a:p>
        </p:txBody>
      </p:sp>
    </p:spTree>
    <p:extLst>
      <p:ext uri="{BB962C8B-B14F-4D97-AF65-F5344CB8AC3E}">
        <p14:creationId xmlns:p14="http://schemas.microsoft.com/office/powerpoint/2010/main" val="90550085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2026-10-22T23:35:10.5190000Z</dcterms:created>
  <dcterms:modified xsi:type="dcterms:W3CDTF">2026-10-22T23:35:10.5190000Z</dcterms:modified>
</coreProperties>
</file>