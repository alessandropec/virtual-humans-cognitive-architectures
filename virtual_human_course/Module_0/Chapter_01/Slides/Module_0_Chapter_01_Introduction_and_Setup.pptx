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bba9d5251d4b69" /><Relationship Type="http://schemas.openxmlformats.org/officeDocument/2006/relationships/extended-properties" Target="/docProps/app.xml" Id="R54631dc31c5c4244" /><Relationship Type="http://schemas.openxmlformats.org/officeDocument/2006/relationships/officeDocument" Target="/ppt/presentation.xml" Id="R54b887e18eb74bfe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153e80091bc645c8"/>
  </ns0:sldMasterIdLst>
  <ns0:sldIdLst>
    <ns0:sldId id="256" ns1:id="Rcf2672dc492f456e"/>
    <ns0:sldId id="257" ns1:id="Rb6820fc6811044db"/>
    <ns0:sldId id="258" ns1:id="R27526336afb240a5"/>
    <ns0:sldId id="259" ns1:id="Rf5da473638e7427a"/>
    <ns0:sldId id="260" ns1:id="R6b6ddc8c44824066"/>
    <ns0:sldId id="261" ns1:id="R026619d4a9774f08"/>
    <ns0:sldId id="262" ns1:id="R21f9e55f64e341ad"/>
    <ns0:sldId id="263" ns1:id="Rd2ecedc63fc94a18"/>
    <ns0:sldId id="264" ns1:id="R717b16793d144780"/>
    <ns0:sldId id="265" ns1:id="Rbdf7f73ca9c54a2c"/>
    <ns0:sldId id="266" ns1:id="Rdea0ec1423d34111"/>
    <ns0:sldId id="267" ns1:id="Rdd838a9ad08c4288"/>
    <ns0:sldId id="268" ns1:id="Rb1e91a6a5062470c"/>
    <ns0:sldId id="269" ns1:id="R94b7a050a8844a5f"/>
    <ns0:sldId id="270" ns1:id="R2b88433d3cc146a7"/>
    <ns0:sldId id="271" ns1:id="R65473ff467a84b1e"/>
    <ns0:sldId id="272" ns1:id="R81487feca55f4c68"/>
    <ns0:sldId id="273" ns1:id="Rdd40be8852dd4782"/>
    <ns0:sldId id="274" ns1:id="R496661ce39394781"/>
    <ns0:sldId id="275" ns1:id="Rde51bcced401480a"/>
    <ns0:sldId id="276" ns1:id="Rd4650fdff2c94bfa"/>
    <ns0:sldId id="277" ns1:id="Rf3891b82e01d457a"/>
    <ns0:sldId id="278" ns1:id="R60ca2f3dac424aae"/>
    <ns0:sldId id="279" ns1:id="R71dbf39f72324a9d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bef6daa636194ff3" /><ns0:Relationship Type="http://schemas.openxmlformats.org/officeDocument/2006/relationships/slideMaster" Target="/ppt/slideMasters/slideMaster1.xml" Id="R153e80091bc645c8" /><ns0:Relationship Type="http://schemas.openxmlformats.org/officeDocument/2006/relationships/presProps" Target="/ppt/presProps.xml" Id="Rb224c78f7b624a44" /><ns0:Relationship Type="http://schemas.openxmlformats.org/officeDocument/2006/relationships/viewProps" Target="/ppt/viewProps.xml" Id="R888e7fa52e3e4b14" /><ns0:Relationship Type="http://schemas.openxmlformats.org/officeDocument/2006/relationships/tableStyles" Target="/ppt/tableStyles.xml" Id="R78d8dfda845143f9" /><ns0:Relationship Type="http://schemas.openxmlformats.org/officeDocument/2006/relationships/slide" Target="/ppt/slides/slide1.xml" Id="Rcf2672dc492f456e" /><ns0:Relationship Type="http://schemas.openxmlformats.org/officeDocument/2006/relationships/slide" Target="/ppt/slides/slide2.xml" Id="Rb6820fc6811044db" /><ns0:Relationship Type="http://schemas.openxmlformats.org/officeDocument/2006/relationships/slide" Target="/ppt/slides/slide3.xml" Id="R27526336afb240a5" /><ns0:Relationship Type="http://schemas.openxmlformats.org/officeDocument/2006/relationships/slide" Target="/ppt/slides/slide4.xml" Id="Rf5da473638e7427a" /><ns0:Relationship Type="http://schemas.openxmlformats.org/officeDocument/2006/relationships/slide" Target="/ppt/slides/slide5.xml" Id="R6b6ddc8c44824066" /><ns0:Relationship Type="http://schemas.openxmlformats.org/officeDocument/2006/relationships/slide" Target="/ppt/slides/slide6.xml" Id="R026619d4a9774f08" /><ns0:Relationship Type="http://schemas.openxmlformats.org/officeDocument/2006/relationships/slide" Target="/ppt/slides/slide7.xml" Id="R21f9e55f64e341ad" /><ns0:Relationship Type="http://schemas.openxmlformats.org/officeDocument/2006/relationships/slide" Target="/ppt/slides/slide8.xml" Id="Rd2ecedc63fc94a18" /><ns0:Relationship Type="http://schemas.openxmlformats.org/officeDocument/2006/relationships/slide" Target="/ppt/slides/slide9.xml" Id="R717b16793d144780" /><ns0:Relationship Type="http://schemas.openxmlformats.org/officeDocument/2006/relationships/slide" Target="/ppt/slides/slide10.xml" Id="Rbdf7f73ca9c54a2c" /><ns0:Relationship Type="http://schemas.openxmlformats.org/officeDocument/2006/relationships/slide" Target="/ppt/slides/slide11.xml" Id="Rdea0ec1423d34111" /><ns0:Relationship Type="http://schemas.openxmlformats.org/officeDocument/2006/relationships/slide" Target="/ppt/slides/slide12.xml" Id="Rdd838a9ad08c4288" /><ns0:Relationship Type="http://schemas.openxmlformats.org/officeDocument/2006/relationships/slide" Target="/ppt/slides/slide13.xml" Id="Rb1e91a6a5062470c" /><ns0:Relationship Type="http://schemas.openxmlformats.org/officeDocument/2006/relationships/slide" Target="/ppt/slides/slide14.xml" Id="R94b7a050a8844a5f" /><ns0:Relationship Type="http://schemas.openxmlformats.org/officeDocument/2006/relationships/slide" Target="/ppt/slides/slide15.xml" Id="R2b88433d3cc146a7" /><ns0:Relationship Type="http://schemas.openxmlformats.org/officeDocument/2006/relationships/slide" Target="/ppt/slides/slide16.xml" Id="R65473ff467a84b1e" /><ns0:Relationship Type="http://schemas.openxmlformats.org/officeDocument/2006/relationships/slide" Target="/ppt/slides/slide17.xml" Id="R81487feca55f4c68" /><ns0:Relationship Type="http://schemas.openxmlformats.org/officeDocument/2006/relationships/slide" Target="/ppt/slides/slide18.xml" Id="Rdd40be8852dd4782" /><ns0:Relationship Type="http://schemas.openxmlformats.org/officeDocument/2006/relationships/slide" Target="/ppt/slides/slide19.xml" Id="R496661ce39394781" /><ns0:Relationship Type="http://schemas.openxmlformats.org/officeDocument/2006/relationships/slide" Target="/ppt/slides/slide20.xml" Id="Rde51bcced401480a" /><ns0:Relationship Type="http://schemas.openxmlformats.org/officeDocument/2006/relationships/slide" Target="/ppt/slides/slide21.xml" Id="Rd4650fdff2c94bfa" /><ns0:Relationship Type="http://schemas.openxmlformats.org/officeDocument/2006/relationships/slide" Target="/ppt/slides/slide22.xml" Id="Rf3891b82e01d457a" /><ns0:Relationship Type="http://schemas.openxmlformats.org/officeDocument/2006/relationships/slide" Target="/ppt/slides/slide23.xml" Id="R60ca2f3dac424aae" /><ns0:Relationship Type="http://schemas.openxmlformats.org/officeDocument/2006/relationships/slide" Target="/ppt/slides/slide24.xml" Id="R71dbf39f72324a9d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a892cd3eff4be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27d7330aba4e0c" /><Relationship Type="http://schemas.openxmlformats.org/officeDocument/2006/relationships/image" Target="/ppt/media/image.jpeg" Id="R6335600ef816475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7be584c5be4680" /><Relationship Type="http://schemas.openxmlformats.org/officeDocument/2006/relationships/image" Target="/ppt/media/image.png" Id="R2b441ef3d43345d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6fbd931ed540f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3118e1630646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63ab9f12b3469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8c6ec73253484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b965ff39f547e8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35600ef816475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D6E082E-E3DA-447E-A8CF-F3B520CC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FBF3248-E021-4737-80FF-A8C64AABE3B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441ef3d43345d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75697310-5F5D-4BB7-B84A-DB0D62B2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844B20F-2D13-4E13-9EF8-6C411E365DB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3353E05-A78B-4BE2-A2C1-92DE0C11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BB3B06C-0826-4B59-91BC-1E6423EAFDA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85AEBA-5CE0-472A-9992-00DD32C9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9A0989E-280A-45AE-9B4D-3E7080BC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48A1FAF-843B-4177-90B2-82BBD7A2357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93AFD7F-23DA-414F-9803-443B704B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AE4545B-2BC6-4A09-897F-4D9FEC5D0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539829-DFF5-445A-8EE1-DD692E8DB39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FBAD31-DD47-47FC-982D-92E1F634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30BBF7-CF8A-447C-8F9D-97DA4954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F8C3FBD-E923-45D0-9BE5-80E58BFB7A1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E6049A2-F52E-45D7-9063-CF65DE35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A42392F-4A08-46F0-B073-BFF4530D110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764903f0484caa" /><Relationship Type="http://schemas.openxmlformats.org/officeDocument/2006/relationships/slideLayout" Target="/ppt/slideLayouts/slideLayout1.xml" Id="R0744b5bfd01b44ac" /><Relationship Type="http://schemas.openxmlformats.org/officeDocument/2006/relationships/slideLayout" Target="/ppt/slideLayouts/slideLayout2.xml" Id="R902a1e40755b4db5" /><Relationship Type="http://schemas.openxmlformats.org/officeDocument/2006/relationships/slideLayout" Target="/ppt/slideLayouts/slideLayout3.xml" Id="Re09afd80e01a4123" /><Relationship Type="http://schemas.openxmlformats.org/officeDocument/2006/relationships/slideLayout" Target="/ppt/slideLayouts/slideLayout4.xml" Id="Rf45d9a730c2f4cef" /><Relationship Type="http://schemas.openxmlformats.org/officeDocument/2006/relationships/slideLayout" Target="/ppt/slideLayouts/slideLayout5.xml" Id="Rc68845eacc424fc6" /><Relationship Type="http://schemas.openxmlformats.org/officeDocument/2006/relationships/slideLayout" Target="/ppt/slideLayouts/slideLayout6.xml" Id="R9dee45979b264e1c" /><Relationship Type="http://schemas.openxmlformats.org/officeDocument/2006/relationships/slideLayout" Target="/ppt/slideLayouts/slideLayout7.xml" Id="R94737cbcf0834890" /><Relationship Type="http://schemas.openxmlformats.org/officeDocument/2006/relationships/slideLayout" Target="/ppt/slideLayouts/slideLayout8.xml" Id="R91aa2cb5a2d44ab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C1950A4-811D-47C3-A4AA-AB3567DD84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44b5bfd01b44ac"/>
    <p:sldLayoutId xmlns:r="http://schemas.openxmlformats.org/officeDocument/2006/relationships" id="2147483650" r:id="R902a1e40755b4db5"/>
    <p:sldLayoutId xmlns:r="http://schemas.openxmlformats.org/officeDocument/2006/relationships" id="2147483651" r:id="Re09afd80e01a4123"/>
    <p:sldLayoutId xmlns:r="http://schemas.openxmlformats.org/officeDocument/2006/relationships" id="2147483652" r:id="Rf45d9a730c2f4cef"/>
    <p:sldLayoutId xmlns:r="http://schemas.openxmlformats.org/officeDocument/2006/relationships" id="2147483653" r:id="Rc68845eacc424fc6"/>
    <p:sldLayoutId xmlns:r="http://schemas.openxmlformats.org/officeDocument/2006/relationships" id="2147483654" r:id="R9dee45979b264e1c"/>
    <p:sldLayoutId xmlns:r="http://schemas.openxmlformats.org/officeDocument/2006/relationships" id="2147483655" r:id="R94737cbcf0834890"/>
    <p:sldLayoutId xmlns:r="http://schemas.openxmlformats.org/officeDocument/2006/relationships" id="2147483656" r:id="R91aa2cb5a2d44ab5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9ea91d64ab6744ae" /><ns0:Relationship Type="http://schemas.openxmlformats.org/officeDocument/2006/relationships/image" Target="/ppt/media/image2.png" Id="Ra6434ed7ca574604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b70c9147d3884d1c" /><ns0:Relationship Type="http://schemas.openxmlformats.org/officeDocument/2006/relationships/image" Target="/ppt/media/image3.png" Id="R207d7215516a4922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1570bb661c9a411f" /><ns0:Relationship Type="http://schemas.openxmlformats.org/officeDocument/2006/relationships/hyperlink" Target="https://github.com/alessandropec/virtual-humans-cognitive-architectures" TargetMode="External" Id="R4e5d327fc44f47de" /><ns0:Relationship Type="http://schemas.openxmlformats.org/officeDocument/2006/relationships/hyperlink" Target="https://github.com/alessandropec/virtual-humans-cognitive-architectures" TargetMode="External" Id="R49c0c7efad6140d7" /><ns0:Relationship Type="http://schemas.openxmlformats.org/officeDocument/2006/relationships/image" Target="/ppt/media/image4.png" Id="R239c0d5b4152420c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da3d2c81fbbd4b88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9d5590b17aa24b64" /><ns0:Relationship Type="http://schemas.openxmlformats.org/officeDocument/2006/relationships/hyperlink" Target="https://github.com/stevieTheTurtle/AI_powered_VH_2026-Part_1" TargetMode="External" Id="R72807f94c8ec4934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af82173fb6e840ec" /><ns0:Relationship Type="http://schemas.openxmlformats.org/officeDocument/2006/relationships/image" Target="/ppt/media/image5.png" Id="R87e79efb56b54fe5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35daaeb7b3724066" /><ns0:Relationship Type="http://schemas.openxmlformats.org/officeDocument/2006/relationships/hyperlink" Target="https://aistudio.google.com/" TargetMode="External" Id="Re405b8ad499b4a6b" /><ns0:Relationship Type="http://schemas.openxmlformats.org/officeDocument/2006/relationships/hyperlink" Target="https://console.groq.com/" TargetMode="External" Id="Rb164c562f4aa4e04" /><ns0:Relationship Type="http://schemas.openxmlformats.org/officeDocument/2006/relationships/hyperlink" Target="https://openrouter.ai/" TargetMode="External" Id="Rdb7e2d4e75c74b6f" /><ns0:Relationship Type="http://schemas.openxmlformats.org/officeDocument/2006/relationships/hyperlink" Target="https://ollama.com/" TargetMode="External" Id="R80cdb5ab76204702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52055055c20d421d" /><ns0:Relationship Type="http://schemas.openxmlformats.org/officeDocument/2006/relationships/hyperlink" Target="https://ollama.com/download" TargetMode="External" Id="R157aa7f66e2944b5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03bbee16357d4e98" /><ns0:Relationship Type="http://schemas.openxmlformats.org/officeDocument/2006/relationships/hyperlink" Target="https://code.visualstudio.com/download" TargetMode="External" Id="R843b204f351d4fbe" /><ns0:Relationship Type="http://schemas.openxmlformats.org/officeDocument/2006/relationships/hyperlink" Target="https://www.python.org/downloads/" TargetMode="External" Id="R6ab9d6cc002f48d7" /><ns0:Relationship Type="http://schemas.openxmlformats.org/officeDocument/2006/relationships/hyperlink" Target="https://code.visualstudio.com/docs/datascience/jupyter-notebooks" TargetMode="External" Id="R69fa453ccbc14b91" /><ns0:Relationship Type="http://schemas.openxmlformats.org/officeDocument/2006/relationships/hyperlink" Target="https://github.com/alessandropec/virtual-humans-cognitive-architectures/blob/main/virtual_human_course/requirements.txt" TargetMode="External" Id="Rc373633af5e44812" /><ns0:Relationship Type="http://schemas.openxmlformats.org/officeDocument/2006/relationships/hyperlink" Target="https://docs.langchain.com/oss/python/langchain/overview" TargetMode="External" Id="Ra6761dae68ca4145" /><ns0:Relationship Type="http://schemas.openxmlformats.org/officeDocument/2006/relationships/hyperlink" Target="https://docs.langchain.com/oss/python/langgraph/overview" TargetMode="External" Id="Rf5a385addbf54c9a" /><ns0:Relationship Type="http://schemas.openxmlformats.org/officeDocument/2006/relationships/hyperlink" Target="https://docs.pydantic.dev/latest/" TargetMode="External" Id="R4a6c1f6bc9fc4728" /><ns0:Relationship Type="http://schemas.openxmlformats.org/officeDocument/2006/relationships/hyperlink" Target="https://fastapi.tiangolo.com/" TargetMode="External" Id="R9e128e56479447b0" /><ns0:Relationship Type="http://schemas.openxmlformats.org/officeDocument/2006/relationships/hyperlink" Target="https://ollama.com/download" TargetMode="External" Id="Rdcd858a87d7c4a9b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8c5d0c30d89f4c21" /><ns0:Relationship Type="http://schemas.openxmlformats.org/officeDocument/2006/relationships/hyperlink" Target="https://github.com/alessandropec/virtual-humans-cognitive-architectures" TargetMode="External" Id="R57f12b4e44ec448a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42f7fd4925684b38" /><ns0:Relationship Type="http://schemas.openxmlformats.org/officeDocument/2006/relationships/hyperlink" Target="https://marketplace.visualstudio.com/items?itemName=ms-python.python" TargetMode="External" Id="Rb1695a4ce9ce4592" /><ns0:Relationship Type="http://schemas.openxmlformats.org/officeDocument/2006/relationships/hyperlink" Target="https://marketplace.visualstudio.com/items?itemName=ms-toolsai.jupyter" TargetMode="External" Id="Rb339388eec4f483b" /><ns0:Relationship Type="http://schemas.openxmlformats.org/officeDocument/2006/relationships/hyperlink" Target="https://code.visualstudio.com/download" TargetMode="External" Id="R5403623430ea4e19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ba2bbbe72f8b430f" /><ns0:Relationship Type="http://schemas.openxmlformats.org/officeDocument/2006/relationships/hyperlink" Target="https://github.com/alessandropec/virtual-humans-cognitive-architectures/blob/main/virtual_human_project/vh_embodiment_server/README.md" TargetMode="External" Id="R8b2d8272a43c40f8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24888d8b00a3457b" /><ns0:Relationship Type="http://schemas.openxmlformats.org/officeDocument/2006/relationships/image" Target="/ppt/media/image6.png" Id="Rb56262785de04664" /><ns0:Relationship Type="http://schemas.openxmlformats.org/officeDocument/2006/relationships/hyperlink" Target="https://github.com/alessandropec/virtual-humans-cognitive-architectures/blob/main/virtual_human_project/vh_cognitive_architecture_server/README.md" TargetMode="External" Id="R768854b51d14494d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c5eabc3e20fc466f" /><ns0:Relationship Type="http://schemas.openxmlformats.org/officeDocument/2006/relationships/image" Target="/ppt/media/image7.png" Id="R3cd54e3582064bc6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73dac60765e14726" /><ns0:Relationship Type="http://schemas.openxmlformats.org/officeDocument/2006/relationships/hyperlink" Target="https://ollama.com/settings/keys" TargetMode="External" Id="Rce759c907c884af1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164993732bad42b0" /><ns0:Relationship Type="http://schemas.openxmlformats.org/officeDocument/2006/relationships/hyperlink" Target="https://github.com/alessandropec/virtual-humans-cognitive-architectures/blob/main/virtual_human_course/Module_0/Chapter_01/Code/00_first_call.ipynb" TargetMode="External" Id="R3d0a60fc1d0c425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9c2b65c866dd4b43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66e16802ef16453f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c9897f5f7ff34bc3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8e76633f8c484398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5626b047d9a5442d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e1e6e4566af940c6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779f62bf133d4685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5.xml" Id="Rdf8edcf26d1a4a1e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4C6CC5-903E-40AB-A996-CCCED28D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Alessandro Emmanuel Pecora · 29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36F4EE4-E2C8-4419-9506-51775B204E0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434ed7ca57460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53BAB1DA-68FA-49A6-B3F9-FA4CA99A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90925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Module 0 — Course Introduction and Setup</a:t>
            </a:r>
          </a:p>
        </p:txBody>
      </p:sp>
    </p:spTree>
    <p:extLst>
      <p:ext uri="{BB962C8B-B14F-4D97-AF65-F5344CB8AC3E}">
        <p14:creationId xmlns:p14="http://schemas.microsoft.com/office/powerpoint/2010/main" val="1985789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m0-text-2">
            <a:extLst xmlns:a="http://schemas.openxmlformats.org/drawingml/2006/main">
              <a:ext uri="{FF2B5EF4-FFF2-40B4-BE49-F238E27FC236}">
                <a16:creationId xmlns:a16="http://schemas.microsoft.com/office/drawing/2014/main" id="{7BBB29D4-AFBB-4AFF-A4D2-8C8505E8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7d7215516a492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m0-text-3">
            <a:extLst xmlns:a="http://schemas.openxmlformats.org/drawingml/2006/main">
              <a:ext uri="{FF2B5EF4-FFF2-40B4-BE49-F238E27FC236}">
                <a16:creationId xmlns:a16="http://schemas.microsoft.com/office/drawing/2014/main" id="{A8DBC370-99D9-4E91-9C97-438D1C22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9775"/>
            <a:ext cx="5429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</a:t>
            </a:r>
          </a:p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Introduction</a:t>
            </a:r>
          </a:p>
        </p:txBody>
      </p:sp>
      <p:sp>
        <p:nvSpPr>
          <p:cNvPr id="4" name="m0-text-4">
            <a:extLst xmlns:a="http://schemas.openxmlformats.org/drawingml/2006/main">
              <a:ext uri="{FF2B5EF4-FFF2-40B4-BE49-F238E27FC236}">
                <a16:creationId xmlns:a16="http://schemas.microsoft.com/office/drawing/2014/main" id="{313283C2-3A05-420C-A3CF-AAE752C2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9654484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m0-text-5">
            <a:extLst xmlns:a="http://schemas.openxmlformats.org/drawingml/2006/main">
              <a:ext uri="{FF2B5EF4-FFF2-40B4-BE49-F238E27FC236}">
                <a16:creationId xmlns:a16="http://schemas.microsoft.com/office/drawing/2014/main" id="{24F8287E-5E7A-41B9-8440-8C7DF518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6">
            <a:extLst xmlns:a="http://schemas.openxmlformats.org/drawingml/2006/main">
              <a:ext uri="{FF2B5EF4-FFF2-40B4-BE49-F238E27FC236}">
                <a16:creationId xmlns:a16="http://schemas.microsoft.com/office/drawing/2014/main" id="{F00F638F-1E6B-4AF7-A645-F8EC5212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7">
            <a:extLst xmlns:a="http://schemas.openxmlformats.org/drawingml/2006/main">
              <a:ext uri="{FF2B5EF4-FFF2-40B4-BE49-F238E27FC236}">
                <a16:creationId xmlns:a16="http://schemas.microsoft.com/office/drawing/2014/main" id="{CEF2FAFC-0536-4DE3-862F-338F9A0E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" name="m0-text-8">
            <a:extLst xmlns:a="http://schemas.openxmlformats.org/drawingml/2006/main">
              <a:ext uri="{FF2B5EF4-FFF2-40B4-BE49-F238E27FC236}">
                <a16:creationId xmlns:a16="http://schemas.microsoft.com/office/drawing/2014/main" id="{7468A8E2-FC55-43A1-AF42-4444CCA4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 Materials</a:t>
            </a:r>
          </a:p>
        </p:txBody>
      </p:sp>
      <p:sp>
        <p:nvSpPr>
          <p:cNvPr id="5" name="m0-text-9">
            <a:extLst xmlns:a="http://schemas.openxmlformats.org/drawingml/2006/main">
              <a:ext uri="{FF2B5EF4-FFF2-40B4-BE49-F238E27FC236}">
                <a16:creationId xmlns:a16="http://schemas.microsoft.com/office/drawing/2014/main" id="{9078C060-242A-40D9-8573-D70E8ABF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Everything you need is on GitHub.</a:t>
            </a:r>
          </a:p>
        </p:txBody>
      </p:sp>
      <p:sp>
        <p:nvSpPr>
          <p:cNvPr id="6" name="m0-text-10">
            <a:extLst xmlns:a="http://schemas.openxmlformats.org/drawingml/2006/main">
              <a:ext uri="{FF2B5EF4-FFF2-40B4-BE49-F238E27FC236}">
                <a16:creationId xmlns:a16="http://schemas.microsoft.com/office/drawing/2014/main" id="{1A2A6A99-6D50-4901-B39C-A7BB3278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5429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Slides in PowerPoint and PDF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Notebooks and setup instructions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 avatar and Python agent</a:t>
            </a:r>
          </a:p>
        </p:txBody>
      </p:sp>
      <p:sp>
        <p:nvSpPr>
          <p:cNvPr id="7" name="m0-text-11">
            <a:extLst xmlns:a="http://schemas.openxmlformats.org/drawingml/2006/main">
              <a:ext uri="{FF2B5EF4-FFF2-40B4-BE49-F238E27FC236}">
                <a16:creationId xmlns:a16="http://schemas.microsoft.com/office/drawing/2014/main" id="{F3346D9C-94EA-4523-BC70-4B958095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24275"/>
            <a:ext cx="571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4e5d327fc44f47de"/>
              </a:rPr>
              <a:t>github.com/alessandropec/</a:t>
            </a:r>
          </a:p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49c0c7efad6140d7"/>
              </a:rPr>
              <a:t>virtual-humans-cognitive-architectures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c0d5b4152420c"/>
          <a:stretch xmlns:a="http://schemas.openxmlformats.org/drawingml/2006/main"/>
        </p:blipFill>
        <p:spPr>
          <a:xfrm xmlns:a="http://schemas.openxmlformats.org/drawingml/2006/main">
            <a:off x="6534150" y="1847850"/>
            <a:ext cx="2076450" cy="2076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6896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m0-text-12">
            <a:extLst xmlns:a="http://schemas.openxmlformats.org/drawingml/2006/main">
              <a:ext uri="{FF2B5EF4-FFF2-40B4-BE49-F238E27FC236}">
                <a16:creationId xmlns:a16="http://schemas.microsoft.com/office/drawing/2014/main" id="{F0368B19-589C-42EF-B19C-86FF369B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3">
            <a:extLst xmlns:a="http://schemas.openxmlformats.org/drawingml/2006/main">
              <a:ext uri="{FF2B5EF4-FFF2-40B4-BE49-F238E27FC236}">
                <a16:creationId xmlns:a16="http://schemas.microsoft.com/office/drawing/2014/main" id="{44CB7721-EC2F-4E14-A1C2-6E7D65D7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4">
            <a:extLst xmlns:a="http://schemas.openxmlformats.org/drawingml/2006/main">
              <a:ext uri="{FF2B5EF4-FFF2-40B4-BE49-F238E27FC236}">
                <a16:creationId xmlns:a16="http://schemas.microsoft.com/office/drawing/2014/main" id="{1472658C-BB7E-4107-A1B6-79B3BC6D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4" name="m0-text-15">
            <a:extLst xmlns:a="http://schemas.openxmlformats.org/drawingml/2006/main">
              <a:ext uri="{FF2B5EF4-FFF2-40B4-BE49-F238E27FC236}">
                <a16:creationId xmlns:a16="http://schemas.microsoft.com/office/drawing/2014/main" id="{605E9456-86C1-4CE4-B527-05899AA3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Course Programme</a:t>
            </a:r>
          </a:p>
        </p:txBody>
      </p:sp>
      <p:sp>
        <p:nvSpPr>
          <p:cNvPr id="5" name="m0-text-16">
            <a:extLst xmlns:a="http://schemas.openxmlformats.org/drawingml/2006/main">
              <a:ext uri="{FF2B5EF4-FFF2-40B4-BE49-F238E27FC236}">
                <a16:creationId xmlns:a16="http://schemas.microsoft.com/office/drawing/2014/main" id="{7635918A-D93A-4EDE-977A-09BE2A50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525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0</a:t>
            </a:r>
          </a:p>
        </p:txBody>
      </p:sp>
      <p:sp>
        <p:nvSpPr>
          <p:cNvPr id="6" name="m0-text-17">
            <a:extLst xmlns:a="http://schemas.openxmlformats.org/drawingml/2006/main">
              <a:ext uri="{FF2B5EF4-FFF2-40B4-BE49-F238E27FC236}">
                <a16:creationId xmlns:a16="http://schemas.microsoft.com/office/drawing/2014/main" id="{F76FC404-C8F1-4242-85F1-611B53A4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35255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Course Introduction and Setup</a:t>
            </a:r>
          </a:p>
        </p:txBody>
      </p:sp>
      <p:sp>
        <p:nvSpPr>
          <p:cNvPr id="7" name="m0-text-18">
            <a:extLst xmlns:a="http://schemas.openxmlformats.org/drawingml/2006/main">
              <a:ext uri="{FF2B5EF4-FFF2-40B4-BE49-F238E27FC236}">
                <a16:creationId xmlns:a16="http://schemas.microsoft.com/office/drawing/2014/main" id="{5B01964F-36D0-4453-976E-E6A658DA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21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1</a:t>
            </a:r>
          </a:p>
        </p:txBody>
      </p:sp>
      <p:sp>
        <p:nvSpPr>
          <p:cNvPr id="8" name="m0-text-19">
            <a:extLst xmlns:a="http://schemas.openxmlformats.org/drawingml/2006/main">
              <a:ext uri="{FF2B5EF4-FFF2-40B4-BE49-F238E27FC236}">
                <a16:creationId xmlns:a16="http://schemas.microsoft.com/office/drawing/2014/main" id="{D537F7A5-CEA0-4A5C-89C5-A2C2F3C3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196215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Cognitive Architectures and Large Language Models</a:t>
            </a:r>
          </a:p>
        </p:txBody>
      </p:sp>
      <p:sp>
        <p:nvSpPr>
          <p:cNvPr id="9" name="m0-text-20">
            <a:extLst xmlns:a="http://schemas.openxmlformats.org/drawingml/2006/main">
              <a:ext uri="{FF2B5EF4-FFF2-40B4-BE49-F238E27FC236}">
                <a16:creationId xmlns:a16="http://schemas.microsoft.com/office/drawing/2014/main" id="{33B7CA48-4DDF-417D-881C-49B184D0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343150"/>
            <a:ext cx="6715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Psychological Foundations of Cognitive Architectures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LLMs, Working Memory and Prompting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Introduction to LangChain</a:t>
            </a:r>
          </a:p>
        </p:txBody>
      </p:sp>
      <p:sp>
        <p:nvSpPr>
          <p:cNvPr id="10" name="m0-text-21">
            <a:extLst xmlns:a="http://schemas.openxmlformats.org/drawingml/2006/main">
              <a:ext uri="{FF2B5EF4-FFF2-40B4-BE49-F238E27FC236}">
                <a16:creationId xmlns:a16="http://schemas.microsoft.com/office/drawing/2014/main" id="{F416CF3B-EC03-412C-AF3A-B1A28EA6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Module 2</a:t>
            </a:r>
          </a:p>
        </p:txBody>
      </p:sp>
      <p:sp>
        <p:nvSpPr>
          <p:cNvPr id="11" name="m0-text-22">
            <a:extLst xmlns:a="http://schemas.openxmlformats.org/drawingml/2006/main">
              <a:ext uri="{FF2B5EF4-FFF2-40B4-BE49-F238E27FC236}">
                <a16:creationId xmlns:a16="http://schemas.microsoft.com/office/drawing/2014/main" id="{6665EEA1-F4D0-460B-8D52-268B94A6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23850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From Large Language Models to Virtual Humans</a:t>
            </a:r>
          </a:p>
        </p:txBody>
      </p:sp>
      <p:sp>
        <p:nvSpPr>
          <p:cNvPr id="12" name="m0-text-23">
            <a:extLst xmlns:a="http://schemas.openxmlformats.org/drawingml/2006/main">
              <a:ext uri="{FF2B5EF4-FFF2-40B4-BE49-F238E27FC236}">
                <a16:creationId xmlns:a16="http://schemas.microsoft.com/office/drawing/2014/main" id="{A5FB0D6B-EB29-441D-873E-E8AAFF721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3619500"/>
            <a:ext cx="6715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Agentic Frameworks and LangGraph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Memory and the Virtual Human</a:t>
            </a:r>
          </a:p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Tools and Coding Agents</a:t>
            </a:r>
          </a:p>
        </p:txBody>
      </p:sp>
      <p:sp>
        <p:nvSpPr>
          <p:cNvPr id="13" name="m0-text-24">
            <a:extLst xmlns:a="http://schemas.openxmlformats.org/drawingml/2006/main">
              <a:ext uri="{FF2B5EF4-FFF2-40B4-BE49-F238E27FC236}">
                <a16:creationId xmlns:a16="http://schemas.microsoft.com/office/drawing/2014/main" id="{19A273BA-EF06-4B3C-A04D-6791BA98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Webinar</a:t>
            </a:r>
          </a:p>
        </p:txBody>
      </p:sp>
      <p:sp>
        <p:nvSpPr>
          <p:cNvPr id="14" name="m0-text-25">
            <a:extLst xmlns:a="http://schemas.openxmlformats.org/drawingml/2006/main">
              <a:ext uri="{FF2B5EF4-FFF2-40B4-BE49-F238E27FC236}">
                <a16:creationId xmlns:a16="http://schemas.microsoft.com/office/drawing/2014/main" id="{8098F709-1EC8-4A39-A310-981E0CF6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4457700"/>
            <a:ext cx="671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6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Further Practice</a:t>
            </a:r>
          </a:p>
        </p:txBody>
      </p:sp>
    </p:spTree>
    <p:extLst>
      <p:ext uri="{BB962C8B-B14F-4D97-AF65-F5344CB8AC3E}">
        <p14:creationId xmlns:p14="http://schemas.microsoft.com/office/powerpoint/2010/main" val="21264003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26">
            <a:extLst xmlns:a="http://schemas.openxmlformats.org/drawingml/2006/main">
              <a:ext uri="{FF2B5EF4-FFF2-40B4-BE49-F238E27FC236}">
                <a16:creationId xmlns:a16="http://schemas.microsoft.com/office/drawing/2014/main" id="{6929D4F7-5178-485C-8E4C-0D330F15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7">
            <a:extLst xmlns:a="http://schemas.openxmlformats.org/drawingml/2006/main">
              <a:ext uri="{FF2B5EF4-FFF2-40B4-BE49-F238E27FC236}">
                <a16:creationId xmlns:a16="http://schemas.microsoft.com/office/drawing/2014/main" id="{D6ECDBF2-2210-49CF-9997-B439B8FC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8">
            <a:extLst xmlns:a="http://schemas.openxmlformats.org/drawingml/2006/main">
              <a:ext uri="{FF2B5EF4-FFF2-40B4-BE49-F238E27FC236}">
                <a16:creationId xmlns:a16="http://schemas.microsoft.com/office/drawing/2014/main" id="{3A8FB5D6-DF47-42EB-9497-F89D2447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4" name="m0-text-29">
            <a:extLst xmlns:a="http://schemas.openxmlformats.org/drawingml/2006/main">
              <a:ext uri="{FF2B5EF4-FFF2-40B4-BE49-F238E27FC236}">
                <a16:creationId xmlns:a16="http://schemas.microsoft.com/office/drawing/2014/main" id="{D1709CDD-58DB-4FEE-A992-D5458EBF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Virtual Humans Foundations</a:t>
            </a:r>
          </a:p>
        </p:txBody>
      </p:sp>
      <p:sp>
        <p:nvSpPr>
          <p:cNvPr id="5" name="m0-text-30">
            <a:extLst xmlns:a="http://schemas.openxmlformats.org/drawingml/2006/main">
              <a:ext uri="{FF2B5EF4-FFF2-40B4-BE49-F238E27FC236}">
                <a16:creationId xmlns:a16="http://schemas.microsoft.com/office/drawing/2014/main" id="{954380B7-E2CF-4F47-A6AC-B903A9BB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822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AI-Powered Virtual Humans</a:t>
            </a:r>
          </a:p>
        </p:txBody>
      </p:sp>
      <p:sp>
        <p:nvSpPr>
          <p:cNvPr id="6" name="m0-text-31">
            <a:extLst xmlns:a="http://schemas.openxmlformats.org/drawingml/2006/main">
              <a:ext uri="{FF2B5EF4-FFF2-40B4-BE49-F238E27FC236}">
                <a16:creationId xmlns:a16="http://schemas.microsoft.com/office/drawing/2014/main" id="{0B04AC18-7CC8-48F0-92B7-D4DF7CAA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822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 optional course to take before this one.</a:t>
            </a:r>
          </a:p>
        </p:txBody>
      </p:sp>
      <p:sp>
        <p:nvSpPr>
          <p:cNvPr id="7" name="m0-text-32">
            <a:extLst xmlns:a="http://schemas.openxmlformats.org/drawingml/2006/main">
              <a:ext uri="{FF2B5EF4-FFF2-40B4-BE49-F238E27FC236}">
                <a16:creationId xmlns:a16="http://schemas.microsoft.com/office/drawing/2014/main" id="{A500A3FE-38C9-4671-AC68-2A0A184D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8229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Foundations of virtual humans.</a:t>
            </a:r>
          </a:p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 an embodiment in Unity with speech,</a:t>
            </a:r>
          </a:p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lip-sync, gestures and emotions.</a:t>
            </a:r>
          </a:p>
        </p:txBody>
      </p:sp>
      <p:sp>
        <p:nvSpPr>
          <p:cNvPr id="8" name="m0-text-33">
            <a:extLst xmlns:a="http://schemas.openxmlformats.org/drawingml/2006/main">
              <a:ext uri="{FF2B5EF4-FFF2-40B4-BE49-F238E27FC236}">
                <a16:creationId xmlns:a16="http://schemas.microsoft.com/office/drawing/2014/main" id="{0B64ACA5-E331-41DE-B4E8-078EFE11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0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Recommended background; not required for this course.</a:t>
            </a:r>
          </a:p>
        </p:txBody>
      </p:sp>
      <p:sp>
        <p:nvSpPr>
          <p:cNvPr id="9" name="m0-text-34">
            <a:extLst xmlns:a="http://schemas.openxmlformats.org/drawingml/2006/main">
              <a:ext uri="{FF2B5EF4-FFF2-40B4-BE49-F238E27FC236}">
                <a16:creationId xmlns:a16="http://schemas.microsoft.com/office/drawing/2014/main" id="{9228C111-A3D5-4088-9718-76765F75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2807f94c8ec4934"/>
              </a:rPr>
              <a:t>Course repository</a:t>
            </a:r>
          </a:p>
        </p:txBody>
      </p:sp>
    </p:spTree>
    <p:extLst>
      <p:ext uri="{BB962C8B-B14F-4D97-AF65-F5344CB8AC3E}">
        <p14:creationId xmlns:p14="http://schemas.microsoft.com/office/powerpoint/2010/main" val="39460286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m0-text-35">
            <a:extLst xmlns:a="http://schemas.openxmlformats.org/drawingml/2006/main">
              <a:ext uri="{FF2B5EF4-FFF2-40B4-BE49-F238E27FC236}">
                <a16:creationId xmlns:a16="http://schemas.microsoft.com/office/drawing/2014/main" id="{8ECE460C-ED98-4A00-9B60-2055191A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79efb56b54fe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m0-text-36">
            <a:extLst xmlns:a="http://schemas.openxmlformats.org/drawingml/2006/main">
              <a:ext uri="{FF2B5EF4-FFF2-40B4-BE49-F238E27FC236}">
                <a16:creationId xmlns:a16="http://schemas.microsoft.com/office/drawing/2014/main" id="{47969EC4-D8B3-4170-A6C8-33173EFA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09775"/>
            <a:ext cx="5429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40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Setting Up</a:t>
            </a:r>
          </a:p>
        </p:txBody>
      </p:sp>
      <p:sp>
        <p:nvSpPr>
          <p:cNvPr id="4" name="m0-text-37">
            <a:extLst xmlns:a="http://schemas.openxmlformats.org/drawingml/2006/main">
              <a:ext uri="{FF2B5EF4-FFF2-40B4-BE49-F238E27FC236}">
                <a16:creationId xmlns:a16="http://schemas.microsoft.com/office/drawing/2014/main" id="{1FB7B196-387C-4307-8945-FE13869F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1347252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0-text-38">
            <a:extLst xmlns:a="http://schemas.openxmlformats.org/drawingml/2006/main">
              <a:ext uri="{FF2B5EF4-FFF2-40B4-BE49-F238E27FC236}">
                <a16:creationId xmlns:a16="http://schemas.microsoft.com/office/drawing/2014/main" id="{50631026-8215-4AB4-8B56-55A61FEE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39">
            <a:extLst xmlns:a="http://schemas.openxmlformats.org/drawingml/2006/main">
              <a:ext uri="{FF2B5EF4-FFF2-40B4-BE49-F238E27FC236}">
                <a16:creationId xmlns:a16="http://schemas.microsoft.com/office/drawing/2014/main" id="{B6A2C0CB-48FD-44F3-95D7-C2718665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40">
            <a:extLst xmlns:a="http://schemas.openxmlformats.org/drawingml/2006/main">
              <a:ext uri="{FF2B5EF4-FFF2-40B4-BE49-F238E27FC236}">
                <a16:creationId xmlns:a16="http://schemas.microsoft.com/office/drawing/2014/main" id="{5AED5EC3-DBE2-411C-A446-C922142C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4" name="m0-text-41">
            <a:extLst xmlns:a="http://schemas.openxmlformats.org/drawingml/2006/main">
              <a:ext uri="{FF2B5EF4-FFF2-40B4-BE49-F238E27FC236}">
                <a16:creationId xmlns:a16="http://schemas.microsoft.com/office/drawing/2014/main" id="{5A2B36C9-F453-4B5A-A95A-A13B0A1B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First, We Need the Models</a:t>
            </a:r>
          </a:p>
        </p:txBody>
      </p:sp>
      <p:sp>
        <p:nvSpPr>
          <p:cNvPr id="5" name="m0-text-42">
            <a:extLst xmlns:a="http://schemas.openxmlformats.org/drawingml/2006/main">
              <a:ext uri="{FF2B5EF4-FFF2-40B4-BE49-F238E27FC236}">
                <a16:creationId xmlns:a16="http://schemas.microsoft.com/office/drawing/2014/main" id="{40325F11-9CBB-4ECC-ACEB-19A61E17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822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0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Providers host models and make them available through an API.</a:t>
            </a:r>
          </a:p>
        </p:txBody>
      </p:sp>
      <p:sp>
        <p:nvSpPr>
          <p:cNvPr id="6" name="m0-text-43">
            <a:extLst xmlns:a="http://schemas.openxmlformats.org/drawingml/2006/main">
              <a:ext uri="{FF2B5EF4-FFF2-40B4-BE49-F238E27FC236}">
                <a16:creationId xmlns:a16="http://schemas.microsoft.com/office/drawing/2014/main" id="{E72857EA-D7D4-422D-8FE3-1CD18C7C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Google AI Studio</a:t>
            </a:r>
          </a:p>
        </p:txBody>
      </p:sp>
      <p:sp>
        <p:nvSpPr>
          <p:cNvPr id="7" name="m0-text-44">
            <a:extLst xmlns:a="http://schemas.openxmlformats.org/drawingml/2006/main">
              <a:ext uri="{FF2B5EF4-FFF2-40B4-BE49-F238E27FC236}">
                <a16:creationId xmlns:a16="http://schemas.microsoft.com/office/drawing/2014/main" id="{0AD0D320-1848-400A-9D77-C22F4E1C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5742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405b8ad499b4a6b"/>
              </a:rPr>
              <a:t>aistudio.google.com</a:t>
            </a:r>
          </a:p>
        </p:txBody>
      </p:sp>
      <p:sp>
        <p:nvSpPr>
          <p:cNvPr id="8" name="m0-text-45">
            <a:extLst xmlns:a="http://schemas.openxmlformats.org/drawingml/2006/main">
              <a:ext uri="{FF2B5EF4-FFF2-40B4-BE49-F238E27FC236}">
                <a16:creationId xmlns:a16="http://schemas.microsoft.com/office/drawing/2014/main" id="{F2A37912-162B-403D-81B1-97BB0C4C5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765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Groq</a:t>
            </a:r>
          </a:p>
        </p:txBody>
      </p:sp>
      <p:sp>
        <p:nvSpPr>
          <p:cNvPr id="9" name="m0-text-46">
            <a:extLst xmlns:a="http://schemas.openxmlformats.org/drawingml/2006/main">
              <a:ext uri="{FF2B5EF4-FFF2-40B4-BE49-F238E27FC236}">
                <a16:creationId xmlns:a16="http://schemas.microsoft.com/office/drawing/2014/main" id="{A55B0685-E20D-44D3-88C3-EF044AF9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9557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164c562f4aa4e04"/>
              </a:rPr>
              <a:t>console.groq.com</a:t>
            </a:r>
          </a:p>
        </p:txBody>
      </p:sp>
      <p:sp>
        <p:nvSpPr>
          <p:cNvPr id="10" name="m0-text-47">
            <a:extLst xmlns:a="http://schemas.openxmlformats.org/drawingml/2006/main">
              <a:ext uri="{FF2B5EF4-FFF2-40B4-BE49-F238E27FC236}">
                <a16:creationId xmlns:a16="http://schemas.microsoft.com/office/drawing/2014/main" id="{EDB30C19-0BDD-44A0-916D-D66D10F7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46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OpenRouter</a:t>
            </a:r>
          </a:p>
        </p:txBody>
      </p:sp>
      <p:sp>
        <p:nvSpPr>
          <p:cNvPr id="11" name="m0-text-48">
            <a:extLst xmlns:a="http://schemas.openxmlformats.org/drawingml/2006/main">
              <a:ext uri="{FF2B5EF4-FFF2-40B4-BE49-F238E27FC236}">
                <a16:creationId xmlns:a16="http://schemas.microsoft.com/office/drawing/2014/main" id="{B1115937-796C-4789-9D58-7DD6677F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3372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b7e2d4e75c74b6f"/>
              </a:rPr>
              <a:t>openrouter.ai</a:t>
            </a:r>
          </a:p>
        </p:txBody>
      </p:sp>
      <p:sp>
        <p:nvSpPr>
          <p:cNvPr id="12" name="m0-text-49">
            <a:extLst xmlns:a="http://schemas.openxmlformats.org/drawingml/2006/main">
              <a:ext uri="{FF2B5EF4-FFF2-40B4-BE49-F238E27FC236}">
                <a16:creationId xmlns:a16="http://schemas.microsoft.com/office/drawing/2014/main" id="{2E9963C4-57CF-4642-AD28-1CB5CA26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528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180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Ollama Cloud</a:t>
            </a:r>
          </a:p>
        </p:txBody>
      </p:sp>
      <p:sp>
        <p:nvSpPr>
          <p:cNvPr id="13" name="m0-text-50">
            <a:extLst xmlns:a="http://schemas.openxmlformats.org/drawingml/2006/main">
              <a:ext uri="{FF2B5EF4-FFF2-40B4-BE49-F238E27FC236}">
                <a16:creationId xmlns:a16="http://schemas.microsoft.com/office/drawing/2014/main" id="{81D06CEC-44AE-4F51-8570-5AC22F04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571875"/>
            <a:ext cx="5410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0cdb5ab76204702"/>
              </a:rPr>
              <a:t>ollama.com</a:t>
            </a:r>
          </a:p>
        </p:txBody>
      </p:sp>
      <p:sp>
        <p:nvSpPr>
          <p:cNvPr id="14" name="m0-text-51">
            <a:extLst xmlns:a="http://schemas.openxmlformats.org/drawingml/2006/main">
              <a:ext uri="{FF2B5EF4-FFF2-40B4-BE49-F238E27FC236}">
                <a16:creationId xmlns:a16="http://schemas.microsoft.com/office/drawing/2014/main" id="{58BC32B0-22C2-4706-B3F1-879EC683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43375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an account, generate an API key and save it in the YAML file.</a:t>
            </a:r>
          </a:p>
        </p:txBody>
      </p:sp>
      <p:sp>
        <p:nvSpPr>
          <p:cNvPr id="15" name="m0-text-52">
            <a:extLst xmlns:a="http://schemas.openxmlformats.org/drawingml/2006/main">
              <a:ext uri="{FF2B5EF4-FFF2-40B4-BE49-F238E27FC236}">
                <a16:creationId xmlns:a16="http://schemas.microsoft.com/office/drawing/2014/main" id="{EFA41898-5A33-4F9F-92F9-E36B0565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0"/>
            <a:ext cx="822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Free access has limits: selected models, request quotas and account eligibility.</a:t>
            </a:r>
          </a:p>
        </p:txBody>
      </p:sp>
    </p:spTree>
    <p:extLst>
      <p:ext uri="{BB962C8B-B14F-4D97-AF65-F5344CB8AC3E}">
        <p14:creationId xmlns:p14="http://schemas.microsoft.com/office/powerpoint/2010/main" val="141888877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53">
            <a:extLst xmlns:a="http://schemas.openxmlformats.org/drawingml/2006/main">
              <a:ext uri="{FF2B5EF4-FFF2-40B4-BE49-F238E27FC236}">
                <a16:creationId xmlns:a16="http://schemas.microsoft.com/office/drawing/2014/main" id="{D5E35EEE-2FBB-4069-B396-579DCD65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54">
            <a:extLst xmlns:a="http://schemas.openxmlformats.org/drawingml/2006/main">
              <a:ext uri="{FF2B5EF4-FFF2-40B4-BE49-F238E27FC236}">
                <a16:creationId xmlns:a16="http://schemas.microsoft.com/office/drawing/2014/main" id="{1417B6B1-9456-4766-AAE3-0E982642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55">
            <a:extLst xmlns:a="http://schemas.openxmlformats.org/drawingml/2006/main">
              <a:ext uri="{FF2B5EF4-FFF2-40B4-BE49-F238E27FC236}">
                <a16:creationId xmlns:a16="http://schemas.microsoft.com/office/drawing/2014/main" id="{299BF1C4-E628-49D2-B4BE-F969EDB1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" name="m0-text-56">
            <a:extLst xmlns:a="http://schemas.openxmlformats.org/drawingml/2006/main">
              <a:ext uri="{FF2B5EF4-FFF2-40B4-BE49-F238E27FC236}">
                <a16:creationId xmlns:a16="http://schemas.microsoft.com/office/drawing/2014/main" id="{5DAAE454-472A-438F-A391-B00C9E9D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Cloud and Local Models</a:t>
            </a:r>
          </a:p>
        </p:txBody>
      </p:sp>
      <p:sp>
        <p:nvSpPr>
          <p:cNvPr id="5" name="m0-text-57">
            <a:extLst xmlns:a="http://schemas.openxmlformats.org/drawingml/2006/main">
              <a:ext uri="{FF2B5EF4-FFF2-40B4-BE49-F238E27FC236}">
                <a16:creationId xmlns:a16="http://schemas.microsoft.com/office/drawing/2014/main" id="{C6B023A9-B0EA-47CF-886B-36DC4AEC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Cloud</a:t>
            </a:r>
          </a:p>
        </p:txBody>
      </p:sp>
      <p:sp>
        <p:nvSpPr>
          <p:cNvPr id="6" name="m0-text-58">
            <a:extLst xmlns:a="http://schemas.openxmlformats.org/drawingml/2006/main">
              <a:ext uri="{FF2B5EF4-FFF2-40B4-BE49-F238E27FC236}">
                <a16:creationId xmlns:a16="http://schemas.microsoft.com/office/drawing/2014/main" id="{FFDC8B3F-AB3E-4E56-AE77-450F09E4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19325"/>
            <a:ext cx="37909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Models run on a provider’s servers.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Access them through an API.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an account and an API key.</a:t>
            </a:r>
          </a:p>
        </p:txBody>
      </p:sp>
      <p:sp>
        <p:nvSpPr>
          <p:cNvPr id="7" name="m0-text-59">
            <a:extLst xmlns:a="http://schemas.openxmlformats.org/drawingml/2006/main">
              <a:ext uri="{FF2B5EF4-FFF2-40B4-BE49-F238E27FC236}">
                <a16:creationId xmlns:a16="http://schemas.microsoft.com/office/drawing/2014/main" id="{00A7B850-FA66-4C7D-A2D9-76F9AD2B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24000"/>
            <a:ext cx="3790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2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Local</a:t>
            </a:r>
          </a:p>
        </p:txBody>
      </p:sp>
      <p:sp>
        <p:nvSpPr>
          <p:cNvPr id="8" name="m0-text-60">
            <a:extLst xmlns:a="http://schemas.openxmlformats.org/drawingml/2006/main">
              <a:ext uri="{FF2B5EF4-FFF2-40B4-BE49-F238E27FC236}">
                <a16:creationId xmlns:a16="http://schemas.microsoft.com/office/drawing/2014/main" id="{B2390843-3483-47C6-9FD7-BBFD8B6C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9325"/>
            <a:ext cx="37909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Models run on your computer.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57aa7f66e2944b5"/>
              </a:rPr>
              <a:t>Ollama</a:t>
            </a: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 is one way to run them;</a:t>
            </a:r>
          </a:p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other tools are available.</a:t>
            </a:r>
          </a:p>
        </p:txBody>
      </p:sp>
      <p:sp>
        <p:nvSpPr>
          <p:cNvPr id="9" name="m0-text-61">
            <a:extLst xmlns:a="http://schemas.openxmlformats.org/drawingml/2006/main">
              <a:ext uri="{FF2B5EF4-FFF2-40B4-BE49-F238E27FC236}">
                <a16:creationId xmlns:a16="http://schemas.microsoft.com/office/drawing/2014/main" id="{B115C6F4-8C30-4F22-8FA7-6C3F24AF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9100"/>
            <a:ext cx="8229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In this course, we use cloud models with free tiers.</a:t>
            </a:r>
          </a:p>
        </p:txBody>
      </p:sp>
    </p:spTree>
    <p:extLst>
      <p:ext uri="{BB962C8B-B14F-4D97-AF65-F5344CB8AC3E}">
        <p14:creationId xmlns:p14="http://schemas.microsoft.com/office/powerpoint/2010/main" val="155785902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m0-text-62">
            <a:extLst xmlns:a="http://schemas.openxmlformats.org/drawingml/2006/main">
              <a:ext uri="{FF2B5EF4-FFF2-40B4-BE49-F238E27FC236}">
                <a16:creationId xmlns:a16="http://schemas.microsoft.com/office/drawing/2014/main" id="{404838A5-68BF-4ECA-99FA-A741EFDE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63">
            <a:extLst xmlns:a="http://schemas.openxmlformats.org/drawingml/2006/main">
              <a:ext uri="{FF2B5EF4-FFF2-40B4-BE49-F238E27FC236}">
                <a16:creationId xmlns:a16="http://schemas.microsoft.com/office/drawing/2014/main" id="{65EA2218-A761-4523-A638-FB1ACBB8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64">
            <a:extLst xmlns:a="http://schemas.openxmlformats.org/drawingml/2006/main">
              <a:ext uri="{FF2B5EF4-FFF2-40B4-BE49-F238E27FC236}">
                <a16:creationId xmlns:a16="http://schemas.microsoft.com/office/drawing/2014/main" id="{1B5D8B61-331A-4052-B96C-F517A1FA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4" name="m0-text-65">
            <a:extLst xmlns:a="http://schemas.openxmlformats.org/drawingml/2006/main">
              <a:ext uri="{FF2B5EF4-FFF2-40B4-BE49-F238E27FC236}">
                <a16:creationId xmlns:a16="http://schemas.microsoft.com/office/drawing/2014/main" id="{A1997EAF-5631-4B4A-BF20-9B2C9882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The Technology Stack</a:t>
            </a:r>
          </a:p>
        </p:txBody>
      </p:sp>
      <p:sp>
        <p:nvSpPr>
          <p:cNvPr id="5" name="m0-text-66">
            <a:extLst xmlns:a="http://schemas.openxmlformats.org/drawingml/2006/main">
              <a:ext uri="{FF2B5EF4-FFF2-40B4-BE49-F238E27FC236}">
                <a16:creationId xmlns:a16="http://schemas.microsoft.com/office/drawing/2014/main" id="{0B2F4F11-DF29-4E9C-BF69-0BFF6D3E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43025"/>
            <a:ext cx="22288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COMPONENT</a:t>
            </a:r>
          </a:p>
        </p:txBody>
      </p:sp>
      <p:sp>
        <p:nvSpPr>
          <p:cNvPr id="6" name="m0-text-67">
            <a:extLst xmlns:a="http://schemas.openxmlformats.org/drawingml/2006/main">
              <a:ext uri="{FF2B5EF4-FFF2-40B4-BE49-F238E27FC236}">
                <a16:creationId xmlns:a16="http://schemas.microsoft.com/office/drawing/2014/main" id="{05318C24-CD85-4A9A-AA49-194CDFE2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43025"/>
            <a:ext cx="419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PURPOSE</a:t>
            </a:r>
          </a:p>
        </p:txBody>
      </p:sp>
      <p:sp>
        <p:nvSpPr>
          <p:cNvPr id="7" name="m0-text-68">
            <a:extLst xmlns:a="http://schemas.openxmlformats.org/drawingml/2006/main">
              <a:ext uri="{FF2B5EF4-FFF2-40B4-BE49-F238E27FC236}">
                <a16:creationId xmlns:a16="http://schemas.microsoft.com/office/drawing/2014/main" id="{705D7579-6E77-4331-ADD4-C7D6F026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43025"/>
            <a:ext cx="11620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RESOURCE</a:t>
            </a:r>
          </a:p>
        </p:txBody>
      </p:sp>
      <p:sp>
        <p:nvSpPr>
          <p:cNvPr id="8" name="m0-text-69">
            <a:extLst xmlns:a="http://schemas.openxmlformats.org/drawingml/2006/main">
              <a:ext uri="{FF2B5EF4-FFF2-40B4-BE49-F238E27FC236}">
                <a16:creationId xmlns:a16="http://schemas.microsoft.com/office/drawing/2014/main" id="{CD71DE79-0052-4D5A-B3AB-3CFCF27D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859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VS Code</a:t>
            </a:r>
          </a:p>
        </p:txBody>
      </p:sp>
      <p:sp>
        <p:nvSpPr>
          <p:cNvPr id="9" name="m0-text-70">
            <a:extLst xmlns:a="http://schemas.openxmlformats.org/drawingml/2006/main">
              <a:ext uri="{FF2B5EF4-FFF2-40B4-BE49-F238E27FC236}">
                <a16:creationId xmlns:a16="http://schemas.microsoft.com/office/drawing/2014/main" id="{07217197-0EA6-47CA-AA41-1C500222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954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IDE and notebook editor</a:t>
            </a:r>
          </a:p>
        </p:txBody>
      </p:sp>
      <p:sp>
        <p:nvSpPr>
          <p:cNvPr id="10" name="m0-text-71">
            <a:extLst xmlns:a="http://schemas.openxmlformats.org/drawingml/2006/main">
              <a:ext uri="{FF2B5EF4-FFF2-40B4-BE49-F238E27FC236}">
                <a16:creationId xmlns:a16="http://schemas.microsoft.com/office/drawing/2014/main" id="{C57C677A-7308-4F7D-829F-A1F1B476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954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43b204f351d4fbe"/>
              </a:rPr>
              <a:t>Open</a:t>
            </a:r>
          </a:p>
        </p:txBody>
      </p:sp>
      <p:sp>
        <p:nvSpPr>
          <p:cNvPr id="11" name="m0-text-72">
            <a:extLst xmlns:a="http://schemas.openxmlformats.org/drawingml/2006/main">
              <a:ext uri="{FF2B5EF4-FFF2-40B4-BE49-F238E27FC236}">
                <a16:creationId xmlns:a16="http://schemas.microsoft.com/office/drawing/2014/main" id="{2298AEB2-9168-4D0E-AF0C-BCE867E6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288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Python</a:t>
            </a:r>
          </a:p>
        </p:txBody>
      </p:sp>
      <p:sp>
        <p:nvSpPr>
          <p:cNvPr id="12" name="m0-text-73">
            <a:extLst xmlns:a="http://schemas.openxmlformats.org/drawingml/2006/main">
              <a:ext uri="{FF2B5EF4-FFF2-40B4-BE49-F238E27FC236}">
                <a16:creationId xmlns:a16="http://schemas.microsoft.com/office/drawing/2014/main" id="{A51676D4-D327-4ED6-9C3C-784118F5B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383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Runtime for all course code</a:t>
            </a:r>
          </a:p>
        </p:txBody>
      </p:sp>
      <p:sp>
        <p:nvSpPr>
          <p:cNvPr id="13" name="m0-text-74">
            <a:extLst xmlns:a="http://schemas.openxmlformats.org/drawingml/2006/main">
              <a:ext uri="{FF2B5EF4-FFF2-40B4-BE49-F238E27FC236}">
                <a16:creationId xmlns:a16="http://schemas.microsoft.com/office/drawing/2014/main" id="{D4E3886C-FD2F-4AD3-8F16-744BD195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ab9d6cc002f48d7"/>
              </a:rPr>
              <a:t>Open</a:t>
            </a:r>
          </a:p>
        </p:txBody>
      </p:sp>
      <p:sp>
        <p:nvSpPr>
          <p:cNvPr id="14" name="m0-text-75">
            <a:extLst xmlns:a="http://schemas.openxmlformats.org/drawingml/2006/main">
              <a:ext uri="{FF2B5EF4-FFF2-40B4-BE49-F238E27FC236}">
                <a16:creationId xmlns:a16="http://schemas.microsoft.com/office/drawing/2014/main" id="{CF6FC653-3893-4443-BABC-3014BC9C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717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VS Code extensions</a:t>
            </a:r>
          </a:p>
        </p:txBody>
      </p:sp>
      <p:sp>
        <p:nvSpPr>
          <p:cNvPr id="15" name="m0-text-76">
            <a:extLst xmlns:a="http://schemas.openxmlformats.org/drawingml/2006/main">
              <a:ext uri="{FF2B5EF4-FFF2-40B4-BE49-F238E27FC236}">
                <a16:creationId xmlns:a16="http://schemas.microsoft.com/office/drawing/2014/main" id="{91878517-3718-4BED-B371-BBEA2BC71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3812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Python and Jupyter support</a:t>
            </a:r>
          </a:p>
        </p:txBody>
      </p:sp>
      <p:sp>
        <p:nvSpPr>
          <p:cNvPr id="16" name="m0-text-77">
            <a:extLst xmlns:a="http://schemas.openxmlformats.org/drawingml/2006/main">
              <a:ext uri="{FF2B5EF4-FFF2-40B4-BE49-F238E27FC236}">
                <a16:creationId xmlns:a16="http://schemas.microsoft.com/office/drawing/2014/main" id="{C4161552-4DB1-4C3E-AA5D-486B0D1A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812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9fa453ccbc14b91"/>
              </a:rPr>
              <a:t>Open</a:t>
            </a:r>
          </a:p>
        </p:txBody>
      </p:sp>
      <p:sp>
        <p:nvSpPr>
          <p:cNvPr id="17" name="m0-text-78">
            <a:extLst xmlns:a="http://schemas.openxmlformats.org/drawingml/2006/main">
              <a:ext uri="{FF2B5EF4-FFF2-40B4-BE49-F238E27FC236}">
                <a16:creationId xmlns:a16="http://schemas.microsoft.com/office/drawing/2014/main" id="{C750EF3B-6535-45D8-9069-A193F567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146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Provider SDKs</a:t>
            </a:r>
          </a:p>
        </p:txBody>
      </p:sp>
      <p:sp>
        <p:nvSpPr>
          <p:cNvPr id="18" name="m0-text-79">
            <a:extLst xmlns:a="http://schemas.openxmlformats.org/drawingml/2006/main">
              <a:ext uri="{FF2B5EF4-FFF2-40B4-BE49-F238E27FC236}">
                <a16:creationId xmlns:a16="http://schemas.microsoft.com/office/drawing/2014/main" id="{F8B6EA45-E550-45C3-B74F-1A325497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7241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Python clients for model providers</a:t>
            </a:r>
          </a:p>
        </p:txBody>
      </p:sp>
      <p:sp>
        <p:nvSpPr>
          <p:cNvPr id="19" name="m0-text-80">
            <a:extLst xmlns:a="http://schemas.openxmlformats.org/drawingml/2006/main">
              <a:ext uri="{FF2B5EF4-FFF2-40B4-BE49-F238E27FC236}">
                <a16:creationId xmlns:a16="http://schemas.microsoft.com/office/drawing/2014/main" id="{D9364FE2-65E9-4AD6-93D5-5D3A0290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373633af5e44812"/>
              </a:rPr>
              <a:t>Open</a:t>
            </a:r>
          </a:p>
        </p:txBody>
      </p:sp>
      <p:sp>
        <p:nvSpPr>
          <p:cNvPr id="20" name="m0-text-81">
            <a:extLst xmlns:a="http://schemas.openxmlformats.org/drawingml/2006/main">
              <a:ext uri="{FF2B5EF4-FFF2-40B4-BE49-F238E27FC236}">
                <a16:creationId xmlns:a16="http://schemas.microsoft.com/office/drawing/2014/main" id="{D15A11D8-3CF6-4275-A189-23AB05FD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575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LangChain</a:t>
            </a:r>
          </a:p>
        </p:txBody>
      </p:sp>
      <p:sp>
        <p:nvSpPr>
          <p:cNvPr id="21" name="m0-text-82">
            <a:extLst xmlns:a="http://schemas.openxmlformats.org/drawingml/2006/main">
              <a:ext uri="{FF2B5EF4-FFF2-40B4-BE49-F238E27FC236}">
                <a16:creationId xmlns:a16="http://schemas.microsoft.com/office/drawing/2014/main" id="{11551839-9BD9-4D1B-8C67-FB258424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0670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interfaces and prompt workflows</a:t>
            </a:r>
          </a:p>
        </p:txBody>
      </p:sp>
      <p:sp>
        <p:nvSpPr>
          <p:cNvPr id="22" name="m0-text-83">
            <a:extLst xmlns:a="http://schemas.openxmlformats.org/drawingml/2006/main">
              <a:ext uri="{FF2B5EF4-FFF2-40B4-BE49-F238E27FC236}">
                <a16:creationId xmlns:a16="http://schemas.microsoft.com/office/drawing/2014/main" id="{69BC3D4A-8817-43F2-8504-AC2C1AAB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6761dae68ca4145"/>
              </a:rPr>
              <a:t>Open</a:t>
            </a:r>
          </a:p>
        </p:txBody>
      </p:sp>
      <p:sp>
        <p:nvSpPr>
          <p:cNvPr id="23" name="m0-text-84">
            <a:extLst xmlns:a="http://schemas.openxmlformats.org/drawingml/2006/main">
              <a:ext uri="{FF2B5EF4-FFF2-40B4-BE49-F238E27FC236}">
                <a16:creationId xmlns:a16="http://schemas.microsoft.com/office/drawing/2014/main" id="{FF0804A8-6025-442C-ADAB-6532A73A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04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LangGraph</a:t>
            </a:r>
          </a:p>
        </p:txBody>
      </p:sp>
      <p:sp>
        <p:nvSpPr>
          <p:cNvPr id="24" name="m0-text-85">
            <a:extLst xmlns:a="http://schemas.openxmlformats.org/drawingml/2006/main">
              <a:ext uri="{FF2B5EF4-FFF2-40B4-BE49-F238E27FC236}">
                <a16:creationId xmlns:a16="http://schemas.microsoft.com/office/drawing/2014/main" id="{331D57FA-8375-4A82-80C5-8083A8F6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099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 and agent orchestration</a:t>
            </a:r>
          </a:p>
        </p:txBody>
      </p:sp>
      <p:sp>
        <p:nvSpPr>
          <p:cNvPr id="25" name="m0-text-86">
            <a:extLst xmlns:a="http://schemas.openxmlformats.org/drawingml/2006/main">
              <a:ext uri="{FF2B5EF4-FFF2-40B4-BE49-F238E27FC236}">
                <a16:creationId xmlns:a16="http://schemas.microsoft.com/office/drawing/2014/main" id="{A1B76245-B137-47AF-9D75-AA1E375D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099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5a385addbf54c9a"/>
              </a:rPr>
              <a:t>Open</a:t>
            </a:r>
          </a:p>
        </p:txBody>
      </p:sp>
      <p:sp>
        <p:nvSpPr>
          <p:cNvPr id="26" name="m0-text-87">
            <a:extLst xmlns:a="http://schemas.openxmlformats.org/drawingml/2006/main">
              <a:ext uri="{FF2B5EF4-FFF2-40B4-BE49-F238E27FC236}">
                <a16:creationId xmlns:a16="http://schemas.microsoft.com/office/drawing/2014/main" id="{13394075-B9B0-4911-8B10-74D5FD70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433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Pydantic</a:t>
            </a:r>
          </a:p>
        </p:txBody>
      </p:sp>
      <p:sp>
        <p:nvSpPr>
          <p:cNvPr id="27" name="m0-text-88">
            <a:extLst xmlns:a="http://schemas.openxmlformats.org/drawingml/2006/main">
              <a:ext uri="{FF2B5EF4-FFF2-40B4-BE49-F238E27FC236}">
                <a16:creationId xmlns:a16="http://schemas.microsoft.com/office/drawing/2014/main" id="{FB8BFCBE-D10D-4179-AA09-B4FF789E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7528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data and response validation</a:t>
            </a:r>
          </a:p>
        </p:txBody>
      </p:sp>
      <p:sp>
        <p:nvSpPr>
          <p:cNvPr id="28" name="m0-text-89">
            <a:extLst xmlns:a="http://schemas.openxmlformats.org/drawingml/2006/main">
              <a:ext uri="{FF2B5EF4-FFF2-40B4-BE49-F238E27FC236}">
                <a16:creationId xmlns:a16="http://schemas.microsoft.com/office/drawing/2014/main" id="{648B5AFE-4CE6-4019-B2D5-AAA9AC92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528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4a6c1f6bc9fc4728"/>
              </a:rPr>
              <a:t>Open</a:t>
            </a:r>
          </a:p>
        </p:txBody>
      </p:sp>
      <p:sp>
        <p:nvSpPr>
          <p:cNvPr id="29" name="m0-text-90">
            <a:extLst xmlns:a="http://schemas.openxmlformats.org/drawingml/2006/main">
              <a:ext uri="{FF2B5EF4-FFF2-40B4-BE49-F238E27FC236}">
                <a16:creationId xmlns:a16="http://schemas.microsoft.com/office/drawing/2014/main" id="{CFA39B00-2638-47DB-BB1E-A8AF3C63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862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FastAPI</a:t>
            </a:r>
          </a:p>
        </p:txBody>
      </p:sp>
      <p:sp>
        <p:nvSpPr>
          <p:cNvPr id="30" name="m0-text-91">
            <a:extLst xmlns:a="http://schemas.openxmlformats.org/drawingml/2006/main">
              <a:ext uri="{FF2B5EF4-FFF2-40B4-BE49-F238E27FC236}">
                <a16:creationId xmlns:a16="http://schemas.microsoft.com/office/drawing/2014/main" id="{70FAD248-46E6-4805-8EFC-D6485E31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957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API between the avatar and the agent</a:t>
            </a:r>
          </a:p>
        </p:txBody>
      </p:sp>
      <p:sp>
        <p:nvSpPr>
          <p:cNvPr id="31" name="m0-text-92">
            <a:extLst xmlns:a="http://schemas.openxmlformats.org/drawingml/2006/main">
              <a:ext uri="{FF2B5EF4-FFF2-40B4-BE49-F238E27FC236}">
                <a16:creationId xmlns:a16="http://schemas.microsoft.com/office/drawing/2014/main" id="{46369D98-A889-4428-B391-EDCBD51F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e128e56479447b0"/>
              </a:rPr>
              <a:t>Open</a:t>
            </a:r>
          </a:p>
        </p:txBody>
      </p:sp>
      <p:sp>
        <p:nvSpPr>
          <p:cNvPr id="32" name="m0-text-93">
            <a:extLst xmlns:a="http://schemas.openxmlformats.org/drawingml/2006/main">
              <a:ext uri="{FF2B5EF4-FFF2-40B4-BE49-F238E27FC236}">
                <a16:creationId xmlns:a16="http://schemas.microsoft.com/office/drawing/2014/main" id="{91F0E73E-570B-494A-AA36-E52BC872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29125"/>
            <a:ext cx="2228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5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Ollama</a:t>
            </a:r>
          </a:p>
        </p:txBody>
      </p:sp>
      <p:sp>
        <p:nvSpPr>
          <p:cNvPr id="33" name="m0-text-94">
            <a:extLst xmlns:a="http://schemas.openxmlformats.org/drawingml/2006/main">
              <a:ext uri="{FF2B5EF4-FFF2-40B4-BE49-F238E27FC236}">
                <a16:creationId xmlns:a16="http://schemas.microsoft.com/office/drawing/2014/main" id="{B322FBA5-88D5-470A-94E2-304DD662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386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Local model server</a:t>
            </a:r>
          </a:p>
        </p:txBody>
      </p:sp>
      <p:sp>
        <p:nvSpPr>
          <p:cNvPr id="34" name="m0-text-95">
            <a:extLst xmlns:a="http://schemas.openxmlformats.org/drawingml/2006/main">
              <a:ext uri="{FF2B5EF4-FFF2-40B4-BE49-F238E27FC236}">
                <a16:creationId xmlns:a16="http://schemas.microsoft.com/office/drawing/2014/main" id="{D681AD97-8D9D-4056-AD1B-7F6FB1A3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386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cd858a87d7c4a9b"/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47825053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96">
            <a:extLst xmlns:a="http://schemas.openxmlformats.org/drawingml/2006/main">
              <a:ext uri="{FF2B5EF4-FFF2-40B4-BE49-F238E27FC236}">
                <a16:creationId xmlns:a16="http://schemas.microsoft.com/office/drawing/2014/main" id="{F2904323-4311-4E9D-AA44-FF5ACA81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97">
            <a:extLst xmlns:a="http://schemas.openxmlformats.org/drawingml/2006/main">
              <a:ext uri="{FF2B5EF4-FFF2-40B4-BE49-F238E27FC236}">
                <a16:creationId xmlns:a16="http://schemas.microsoft.com/office/drawing/2014/main" id="{D7616E4B-1EB8-4AA1-AA68-793BF06F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98">
            <a:extLst xmlns:a="http://schemas.openxmlformats.org/drawingml/2006/main">
              <a:ext uri="{FF2B5EF4-FFF2-40B4-BE49-F238E27FC236}">
                <a16:creationId xmlns:a16="http://schemas.microsoft.com/office/drawing/2014/main" id="{0EFCF248-74E4-4220-B083-894D2C95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4" name="m0-text-99">
            <a:extLst xmlns:a="http://schemas.openxmlformats.org/drawingml/2006/main">
              <a:ext uri="{FF2B5EF4-FFF2-40B4-BE49-F238E27FC236}">
                <a16:creationId xmlns:a16="http://schemas.microsoft.com/office/drawing/2014/main" id="{E404D635-CDC7-41E7-A65D-5B2C5AFD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1. Download the Course Project</a:t>
            </a:r>
          </a:p>
        </p:txBody>
      </p:sp>
      <p:sp>
        <p:nvSpPr>
          <p:cNvPr id="5" name="m0-text-100">
            <a:extLst xmlns:a="http://schemas.openxmlformats.org/drawingml/2006/main">
              <a:ext uri="{FF2B5EF4-FFF2-40B4-BE49-F238E27FC236}">
                <a16:creationId xmlns:a16="http://schemas.microsoft.com/office/drawing/2014/main" id="{59433E6B-5D3D-45BC-AF18-70A5C34A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76375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f12b4e44ec448a"/>
              </a:rPr>
              <a:t>Open the course repository on GitHub.</a:t>
            </a:r>
          </a:p>
        </p:txBody>
      </p:sp>
      <p:sp>
        <p:nvSpPr>
          <p:cNvPr id="6" name="m0-text-101">
            <a:extLst xmlns:a="http://schemas.openxmlformats.org/drawingml/2006/main">
              <a:ext uri="{FF2B5EF4-FFF2-40B4-BE49-F238E27FC236}">
                <a16:creationId xmlns:a16="http://schemas.microsoft.com/office/drawing/2014/main" id="{EA30F539-0849-47B8-8E1F-7A7AC215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8229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Code &gt; Download ZIP, then extract the archive.</a:t>
            </a:r>
          </a:p>
        </p:txBody>
      </p:sp>
      <p:sp>
        <p:nvSpPr>
          <p:cNvPr id="7" name="m0-text-102">
            <a:extLst xmlns:a="http://schemas.openxmlformats.org/drawingml/2006/main">
              <a:ext uri="{FF2B5EF4-FFF2-40B4-BE49-F238E27FC236}">
                <a16:creationId xmlns:a16="http://schemas.microsoft.com/office/drawing/2014/main" id="{CE5D46A8-3C79-45CB-AECF-3BF6CACA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D9A06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virtual_human_course/</a:t>
            </a:r>
          </a:p>
        </p:txBody>
      </p:sp>
      <p:sp>
        <p:nvSpPr>
          <p:cNvPr id="8" name="m0-text-103">
            <a:extLst xmlns:a="http://schemas.openxmlformats.org/drawingml/2006/main">
              <a:ext uri="{FF2B5EF4-FFF2-40B4-BE49-F238E27FC236}">
                <a16:creationId xmlns:a16="http://schemas.microsoft.com/office/drawing/2014/main" id="{82FB0F71-FF05-4913-BAB0-D700E6C2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38525"/>
            <a:ext cx="371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Slides, notebooks and course requirements.</a:t>
            </a:r>
          </a:p>
        </p:txBody>
      </p:sp>
      <p:sp>
        <p:nvSpPr>
          <p:cNvPr id="9" name="m0-text-104">
            <a:extLst xmlns:a="http://schemas.openxmlformats.org/drawingml/2006/main">
              <a:ext uri="{FF2B5EF4-FFF2-40B4-BE49-F238E27FC236}">
                <a16:creationId xmlns:a16="http://schemas.microsoft.com/office/drawing/2014/main" id="{87F05F54-0596-466F-AC5C-A145CD5D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952750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D9A06B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virtual_human_project/</a:t>
            </a:r>
          </a:p>
        </p:txBody>
      </p:sp>
      <p:sp>
        <p:nvSpPr>
          <p:cNvPr id="10" name="m0-text-105">
            <a:extLst xmlns:a="http://schemas.openxmlformats.org/drawingml/2006/main">
              <a:ext uri="{FF2B5EF4-FFF2-40B4-BE49-F238E27FC236}">
                <a16:creationId xmlns:a16="http://schemas.microsoft.com/office/drawing/2014/main" id="{A7551A85-C748-4734-A95B-1037ACF0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38525"/>
            <a:ext cx="3886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Avatar, cognitive server and installers.</a:t>
            </a:r>
          </a:p>
        </p:txBody>
      </p:sp>
      <p:sp>
        <p:nvSpPr>
          <p:cNvPr id="11" name="m0-text-106">
            <a:extLst xmlns:a="http://schemas.openxmlformats.org/drawingml/2006/main">
              <a:ext uri="{FF2B5EF4-FFF2-40B4-BE49-F238E27FC236}">
                <a16:creationId xmlns:a16="http://schemas.microsoft.com/office/drawing/2014/main" id="{4FFE2A21-045B-482B-AFEB-EC5BD664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Keep both folders together in the extracted repository.</a:t>
            </a:r>
          </a:p>
        </p:txBody>
      </p:sp>
    </p:spTree>
    <p:extLst>
      <p:ext uri="{BB962C8B-B14F-4D97-AF65-F5344CB8AC3E}">
        <p14:creationId xmlns:p14="http://schemas.microsoft.com/office/powerpoint/2010/main" val="15386127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m0-text-107">
            <a:extLst xmlns:a="http://schemas.openxmlformats.org/drawingml/2006/main">
              <a:ext uri="{FF2B5EF4-FFF2-40B4-BE49-F238E27FC236}">
                <a16:creationId xmlns:a16="http://schemas.microsoft.com/office/drawing/2014/main" id="{CF5D3A90-F4CD-4E25-A14B-B9031534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08">
            <a:extLst xmlns:a="http://schemas.openxmlformats.org/drawingml/2006/main">
              <a:ext uri="{FF2B5EF4-FFF2-40B4-BE49-F238E27FC236}">
                <a16:creationId xmlns:a16="http://schemas.microsoft.com/office/drawing/2014/main" id="{BB2649AC-3731-469C-919A-32E35E04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09">
            <a:extLst xmlns:a="http://schemas.openxmlformats.org/drawingml/2006/main">
              <a:ext uri="{FF2B5EF4-FFF2-40B4-BE49-F238E27FC236}">
                <a16:creationId xmlns:a16="http://schemas.microsoft.com/office/drawing/2014/main" id="{483C42A4-99A0-4950-80F1-B83491C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4" name="m0-text-110">
            <a:extLst xmlns:a="http://schemas.openxmlformats.org/drawingml/2006/main">
              <a:ext uri="{FF2B5EF4-FFF2-40B4-BE49-F238E27FC236}">
                <a16:creationId xmlns:a16="http://schemas.microsoft.com/office/drawing/2014/main" id="{D09E822B-F3EB-4E5D-9EFB-71BF1F83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2. Install VS Code and Extensions</a:t>
            </a:r>
          </a:p>
        </p:txBody>
      </p:sp>
      <p:sp>
        <p:nvSpPr>
          <p:cNvPr id="5" name="m0-text-111">
            <a:extLst xmlns:a="http://schemas.openxmlformats.org/drawingml/2006/main">
              <a:ext uri="{FF2B5EF4-FFF2-40B4-BE49-F238E27FC236}">
                <a16:creationId xmlns:a16="http://schemas.microsoft.com/office/drawing/2014/main" id="{6524A8B7-AB90-4F5A-A1B3-D82C6B64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95425"/>
            <a:ext cx="8229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Visual Studio Code, then open Extensions.</a:t>
            </a:r>
          </a:p>
        </p:txBody>
      </p:sp>
      <p:sp>
        <p:nvSpPr>
          <p:cNvPr id="6" name="m0-text-112">
            <a:extLst xmlns:a="http://schemas.openxmlformats.org/drawingml/2006/main">
              <a:ext uri="{FF2B5EF4-FFF2-40B4-BE49-F238E27FC236}">
                <a16:creationId xmlns:a16="http://schemas.microsoft.com/office/drawing/2014/main" id="{9AFCA616-F29B-4B1E-9B39-5DF69D89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8597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the Extensions icon or Ctrl+Shift+X.</a:t>
            </a:r>
          </a:p>
        </p:txBody>
      </p:sp>
      <p:sp>
        <p:nvSpPr>
          <p:cNvPr id="7" name="m0-text-113">
            <a:extLst xmlns:a="http://schemas.openxmlformats.org/drawingml/2006/main">
              <a:ext uri="{FF2B5EF4-FFF2-40B4-BE49-F238E27FC236}">
                <a16:creationId xmlns:a16="http://schemas.microsoft.com/office/drawing/2014/main" id="{5B2D4399-1815-4176-BEC8-72678841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5272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both Microsoft extensions:</a:t>
            </a:r>
          </a:p>
        </p:txBody>
      </p:sp>
      <p:sp>
        <p:nvSpPr>
          <p:cNvPr id="8" name="m0-text-114">
            <a:extLst xmlns:a="http://schemas.openxmlformats.org/drawingml/2006/main">
              <a:ext uri="{FF2B5EF4-FFF2-40B4-BE49-F238E27FC236}">
                <a16:creationId xmlns:a16="http://schemas.microsoft.com/office/drawing/2014/main" id="{983F0672-F2EB-45AA-91A9-705500CBA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D9A06B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1695a4ce9ce4592"/>
              </a:rPr>
              <a:t>Python</a:t>
            </a:r>
          </a:p>
        </p:txBody>
      </p:sp>
      <p:sp>
        <p:nvSpPr>
          <p:cNvPr id="9" name="m0-text-115">
            <a:extLst xmlns:a="http://schemas.openxmlformats.org/drawingml/2006/main">
              <a:ext uri="{FF2B5EF4-FFF2-40B4-BE49-F238E27FC236}">
                <a16:creationId xmlns:a16="http://schemas.microsoft.com/office/drawing/2014/main" id="{7965AE7C-8C8D-4D25-B390-3AD5A7EA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3375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D9A06B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339388eec4f483b"/>
              </a:rPr>
              <a:t>Jupyter</a:t>
            </a:r>
          </a:p>
        </p:txBody>
      </p:sp>
      <p:sp>
        <p:nvSpPr>
          <p:cNvPr id="10" name="m0-text-116">
            <a:extLst xmlns:a="http://schemas.openxmlformats.org/drawingml/2006/main">
              <a:ext uri="{FF2B5EF4-FFF2-40B4-BE49-F238E27FC236}">
                <a16:creationId xmlns:a16="http://schemas.microsoft.com/office/drawing/2014/main" id="{E6BB238A-17CA-4481-9EE1-E8EA95BD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195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 Python code and choose interpreters.</a:t>
            </a:r>
          </a:p>
        </p:txBody>
      </p:sp>
      <p:sp>
        <p:nvSpPr>
          <p:cNvPr id="11" name="m0-text-117">
            <a:extLst xmlns:a="http://schemas.openxmlformats.org/drawingml/2006/main">
              <a:ext uri="{FF2B5EF4-FFF2-40B4-BE49-F238E27FC236}">
                <a16:creationId xmlns:a16="http://schemas.microsoft.com/office/drawing/2014/main" id="{FFF0B3B5-77F8-4240-9B56-4C93EDE7C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19525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and run .ipynb notebooks.</a:t>
            </a:r>
          </a:p>
        </p:txBody>
      </p:sp>
      <p:sp>
        <p:nvSpPr>
          <p:cNvPr id="12" name="m0-text-118">
            <a:extLst xmlns:a="http://schemas.openxmlformats.org/drawingml/2006/main">
              <a:ext uri="{FF2B5EF4-FFF2-40B4-BE49-F238E27FC236}">
                <a16:creationId xmlns:a16="http://schemas.microsoft.com/office/drawing/2014/main" id="{31CC3609-B096-4114-8DBE-917D9173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14850"/>
            <a:ext cx="822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403623430ea4e19"/>
              </a:rPr>
              <a:t>Download VS Code</a:t>
            </a:r>
          </a:p>
        </p:txBody>
      </p:sp>
    </p:spTree>
    <p:extLst>
      <p:ext uri="{BB962C8B-B14F-4D97-AF65-F5344CB8AC3E}">
        <p14:creationId xmlns:p14="http://schemas.microsoft.com/office/powerpoint/2010/main" val="43293019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m0-text-119">
            <a:extLst xmlns:a="http://schemas.openxmlformats.org/drawingml/2006/main">
              <a:ext uri="{FF2B5EF4-FFF2-40B4-BE49-F238E27FC236}">
                <a16:creationId xmlns:a16="http://schemas.microsoft.com/office/drawing/2014/main" id="{FD6A6678-A279-445C-96C0-31890C46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20">
            <a:extLst xmlns:a="http://schemas.openxmlformats.org/drawingml/2006/main">
              <a:ext uri="{FF2B5EF4-FFF2-40B4-BE49-F238E27FC236}">
                <a16:creationId xmlns:a16="http://schemas.microsoft.com/office/drawing/2014/main" id="{7A232113-AB1F-4FB4-848C-A1E126A2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21">
            <a:extLst xmlns:a="http://schemas.openxmlformats.org/drawingml/2006/main">
              <a:ext uri="{FF2B5EF4-FFF2-40B4-BE49-F238E27FC236}">
                <a16:creationId xmlns:a16="http://schemas.microsoft.com/office/drawing/2014/main" id="{703A250B-9522-4EB2-B714-F20B7072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4" name="m0-text-122">
            <a:extLst xmlns:a="http://schemas.openxmlformats.org/drawingml/2006/main">
              <a:ext uri="{FF2B5EF4-FFF2-40B4-BE49-F238E27FC236}">
                <a16:creationId xmlns:a16="http://schemas.microsoft.com/office/drawing/2014/main" id="{02026BFC-7196-42A3-8D37-F773DB0A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3. Install the Virtual Human</a:t>
            </a:r>
          </a:p>
        </p:txBody>
      </p:sp>
      <p:sp>
        <p:nvSpPr>
          <p:cNvPr id="5" name="m0-text-123">
            <a:extLst xmlns:a="http://schemas.openxmlformats.org/drawingml/2006/main">
              <a:ext uri="{FF2B5EF4-FFF2-40B4-BE49-F238E27FC236}">
                <a16:creationId xmlns:a16="http://schemas.microsoft.com/office/drawing/2014/main" id="{85A1FD1E-35F5-4D29-BFB3-2DC00A66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8229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2d8272a43c40f8"/>
              </a:rPr>
              <a:t>Follow the Installation guide for your computer.</a:t>
            </a:r>
          </a:p>
        </p:txBody>
      </p:sp>
      <p:sp>
        <p:nvSpPr>
          <p:cNvPr id="6" name="m0-text-124">
            <a:extLst xmlns:a="http://schemas.openxmlformats.org/drawingml/2006/main">
              <a:ext uri="{FF2B5EF4-FFF2-40B4-BE49-F238E27FC236}">
                <a16:creationId xmlns:a16="http://schemas.microsoft.com/office/drawing/2014/main" id="{11CE6BD3-26CC-4982-963A-E4EAB1D2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installer inside virtual_human_project.</a:t>
            </a:r>
          </a:p>
        </p:txBody>
      </p:sp>
      <p:sp>
        <p:nvSpPr>
          <p:cNvPr id="7" name="m0-text-125">
            <a:extLst xmlns:a="http://schemas.openxmlformats.org/drawingml/2006/main">
              <a:ext uri="{FF2B5EF4-FFF2-40B4-BE49-F238E27FC236}">
                <a16:creationId xmlns:a16="http://schemas.microsoft.com/office/drawing/2014/main" id="{F7EEBD3E-69C9-4DC9-80FF-56C451C6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3367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9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Windows</a:t>
            </a:r>
          </a:p>
        </p:txBody>
      </p:sp>
      <p:sp>
        <p:nvSpPr>
          <p:cNvPr id="8" name="m0-text-126">
            <a:extLst xmlns:a="http://schemas.openxmlformats.org/drawingml/2006/main">
              <a:ext uri="{FF2B5EF4-FFF2-40B4-BE49-F238E27FC236}">
                <a16:creationId xmlns:a16="http://schemas.microsoft.com/office/drawing/2014/main" id="{6C20B19B-FF91-43B7-A7B3-8A712DF4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67075"/>
            <a:ext cx="3886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VirtualHuman-Setup.exe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Enable NVIDIA options only if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setup detects a compatible GPU.</a:t>
            </a:r>
          </a:p>
        </p:txBody>
      </p:sp>
      <p:sp>
        <p:nvSpPr>
          <p:cNvPr id="9" name="m0-text-127">
            <a:extLst xmlns:a="http://schemas.openxmlformats.org/drawingml/2006/main">
              <a:ext uri="{FF2B5EF4-FFF2-40B4-BE49-F238E27FC236}">
                <a16:creationId xmlns:a16="http://schemas.microsoft.com/office/drawing/2014/main" id="{63105ACA-FD2E-403F-BF65-4DCFDFEB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33675"/>
            <a:ext cx="3886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95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Mac</a:t>
            </a:r>
          </a:p>
        </p:txBody>
      </p:sp>
      <p:sp>
        <p:nvSpPr>
          <p:cNvPr id="10" name="m0-text-128">
            <a:extLst xmlns:a="http://schemas.openxmlformats.org/drawingml/2006/main">
              <a:ext uri="{FF2B5EF4-FFF2-40B4-BE49-F238E27FC236}">
                <a16:creationId xmlns:a16="http://schemas.microsoft.com/office/drawing/2014/main" id="{32700666-477F-43CD-909F-2DF4C735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67075"/>
            <a:ext cx="3886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Virtual Human.app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CPU only; no GPU acceleration.</a:t>
            </a:r>
          </a:p>
        </p:txBody>
      </p:sp>
      <p:sp>
        <p:nvSpPr>
          <p:cNvPr id="11" name="m0-text-129">
            <a:extLst xmlns:a="http://schemas.openxmlformats.org/drawingml/2006/main">
              <a:ext uri="{FF2B5EF4-FFF2-40B4-BE49-F238E27FC236}">
                <a16:creationId xmlns:a16="http://schemas.microsoft.com/office/drawing/2014/main" id="{9B03D89B-5194-4B3E-BA58-94C62A7C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Click Install. Setup prepares Python, dependencies and speech models.</a:t>
            </a:r>
          </a:p>
        </p:txBody>
      </p:sp>
    </p:spTree>
    <p:extLst>
      <p:ext uri="{BB962C8B-B14F-4D97-AF65-F5344CB8AC3E}">
        <p14:creationId xmlns:p14="http://schemas.microsoft.com/office/powerpoint/2010/main" val="186956083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m0-text-130">
            <a:extLst xmlns:a="http://schemas.openxmlformats.org/drawingml/2006/main">
              <a:ext uri="{FF2B5EF4-FFF2-40B4-BE49-F238E27FC236}">
                <a16:creationId xmlns:a16="http://schemas.microsoft.com/office/drawing/2014/main" id="{19A35688-8D45-4307-9122-E478569D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31">
            <a:extLst xmlns:a="http://schemas.openxmlformats.org/drawingml/2006/main">
              <a:ext uri="{FF2B5EF4-FFF2-40B4-BE49-F238E27FC236}">
                <a16:creationId xmlns:a16="http://schemas.microsoft.com/office/drawing/2014/main" id="{CE8DD8D7-B087-47DD-911B-60B788D5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32">
            <a:extLst xmlns:a="http://schemas.openxmlformats.org/drawingml/2006/main">
              <a:ext uri="{FF2B5EF4-FFF2-40B4-BE49-F238E27FC236}">
                <a16:creationId xmlns:a16="http://schemas.microsoft.com/office/drawing/2014/main" id="{DB7A46E8-D89E-4DE9-9EB3-89F83DF1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4" name="m0-text-133">
            <a:extLst xmlns:a="http://schemas.openxmlformats.org/drawingml/2006/main">
              <a:ext uri="{FF2B5EF4-FFF2-40B4-BE49-F238E27FC236}">
                <a16:creationId xmlns:a16="http://schemas.microsoft.com/office/drawing/2014/main" id="{A454E6A1-EDC1-4BF1-9654-634BCE4B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4. Launch and Test the Avatar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6262785de04664"/>
          <a:stretch xmlns:a="http://schemas.openxmlformats.org/drawingml/2006/main"/>
        </p:blipFill>
        <p:spPr>
          <a:xfrm xmlns:a="http://schemas.openxmlformats.org/drawingml/2006/main">
            <a:off x="762000" y="1323975"/>
            <a:ext cx="5486400" cy="3429000"/>
          </a:xfrm>
          <a:prstGeom xmlns:a="http://schemas.openxmlformats.org/drawingml/2006/main" prst="rect">
            <a:avLst/>
          </a:prstGeom>
        </p:spPr>
      </p:pic>
      <p:sp>
        <p:nvSpPr>
          <p:cNvPr id="6" name="m0-text-134">
            <a:extLst xmlns:a="http://schemas.openxmlformats.org/drawingml/2006/main">
              <a:ext uri="{FF2B5EF4-FFF2-40B4-BE49-F238E27FC236}">
                <a16:creationId xmlns:a16="http://schemas.microsoft.com/office/drawing/2014/main" id="{27BDBFDC-D148-40CC-BB9C-9C49D1BF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457325"/>
            <a:ext cx="1885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Check the result</a:t>
            </a:r>
          </a:p>
        </p:txBody>
      </p:sp>
      <p:sp>
        <p:nvSpPr>
          <p:cNvPr id="7" name="m0-text-135">
            <a:extLst xmlns:a="http://schemas.openxmlformats.org/drawingml/2006/main">
              <a:ext uri="{FF2B5EF4-FFF2-40B4-BE49-F238E27FC236}">
                <a16:creationId xmlns:a16="http://schemas.microsoft.com/office/drawing/2014/main" id="{174722C3-EC30-4F82-9A58-CE2ADEDF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66950"/>
            <a:ext cx="18859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Avatar visible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Connection green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Reply: Hello world</a:t>
            </a:r>
          </a:p>
        </p:txBody>
      </p:sp>
      <p:sp>
        <p:nvSpPr>
          <p:cNvPr id="8" name="m0-text-136">
            <a:extLst xmlns:a="http://schemas.openxmlformats.org/drawingml/2006/main">
              <a:ext uri="{FF2B5EF4-FFF2-40B4-BE49-F238E27FC236}">
                <a16:creationId xmlns:a16="http://schemas.microsoft.com/office/drawing/2014/main" id="{8716ACE9-DA57-4F06-AD79-1F078AAE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67175"/>
            <a:ext cx="1885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No API key needed.</a:t>
            </a:r>
          </a:p>
        </p:txBody>
      </p:sp>
      <p:sp>
        <p:nvSpPr>
          <p:cNvPr id="9" name="m0-text-137">
            <a:extLst xmlns:a="http://schemas.openxmlformats.org/drawingml/2006/main">
              <a:ext uri="{FF2B5EF4-FFF2-40B4-BE49-F238E27FC236}">
                <a16:creationId xmlns:a16="http://schemas.microsoft.com/office/drawing/2014/main" id="{5BFAC094-9B7D-4CFB-8638-80B6A38C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9580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68854b51d14494d"/>
              </a:rPr>
              <a:t>Agent guide</a:t>
            </a:r>
          </a:p>
        </p:txBody>
      </p:sp>
    </p:spTree>
    <p:extLst>
      <p:ext uri="{BB962C8B-B14F-4D97-AF65-F5344CB8AC3E}">
        <p14:creationId xmlns:p14="http://schemas.microsoft.com/office/powerpoint/2010/main" val="123016614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0-text-138">
            <a:extLst xmlns:a="http://schemas.openxmlformats.org/drawingml/2006/main">
              <a:ext uri="{FF2B5EF4-FFF2-40B4-BE49-F238E27FC236}">
                <a16:creationId xmlns:a16="http://schemas.microsoft.com/office/drawing/2014/main" id="{0A61ECF5-27DE-40B8-9E5C-0C3AEAC1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39">
            <a:extLst xmlns:a="http://schemas.openxmlformats.org/drawingml/2006/main">
              <a:ext uri="{FF2B5EF4-FFF2-40B4-BE49-F238E27FC236}">
                <a16:creationId xmlns:a16="http://schemas.microsoft.com/office/drawing/2014/main" id="{953CF528-761F-490C-A170-7E9F60BF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40">
            <a:extLst xmlns:a="http://schemas.openxmlformats.org/drawingml/2006/main">
              <a:ext uri="{FF2B5EF4-FFF2-40B4-BE49-F238E27FC236}">
                <a16:creationId xmlns:a16="http://schemas.microsoft.com/office/drawing/2014/main" id="{C28517C8-F958-4238-8845-4685FDB9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4" name="m0-text-141">
            <a:extLst xmlns:a="http://schemas.openxmlformats.org/drawingml/2006/main">
              <a:ext uri="{FF2B5EF4-FFF2-40B4-BE49-F238E27FC236}">
                <a16:creationId xmlns:a16="http://schemas.microsoft.com/office/drawing/2014/main" id="{52352285-6E94-4A31-8CCC-FF8074313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5. Open the Notebook and Select the Kernel</a:t>
            </a:r>
          </a:p>
        </p:txBody>
      </p:sp>
      <p:sp>
        <p:nvSpPr>
          <p:cNvPr id="5" name="m0-text-142">
            <a:extLst xmlns:a="http://schemas.openxmlformats.org/drawingml/2006/main">
              <a:ext uri="{FF2B5EF4-FFF2-40B4-BE49-F238E27FC236}">
                <a16:creationId xmlns:a16="http://schemas.microsoft.com/office/drawing/2014/main" id="{D0BFE3E4-7985-4A2A-AE90-EEF201D6C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8229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In virtual_human_course, open: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Module_0/Chapter_01/Code/00_first_call.ipynb</a:t>
            </a:r>
          </a:p>
        </p:txBody>
      </p:sp>
      <p:sp>
        <p:nvSpPr>
          <p:cNvPr id="6" name="m0-text-143">
            <a:extLst xmlns:a="http://schemas.openxmlformats.org/drawingml/2006/main">
              <a:ext uri="{FF2B5EF4-FFF2-40B4-BE49-F238E27FC236}">
                <a16:creationId xmlns:a16="http://schemas.microsoft.com/office/drawing/2014/main" id="{D776CF0F-5C5F-4CF0-A323-8496E8F8F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82296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Select Kernel: virtual_human_project/.venv-vh-course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54e3582064bc6"/>
          <a:stretch xmlns:a="http://schemas.openxmlformats.org/drawingml/2006/main"/>
        </p:blipFill>
        <p:spPr>
          <a:xfrm xmlns:a="http://schemas.openxmlformats.org/drawingml/2006/main">
            <a:off x="459033" y="2533650"/>
            <a:ext cx="8225935" cy="2266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305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m0-text-144">
            <a:extLst xmlns:a="http://schemas.openxmlformats.org/drawingml/2006/main">
              <a:ext uri="{FF2B5EF4-FFF2-40B4-BE49-F238E27FC236}">
                <a16:creationId xmlns:a16="http://schemas.microsoft.com/office/drawing/2014/main" id="{2EDFB2FC-7963-4938-87E9-E95C92D3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45">
            <a:extLst xmlns:a="http://schemas.openxmlformats.org/drawingml/2006/main">
              <a:ext uri="{FF2B5EF4-FFF2-40B4-BE49-F238E27FC236}">
                <a16:creationId xmlns:a16="http://schemas.microsoft.com/office/drawing/2014/main" id="{04E92DCF-25BA-4DBB-BE0B-08F5A2ED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46">
            <a:extLst xmlns:a="http://schemas.openxmlformats.org/drawingml/2006/main">
              <a:ext uri="{FF2B5EF4-FFF2-40B4-BE49-F238E27FC236}">
                <a16:creationId xmlns:a16="http://schemas.microsoft.com/office/drawing/2014/main" id="{78649BEB-F349-4025-A3B3-B6A8A12F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4" name="m0-text-147">
            <a:extLst xmlns:a="http://schemas.openxmlformats.org/drawingml/2006/main">
              <a:ext uri="{FF2B5EF4-FFF2-40B4-BE49-F238E27FC236}">
                <a16:creationId xmlns:a16="http://schemas.microsoft.com/office/drawing/2014/main" id="{D2722EA8-A82E-47FD-A087-3212C8CF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6. Add Your Provider Key</a:t>
            </a:r>
          </a:p>
        </p:txBody>
      </p:sp>
      <p:sp>
        <p:nvSpPr>
          <p:cNvPr id="5" name="m0-text-148">
            <a:extLst xmlns:a="http://schemas.openxmlformats.org/drawingml/2006/main">
              <a:ext uri="{FF2B5EF4-FFF2-40B4-BE49-F238E27FC236}">
                <a16:creationId xmlns:a16="http://schemas.microsoft.com/office/drawing/2014/main" id="{EA970EDA-9288-4B4B-A768-8263B14D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Create an 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ce759c907c884af1"/>
              </a:rPr>
              <a:t>Ollama API key</a:t>
            </a: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 and use it in both folders.</a:t>
            </a:r>
          </a:p>
        </p:txBody>
      </p:sp>
      <p:sp>
        <p:nvSpPr>
          <p:cNvPr id="6" name="m0-text-149">
            <a:extLst xmlns:a="http://schemas.openxmlformats.org/drawingml/2006/main">
              <a:ext uri="{FF2B5EF4-FFF2-40B4-BE49-F238E27FC236}">
                <a16:creationId xmlns:a16="http://schemas.microsoft.com/office/drawing/2014/main" id="{71874C09-9B51-44D5-A3C5-3DDF24E7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47875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For the notebook</a:t>
            </a:r>
          </a:p>
        </p:txBody>
      </p:sp>
      <p:sp>
        <p:nvSpPr>
          <p:cNvPr id="7" name="m0-text-150">
            <a:extLst xmlns:a="http://schemas.openxmlformats.org/drawingml/2006/main">
              <a:ext uri="{FF2B5EF4-FFF2-40B4-BE49-F238E27FC236}">
                <a16:creationId xmlns:a16="http://schemas.microsoft.com/office/drawing/2014/main" id="{48E15407-BFF1-436A-99A0-7CDE71E7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86025"/>
            <a:ext cx="8229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virtual_human_course/</a:t>
            </a:r>
          </a:p>
        </p:txBody>
      </p:sp>
      <p:sp>
        <p:nvSpPr>
          <p:cNvPr id="8" name="m0-text-151">
            <a:extLst xmlns:a="http://schemas.openxmlformats.org/drawingml/2006/main">
              <a:ext uri="{FF2B5EF4-FFF2-40B4-BE49-F238E27FC236}">
                <a16:creationId xmlns:a16="http://schemas.microsoft.com/office/drawing/2014/main" id="{65F0D863-169F-4004-883F-526E8636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87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For the avatar’s agent</a:t>
            </a:r>
          </a:p>
        </p:txBody>
      </p:sp>
      <p:sp>
        <p:nvSpPr>
          <p:cNvPr id="9" name="m0-text-152">
            <a:extLst xmlns:a="http://schemas.openxmlformats.org/drawingml/2006/main">
              <a:ext uri="{FF2B5EF4-FFF2-40B4-BE49-F238E27FC236}">
                <a16:creationId xmlns:a16="http://schemas.microsoft.com/office/drawing/2014/main" id="{DE9D11B3-252E-4816-972E-EFD3550C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8615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virtual_human_project/vh_cognitive_architecture_server/</a:t>
            </a:r>
          </a:p>
        </p:txBody>
      </p:sp>
      <p:sp>
        <p:nvSpPr>
          <p:cNvPr id="10" name="m0-text-153">
            <a:extLst xmlns:a="http://schemas.openxmlformats.org/drawingml/2006/main">
              <a:ext uri="{FF2B5EF4-FFF2-40B4-BE49-F238E27FC236}">
                <a16:creationId xmlns:a16="http://schemas.microsoft.com/office/drawing/2014/main" id="{C669E1A4-C7AF-494D-8863-41F63746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24325"/>
            <a:ext cx="8229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both folders, copy llm_provider_api_key.example.yaml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llm_provider_api_key.yaml. Paste your key and keep it private.</a:t>
            </a:r>
          </a:p>
        </p:txBody>
      </p:sp>
    </p:spTree>
    <p:extLst>
      <p:ext uri="{BB962C8B-B14F-4D97-AF65-F5344CB8AC3E}">
        <p14:creationId xmlns:p14="http://schemas.microsoft.com/office/powerpoint/2010/main" val="61243337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m0-text-154">
            <a:extLst xmlns:a="http://schemas.openxmlformats.org/drawingml/2006/main">
              <a:ext uri="{FF2B5EF4-FFF2-40B4-BE49-F238E27FC236}">
                <a16:creationId xmlns:a16="http://schemas.microsoft.com/office/drawing/2014/main" id="{F03864B5-B6B3-45AD-8DB3-AE2EF856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55">
            <a:extLst xmlns:a="http://schemas.openxmlformats.org/drawingml/2006/main">
              <a:ext uri="{FF2B5EF4-FFF2-40B4-BE49-F238E27FC236}">
                <a16:creationId xmlns:a16="http://schemas.microsoft.com/office/drawing/2014/main" id="{CC88E817-7E0D-4249-BFB2-ECE47AE1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56">
            <a:extLst xmlns:a="http://schemas.openxmlformats.org/drawingml/2006/main">
              <a:ext uri="{FF2B5EF4-FFF2-40B4-BE49-F238E27FC236}">
                <a16:creationId xmlns:a16="http://schemas.microsoft.com/office/drawing/2014/main" id="{D0C4C778-15E2-4CB0-80CD-550AA7DC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4" name="m0-text-157">
            <a:extLst xmlns:a="http://schemas.openxmlformats.org/drawingml/2006/main">
              <a:ext uri="{FF2B5EF4-FFF2-40B4-BE49-F238E27FC236}">
                <a16:creationId xmlns:a16="http://schemas.microsoft.com/office/drawing/2014/main" id="{CEEF288E-3169-49A9-8746-C3796D4E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Try Ollama in the Notebook</a:t>
            </a:r>
          </a:p>
        </p:txBody>
      </p:sp>
      <p:sp>
        <p:nvSpPr>
          <p:cNvPr id="5" name="m0-text-158">
            <a:extLst xmlns:a="http://schemas.openxmlformats.org/drawingml/2006/main">
              <a:ext uri="{FF2B5EF4-FFF2-40B4-BE49-F238E27FC236}">
                <a16:creationId xmlns:a16="http://schemas.microsoft.com/office/drawing/2014/main" id="{B6E59044-728D-4265-9DC7-017437FF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notebook and try a call with Ollama.</a:t>
            </a:r>
          </a:p>
        </p:txBody>
      </p:sp>
      <p:sp>
        <p:nvSpPr>
          <p:cNvPr id="6" name="m0-text-159">
            <a:extLst xmlns:a="http://schemas.openxmlformats.org/drawingml/2006/main">
              <a:ext uri="{FF2B5EF4-FFF2-40B4-BE49-F238E27FC236}">
                <a16:creationId xmlns:a16="http://schemas.microsoft.com/office/drawing/2014/main" id="{FB6624A1-C358-4244-B663-DFC96177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2150"/>
            <a:ext cx="8229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 the key-loading cell, then the Ollama Cloud cells.</a:t>
            </a:r>
          </a:p>
        </p:txBody>
      </p:sp>
      <p:sp>
        <p:nvSpPr>
          <p:cNvPr id="7" name="m0-text-160">
            <a:extLst xmlns:a="http://schemas.openxmlformats.org/drawingml/2006/main">
              <a:ext uri="{FF2B5EF4-FFF2-40B4-BE49-F238E27FC236}">
                <a16:creationId xmlns:a16="http://schemas.microsoft.com/office/drawing/2014/main" id="{7C091AA5-1A74-4A0B-865D-26BC7D1A2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47950"/>
            <a:ext cx="82296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response = client.chat(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model="gpt-oss:120b",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messages=[{"role": "user", "content": "Say hello!"}],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72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print(response.message.content)</a:t>
            </a:r>
          </a:p>
        </p:txBody>
      </p:sp>
      <p:sp>
        <p:nvSpPr>
          <p:cNvPr id="8" name="m0-text-161">
            <a:extLst xmlns:a="http://schemas.openxmlformats.org/drawingml/2006/main">
              <a:ext uri="{FF2B5EF4-FFF2-40B4-BE49-F238E27FC236}">
                <a16:creationId xmlns:a16="http://schemas.microsoft.com/office/drawing/2014/main" id="{5A15A59A-2391-4E4D-A046-7FE544C8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24375"/>
            <a:ext cx="8229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7FA8E3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d0a60fc1d0c4251"/>
              </a:rPr>
              <a:t>Open 00_first_call.ipynb</a:t>
            </a:r>
          </a:p>
        </p:txBody>
      </p:sp>
    </p:spTree>
    <p:extLst>
      <p:ext uri="{BB962C8B-B14F-4D97-AF65-F5344CB8AC3E}">
        <p14:creationId xmlns:p14="http://schemas.microsoft.com/office/powerpoint/2010/main" val="117850745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m0-text-162">
            <a:extLst xmlns:a="http://schemas.openxmlformats.org/drawingml/2006/main">
              <a:ext uri="{FF2B5EF4-FFF2-40B4-BE49-F238E27FC236}">
                <a16:creationId xmlns:a16="http://schemas.microsoft.com/office/drawing/2014/main" id="{225E6DC9-39C7-4D17-BFB8-F147B338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63">
            <a:extLst xmlns:a="http://schemas.openxmlformats.org/drawingml/2006/main">
              <a:ext uri="{FF2B5EF4-FFF2-40B4-BE49-F238E27FC236}">
                <a16:creationId xmlns:a16="http://schemas.microsoft.com/office/drawing/2014/main" id="{D45C4046-EAC9-403C-89D5-6CF960FC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64">
            <a:extLst xmlns:a="http://schemas.openxmlformats.org/drawingml/2006/main">
              <a:ext uri="{FF2B5EF4-FFF2-40B4-BE49-F238E27FC236}">
                <a16:creationId xmlns:a16="http://schemas.microsoft.com/office/drawing/2014/main" id="{880F38D1-7373-4245-8ECC-7C0D932D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4" name="m0-text-165">
            <a:extLst xmlns:a="http://schemas.openxmlformats.org/drawingml/2006/main">
              <a:ext uri="{FF2B5EF4-FFF2-40B4-BE49-F238E27FC236}">
                <a16:creationId xmlns:a16="http://schemas.microsoft.com/office/drawing/2014/main" id="{B5832C12-A9CF-442A-AA8F-64952570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Try the Avatar</a:t>
            </a:r>
          </a:p>
        </p:txBody>
      </p:sp>
      <p:sp>
        <p:nvSpPr>
          <p:cNvPr id="5" name="m0-text-166">
            <a:extLst xmlns:a="http://schemas.openxmlformats.org/drawingml/2006/main">
              <a:ext uri="{FF2B5EF4-FFF2-40B4-BE49-F238E27FC236}">
                <a16:creationId xmlns:a16="http://schemas.microsoft.com/office/drawing/2014/main" id="{CF5F26BE-0F4E-4891-B98C-E4FCB985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message goes to the agent; its answer returns to the avatar.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E2CA2-49D3-4C95-8A10-3208402F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m0-text-167">
            <a:extLst xmlns:a="http://schemas.openxmlformats.org/drawingml/2006/main">
              <a:ext uri="{FF2B5EF4-FFF2-40B4-BE49-F238E27FC236}">
                <a16:creationId xmlns:a16="http://schemas.microsoft.com/office/drawing/2014/main" id="{21FF75BA-CF8C-4703-A63A-A6D9E2D1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You</a:t>
            </a:r>
          </a:p>
        </p:txBody>
      </p:sp>
      <p:sp>
        <p:nvSpPr>
          <p:cNvPr id="8" name="m0-text-168">
            <a:extLst xmlns:a="http://schemas.openxmlformats.org/drawingml/2006/main">
              <a:ext uri="{FF2B5EF4-FFF2-40B4-BE49-F238E27FC236}">
                <a16:creationId xmlns:a16="http://schemas.microsoft.com/office/drawing/2014/main" id="{E7E5667A-3EB2-4694-AFDC-5D15359A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User / browser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AD72B-1E44-4036-B137-7021035C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m0-text-169">
            <a:extLst xmlns:a="http://schemas.openxmlformats.org/drawingml/2006/main">
              <a:ext uri="{FF2B5EF4-FFF2-40B4-BE49-F238E27FC236}">
                <a16:creationId xmlns:a16="http://schemas.microsoft.com/office/drawing/2014/main" id="{AEBDB885-EE5C-4CCC-A51B-DE465179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Avatar</a:t>
            </a:r>
          </a:p>
        </p:txBody>
      </p:sp>
      <p:sp>
        <p:nvSpPr>
          <p:cNvPr id="11" name="m0-text-170">
            <a:extLst xmlns:a="http://schemas.openxmlformats.org/drawingml/2006/main">
              <a:ext uri="{FF2B5EF4-FFF2-40B4-BE49-F238E27FC236}">
                <a16:creationId xmlns:a16="http://schemas.microsoft.com/office/drawing/2014/main" id="{7B420B8B-6D66-40B8-94C9-79E24429B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VH Embodiment</a:t>
            </a:r>
          </a:p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AE5B61-2B8E-4A0C-8430-675AB013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m0-text-171">
            <a:extLst xmlns:a="http://schemas.openxmlformats.org/drawingml/2006/main">
              <a:ext uri="{FF2B5EF4-FFF2-40B4-BE49-F238E27FC236}">
                <a16:creationId xmlns:a16="http://schemas.microsoft.com/office/drawing/2014/main" id="{6BDCAE35-C1BC-4B87-97B3-DBD47FFD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Python agent</a:t>
            </a:r>
          </a:p>
        </p:txBody>
      </p:sp>
      <p:sp>
        <p:nvSpPr>
          <p:cNvPr id="14" name="m0-text-172">
            <a:extLst xmlns:a="http://schemas.openxmlformats.org/drawingml/2006/main">
              <a:ext uri="{FF2B5EF4-FFF2-40B4-BE49-F238E27FC236}">
                <a16:creationId xmlns:a16="http://schemas.microsoft.com/office/drawing/2014/main" id="{8194DF4B-4FE8-423C-83FC-8DF3670B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VH Cognitive</a:t>
            </a:r>
          </a:p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Architecture Server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8B8EF3-36DE-422F-A6B6-4611140D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57425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m0-text-173">
            <a:extLst xmlns:a="http://schemas.openxmlformats.org/drawingml/2006/main">
              <a:ext uri="{FF2B5EF4-FFF2-40B4-BE49-F238E27FC236}">
                <a16:creationId xmlns:a16="http://schemas.microsoft.com/office/drawing/2014/main" id="{9187BD1A-DF22-4192-8D83-45545D87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9825"/>
            <a:ext cx="1562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1725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LLM provider</a:t>
            </a:r>
          </a:p>
        </p:txBody>
      </p:sp>
      <p:sp>
        <p:nvSpPr>
          <p:cNvPr id="17" name="m0-text-174">
            <a:extLst xmlns:a="http://schemas.openxmlformats.org/drawingml/2006/main">
              <a:ext uri="{FF2B5EF4-FFF2-40B4-BE49-F238E27FC236}">
                <a16:creationId xmlns:a16="http://schemas.microsoft.com/office/drawing/2014/main" id="{E5CDA410-E960-412B-AA39-F07BE91C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95600"/>
            <a:ext cx="1562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18" name="m0-text-175">
            <a:extLst xmlns:a="http://schemas.openxmlformats.org/drawingml/2006/main">
              <a:ext uri="{FF2B5EF4-FFF2-40B4-BE49-F238E27FC236}">
                <a16:creationId xmlns:a16="http://schemas.microsoft.com/office/drawing/2014/main" id="{4B8E5BEC-FC87-4C9A-BA17-A5C1D5DF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19350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9" name="m0-text-176">
            <a:extLst xmlns:a="http://schemas.openxmlformats.org/drawingml/2006/main">
              <a:ext uri="{FF2B5EF4-FFF2-40B4-BE49-F238E27FC236}">
                <a16:creationId xmlns:a16="http://schemas.microsoft.com/office/drawing/2014/main" id="{F129CE09-F51F-4D9A-9560-267B4DD0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981325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20" name="m0-text-177">
            <a:extLst xmlns:a="http://schemas.openxmlformats.org/drawingml/2006/main">
              <a:ext uri="{FF2B5EF4-FFF2-40B4-BE49-F238E27FC236}">
                <a16:creationId xmlns:a16="http://schemas.microsoft.com/office/drawing/2014/main" id="{802D0936-E171-4E90-9EF3-12C54E5A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1" name="m0-text-178">
            <a:extLst xmlns:a="http://schemas.openxmlformats.org/drawingml/2006/main">
              <a:ext uri="{FF2B5EF4-FFF2-40B4-BE49-F238E27FC236}">
                <a16:creationId xmlns:a16="http://schemas.microsoft.com/office/drawing/2014/main" id="{2EBA4FE8-4CEB-420E-A21A-1A238511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81325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22" name="m0-text-179">
            <a:extLst xmlns:a="http://schemas.openxmlformats.org/drawingml/2006/main">
              <a:ext uri="{FF2B5EF4-FFF2-40B4-BE49-F238E27FC236}">
                <a16:creationId xmlns:a16="http://schemas.microsoft.com/office/drawing/2014/main" id="{2E40F51C-E6B0-4D20-B2E4-EF841ABD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19350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3" name="m0-text-180">
            <a:extLst xmlns:a="http://schemas.openxmlformats.org/drawingml/2006/main">
              <a:ext uri="{FF2B5EF4-FFF2-40B4-BE49-F238E27FC236}">
                <a16:creationId xmlns:a16="http://schemas.microsoft.com/office/drawing/2014/main" id="{31F31E24-9A93-4211-A175-97771174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81325"/>
            <a:ext cx="419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25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←</a:t>
            </a:r>
          </a:p>
        </p:txBody>
      </p:sp>
      <p:sp>
        <p:nvSpPr>
          <p:cNvPr id="24" name="m0-text-181">
            <a:extLst xmlns:a="http://schemas.openxmlformats.org/drawingml/2006/main">
              <a:ext uri="{FF2B5EF4-FFF2-40B4-BE49-F238E27FC236}">
                <a16:creationId xmlns:a16="http://schemas.microsoft.com/office/drawing/2014/main" id="{880EE24E-B713-46D2-9816-314666CA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71925"/>
            <a:ext cx="82296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mock always says “Hello world”.</a:t>
            </a:r>
          </a:p>
          <a:p xmlns:a="http://schemas.openxmlformats.org/drawingml/2006/main">
            <a:pPr>
              <a:defRPr sz="19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 the naive agent, the LLM writes the answer.</a:t>
            </a:r>
          </a:p>
        </p:txBody>
      </p:sp>
    </p:spTree>
    <p:extLst>
      <p:ext uri="{BB962C8B-B14F-4D97-AF65-F5344CB8AC3E}">
        <p14:creationId xmlns:p14="http://schemas.microsoft.com/office/powerpoint/2010/main" val="168911796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m0-text-182">
            <a:extLst xmlns:a="http://schemas.openxmlformats.org/drawingml/2006/main">
              <a:ext uri="{FF2B5EF4-FFF2-40B4-BE49-F238E27FC236}">
                <a16:creationId xmlns:a16="http://schemas.microsoft.com/office/drawing/2014/main" id="{6E58363B-A89B-43AC-B33F-9208F139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83">
            <a:extLst xmlns:a="http://schemas.openxmlformats.org/drawingml/2006/main">
              <a:ext uri="{FF2B5EF4-FFF2-40B4-BE49-F238E27FC236}">
                <a16:creationId xmlns:a16="http://schemas.microsoft.com/office/drawing/2014/main" id="{A3B9B3C0-ADFB-425B-99B9-230114E0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84">
            <a:extLst xmlns:a="http://schemas.openxmlformats.org/drawingml/2006/main">
              <a:ext uri="{FF2B5EF4-FFF2-40B4-BE49-F238E27FC236}">
                <a16:creationId xmlns:a16="http://schemas.microsoft.com/office/drawing/2014/main" id="{6172F775-E956-45DC-9E4C-241066EF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4" name="m0-text-185">
            <a:extLst xmlns:a="http://schemas.openxmlformats.org/drawingml/2006/main">
              <a:ext uri="{FF2B5EF4-FFF2-40B4-BE49-F238E27FC236}">
                <a16:creationId xmlns:a16="http://schemas.microsoft.com/office/drawing/2014/main" id="{44F42BB2-179E-47D4-A1A1-26373358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Where to Change the Agent</a:t>
            </a:r>
          </a:p>
        </p:txBody>
      </p:sp>
      <p:sp>
        <p:nvSpPr>
          <p:cNvPr id="5" name="m0-text-186">
            <a:extLst xmlns:a="http://schemas.openxmlformats.org/drawingml/2006/main">
              <a:ext uri="{FF2B5EF4-FFF2-40B4-BE49-F238E27FC236}">
                <a16:creationId xmlns:a16="http://schemas.microsoft.com/office/drawing/2014/main" id="{A65BE201-CB61-404E-BE2C-DA8846E8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Edit or create files in agents/ to define the agent’s behaviour.</a:t>
            </a:r>
          </a:p>
        </p:txBody>
      </p:sp>
      <p:sp>
        <p:nvSpPr>
          <p:cNvPr id="6" name="m0-text-187">
            <a:extLst xmlns:a="http://schemas.openxmlformats.org/drawingml/2006/main">
              <a:ext uri="{FF2B5EF4-FFF2-40B4-BE49-F238E27FC236}">
                <a16:creationId xmlns:a16="http://schemas.microsoft.com/office/drawing/2014/main" id="{73B390DC-866B-4956-9D07-8F967030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53721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virtual_human_project/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vh_cognitive_architecture_server/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75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vh_cognitive_server.py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7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agents/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  Module_0/Chapter_01/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7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mock_agent.py</a:t>
            </a:r>
          </a:p>
          <a:p xmlns:a="http://schemas.openxmlformats.org/drawingml/2006/main">
            <a:pPr>
              <a:defRPr sz="1575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75">
                <a:solidFill>
                  <a:srgbClr val="D9A06B"/>
                </a:solidFill>
                <a:latin typeface="Consolas"/>
                <a:ea typeface="Consolas"/>
                <a:cs typeface="Consolas"/>
              </a:rPr>
              <a:t>naive_agent.py</a:t>
            </a:r>
          </a:p>
        </p:txBody>
      </p:sp>
      <p:sp>
        <p:nvSpPr>
          <p:cNvPr id="7" name="m0-text-188">
            <a:extLst xmlns:a="http://schemas.openxmlformats.org/drawingml/2006/main">
              <a:ext uri="{FF2B5EF4-FFF2-40B4-BE49-F238E27FC236}">
                <a16:creationId xmlns:a16="http://schemas.microsoft.com/office/drawing/2014/main" id="{A3307933-8AAD-4D7B-A285-9F43F308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62225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Change the import</a:t>
            </a:r>
          </a:p>
          <a:p xmlns:a="http://schemas.openxmlformats.org/drawingml/2006/main">
            <a:pPr>
              <a:defRPr sz="1575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 select the agent</a:t>
            </a:r>
          </a:p>
        </p:txBody>
      </p:sp>
      <p:sp>
        <p:nvSpPr>
          <p:cNvPr id="8" name="m0-text-189">
            <a:extLst xmlns:a="http://schemas.openxmlformats.org/drawingml/2006/main">
              <a:ext uri="{FF2B5EF4-FFF2-40B4-BE49-F238E27FC236}">
                <a16:creationId xmlns:a16="http://schemas.microsoft.com/office/drawing/2014/main" id="{A9D5382D-7C78-4C7D-99A1-CA6FEDBA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48025"/>
            <a:ext cx="24955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Fixed reply</a:t>
            </a:r>
          </a:p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LLM reply</a:t>
            </a:r>
          </a:p>
        </p:txBody>
      </p:sp>
      <p:sp>
        <p:nvSpPr>
          <p:cNvPr id="9" name="m0-text-190">
            <a:extLst xmlns:a="http://schemas.openxmlformats.org/drawingml/2006/main">
              <a:ext uri="{FF2B5EF4-FFF2-40B4-BE49-F238E27FC236}">
                <a16:creationId xmlns:a16="http://schemas.microsoft.com/office/drawing/2014/main" id="{535D6BFA-8402-45AD-9CB8-D515500B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81475"/>
            <a:ext cx="8229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your files, then restart the server in Settings.</a:t>
            </a:r>
          </a:p>
        </p:txBody>
      </p:sp>
      <p:sp>
        <p:nvSpPr>
          <p:cNvPr id="10" name="m0-text-191">
            <a:extLst xmlns:a="http://schemas.openxmlformats.org/drawingml/2006/main">
              <a:ext uri="{FF2B5EF4-FFF2-40B4-BE49-F238E27FC236}">
                <a16:creationId xmlns:a16="http://schemas.microsoft.com/office/drawing/2014/main" id="{05BD6A52-5403-4EE2-A2E9-D78DBE38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62475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Does the avatar remember your name? Try it.</a:t>
            </a:r>
          </a:p>
        </p:txBody>
      </p:sp>
    </p:spTree>
    <p:extLst>
      <p:ext uri="{BB962C8B-B14F-4D97-AF65-F5344CB8AC3E}">
        <p14:creationId xmlns:p14="http://schemas.microsoft.com/office/powerpoint/2010/main" val="63242625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m0-text-192">
            <a:extLst xmlns:a="http://schemas.openxmlformats.org/drawingml/2006/main">
              <a:ext uri="{FF2B5EF4-FFF2-40B4-BE49-F238E27FC236}">
                <a16:creationId xmlns:a16="http://schemas.microsoft.com/office/drawing/2014/main" id="{C89FB145-360C-4A84-AE70-246EAE59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93">
            <a:extLst xmlns:a="http://schemas.openxmlformats.org/drawingml/2006/main">
              <a:ext uri="{FF2B5EF4-FFF2-40B4-BE49-F238E27FC236}">
                <a16:creationId xmlns:a16="http://schemas.microsoft.com/office/drawing/2014/main" id="{6359C580-1660-43AB-98C1-C05D1AFCE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194">
            <a:extLst xmlns:a="http://schemas.openxmlformats.org/drawingml/2006/main">
              <a:ext uri="{FF2B5EF4-FFF2-40B4-BE49-F238E27FC236}">
                <a16:creationId xmlns:a16="http://schemas.microsoft.com/office/drawing/2014/main" id="{467C4FCF-CBF8-444C-95D2-049604EC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sp>
        <p:nvSpPr>
          <p:cNvPr id="4" name="m0-text-195">
            <a:extLst xmlns:a="http://schemas.openxmlformats.org/drawingml/2006/main">
              <a:ext uri="{FF2B5EF4-FFF2-40B4-BE49-F238E27FC236}">
                <a16:creationId xmlns:a16="http://schemas.microsoft.com/office/drawing/2014/main" id="{952322F3-FAE4-48AE-B74C-707DE9EA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D6175842-D765-4298-B2B6-5006D79A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196">
            <a:extLst xmlns:a="http://schemas.openxmlformats.org/drawingml/2006/main">
              <a:ext uri="{FF2B5EF4-FFF2-40B4-BE49-F238E27FC236}">
                <a16:creationId xmlns:a16="http://schemas.microsoft.com/office/drawing/2014/main" id="{BF05B9CE-565B-4AA7-B76D-D1518FFA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197">
            <a:extLst xmlns:a="http://schemas.openxmlformats.org/drawingml/2006/main">
              <a:ext uri="{FF2B5EF4-FFF2-40B4-BE49-F238E27FC236}">
                <a16:creationId xmlns:a16="http://schemas.microsoft.com/office/drawing/2014/main" id="{ED184682-B029-4146-AE0B-EF2BB133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</p:spTree>
    <p:extLst>
      <p:ext uri="{BB962C8B-B14F-4D97-AF65-F5344CB8AC3E}">
        <p14:creationId xmlns:p14="http://schemas.microsoft.com/office/powerpoint/2010/main" val="19100277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m0-text-198">
            <a:extLst xmlns:a="http://schemas.openxmlformats.org/drawingml/2006/main">
              <a:ext uri="{FF2B5EF4-FFF2-40B4-BE49-F238E27FC236}">
                <a16:creationId xmlns:a16="http://schemas.microsoft.com/office/drawing/2014/main" id="{564D3DB7-B9F2-4426-85DD-56BC0D3B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199">
            <a:extLst xmlns:a="http://schemas.openxmlformats.org/drawingml/2006/main">
              <a:ext uri="{FF2B5EF4-FFF2-40B4-BE49-F238E27FC236}">
                <a16:creationId xmlns:a16="http://schemas.microsoft.com/office/drawing/2014/main" id="{2A66B4CB-AE42-40DC-8EDA-E5F8267E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00">
            <a:extLst xmlns:a="http://schemas.openxmlformats.org/drawingml/2006/main">
              <a:ext uri="{FF2B5EF4-FFF2-40B4-BE49-F238E27FC236}">
                <a16:creationId xmlns:a16="http://schemas.microsoft.com/office/drawing/2014/main" id="{453483F8-3341-4B95-8BDE-38EB2A4B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4" name="m0-text-201">
            <a:extLst xmlns:a="http://schemas.openxmlformats.org/drawingml/2006/main">
              <a:ext uri="{FF2B5EF4-FFF2-40B4-BE49-F238E27FC236}">
                <a16:creationId xmlns:a16="http://schemas.microsoft.com/office/drawing/2014/main" id="{6EE8EE6C-A8D7-4B96-9342-20CC653B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B53775DF-C698-4291-9054-A0BF2392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02">
            <a:extLst xmlns:a="http://schemas.openxmlformats.org/drawingml/2006/main">
              <a:ext uri="{FF2B5EF4-FFF2-40B4-BE49-F238E27FC236}">
                <a16:creationId xmlns:a16="http://schemas.microsoft.com/office/drawing/2014/main" id="{2EB01711-12D3-45E2-9E5E-667DF64E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03">
            <a:extLst xmlns:a="http://schemas.openxmlformats.org/drawingml/2006/main">
              <a:ext uri="{FF2B5EF4-FFF2-40B4-BE49-F238E27FC236}">
                <a16:creationId xmlns:a16="http://schemas.microsoft.com/office/drawing/2014/main" id="{A93B5224-7DE8-45EF-ACE2-DB0DD2ED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21DF8D34-1207-4018-A0F4-14DA5C6D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204">
            <a:extLst xmlns:a="http://schemas.openxmlformats.org/drawingml/2006/main">
              <a:ext uri="{FF2B5EF4-FFF2-40B4-BE49-F238E27FC236}">
                <a16:creationId xmlns:a16="http://schemas.microsoft.com/office/drawing/2014/main" id="{40DC9273-C5A6-4600-9BE0-07F01339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205">
            <a:extLst xmlns:a="http://schemas.openxmlformats.org/drawingml/2006/main">
              <a:ext uri="{FF2B5EF4-FFF2-40B4-BE49-F238E27FC236}">
                <a16:creationId xmlns:a16="http://schemas.microsoft.com/office/drawing/2014/main" id="{0CAD6DB2-8DE3-470E-AC42-90F95C23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</p:spTree>
    <p:extLst>
      <p:ext uri="{BB962C8B-B14F-4D97-AF65-F5344CB8AC3E}">
        <p14:creationId xmlns:p14="http://schemas.microsoft.com/office/powerpoint/2010/main" val="38341079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m0-text-206">
            <a:extLst xmlns:a="http://schemas.openxmlformats.org/drawingml/2006/main">
              <a:ext uri="{FF2B5EF4-FFF2-40B4-BE49-F238E27FC236}">
                <a16:creationId xmlns:a16="http://schemas.microsoft.com/office/drawing/2014/main" id="{9379D167-9E7A-4C2C-B99A-B3DAE36A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07">
            <a:extLst xmlns:a="http://schemas.openxmlformats.org/drawingml/2006/main">
              <a:ext uri="{FF2B5EF4-FFF2-40B4-BE49-F238E27FC236}">
                <a16:creationId xmlns:a16="http://schemas.microsoft.com/office/drawing/2014/main" id="{24B174D0-4F3F-4524-A59B-BF7F3EF2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08">
            <a:extLst xmlns:a="http://schemas.openxmlformats.org/drawingml/2006/main">
              <a:ext uri="{FF2B5EF4-FFF2-40B4-BE49-F238E27FC236}">
                <a16:creationId xmlns:a16="http://schemas.microsoft.com/office/drawing/2014/main" id="{606FD487-6BE6-42F0-B056-CA213838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sp>
        <p:nvSpPr>
          <p:cNvPr id="4" name="m0-text-209">
            <a:extLst xmlns:a="http://schemas.openxmlformats.org/drawingml/2006/main">
              <a:ext uri="{FF2B5EF4-FFF2-40B4-BE49-F238E27FC236}">
                <a16:creationId xmlns:a16="http://schemas.microsoft.com/office/drawing/2014/main" id="{86AD54E6-2147-4619-8AC6-EB4744DF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B69109CA-7A0F-4B0E-8B20-448556CD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10">
            <a:extLst xmlns:a="http://schemas.openxmlformats.org/drawingml/2006/main">
              <a:ext uri="{FF2B5EF4-FFF2-40B4-BE49-F238E27FC236}">
                <a16:creationId xmlns:a16="http://schemas.microsoft.com/office/drawing/2014/main" id="{A8AD2962-7EB5-47BA-97C8-EF50A1A4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11">
            <a:extLst xmlns:a="http://schemas.openxmlformats.org/drawingml/2006/main">
              <a:ext uri="{FF2B5EF4-FFF2-40B4-BE49-F238E27FC236}">
                <a16:creationId xmlns:a16="http://schemas.microsoft.com/office/drawing/2014/main" id="{4D8A5869-CD9B-46DF-924E-A3A448CC3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E4F023B5-160F-4A34-BA0F-A183F478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212">
            <a:extLst xmlns:a="http://schemas.openxmlformats.org/drawingml/2006/main">
              <a:ext uri="{FF2B5EF4-FFF2-40B4-BE49-F238E27FC236}">
                <a16:creationId xmlns:a16="http://schemas.microsoft.com/office/drawing/2014/main" id="{262CD223-34EF-4E16-B767-343A246E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213">
            <a:extLst xmlns:a="http://schemas.openxmlformats.org/drawingml/2006/main">
              <a:ext uri="{FF2B5EF4-FFF2-40B4-BE49-F238E27FC236}">
                <a16:creationId xmlns:a16="http://schemas.microsoft.com/office/drawing/2014/main" id="{8DD9FE07-EC21-4077-9B0F-46C574CDA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1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8EB8E726-3EDD-427C-BCD1-68646BCF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05250"/>
            <a:ext cx="5334000" cy="809625"/>
          </a:xfrm>
          <a:prstGeom xmlns:a="http://schemas.openxmlformats.org/drawingml/2006/main" prst="roundRect">
            <a:avLst>
              <a:gd name="adj" fmla="val 21176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2" name="m0-text-214">
            <a:extLst xmlns:a="http://schemas.openxmlformats.org/drawingml/2006/main">
              <a:ext uri="{FF2B5EF4-FFF2-40B4-BE49-F238E27FC236}">
                <a16:creationId xmlns:a16="http://schemas.microsoft.com/office/drawing/2014/main" id="{75194F47-E95F-444C-B0E6-D72E0A26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1955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3" name="m0-text-215">
            <a:extLst xmlns:a="http://schemas.openxmlformats.org/drawingml/2006/main">
              <a:ext uri="{FF2B5EF4-FFF2-40B4-BE49-F238E27FC236}">
                <a16:creationId xmlns:a16="http://schemas.microsoft.com/office/drawing/2014/main" id="{5C7ECC2E-4A7C-4211-88D4-98C88488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86250"/>
            <a:ext cx="4914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</p:spTree>
    <p:extLst>
      <p:ext uri="{BB962C8B-B14F-4D97-AF65-F5344CB8AC3E}">
        <p14:creationId xmlns:p14="http://schemas.microsoft.com/office/powerpoint/2010/main" val="117895365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m0-text-216">
            <a:extLst xmlns:a="http://schemas.openxmlformats.org/drawingml/2006/main">
              <a:ext uri="{FF2B5EF4-FFF2-40B4-BE49-F238E27FC236}">
                <a16:creationId xmlns:a16="http://schemas.microsoft.com/office/drawing/2014/main" id="{D9DED8C6-0961-4269-A8BB-625E669D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17">
            <a:extLst xmlns:a="http://schemas.openxmlformats.org/drawingml/2006/main">
              <a:ext uri="{FF2B5EF4-FFF2-40B4-BE49-F238E27FC236}">
                <a16:creationId xmlns:a16="http://schemas.microsoft.com/office/drawing/2014/main" id="{2CD46B57-D1D8-4816-B72C-26E882AF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18">
            <a:extLst xmlns:a="http://schemas.openxmlformats.org/drawingml/2006/main">
              <a:ext uri="{FF2B5EF4-FFF2-40B4-BE49-F238E27FC236}">
                <a16:creationId xmlns:a16="http://schemas.microsoft.com/office/drawing/2014/main" id="{85D85AF9-2548-453E-9B12-0193AA0F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sp>
        <p:nvSpPr>
          <p:cNvPr id="4" name="m0-text-219">
            <a:extLst xmlns:a="http://schemas.openxmlformats.org/drawingml/2006/main">
              <a:ext uri="{FF2B5EF4-FFF2-40B4-BE49-F238E27FC236}">
                <a16:creationId xmlns:a16="http://schemas.microsoft.com/office/drawing/2014/main" id="{2B51E7CE-3FF0-4CAB-A4B8-215637C4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Why Do We Need a Cognitive Architecture?</a:t>
            </a:r>
          </a:p>
        </p:txBody>
      </p:sp>
      <p:sp>
        <p:nvSpPr>
          <p:cNvPr id="5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0893F15B-5273-4333-86B5-023FA2BB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38300"/>
            <a:ext cx="53340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20">
            <a:extLst xmlns:a="http://schemas.openxmlformats.org/drawingml/2006/main">
              <a:ext uri="{FF2B5EF4-FFF2-40B4-BE49-F238E27FC236}">
                <a16:creationId xmlns:a16="http://schemas.microsoft.com/office/drawing/2014/main" id="{1B86A764-9E08-418C-BB79-1D537818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5260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21">
            <a:extLst xmlns:a="http://schemas.openxmlformats.org/drawingml/2006/main">
              <a:ext uri="{FF2B5EF4-FFF2-40B4-BE49-F238E27FC236}">
                <a16:creationId xmlns:a16="http://schemas.microsoft.com/office/drawing/2014/main" id="{80BB4F2E-A746-4DAD-845A-AE994AEF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4914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Hi, I’m Alessandro. And you?</a:t>
            </a:r>
          </a:p>
        </p:txBody>
      </p:sp>
      <p:sp>
        <p:nvSpPr>
          <p:cNvPr id="8" name="Virtual human message">
            <a:extLst xmlns:a="http://schemas.openxmlformats.org/drawingml/2006/main">
              <a:ext uri="{FF2B5EF4-FFF2-40B4-BE49-F238E27FC236}">
                <a16:creationId xmlns:a16="http://schemas.microsoft.com/office/drawing/2014/main" id="{15673E61-97AA-4A1F-AA66-3DA3F288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905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m0-text-222">
            <a:extLst xmlns:a="http://schemas.openxmlformats.org/drawingml/2006/main">
              <a:ext uri="{FF2B5EF4-FFF2-40B4-BE49-F238E27FC236}">
                <a16:creationId xmlns:a16="http://schemas.microsoft.com/office/drawing/2014/main" id="{D5AE7F19-1EFF-4348-9D65-65A7DD8B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81300"/>
            <a:ext cx="548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0" name="m0-text-223">
            <a:extLst xmlns:a="http://schemas.openxmlformats.org/drawingml/2006/main">
              <a:ext uri="{FF2B5EF4-FFF2-40B4-BE49-F238E27FC236}">
                <a16:creationId xmlns:a16="http://schemas.microsoft.com/office/drawing/2014/main" id="{0787B477-7A4D-4029-945D-486EDC66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548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1" name="User message">
            <a:extLst xmlns:a="http://schemas.openxmlformats.org/drawingml/2006/main">
              <a:ext uri="{FF2B5EF4-FFF2-40B4-BE49-F238E27FC236}">
                <a16:creationId xmlns:a16="http://schemas.microsoft.com/office/drawing/2014/main" id="{19129AAF-0F5B-4C7B-A05A-5AB6454D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05250"/>
            <a:ext cx="5334000" cy="809625"/>
          </a:xfrm>
          <a:prstGeom xmlns:a="http://schemas.openxmlformats.org/drawingml/2006/main" prst="roundRect">
            <a:avLst>
              <a:gd name="adj" fmla="val 21176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2" name="m0-text-224">
            <a:extLst xmlns:a="http://schemas.openxmlformats.org/drawingml/2006/main">
              <a:ext uri="{FF2B5EF4-FFF2-40B4-BE49-F238E27FC236}">
                <a16:creationId xmlns:a16="http://schemas.microsoft.com/office/drawing/2014/main" id="{A5917CC6-9EB8-42CF-9B4B-24A30682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019550"/>
            <a:ext cx="491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90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3" name="m0-text-225">
            <a:extLst xmlns:a="http://schemas.openxmlformats.org/drawingml/2006/main">
              <a:ext uri="{FF2B5EF4-FFF2-40B4-BE49-F238E27FC236}">
                <a16:creationId xmlns:a16="http://schemas.microsoft.com/office/drawing/2014/main" id="{8FD00D02-733F-4E84-AA99-57AF1DED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286250"/>
            <a:ext cx="49149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  <p:sp>
        <p:nvSpPr>
          <p:cNvPr id="14" name="Prediction question sticker">
            <a:extLst xmlns:a="http://schemas.openxmlformats.org/drawingml/2006/main">
              <a:ext uri="{FF2B5EF4-FFF2-40B4-BE49-F238E27FC236}">
                <a16:creationId xmlns:a16="http://schemas.microsoft.com/office/drawing/2014/main" id="{5F3982C6-B66F-433F-901F-0472B391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2352675" y="2476500"/>
            <a:ext cx="44386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B87C"/>
          </a:solidFill>
          <a:ln xmlns:a="http://schemas.openxmlformats.org/drawingml/2006/main" w="0">
            <a:solidFill>
              <a:srgbClr val="E8B87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1B23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61B23"/>
                </a:solidFill>
                <a:latin typeface="Calibri"/>
                <a:ea typeface="Calibri"/>
                <a:cs typeface="Calibri"/>
              </a:rPr>
              <a:t>What will it answer?</a:t>
            </a:r>
          </a:p>
          <a:p xmlns:a="http://schemas.openxmlformats.org/drawingml/2006/main">
            <a:pPr algn="ctr">
              <a:defRPr sz="2325" b="1">
                <a:solidFill>
                  <a:srgbClr val="161B23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61B23"/>
                </a:solidFill>
                <a:latin typeface="Calibri"/>
                <a:ea typeface="Calibri"/>
                <a:cs typeface="Calibri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159887926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m0-text-226">
            <a:extLst xmlns:a="http://schemas.openxmlformats.org/drawingml/2006/main">
              <a:ext uri="{FF2B5EF4-FFF2-40B4-BE49-F238E27FC236}">
                <a16:creationId xmlns:a16="http://schemas.microsoft.com/office/drawing/2014/main" id="{D03E9E1D-40B5-45CE-92C5-81CEF3C6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27">
            <a:extLst xmlns:a="http://schemas.openxmlformats.org/drawingml/2006/main">
              <a:ext uri="{FF2B5EF4-FFF2-40B4-BE49-F238E27FC236}">
                <a16:creationId xmlns:a16="http://schemas.microsoft.com/office/drawing/2014/main" id="{32B99C99-E917-493E-93A3-50F90E9C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28">
            <a:extLst xmlns:a="http://schemas.openxmlformats.org/drawingml/2006/main">
              <a:ext uri="{FF2B5EF4-FFF2-40B4-BE49-F238E27FC236}">
                <a16:creationId xmlns:a16="http://schemas.microsoft.com/office/drawing/2014/main" id="{9D6D7F31-8258-4657-BA75-64155DAB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4" name="m0-text-229">
            <a:extLst xmlns:a="http://schemas.openxmlformats.org/drawingml/2006/main">
              <a:ext uri="{FF2B5EF4-FFF2-40B4-BE49-F238E27FC236}">
                <a16:creationId xmlns:a16="http://schemas.microsoft.com/office/drawing/2014/main" id="{402431B5-B4BC-4CDA-9BD1-04CC9F2A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Without Memory, Each Call Starts Again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21279-D387-4B14-8A6A-1AA3E1E1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52550"/>
            <a:ext cx="5334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6" name="m0-text-230">
            <a:extLst xmlns:a="http://schemas.openxmlformats.org/drawingml/2006/main">
              <a:ext uri="{FF2B5EF4-FFF2-40B4-BE49-F238E27FC236}">
                <a16:creationId xmlns:a16="http://schemas.microsoft.com/office/drawing/2014/main" id="{EA98AB36-4173-4626-AB48-D0543FBB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438275"/>
            <a:ext cx="499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7" name="m0-text-231">
            <a:extLst xmlns:a="http://schemas.openxmlformats.org/drawingml/2006/main">
              <a:ext uri="{FF2B5EF4-FFF2-40B4-BE49-F238E27FC236}">
                <a16:creationId xmlns:a16="http://schemas.microsoft.com/office/drawing/2014/main" id="{773A9C11-02A5-43D8-83F3-3236E986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28775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t>Hi, </a:t>
            </a:r>
            <a:r>
              <a:rPr sz="16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I’m Alessandro</a:t>
            </a:r>
            <a:r>
              <a:t>. And you?</a:t>
            </a:r>
          </a:p>
        </p:txBody>
      </p:sp>
      <p:sp>
        <p:nvSpPr>
          <p:cNvPr id="8" name="Underline the earlier introduction">
            <a:extLst xmlns:a="http://schemas.openxmlformats.org/drawingml/2006/main">
              <a:ext uri="{FF2B5EF4-FFF2-40B4-BE49-F238E27FC236}">
                <a16:creationId xmlns:a16="http://schemas.microsoft.com/office/drawing/2014/main" id="{3F0945D9-4677-4855-AB24-1C7C1213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895475"/>
            <a:ext cx="13811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0">
            <a:solidFill>
              <a:srgbClr val="D9A06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59920B-AC72-46BA-8D44-730BE3B75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66925"/>
            <a:ext cx="590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m0-text-232">
            <a:extLst xmlns:a="http://schemas.openxmlformats.org/drawingml/2006/main">
              <a:ext uri="{FF2B5EF4-FFF2-40B4-BE49-F238E27FC236}">
                <a16:creationId xmlns:a16="http://schemas.microsoft.com/office/drawing/2014/main" id="{89993CB7-7493-4349-9C82-2E05767B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52650"/>
            <a:ext cx="5562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1" name="m0-text-233">
            <a:extLst xmlns:a="http://schemas.openxmlformats.org/drawingml/2006/main">
              <a:ext uri="{FF2B5EF4-FFF2-40B4-BE49-F238E27FC236}">
                <a16:creationId xmlns:a16="http://schemas.microsoft.com/office/drawing/2014/main" id="{C303A13F-9F42-4CDF-A5EB-135F5A43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43150"/>
            <a:ext cx="5562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 Alessandro, I’m PippoBot.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Nice to meet you!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049E6-02C1-4B2B-AC5A-545B9831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19425"/>
            <a:ext cx="5334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223550"/>
          </a:solidFill>
          <a:ln xmlns:a="http://schemas.openxmlformats.org/drawingml/2006/main" w="9525">
            <a:solidFill>
              <a:srgbClr val="48668E"/>
            </a:solidFill>
          </a:ln>
        </p:spPr>
      </p:sp>
      <p:sp>
        <p:nvSpPr>
          <p:cNvPr id="13" name="m0-text-234">
            <a:extLst xmlns:a="http://schemas.openxmlformats.org/drawingml/2006/main">
              <a:ext uri="{FF2B5EF4-FFF2-40B4-BE49-F238E27FC236}">
                <a16:creationId xmlns:a16="http://schemas.microsoft.com/office/drawing/2014/main" id="{DAD51B0A-5A87-46E1-A77A-3AC8400F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05150"/>
            <a:ext cx="499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YOU</a:t>
            </a:r>
          </a:p>
        </p:txBody>
      </p:sp>
      <p:sp>
        <p:nvSpPr>
          <p:cNvPr id="14" name="m0-text-235">
            <a:extLst xmlns:a="http://schemas.openxmlformats.org/drawingml/2006/main">
              <a:ext uri="{FF2B5EF4-FFF2-40B4-BE49-F238E27FC236}">
                <a16:creationId xmlns:a16="http://schemas.microsoft.com/office/drawing/2014/main" id="{BF3C23E4-C27D-475D-A22B-A1BC1CD0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95650"/>
            <a:ext cx="499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Do you remember my name?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C52CD7-1250-455D-9CCE-77BB8026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7239000" cy="619125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m0-text-236">
            <a:extLst xmlns:a="http://schemas.openxmlformats.org/drawingml/2006/main">
              <a:ext uri="{FF2B5EF4-FFF2-40B4-BE49-F238E27FC236}">
                <a16:creationId xmlns:a16="http://schemas.microsoft.com/office/drawing/2014/main" id="{7AD6F8ED-FCFA-496C-8C5C-E32B48D4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9525"/>
            <a:ext cx="6896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750" b="1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VIRTUAL HUMAN</a:t>
            </a:r>
          </a:p>
        </p:txBody>
      </p:sp>
      <p:sp>
        <p:nvSpPr>
          <p:cNvPr id="17" name="m0-text-237">
            <a:extLst xmlns:a="http://schemas.openxmlformats.org/drawingml/2006/main">
              <a:ext uri="{FF2B5EF4-FFF2-40B4-BE49-F238E27FC236}">
                <a16:creationId xmlns:a16="http://schemas.microsoft.com/office/drawing/2014/main" id="{970340B3-FC37-4E7A-AF1E-C95FCB08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10025"/>
            <a:ext cx="689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 do not know your name. Could you tell me?</a:t>
            </a:r>
          </a:p>
        </p:txBody>
      </p:sp>
      <p:sp>
        <p:nvSpPr>
          <p:cNvPr id="18" name="m0-text-238">
            <a:extLst xmlns:a="http://schemas.openxmlformats.org/drawingml/2006/main">
              <a:ext uri="{FF2B5EF4-FFF2-40B4-BE49-F238E27FC236}">
                <a16:creationId xmlns:a16="http://schemas.microsoft.com/office/drawing/2014/main" id="{DA849F69-BEBB-42AA-99E8-63F871E5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8229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LLM calls are stateless: we must supply earlier information again.</a:t>
            </a:r>
          </a:p>
        </p:txBody>
      </p:sp>
    </p:spTree>
    <p:extLst>
      <p:ext uri="{BB962C8B-B14F-4D97-AF65-F5344CB8AC3E}">
        <p14:creationId xmlns:p14="http://schemas.microsoft.com/office/powerpoint/2010/main" val="18863850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m0-text-239">
            <a:extLst xmlns:a="http://schemas.openxmlformats.org/drawingml/2006/main">
              <a:ext uri="{FF2B5EF4-FFF2-40B4-BE49-F238E27FC236}">
                <a16:creationId xmlns:a16="http://schemas.microsoft.com/office/drawing/2014/main" id="{2D78D82E-6E0D-4B2D-9696-1F927EA7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822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9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m0-text-240">
            <a:extLst xmlns:a="http://schemas.openxmlformats.org/drawingml/2006/main">
              <a:ext uri="{FF2B5EF4-FFF2-40B4-BE49-F238E27FC236}">
                <a16:creationId xmlns:a16="http://schemas.microsoft.com/office/drawing/2014/main" id="{24F21024-4F3A-48F1-94F5-952EE9B0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14900"/>
            <a:ext cx="190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Module 0 · Chapter 01</a:t>
            </a:r>
          </a:p>
        </p:txBody>
      </p:sp>
      <p:sp>
        <p:nvSpPr>
          <p:cNvPr id="3" name="m0-text-241">
            <a:extLst xmlns:a="http://schemas.openxmlformats.org/drawingml/2006/main">
              <a:ext uri="{FF2B5EF4-FFF2-40B4-BE49-F238E27FC236}">
                <a16:creationId xmlns:a16="http://schemas.microsoft.com/office/drawing/2014/main" id="{462B72A0-9881-4B79-8CF7-06F78454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4" name="m0-text-242">
            <a:extLst xmlns:a="http://schemas.openxmlformats.org/drawingml/2006/main">
              <a:ext uri="{FF2B5EF4-FFF2-40B4-BE49-F238E27FC236}">
                <a16:creationId xmlns:a16="http://schemas.microsoft.com/office/drawing/2014/main" id="{3AD06887-E8F8-45E3-8A99-E378E2EA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8229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CE6DE"/>
                </a:solidFill>
                <a:latin typeface="Georgia"/>
                <a:ea typeface="Georgia"/>
                <a:cs typeface="Georgia"/>
              </a:defRPr>
            </a:pPr>
            <a:r>
              <a:rPr sz="2850">
                <a:solidFill>
                  <a:srgbClr val="ECE6DE"/>
                </a:solidFill>
                <a:latin typeface="Georgia"/>
                <a:ea typeface="Georgia"/>
                <a:cs typeface="Georgia"/>
              </a:rPr>
              <a:t>From Stateless Calls to Cognitive Architecture</a:t>
            </a:r>
          </a:p>
        </p:txBody>
      </p:sp>
      <p:sp>
        <p:nvSpPr>
          <p:cNvPr id="5" name="m0-text-243">
            <a:extLst xmlns:a="http://schemas.openxmlformats.org/drawingml/2006/main">
              <a:ext uri="{FF2B5EF4-FFF2-40B4-BE49-F238E27FC236}">
                <a16:creationId xmlns:a16="http://schemas.microsoft.com/office/drawing/2014/main" id="{FC777A2C-61FB-4154-9184-1B6744FC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8229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receives the question, not the conversation.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850D2-DA0E-4663-8E4C-A86050C4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62200"/>
            <a:ext cx="38862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12383">
            <a:solidFill>
              <a:srgbClr val="D9A06B"/>
            </a:solidFill>
          </a:ln>
        </p:spPr>
      </p:sp>
      <p:sp>
        <p:nvSpPr>
          <p:cNvPr id="7" name="m0-text-244">
            <a:extLst xmlns:a="http://schemas.openxmlformats.org/drawingml/2006/main">
              <a:ext uri="{FF2B5EF4-FFF2-40B4-BE49-F238E27FC236}">
                <a16:creationId xmlns:a16="http://schemas.microsoft.com/office/drawing/2014/main" id="{4A44B36F-F87B-4850-A049-4E3604B6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remember the name</a:t>
            </a:r>
          </a:p>
        </p:txBody>
      </p:sp>
      <p:sp>
        <p:nvSpPr>
          <p:cNvPr id="8" name="m0-text-245">
            <a:extLst xmlns:a="http://schemas.openxmlformats.org/drawingml/2006/main">
              <a:ext uri="{FF2B5EF4-FFF2-40B4-BE49-F238E27FC236}">
                <a16:creationId xmlns:a16="http://schemas.microsoft.com/office/drawing/2014/main" id="{E8BB2EAA-FEB2-44C1-AC54-E243833B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D9A06B"/>
                </a:solidFill>
                <a:latin typeface="Georgia"/>
                <a:ea typeface="Georgia"/>
                <a:cs typeface="Georgia"/>
              </a:defRPr>
            </a:pPr>
            <a:r>
              <a:rPr sz="2100">
                <a:solidFill>
                  <a:srgbClr val="D9A06B"/>
                </a:solidFill>
                <a:latin typeface="Georgia"/>
                <a:ea typeface="Georgia"/>
                <a:cs typeface="Georgia"/>
              </a:rPr>
              <a:t>Memory model</a:t>
            </a:r>
          </a:p>
        </p:txBody>
      </p:sp>
      <p:sp>
        <p:nvSpPr>
          <p:cNvPr id="9" name="m0-text-246">
            <a:extLst xmlns:a="http://schemas.openxmlformats.org/drawingml/2006/main">
              <a:ext uri="{FF2B5EF4-FFF2-40B4-BE49-F238E27FC236}">
                <a16:creationId xmlns:a16="http://schemas.microsoft.com/office/drawing/2014/main" id="{A2C9639C-2C38-407D-81BD-E9FB9B92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95725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useful information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across interactions.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A71809-F1BE-49EE-ACCF-B3A075DE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62200"/>
            <a:ext cx="38862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41A26"/>
          </a:solidFill>
          <a:ln xmlns:a="http://schemas.openxmlformats.org/drawingml/2006/main" w="12383">
            <a:solidFill>
              <a:srgbClr val="7FA8E3"/>
            </a:solidFill>
          </a:ln>
        </p:spPr>
      </p:sp>
      <p:sp>
        <p:nvSpPr>
          <p:cNvPr id="11" name="m0-text-247">
            <a:extLst xmlns:a="http://schemas.openxmlformats.org/drawingml/2006/main">
              <a:ext uri="{FF2B5EF4-FFF2-40B4-BE49-F238E27FC236}">
                <a16:creationId xmlns:a16="http://schemas.microsoft.com/office/drawing/2014/main" id="{1573F9EC-1AA6-44B4-85EB-8DCF3F19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5908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build a virtual human</a:t>
            </a:r>
          </a:p>
        </p:txBody>
      </p:sp>
      <p:sp>
        <p:nvSpPr>
          <p:cNvPr id="12" name="m0-text-248">
            <a:extLst xmlns:a="http://schemas.openxmlformats.org/drawingml/2006/main">
              <a:ext uri="{FF2B5EF4-FFF2-40B4-BE49-F238E27FC236}">
                <a16:creationId xmlns:a16="http://schemas.microsoft.com/office/drawing/2014/main" id="{5BB4AE66-79CB-493D-B084-8D924EE0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67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7FA8E3"/>
                </a:solidFill>
                <a:latin typeface="Georgia"/>
                <a:ea typeface="Georgia"/>
                <a:cs typeface="Georgia"/>
              </a:defRPr>
            </a:pPr>
            <a:r>
              <a:rPr sz="2100">
                <a:solidFill>
                  <a:srgbClr val="7FA8E3"/>
                </a:solidFill>
                <a:latin typeface="Georgia"/>
                <a:ea typeface="Georgia"/>
                <a:cs typeface="Georgia"/>
              </a:rPr>
              <a:t>Cognitive architecture</a:t>
            </a:r>
          </a:p>
        </p:txBody>
      </p:sp>
      <p:sp>
        <p:nvSpPr>
          <p:cNvPr id="13" name="m0-text-249">
            <a:extLst xmlns:a="http://schemas.openxmlformats.org/drawingml/2006/main">
              <a:ext uri="{FF2B5EF4-FFF2-40B4-BE49-F238E27FC236}">
                <a16:creationId xmlns:a16="http://schemas.microsoft.com/office/drawing/2014/main" id="{736D5DD4-0419-486C-AE2B-2B345DF7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95725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Connect perception, reasoning,</a:t>
            </a:r>
          </a:p>
          <a:p xmlns:a="http://schemas.openxmlformats.org/drawingml/2006/main">
            <a:pPr>
              <a:defRPr sz="165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memory and action.</a:t>
            </a:r>
          </a:p>
        </p:txBody>
      </p:sp>
    </p:spTree>
    <p:extLst>
      <p:ext uri="{BB962C8B-B14F-4D97-AF65-F5344CB8AC3E}">
        <p14:creationId xmlns:p14="http://schemas.microsoft.com/office/powerpoint/2010/main" val="110328785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2026-10-30T13:56:11.7890000Z</dcterms:created>
  <dcterms:modified xsi:type="dcterms:W3CDTF">2026-10-30T13:56:11.7890000Z</dcterms:modified>
</coreProperties>
</file>