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jpeg" ContentType="image/jpeg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12effbce0e4f19" /><Relationship Type="http://schemas.openxmlformats.org/officeDocument/2006/relationships/extended-properties" Target="/docProps/app.xml" Id="R6bc878984096457e" /><Relationship Type="http://schemas.openxmlformats.org/officeDocument/2006/relationships/officeDocument" Target="/ppt/presentation.xml" Id="R190c045bb00b4ef5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72300a2e40de456c"/>
  </ns0:sldMasterIdLst>
  <ns0:sldIdLst>
    <ns0:sldId id="256" ns1:id="R4c57281b30c24c57"/>
    <ns0:sldId id="257" ns1:id="Rd09fe1c801144182"/>
    <ns0:sldId id="258" ns1:id="R1e7b777e41de4ee0"/>
    <ns0:sldId id="259" ns1:id="Ref34fd9933384311"/>
    <ns0:sldId id="260" ns1:id="R67a28349a35748df"/>
    <ns0:sldId id="261" ns1:id="R104e501766414f5c"/>
    <ns0:sldId id="262" ns1:id="R2f07056b209743ad"/>
    <ns0:sldId id="263" ns1:id="Rd22da88ba6ee47f9"/>
    <ns0:sldId id="264" ns1:id="R4c5b70c7f8b34f81"/>
    <ns0:sldId id="265" ns1:id="R2989ebf539464596"/>
    <ns0:sldId id="266" ns1:id="R496264d1683e4647"/>
    <ns0:sldId id="267" ns1:id="Rac8e994439d0467c"/>
    <ns0:sldId id="268" ns1:id="R7800600ee48b472e"/>
    <ns0:sldId id="269" ns1:id="R865bbc5db3284fa2"/>
    <ns0:sldId id="270" ns1:id="R90742500fe4e41ac"/>
    <ns0:sldId id="271" ns1:id="R95648e123d3a422f"/>
    <ns0:sldId id="272" ns1:id="R1174377e8586474d"/>
    <ns0:sldId id="273" ns1:id="R402aeb36e52d43a2"/>
    <ns0:sldId id="274" ns1:id="Rf7cadaae85a04c85"/>
    <ns0:sldId id="275" ns1:id="Rc45394ad07f6436b"/>
    <ns0:sldId id="276" ns1:id="R6b64a6d83a0944c5"/>
    <ns0:sldId id="277" ns1:id="R95c64a74eae44fee"/>
    <ns0:sldId id="278" ns1:id="R9d7dcbcfbf5b43c1"/>
    <ns0:sldId id="279" ns1:id="R09d125a8411b4525"/>
  </ns0:sldIdLst>
  <ns0:sldSz cx="9144000" cy="51435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020577f3fcc04c84" /><ns0:Relationship Type="http://schemas.openxmlformats.org/officeDocument/2006/relationships/slideMaster" Target="/ppt/slideMasters/slideMaster1.xml" Id="R72300a2e40de456c" /><ns0:Relationship Type="http://schemas.openxmlformats.org/officeDocument/2006/relationships/presProps" Target="/ppt/presProps.xml" Id="R536b261f075c4db5" /><ns0:Relationship Type="http://schemas.openxmlformats.org/officeDocument/2006/relationships/viewProps" Target="/ppt/viewProps.xml" Id="R373318d685fc426f" /><ns0:Relationship Type="http://schemas.openxmlformats.org/officeDocument/2006/relationships/tableStyles" Target="/ppt/tableStyles.xml" Id="Redb16907f945467f" /><ns0:Relationship Type="http://schemas.openxmlformats.org/officeDocument/2006/relationships/slide" Target="/ppt/slides/slide1.xml" Id="R4c57281b30c24c57" /><ns0:Relationship Type="http://schemas.openxmlformats.org/officeDocument/2006/relationships/slide" Target="/ppt/slides/slide2.xml" Id="Rd09fe1c801144182" /><ns0:Relationship Type="http://schemas.openxmlformats.org/officeDocument/2006/relationships/slide" Target="/ppt/slides/slide3.xml" Id="R1e7b777e41de4ee0" /><ns0:Relationship Type="http://schemas.openxmlformats.org/officeDocument/2006/relationships/slide" Target="/ppt/slides/slide4.xml" Id="Ref34fd9933384311" /><ns0:Relationship Type="http://schemas.openxmlformats.org/officeDocument/2006/relationships/slide" Target="/ppt/slides/slide5.xml" Id="R67a28349a35748df" /><ns0:Relationship Type="http://schemas.openxmlformats.org/officeDocument/2006/relationships/slide" Target="/ppt/slides/slide6.xml" Id="R104e501766414f5c" /><ns0:Relationship Type="http://schemas.openxmlformats.org/officeDocument/2006/relationships/slide" Target="/ppt/slides/slide7.xml" Id="R2f07056b209743ad" /><ns0:Relationship Type="http://schemas.openxmlformats.org/officeDocument/2006/relationships/slide" Target="/ppt/slides/slide8.xml" Id="Rd22da88ba6ee47f9" /><ns0:Relationship Type="http://schemas.openxmlformats.org/officeDocument/2006/relationships/slide" Target="/ppt/slides/slide9.xml" Id="R4c5b70c7f8b34f81" /><ns0:Relationship Type="http://schemas.openxmlformats.org/officeDocument/2006/relationships/slide" Target="/ppt/slides/slide10.xml" Id="R2989ebf539464596" /><ns0:Relationship Type="http://schemas.openxmlformats.org/officeDocument/2006/relationships/slide" Target="/ppt/slides/slide11.xml" Id="R496264d1683e4647" /><ns0:Relationship Type="http://schemas.openxmlformats.org/officeDocument/2006/relationships/slide" Target="/ppt/slides/slide12.xml" Id="Rac8e994439d0467c" /><ns0:Relationship Type="http://schemas.openxmlformats.org/officeDocument/2006/relationships/slide" Target="/ppt/slides/slide13.xml" Id="R7800600ee48b472e" /><ns0:Relationship Type="http://schemas.openxmlformats.org/officeDocument/2006/relationships/slide" Target="/ppt/slides/slide14.xml" Id="R865bbc5db3284fa2" /><ns0:Relationship Type="http://schemas.openxmlformats.org/officeDocument/2006/relationships/slide" Target="/ppt/slides/slide15.xml" Id="R90742500fe4e41ac" /><ns0:Relationship Type="http://schemas.openxmlformats.org/officeDocument/2006/relationships/slide" Target="/ppt/slides/slide16.xml" Id="R95648e123d3a422f" /><ns0:Relationship Type="http://schemas.openxmlformats.org/officeDocument/2006/relationships/slide" Target="/ppt/slides/slide17.xml" Id="R1174377e8586474d" /><ns0:Relationship Type="http://schemas.openxmlformats.org/officeDocument/2006/relationships/slide" Target="/ppt/slides/slide18.xml" Id="R402aeb36e52d43a2" /><ns0:Relationship Type="http://schemas.openxmlformats.org/officeDocument/2006/relationships/slide" Target="/ppt/slides/slide19.xml" Id="Rf7cadaae85a04c85" /><ns0:Relationship Type="http://schemas.openxmlformats.org/officeDocument/2006/relationships/slide" Target="/ppt/slides/slide20.xml" Id="Rc45394ad07f6436b" /><ns0:Relationship Type="http://schemas.openxmlformats.org/officeDocument/2006/relationships/slide" Target="/ppt/slides/slide21.xml" Id="R6b64a6d83a0944c5" /><ns0:Relationship Type="http://schemas.openxmlformats.org/officeDocument/2006/relationships/slide" Target="/ppt/slides/slide22.xml" Id="R95c64a74eae44fee" /><ns0:Relationship Type="http://schemas.openxmlformats.org/officeDocument/2006/relationships/slide" Target="/ppt/slides/slide23.xml" Id="R9d7dcbcfbf5b43c1" /><ns0:Relationship Type="http://schemas.openxmlformats.org/officeDocument/2006/relationships/slide" Target="/ppt/slides/slide24.xml" Id="R09d125a8411b4525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641d5fafa7414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b7760d396f47f9" /><Relationship Type="http://schemas.openxmlformats.org/officeDocument/2006/relationships/image" Target="/ppt/media/image.jpeg" Id="R7847b489fda24fc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338de0854e4fa6" /><Relationship Type="http://schemas.openxmlformats.org/officeDocument/2006/relationships/image" Target="/ppt/media/image.png" Id="Rfe9000570db0400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4f676e59eb405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03a7eadeb1430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bf722e6dc24cc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ba33d8797f41e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0eaa859b584b29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TITLE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47b489fda24fc9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CF7AF189-A7A4-48F8-A861-0449468B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DF632CF-56C5-441A-8A11-43DC4E97EA14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_P2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9000570db04003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6561D046-2F33-4D96-A688-F2043BA98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8266DCA-24EE-499C-828D-7329EA3E031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SECTION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0643801-AF64-4890-81FA-D557F70C3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25810D2-AEBC-4A9F-9B03-304AC8780F0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269A058-506A-4380-8BD3-B3277B1B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/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FC1D7CA-527E-42BA-A8F7-BC22250D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18A667C-CD23-4BBC-AE4B-EE79FD9B310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CONTENT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467F422-43D2-4AC4-B226-6B58F8DF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PART 1 · VIRTUAL HUMANS FOUNDATIONS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1E8D-4163-45B6-BCBC-4D4FA9FC7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8C5EC6A-B241-4D80-BB58-65E9BBEBEBF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ODE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5504F87-D57A-4B81-83AE-F27E5D54E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HANDS-ON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D3FC0AB-8234-47A2-88DE-33911760F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7940335-56D2-4089-BE40-9683F1664E1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STATEM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F72380C-618D-4D73-8DC0-071A2926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C235673-01FF-4AD1-9175-FAA15D5D63D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77d449a99f46ba" /><Relationship Type="http://schemas.openxmlformats.org/officeDocument/2006/relationships/slideLayout" Target="/ppt/slideLayouts/slideLayout1.xml" Id="Ref2df8eec1114292" /><Relationship Type="http://schemas.openxmlformats.org/officeDocument/2006/relationships/slideLayout" Target="/ppt/slideLayouts/slideLayout2.xml" Id="R88e86fbb0dab4982" /><Relationship Type="http://schemas.openxmlformats.org/officeDocument/2006/relationships/slideLayout" Target="/ppt/slideLayouts/slideLayout3.xml" Id="R774bde8226bd4e7d" /><Relationship Type="http://schemas.openxmlformats.org/officeDocument/2006/relationships/slideLayout" Target="/ppt/slideLayouts/slideLayout4.xml" Id="Ra66ff9e526c84325" /><Relationship Type="http://schemas.openxmlformats.org/officeDocument/2006/relationships/slideLayout" Target="/ppt/slideLayouts/slideLayout5.xml" Id="Rf46bc7af0ef94dbb" /><Relationship Type="http://schemas.openxmlformats.org/officeDocument/2006/relationships/slideLayout" Target="/ppt/slideLayouts/slideLayout6.xml" Id="R3fba99c5dbfb4069" /><Relationship Type="http://schemas.openxmlformats.org/officeDocument/2006/relationships/slideLayout" Target="/ppt/slideLayouts/slideLayout7.xml" Id="R1c562017d36746e9" /><Relationship Type="http://schemas.openxmlformats.org/officeDocument/2006/relationships/slideLayout" Target="/ppt/slideLayouts/slideLayout8.xml" Id="R940e6175a8aa4da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4C121F5-F3A6-4DE9-807D-436B4BC5D64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2df8eec1114292"/>
    <p:sldLayoutId xmlns:r="http://schemas.openxmlformats.org/officeDocument/2006/relationships" id="2147483650" r:id="R88e86fbb0dab4982"/>
    <p:sldLayoutId xmlns:r="http://schemas.openxmlformats.org/officeDocument/2006/relationships" id="2147483651" r:id="R774bde8226bd4e7d"/>
    <p:sldLayoutId xmlns:r="http://schemas.openxmlformats.org/officeDocument/2006/relationships" id="2147483652" r:id="Ra66ff9e526c84325"/>
    <p:sldLayoutId xmlns:r="http://schemas.openxmlformats.org/officeDocument/2006/relationships" id="2147483653" r:id="Rf46bc7af0ef94dbb"/>
    <p:sldLayoutId xmlns:r="http://schemas.openxmlformats.org/officeDocument/2006/relationships" id="2147483654" r:id="R3fba99c5dbfb4069"/>
    <p:sldLayoutId xmlns:r="http://schemas.openxmlformats.org/officeDocument/2006/relationships" id="2147483655" r:id="R1c562017d36746e9"/>
    <p:sldLayoutId xmlns:r="http://schemas.openxmlformats.org/officeDocument/2006/relationships" id="2147483656" r:id="R940e6175a8aa4da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3.xml" Id="R24d4c2f84f844efa" /><ns0:Relationship Type="http://schemas.openxmlformats.org/officeDocument/2006/relationships/image" Target="/ppt/media/image2.png" Id="Rb0974b47983446fa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779263a653254472" /><ns0:Relationship Type="http://schemas.openxmlformats.org/officeDocument/2006/relationships/image" Target="/ppt/media/image3.png" Id="R4a453583deae4682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0376fe6ec7ee4026" /><ns0:Relationship Type="http://schemas.openxmlformats.org/officeDocument/2006/relationships/hyperlink" Target="https://github.com/alessandropec/virtual-humans-cognitive-architectures" TargetMode="External" Id="R54f786b4b7e94b6b" /><ns0:Relationship Type="http://schemas.openxmlformats.org/officeDocument/2006/relationships/hyperlink" Target="https://github.com/alessandropec/virtual-humans-cognitive-architectures" TargetMode="External" Id="Rfb1094623303422b" /><ns0:Relationship Type="http://schemas.openxmlformats.org/officeDocument/2006/relationships/image" Target="/ppt/media/image4.png" Id="R15d18806e3b9401f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820439308d264bad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9328adcd69f04832" /><ns0:Relationship Type="http://schemas.openxmlformats.org/officeDocument/2006/relationships/hyperlink" Target="https://github.com/stevieTheTurtle/AI_powered_VH_2026-Part_1" TargetMode="External" Id="Rcaa6ed2a2c7e4573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9cba5ebcdb0b4924" /><ns0:Relationship Type="http://schemas.openxmlformats.org/officeDocument/2006/relationships/image" Target="/ppt/media/image5.png" Id="R084323461cb346a5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13a277a14a684a6a" /><ns0:Relationship Type="http://schemas.openxmlformats.org/officeDocument/2006/relationships/hyperlink" Target="https://aistudio.google.com/" TargetMode="External" Id="Rc32062ddf13a40bd" /><ns0:Relationship Type="http://schemas.openxmlformats.org/officeDocument/2006/relationships/hyperlink" Target="https://console.groq.com/" TargetMode="External" Id="R1f9339d568d74dbc" /><ns0:Relationship Type="http://schemas.openxmlformats.org/officeDocument/2006/relationships/hyperlink" Target="https://openrouter.ai/" TargetMode="External" Id="Ra4e0dd5fcf584a79" /><ns0:Relationship Type="http://schemas.openxmlformats.org/officeDocument/2006/relationships/hyperlink" Target="https://ollama.com/" TargetMode="External" Id="R4233fea49e6a4ec7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a2496df2428549f1" /><ns0:Relationship Type="http://schemas.openxmlformats.org/officeDocument/2006/relationships/hyperlink" Target="https://ollama.com/download" TargetMode="External" Id="Rea51301ad4ab43a1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f8f3978adb594b55" /><ns0:Relationship Type="http://schemas.openxmlformats.org/officeDocument/2006/relationships/hyperlink" Target="https://code.visualstudio.com/download" TargetMode="External" Id="R2416b292e5244eeb" /><ns0:Relationship Type="http://schemas.openxmlformats.org/officeDocument/2006/relationships/hyperlink" Target="https://www.python.org/downloads/" TargetMode="External" Id="R174c4f9c1a734486" /><ns0:Relationship Type="http://schemas.openxmlformats.org/officeDocument/2006/relationships/hyperlink" Target="https://code.visualstudio.com/docs/datascience/jupyter-notebooks" TargetMode="External" Id="Re0ab13c37dc14903" /><ns0:Relationship Type="http://schemas.openxmlformats.org/officeDocument/2006/relationships/hyperlink" Target="https://github.com/alessandropec/virtual-humans-cognitive-architectures/blob/main/virtual_human_course/requirements.txt" TargetMode="External" Id="Rf42304543d3a48fc" /><ns0:Relationship Type="http://schemas.openxmlformats.org/officeDocument/2006/relationships/hyperlink" Target="https://docs.langchain.com/oss/python/langchain/overview" TargetMode="External" Id="Recbc2fd33ceb4b89" /><ns0:Relationship Type="http://schemas.openxmlformats.org/officeDocument/2006/relationships/hyperlink" Target="https://docs.langchain.com/oss/python/langgraph/overview" TargetMode="External" Id="Rd5ae88e3cabf472b" /><ns0:Relationship Type="http://schemas.openxmlformats.org/officeDocument/2006/relationships/hyperlink" Target="https://docs.pydantic.dev/latest/" TargetMode="External" Id="R5a70ea35cdee45fb" /><ns0:Relationship Type="http://schemas.openxmlformats.org/officeDocument/2006/relationships/hyperlink" Target="https://fastapi.tiangolo.com/" TargetMode="External" Id="R3479f9e23a46408c" /><ns0:Relationship Type="http://schemas.openxmlformats.org/officeDocument/2006/relationships/hyperlink" Target="https://ollama.com/download" TargetMode="External" Id="R5ac27e74941f448e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188ff84dd6514da5" /><ns0:Relationship Type="http://schemas.openxmlformats.org/officeDocument/2006/relationships/hyperlink" Target="https://github.com/alessandropec/virtual-humans-cognitive-architectures" TargetMode="External" Id="R03115274d08c49bf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5d39fc3e0d684459" /><ns0:Relationship Type="http://schemas.openxmlformats.org/officeDocument/2006/relationships/hyperlink" Target="https://marketplace.visualstudio.com/items?itemName=ms-python.python" TargetMode="External" Id="Red608f092513496d" /><ns0:Relationship Type="http://schemas.openxmlformats.org/officeDocument/2006/relationships/hyperlink" Target="https://marketplace.visualstudio.com/items?itemName=ms-toolsai.jupyter" TargetMode="External" Id="Rae14f1507d1f4848" /><ns0:Relationship Type="http://schemas.openxmlformats.org/officeDocument/2006/relationships/hyperlink" Target="https://code.visualstudio.com/download" TargetMode="External" Id="Rdf06942e2044461d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6d9329814706482b" /><ns0:Relationship Type="http://schemas.openxmlformats.org/officeDocument/2006/relationships/hyperlink" Target="https://github.com/alessandropec/virtual-humans-cognitive-architectures/blob/main/virtual_human_project/vh_embodiment_server/README.md" TargetMode="External" Id="R638024dc689c4e48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ddf6b68f0b59471c" /><ns0:Relationship Type="http://schemas.openxmlformats.org/officeDocument/2006/relationships/image" Target="/ppt/media/image6.png" Id="Rfd9ba429d83d4de0" /><ns0:Relationship Type="http://schemas.openxmlformats.org/officeDocument/2006/relationships/hyperlink" Target="https://github.com/alessandropec/virtual-humans-cognitive-architectures/blob/main/virtual_human_project/vh_cognitive_architecture_server/README.md" TargetMode="External" Id="R904d3a4cbf894e66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96c40c50dcb641b3" /><ns0:Relationship Type="http://schemas.openxmlformats.org/officeDocument/2006/relationships/image" Target="/ppt/media/image7.png" Id="Rbcaa564139cd4f51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af189f75b697454f" /><ns0:Relationship Type="http://schemas.openxmlformats.org/officeDocument/2006/relationships/hyperlink" Target="https://ollama.com/settings/keys" TargetMode="External" Id="Rbde83feb47fd4467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cfdd6e446acd4cf5" /><ns0:Relationship Type="http://schemas.openxmlformats.org/officeDocument/2006/relationships/hyperlink" Target="https://github.com/alessandropec/virtual-humans-cognitive-architectures/blob/main/virtual_human_course/Module_0/Chapter_01/Code/00_first_call.ipynb" TargetMode="External" Id="R9b39f13399514b89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1292e569b1704819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a61787d47434459c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29772770a0a74d88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79f71b1d46a04a68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9cd236e6cc044afd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ad569a3cc11740fe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8f1ef196dafe486c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c39059f2bd984899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A1C160C-DC76-48BE-A81F-8793FB2B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Alessandro Emmanuel Pecora · 29 October 2026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4437A83-AC06-4EEA-B7A6-A9EA28D1FF4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974b47983446f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7" name="m0-text-1">
            <a:extLst xmlns:a="http://schemas.openxmlformats.org/drawingml/2006/main">
              <a:ext uri="{FF2B5EF4-FFF2-40B4-BE49-F238E27FC236}">
                <a16:creationId xmlns:a16="http://schemas.microsoft.com/office/drawing/2014/main" id="{8BD9FD0D-347D-4155-BF19-131185B1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90925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Module 0 — Course Introduction and Setup</a:t>
            </a:r>
          </a:p>
        </p:txBody>
      </p:sp>
    </p:spTree>
    <p:extLst>
      <p:ext uri="{BB962C8B-B14F-4D97-AF65-F5344CB8AC3E}">
        <p14:creationId xmlns:p14="http://schemas.microsoft.com/office/powerpoint/2010/main" val="157324113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m0-text-2">
            <a:extLst xmlns:a="http://schemas.openxmlformats.org/drawingml/2006/main">
              <a:ext uri="{FF2B5EF4-FFF2-40B4-BE49-F238E27FC236}">
                <a16:creationId xmlns:a16="http://schemas.microsoft.com/office/drawing/2014/main" id="{FBD579C1-6EB5-4CF2-A903-437F1663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453583deae468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m0-text-3">
            <a:extLst xmlns:a="http://schemas.openxmlformats.org/drawingml/2006/main">
              <a:ext uri="{FF2B5EF4-FFF2-40B4-BE49-F238E27FC236}">
                <a16:creationId xmlns:a16="http://schemas.microsoft.com/office/drawing/2014/main" id="{27D86ACF-F5D2-45A4-BF57-CBCEEA5E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9775"/>
            <a:ext cx="5429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40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Course</a:t>
            </a:r>
          </a:p>
          <a:p xmlns:a="http://schemas.openxmlformats.org/drawingml/2006/main">
            <a:pPr>
              <a:defRPr sz="40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40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Introduction</a:t>
            </a:r>
          </a:p>
        </p:txBody>
      </p:sp>
      <p:sp>
        <p:nvSpPr>
          <p:cNvPr id="4" name="m0-text-4">
            <a:extLst xmlns:a="http://schemas.openxmlformats.org/drawingml/2006/main">
              <a:ext uri="{FF2B5EF4-FFF2-40B4-BE49-F238E27FC236}">
                <a16:creationId xmlns:a16="http://schemas.microsoft.com/office/drawing/2014/main" id="{065E6E65-7D33-4297-B9CF-3708D52B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57764144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m0-text-5">
            <a:extLst xmlns:a="http://schemas.openxmlformats.org/drawingml/2006/main">
              <a:ext uri="{FF2B5EF4-FFF2-40B4-BE49-F238E27FC236}">
                <a16:creationId xmlns:a16="http://schemas.microsoft.com/office/drawing/2014/main" id="{127066C1-0B21-459B-991E-5073CCB0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6">
            <a:extLst xmlns:a="http://schemas.openxmlformats.org/drawingml/2006/main">
              <a:ext uri="{FF2B5EF4-FFF2-40B4-BE49-F238E27FC236}">
                <a16:creationId xmlns:a16="http://schemas.microsoft.com/office/drawing/2014/main" id="{16BF0151-D8C2-4BF6-A3B5-59A53562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7">
            <a:extLst xmlns:a="http://schemas.openxmlformats.org/drawingml/2006/main">
              <a:ext uri="{FF2B5EF4-FFF2-40B4-BE49-F238E27FC236}">
                <a16:creationId xmlns:a16="http://schemas.microsoft.com/office/drawing/2014/main" id="{800627DE-D82F-42ED-B4E8-E6AA7C82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4" name="m0-text-8">
            <a:extLst xmlns:a="http://schemas.openxmlformats.org/drawingml/2006/main">
              <a:ext uri="{FF2B5EF4-FFF2-40B4-BE49-F238E27FC236}">
                <a16:creationId xmlns:a16="http://schemas.microsoft.com/office/drawing/2014/main" id="{BA275A89-2855-41FD-920E-3FD54BB3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Course Materials</a:t>
            </a:r>
          </a:p>
        </p:txBody>
      </p:sp>
      <p:sp>
        <p:nvSpPr>
          <p:cNvPr id="5" name="m0-text-9">
            <a:extLst xmlns:a="http://schemas.openxmlformats.org/drawingml/2006/main">
              <a:ext uri="{FF2B5EF4-FFF2-40B4-BE49-F238E27FC236}">
                <a16:creationId xmlns:a16="http://schemas.microsoft.com/office/drawing/2014/main" id="{691E663B-2E67-4D4C-84BC-DF210EAE7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1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Everything you need is on GitHub.</a:t>
            </a:r>
          </a:p>
        </p:txBody>
      </p:sp>
      <p:sp>
        <p:nvSpPr>
          <p:cNvPr id="6" name="m0-text-10">
            <a:extLst xmlns:a="http://schemas.openxmlformats.org/drawingml/2006/main">
              <a:ext uri="{FF2B5EF4-FFF2-40B4-BE49-F238E27FC236}">
                <a16:creationId xmlns:a16="http://schemas.microsoft.com/office/drawing/2014/main" id="{1A96F938-D937-417D-B18C-3219391F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54292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Slides in PowerPoint and PDF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Notebooks and setup instructions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Browser avatar and Python agent</a:t>
            </a:r>
          </a:p>
        </p:txBody>
      </p:sp>
      <p:sp>
        <p:nvSpPr>
          <p:cNvPr id="7" name="m0-text-11">
            <a:extLst xmlns:a="http://schemas.openxmlformats.org/drawingml/2006/main">
              <a:ext uri="{FF2B5EF4-FFF2-40B4-BE49-F238E27FC236}">
                <a16:creationId xmlns:a16="http://schemas.microsoft.com/office/drawing/2014/main" id="{412F19DB-6F50-4F88-9CD1-A1270140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24275"/>
            <a:ext cx="571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4f786b4b7e94b6b"/>
              </a:rPr>
              <a:t>github.com/alessandropec/</a:t>
            </a:r>
          </a:p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b1094623303422b"/>
              </a:rPr>
              <a:t>virtual-humans-cognitive-architectures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d18806e3b9401f"/>
          <a:stretch xmlns:a="http://schemas.openxmlformats.org/drawingml/2006/main"/>
        </p:blipFill>
        <p:spPr>
          <a:xfrm xmlns:a="http://schemas.openxmlformats.org/drawingml/2006/main">
            <a:off x="6534150" y="1847850"/>
            <a:ext cx="2076450" cy="2076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2767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m0-text-12">
            <a:extLst xmlns:a="http://schemas.openxmlformats.org/drawingml/2006/main">
              <a:ext uri="{FF2B5EF4-FFF2-40B4-BE49-F238E27FC236}">
                <a16:creationId xmlns:a16="http://schemas.microsoft.com/office/drawing/2014/main" id="{23D2F716-3216-46BE-8DF9-FDAA03B7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3">
            <a:extLst xmlns:a="http://schemas.openxmlformats.org/drawingml/2006/main">
              <a:ext uri="{FF2B5EF4-FFF2-40B4-BE49-F238E27FC236}">
                <a16:creationId xmlns:a16="http://schemas.microsoft.com/office/drawing/2014/main" id="{3AA3E566-43E7-4604-A417-1D77EC55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4">
            <a:extLst xmlns:a="http://schemas.openxmlformats.org/drawingml/2006/main">
              <a:ext uri="{FF2B5EF4-FFF2-40B4-BE49-F238E27FC236}">
                <a16:creationId xmlns:a16="http://schemas.microsoft.com/office/drawing/2014/main" id="{BD3B09DF-21F9-424C-9817-6F50F4AA1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4" name="m0-text-15">
            <a:extLst xmlns:a="http://schemas.openxmlformats.org/drawingml/2006/main">
              <a:ext uri="{FF2B5EF4-FFF2-40B4-BE49-F238E27FC236}">
                <a16:creationId xmlns:a16="http://schemas.microsoft.com/office/drawing/2014/main" id="{A02F67F8-3D7E-4960-A820-ECA82602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Course Programme</a:t>
            </a:r>
          </a:p>
        </p:txBody>
      </p:sp>
      <p:sp>
        <p:nvSpPr>
          <p:cNvPr id="5" name="m0-text-16">
            <a:extLst xmlns:a="http://schemas.openxmlformats.org/drawingml/2006/main">
              <a:ext uri="{FF2B5EF4-FFF2-40B4-BE49-F238E27FC236}">
                <a16:creationId xmlns:a16="http://schemas.microsoft.com/office/drawing/2014/main" id="{77E174A6-81D0-4259-AE41-76C106CED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Module 0</a:t>
            </a:r>
          </a:p>
        </p:txBody>
      </p:sp>
      <p:sp>
        <p:nvSpPr>
          <p:cNvPr id="6" name="m0-text-17">
            <a:extLst xmlns:a="http://schemas.openxmlformats.org/drawingml/2006/main">
              <a:ext uri="{FF2B5EF4-FFF2-40B4-BE49-F238E27FC236}">
                <a16:creationId xmlns:a16="http://schemas.microsoft.com/office/drawing/2014/main" id="{1426C121-C672-4013-B9B2-4F3919CA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135255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Course Introduction and Setup</a:t>
            </a:r>
          </a:p>
        </p:txBody>
      </p:sp>
      <p:sp>
        <p:nvSpPr>
          <p:cNvPr id="7" name="m0-text-18">
            <a:extLst xmlns:a="http://schemas.openxmlformats.org/drawingml/2006/main">
              <a:ext uri="{FF2B5EF4-FFF2-40B4-BE49-F238E27FC236}">
                <a16:creationId xmlns:a16="http://schemas.microsoft.com/office/drawing/2014/main" id="{BD687D21-707D-4FE9-B08D-968D9357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21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Module 1</a:t>
            </a:r>
          </a:p>
        </p:txBody>
      </p:sp>
      <p:sp>
        <p:nvSpPr>
          <p:cNvPr id="8" name="m0-text-19">
            <a:extLst xmlns:a="http://schemas.openxmlformats.org/drawingml/2006/main">
              <a:ext uri="{FF2B5EF4-FFF2-40B4-BE49-F238E27FC236}">
                <a16:creationId xmlns:a16="http://schemas.microsoft.com/office/drawing/2014/main" id="{DDE35A9B-4C95-438F-AB36-C805DFB5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196215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Cognitive Architectures and Large Language Models</a:t>
            </a:r>
          </a:p>
        </p:txBody>
      </p:sp>
      <p:sp>
        <p:nvSpPr>
          <p:cNvPr id="9" name="m0-text-20">
            <a:extLst xmlns:a="http://schemas.openxmlformats.org/drawingml/2006/main">
              <a:ext uri="{FF2B5EF4-FFF2-40B4-BE49-F238E27FC236}">
                <a16:creationId xmlns:a16="http://schemas.microsoft.com/office/drawing/2014/main" id="{6D6DF586-C091-4317-9F51-4470F6E4C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343150"/>
            <a:ext cx="6715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Psychological Foundations of Cognitive Architectures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LLMs, Working Memory and Prompting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Introduction to LangChain</a:t>
            </a:r>
          </a:p>
        </p:txBody>
      </p:sp>
      <p:sp>
        <p:nvSpPr>
          <p:cNvPr id="10" name="m0-text-21">
            <a:extLst xmlns:a="http://schemas.openxmlformats.org/drawingml/2006/main">
              <a:ext uri="{FF2B5EF4-FFF2-40B4-BE49-F238E27FC236}">
                <a16:creationId xmlns:a16="http://schemas.microsoft.com/office/drawing/2014/main" id="{7EFE151E-00BE-4380-B3AF-1DCD5BEE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Module 2</a:t>
            </a:r>
          </a:p>
        </p:txBody>
      </p:sp>
      <p:sp>
        <p:nvSpPr>
          <p:cNvPr id="11" name="m0-text-22">
            <a:extLst xmlns:a="http://schemas.openxmlformats.org/drawingml/2006/main">
              <a:ext uri="{FF2B5EF4-FFF2-40B4-BE49-F238E27FC236}">
                <a16:creationId xmlns:a16="http://schemas.microsoft.com/office/drawing/2014/main" id="{FD0EC0FB-4285-42E7-9962-A6A8CE47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323850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From Large Language Models to Virtual Humans</a:t>
            </a:r>
          </a:p>
        </p:txBody>
      </p:sp>
      <p:sp>
        <p:nvSpPr>
          <p:cNvPr id="12" name="m0-text-23">
            <a:extLst xmlns:a="http://schemas.openxmlformats.org/drawingml/2006/main">
              <a:ext uri="{FF2B5EF4-FFF2-40B4-BE49-F238E27FC236}">
                <a16:creationId xmlns:a16="http://schemas.microsoft.com/office/drawing/2014/main" id="{C6720127-781F-4CB2-869A-658B3640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3619500"/>
            <a:ext cx="6715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Agentic Frameworks and LangGraph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Building Stateful Agents with Memory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Integration with the Virtual Human</a:t>
            </a:r>
          </a:p>
        </p:txBody>
      </p:sp>
      <p:sp>
        <p:nvSpPr>
          <p:cNvPr id="13" name="m0-text-24">
            <a:extLst xmlns:a="http://schemas.openxmlformats.org/drawingml/2006/main">
              <a:ext uri="{FF2B5EF4-FFF2-40B4-BE49-F238E27FC236}">
                <a16:creationId xmlns:a16="http://schemas.microsoft.com/office/drawing/2014/main" id="{5D5E41C7-B1A2-4834-B32B-C2F7D891F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Webinar</a:t>
            </a:r>
          </a:p>
        </p:txBody>
      </p:sp>
      <p:sp>
        <p:nvSpPr>
          <p:cNvPr id="14" name="m0-text-25">
            <a:extLst xmlns:a="http://schemas.openxmlformats.org/drawingml/2006/main">
              <a:ext uri="{FF2B5EF4-FFF2-40B4-BE49-F238E27FC236}">
                <a16:creationId xmlns:a16="http://schemas.microsoft.com/office/drawing/2014/main" id="{FA68E834-46B0-40FC-A256-D6A04F21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445770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Further Practice</a:t>
            </a:r>
          </a:p>
        </p:txBody>
      </p:sp>
    </p:spTree>
    <p:extLst>
      <p:ext uri="{BB962C8B-B14F-4D97-AF65-F5344CB8AC3E}">
        <p14:creationId xmlns:p14="http://schemas.microsoft.com/office/powerpoint/2010/main" val="9440026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0-text-26">
            <a:extLst xmlns:a="http://schemas.openxmlformats.org/drawingml/2006/main">
              <a:ext uri="{FF2B5EF4-FFF2-40B4-BE49-F238E27FC236}">
                <a16:creationId xmlns:a16="http://schemas.microsoft.com/office/drawing/2014/main" id="{3CD2B6DB-5E6C-4E79-9808-AD4B28C08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7">
            <a:extLst xmlns:a="http://schemas.openxmlformats.org/drawingml/2006/main">
              <a:ext uri="{FF2B5EF4-FFF2-40B4-BE49-F238E27FC236}">
                <a16:creationId xmlns:a16="http://schemas.microsoft.com/office/drawing/2014/main" id="{C6B75020-765D-45D8-9956-B10CD99B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8">
            <a:extLst xmlns:a="http://schemas.openxmlformats.org/drawingml/2006/main">
              <a:ext uri="{FF2B5EF4-FFF2-40B4-BE49-F238E27FC236}">
                <a16:creationId xmlns:a16="http://schemas.microsoft.com/office/drawing/2014/main" id="{DF037357-EF9F-4187-B533-7C327288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4" name="m0-text-29">
            <a:extLst xmlns:a="http://schemas.openxmlformats.org/drawingml/2006/main">
              <a:ext uri="{FF2B5EF4-FFF2-40B4-BE49-F238E27FC236}">
                <a16:creationId xmlns:a16="http://schemas.microsoft.com/office/drawing/2014/main" id="{987170EA-8605-4BFF-B090-1A5082D3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Virtual Humans Foundations</a:t>
            </a:r>
          </a:p>
        </p:txBody>
      </p:sp>
      <p:sp>
        <p:nvSpPr>
          <p:cNvPr id="5" name="m0-text-30">
            <a:extLst xmlns:a="http://schemas.openxmlformats.org/drawingml/2006/main">
              <a:ext uri="{FF2B5EF4-FFF2-40B4-BE49-F238E27FC236}">
                <a16:creationId xmlns:a16="http://schemas.microsoft.com/office/drawing/2014/main" id="{B87A868B-10B4-4E01-B38F-2E08D490B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822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1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AI-Powered Virtual Humans</a:t>
            </a:r>
          </a:p>
        </p:txBody>
      </p:sp>
      <p:sp>
        <p:nvSpPr>
          <p:cNvPr id="6" name="m0-text-31">
            <a:extLst xmlns:a="http://schemas.openxmlformats.org/drawingml/2006/main">
              <a:ext uri="{FF2B5EF4-FFF2-40B4-BE49-F238E27FC236}">
                <a16:creationId xmlns:a16="http://schemas.microsoft.com/office/drawing/2014/main" id="{5612EF68-609D-40D5-ABA6-07B43461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822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 optional course to take before this one.</a:t>
            </a:r>
          </a:p>
        </p:txBody>
      </p:sp>
      <p:sp>
        <p:nvSpPr>
          <p:cNvPr id="7" name="m0-text-32">
            <a:extLst xmlns:a="http://schemas.openxmlformats.org/drawingml/2006/main">
              <a:ext uri="{FF2B5EF4-FFF2-40B4-BE49-F238E27FC236}">
                <a16:creationId xmlns:a16="http://schemas.microsoft.com/office/drawing/2014/main" id="{665CBEF0-E62D-435B-9A11-A9245919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Foundations of virtual humans.</a:t>
            </a:r>
          </a:p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Build an embodiment in Unity with speech,</a:t>
            </a:r>
          </a:p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lip-sync, gestures and emotions.</a:t>
            </a:r>
          </a:p>
        </p:txBody>
      </p:sp>
      <p:sp>
        <p:nvSpPr>
          <p:cNvPr id="8" name="m0-text-33">
            <a:extLst xmlns:a="http://schemas.openxmlformats.org/drawingml/2006/main">
              <a:ext uri="{FF2B5EF4-FFF2-40B4-BE49-F238E27FC236}">
                <a16:creationId xmlns:a16="http://schemas.microsoft.com/office/drawing/2014/main" id="{B65577CC-B5F3-455E-B52A-C5132A93B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0"/>
            <a:ext cx="822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Recommended background; not required for this course.</a:t>
            </a:r>
          </a:p>
        </p:txBody>
      </p:sp>
      <p:sp>
        <p:nvSpPr>
          <p:cNvPr id="9" name="m0-text-34">
            <a:extLst xmlns:a="http://schemas.openxmlformats.org/drawingml/2006/main">
              <a:ext uri="{FF2B5EF4-FFF2-40B4-BE49-F238E27FC236}">
                <a16:creationId xmlns:a16="http://schemas.microsoft.com/office/drawing/2014/main" id="{0C272BB1-0B84-49A0-A714-A1BA91BC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4375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aa6ed2a2c7e4573"/>
              </a:rPr>
              <a:t>Course repository</a:t>
            </a:r>
          </a:p>
        </p:txBody>
      </p:sp>
    </p:spTree>
    <p:extLst>
      <p:ext uri="{BB962C8B-B14F-4D97-AF65-F5344CB8AC3E}">
        <p14:creationId xmlns:p14="http://schemas.microsoft.com/office/powerpoint/2010/main" val="54275204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m0-text-35">
            <a:extLst xmlns:a="http://schemas.openxmlformats.org/drawingml/2006/main">
              <a:ext uri="{FF2B5EF4-FFF2-40B4-BE49-F238E27FC236}">
                <a16:creationId xmlns:a16="http://schemas.microsoft.com/office/drawing/2014/main" id="{4036175B-360C-45DC-887F-4CFC563EE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4323461cb346a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m0-text-36">
            <a:extLst xmlns:a="http://schemas.openxmlformats.org/drawingml/2006/main">
              <a:ext uri="{FF2B5EF4-FFF2-40B4-BE49-F238E27FC236}">
                <a16:creationId xmlns:a16="http://schemas.microsoft.com/office/drawing/2014/main" id="{831AD7CD-B130-4C13-9D02-5AF301A9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9775"/>
            <a:ext cx="5429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40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Setting Up</a:t>
            </a:r>
          </a:p>
        </p:txBody>
      </p:sp>
      <p:sp>
        <p:nvSpPr>
          <p:cNvPr id="4" name="m0-text-37">
            <a:extLst xmlns:a="http://schemas.openxmlformats.org/drawingml/2006/main">
              <a:ext uri="{FF2B5EF4-FFF2-40B4-BE49-F238E27FC236}">
                <a16:creationId xmlns:a16="http://schemas.microsoft.com/office/drawing/2014/main" id="{2D34EE54-DE89-4C0B-8CF0-9C1B4B66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9061052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0-text-38">
            <a:extLst xmlns:a="http://schemas.openxmlformats.org/drawingml/2006/main">
              <a:ext uri="{FF2B5EF4-FFF2-40B4-BE49-F238E27FC236}">
                <a16:creationId xmlns:a16="http://schemas.microsoft.com/office/drawing/2014/main" id="{0B8347A7-C68B-42E0-B490-AD84FA2C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39">
            <a:extLst xmlns:a="http://schemas.openxmlformats.org/drawingml/2006/main">
              <a:ext uri="{FF2B5EF4-FFF2-40B4-BE49-F238E27FC236}">
                <a16:creationId xmlns:a16="http://schemas.microsoft.com/office/drawing/2014/main" id="{13100D65-441B-4A88-99ED-4FF87256B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40">
            <a:extLst xmlns:a="http://schemas.openxmlformats.org/drawingml/2006/main">
              <a:ext uri="{FF2B5EF4-FFF2-40B4-BE49-F238E27FC236}">
                <a16:creationId xmlns:a16="http://schemas.microsoft.com/office/drawing/2014/main" id="{7468CCE6-3092-4C71-9518-C0073FF2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4" name="m0-text-41">
            <a:extLst xmlns:a="http://schemas.openxmlformats.org/drawingml/2006/main">
              <a:ext uri="{FF2B5EF4-FFF2-40B4-BE49-F238E27FC236}">
                <a16:creationId xmlns:a16="http://schemas.microsoft.com/office/drawing/2014/main" id="{5B9FE76C-3D2C-42CE-BD55-66F0DC20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First, We Need the Models</a:t>
            </a:r>
          </a:p>
        </p:txBody>
      </p:sp>
      <p:sp>
        <p:nvSpPr>
          <p:cNvPr id="5" name="m0-text-42">
            <a:extLst xmlns:a="http://schemas.openxmlformats.org/drawingml/2006/main">
              <a:ext uri="{FF2B5EF4-FFF2-40B4-BE49-F238E27FC236}">
                <a16:creationId xmlns:a16="http://schemas.microsoft.com/office/drawing/2014/main" id="{F4513B5C-9D29-4AB9-B17E-932090E1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822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Providers host models and make them available through an API.</a:t>
            </a:r>
          </a:p>
        </p:txBody>
      </p:sp>
      <p:sp>
        <p:nvSpPr>
          <p:cNvPr id="6" name="m0-text-43">
            <a:extLst xmlns:a="http://schemas.openxmlformats.org/drawingml/2006/main">
              <a:ext uri="{FF2B5EF4-FFF2-40B4-BE49-F238E27FC236}">
                <a16:creationId xmlns:a16="http://schemas.microsoft.com/office/drawing/2014/main" id="{D8A4D458-6605-4083-86AB-FA351CD4B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Google AI Studio</a:t>
            </a:r>
          </a:p>
        </p:txBody>
      </p:sp>
      <p:sp>
        <p:nvSpPr>
          <p:cNvPr id="7" name="m0-text-44">
            <a:extLst xmlns:a="http://schemas.openxmlformats.org/drawingml/2006/main">
              <a:ext uri="{FF2B5EF4-FFF2-40B4-BE49-F238E27FC236}">
                <a16:creationId xmlns:a16="http://schemas.microsoft.com/office/drawing/2014/main" id="{678E324D-8878-4ED8-97C1-8BD44E0E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5742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32062ddf13a40bd"/>
              </a:rPr>
              <a:t>aistudio.google.com</a:t>
            </a:r>
          </a:p>
        </p:txBody>
      </p:sp>
      <p:sp>
        <p:nvSpPr>
          <p:cNvPr id="8" name="m0-text-45">
            <a:extLst xmlns:a="http://schemas.openxmlformats.org/drawingml/2006/main">
              <a:ext uri="{FF2B5EF4-FFF2-40B4-BE49-F238E27FC236}">
                <a16:creationId xmlns:a16="http://schemas.microsoft.com/office/drawing/2014/main" id="{C0C978F2-A3FE-45D3-9760-C37322C2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765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Groq</a:t>
            </a:r>
          </a:p>
        </p:txBody>
      </p:sp>
      <p:sp>
        <p:nvSpPr>
          <p:cNvPr id="9" name="m0-text-46">
            <a:extLst xmlns:a="http://schemas.openxmlformats.org/drawingml/2006/main">
              <a:ext uri="{FF2B5EF4-FFF2-40B4-BE49-F238E27FC236}">
                <a16:creationId xmlns:a16="http://schemas.microsoft.com/office/drawing/2014/main" id="{22FD8EBA-4018-43BB-A843-A2C20C8C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69557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f9339d568d74dbc"/>
              </a:rPr>
              <a:t>console.groq.com</a:t>
            </a:r>
          </a:p>
        </p:txBody>
      </p:sp>
      <p:sp>
        <p:nvSpPr>
          <p:cNvPr id="10" name="m0-text-47">
            <a:extLst xmlns:a="http://schemas.openxmlformats.org/drawingml/2006/main">
              <a:ext uri="{FF2B5EF4-FFF2-40B4-BE49-F238E27FC236}">
                <a16:creationId xmlns:a16="http://schemas.microsoft.com/office/drawing/2014/main" id="{77F0F10B-993A-499B-B8A9-18B57E12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146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OpenRouter</a:t>
            </a:r>
          </a:p>
        </p:txBody>
      </p:sp>
      <p:sp>
        <p:nvSpPr>
          <p:cNvPr id="11" name="m0-text-48">
            <a:extLst xmlns:a="http://schemas.openxmlformats.org/drawingml/2006/main">
              <a:ext uri="{FF2B5EF4-FFF2-40B4-BE49-F238E27FC236}">
                <a16:creationId xmlns:a16="http://schemas.microsoft.com/office/drawing/2014/main" id="{A20587AC-75B8-4C8F-9001-79C4D7EB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3372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4e0dd5fcf584a79"/>
              </a:rPr>
              <a:t>openrouter.ai</a:t>
            </a:r>
          </a:p>
        </p:txBody>
      </p:sp>
      <p:sp>
        <p:nvSpPr>
          <p:cNvPr id="12" name="m0-text-49">
            <a:extLst xmlns:a="http://schemas.openxmlformats.org/drawingml/2006/main">
              <a:ext uri="{FF2B5EF4-FFF2-40B4-BE49-F238E27FC236}">
                <a16:creationId xmlns:a16="http://schemas.microsoft.com/office/drawing/2014/main" id="{C856B862-F559-4373-909F-5961BC42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528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Ollama Cloud</a:t>
            </a:r>
          </a:p>
        </p:txBody>
      </p:sp>
      <p:sp>
        <p:nvSpPr>
          <p:cNvPr id="13" name="m0-text-50">
            <a:extLst xmlns:a="http://schemas.openxmlformats.org/drawingml/2006/main">
              <a:ext uri="{FF2B5EF4-FFF2-40B4-BE49-F238E27FC236}">
                <a16:creationId xmlns:a16="http://schemas.microsoft.com/office/drawing/2014/main" id="{9E120B13-DCD7-4EBC-9934-3AC352A1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57187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4233fea49e6a4ec7"/>
              </a:rPr>
              <a:t>ollama.com</a:t>
            </a:r>
          </a:p>
        </p:txBody>
      </p:sp>
      <p:sp>
        <p:nvSpPr>
          <p:cNvPr id="14" name="m0-text-51">
            <a:extLst xmlns:a="http://schemas.openxmlformats.org/drawingml/2006/main">
              <a:ext uri="{FF2B5EF4-FFF2-40B4-BE49-F238E27FC236}">
                <a16:creationId xmlns:a16="http://schemas.microsoft.com/office/drawing/2014/main" id="{D555318E-F360-49B8-8EB9-C8672F54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43375"/>
            <a:ext cx="822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Create an account, generate an API key and save it in the YAML file.</a:t>
            </a:r>
          </a:p>
        </p:txBody>
      </p:sp>
      <p:sp>
        <p:nvSpPr>
          <p:cNvPr id="15" name="m0-text-52">
            <a:extLst xmlns:a="http://schemas.openxmlformats.org/drawingml/2006/main">
              <a:ext uri="{FF2B5EF4-FFF2-40B4-BE49-F238E27FC236}">
                <a16:creationId xmlns:a16="http://schemas.microsoft.com/office/drawing/2014/main" id="{2741DBC0-8B74-4D16-ACA5-150FFF550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0"/>
            <a:ext cx="822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Free access has limits: selected models, request quotas and account eligibility.</a:t>
            </a:r>
          </a:p>
        </p:txBody>
      </p:sp>
    </p:spTree>
    <p:extLst>
      <p:ext uri="{BB962C8B-B14F-4D97-AF65-F5344CB8AC3E}">
        <p14:creationId xmlns:p14="http://schemas.microsoft.com/office/powerpoint/2010/main" val="32103002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0-text-53">
            <a:extLst xmlns:a="http://schemas.openxmlformats.org/drawingml/2006/main">
              <a:ext uri="{FF2B5EF4-FFF2-40B4-BE49-F238E27FC236}">
                <a16:creationId xmlns:a16="http://schemas.microsoft.com/office/drawing/2014/main" id="{7F85A272-CE27-4640-B039-FCCC5C4F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54">
            <a:extLst xmlns:a="http://schemas.openxmlformats.org/drawingml/2006/main">
              <a:ext uri="{FF2B5EF4-FFF2-40B4-BE49-F238E27FC236}">
                <a16:creationId xmlns:a16="http://schemas.microsoft.com/office/drawing/2014/main" id="{896D951B-1F20-4693-A84B-4EE6815D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55">
            <a:extLst xmlns:a="http://schemas.openxmlformats.org/drawingml/2006/main">
              <a:ext uri="{FF2B5EF4-FFF2-40B4-BE49-F238E27FC236}">
                <a16:creationId xmlns:a16="http://schemas.microsoft.com/office/drawing/2014/main" id="{2F10E88B-DF18-4193-9030-91168966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4" name="m0-text-56">
            <a:extLst xmlns:a="http://schemas.openxmlformats.org/drawingml/2006/main">
              <a:ext uri="{FF2B5EF4-FFF2-40B4-BE49-F238E27FC236}">
                <a16:creationId xmlns:a16="http://schemas.microsoft.com/office/drawing/2014/main" id="{B083C327-0D4C-461E-8A47-6D6F6CD77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Cloud and Local Models</a:t>
            </a:r>
          </a:p>
        </p:txBody>
      </p:sp>
      <p:sp>
        <p:nvSpPr>
          <p:cNvPr id="5" name="m0-text-57">
            <a:extLst xmlns:a="http://schemas.openxmlformats.org/drawingml/2006/main">
              <a:ext uri="{FF2B5EF4-FFF2-40B4-BE49-F238E27FC236}">
                <a16:creationId xmlns:a16="http://schemas.microsoft.com/office/drawing/2014/main" id="{4810F337-1007-437F-A933-08E9B767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3790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2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Cloud</a:t>
            </a:r>
          </a:p>
        </p:txBody>
      </p:sp>
      <p:sp>
        <p:nvSpPr>
          <p:cNvPr id="6" name="m0-text-58">
            <a:extLst xmlns:a="http://schemas.openxmlformats.org/drawingml/2006/main">
              <a:ext uri="{FF2B5EF4-FFF2-40B4-BE49-F238E27FC236}">
                <a16:creationId xmlns:a16="http://schemas.microsoft.com/office/drawing/2014/main" id="{DA7703C4-C6AF-40CB-A41D-3B3369B2F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19325"/>
            <a:ext cx="37909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Models run on a provider’s servers.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Access them through an API.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 an account and an API key.</a:t>
            </a:r>
          </a:p>
        </p:txBody>
      </p:sp>
      <p:sp>
        <p:nvSpPr>
          <p:cNvPr id="7" name="m0-text-59">
            <a:extLst xmlns:a="http://schemas.openxmlformats.org/drawingml/2006/main">
              <a:ext uri="{FF2B5EF4-FFF2-40B4-BE49-F238E27FC236}">
                <a16:creationId xmlns:a16="http://schemas.microsoft.com/office/drawing/2014/main" id="{02B1B93E-EBAC-4130-97C2-26985B6E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524000"/>
            <a:ext cx="3790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2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Local</a:t>
            </a:r>
          </a:p>
        </p:txBody>
      </p:sp>
      <p:sp>
        <p:nvSpPr>
          <p:cNvPr id="8" name="m0-text-60">
            <a:extLst xmlns:a="http://schemas.openxmlformats.org/drawingml/2006/main">
              <a:ext uri="{FF2B5EF4-FFF2-40B4-BE49-F238E27FC236}">
                <a16:creationId xmlns:a16="http://schemas.microsoft.com/office/drawing/2014/main" id="{D8A32626-650B-4052-9EDD-516565A73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9325"/>
            <a:ext cx="37909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Models run on your computer.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a51301ad4ab43a1"/>
              </a:rPr>
              <a:t>Ollama</a:t>
            </a: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 is one way to run them;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other tools are available.</a:t>
            </a:r>
          </a:p>
        </p:txBody>
      </p:sp>
      <p:sp>
        <p:nvSpPr>
          <p:cNvPr id="9" name="m0-text-61">
            <a:extLst xmlns:a="http://schemas.openxmlformats.org/drawingml/2006/main">
              <a:ext uri="{FF2B5EF4-FFF2-40B4-BE49-F238E27FC236}">
                <a16:creationId xmlns:a16="http://schemas.microsoft.com/office/drawing/2014/main" id="{9278EA4C-CD11-402B-971E-A5C7FCD8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9100"/>
            <a:ext cx="8229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In this course, we use cloud models with free tiers.</a:t>
            </a:r>
          </a:p>
        </p:txBody>
      </p:sp>
    </p:spTree>
    <p:extLst>
      <p:ext uri="{BB962C8B-B14F-4D97-AF65-F5344CB8AC3E}">
        <p14:creationId xmlns:p14="http://schemas.microsoft.com/office/powerpoint/2010/main" val="27521328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m0-text-62">
            <a:extLst xmlns:a="http://schemas.openxmlformats.org/drawingml/2006/main">
              <a:ext uri="{FF2B5EF4-FFF2-40B4-BE49-F238E27FC236}">
                <a16:creationId xmlns:a16="http://schemas.microsoft.com/office/drawing/2014/main" id="{A55547F3-16FE-4517-82EE-EA34602EC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63">
            <a:extLst xmlns:a="http://schemas.openxmlformats.org/drawingml/2006/main">
              <a:ext uri="{FF2B5EF4-FFF2-40B4-BE49-F238E27FC236}">
                <a16:creationId xmlns:a16="http://schemas.microsoft.com/office/drawing/2014/main" id="{05010774-E30F-430C-9134-87439959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64">
            <a:extLst xmlns:a="http://schemas.openxmlformats.org/drawingml/2006/main">
              <a:ext uri="{FF2B5EF4-FFF2-40B4-BE49-F238E27FC236}">
                <a16:creationId xmlns:a16="http://schemas.microsoft.com/office/drawing/2014/main" id="{64EF58CC-C245-4D53-80CC-6EE9DEFF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4" name="m0-text-65">
            <a:extLst xmlns:a="http://schemas.openxmlformats.org/drawingml/2006/main">
              <a:ext uri="{FF2B5EF4-FFF2-40B4-BE49-F238E27FC236}">
                <a16:creationId xmlns:a16="http://schemas.microsoft.com/office/drawing/2014/main" id="{4D64CAB7-851C-4450-B595-DCAD40666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The Technology Stack</a:t>
            </a:r>
          </a:p>
        </p:txBody>
      </p:sp>
      <p:sp>
        <p:nvSpPr>
          <p:cNvPr id="5" name="m0-text-66">
            <a:extLst xmlns:a="http://schemas.openxmlformats.org/drawingml/2006/main">
              <a:ext uri="{FF2B5EF4-FFF2-40B4-BE49-F238E27FC236}">
                <a16:creationId xmlns:a16="http://schemas.microsoft.com/office/drawing/2014/main" id="{8D695AB4-82D0-4D12-8020-074FA0046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43025"/>
            <a:ext cx="22288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COMPONENT</a:t>
            </a:r>
          </a:p>
        </p:txBody>
      </p:sp>
      <p:sp>
        <p:nvSpPr>
          <p:cNvPr id="6" name="m0-text-67">
            <a:extLst xmlns:a="http://schemas.openxmlformats.org/drawingml/2006/main">
              <a:ext uri="{FF2B5EF4-FFF2-40B4-BE49-F238E27FC236}">
                <a16:creationId xmlns:a16="http://schemas.microsoft.com/office/drawing/2014/main" id="{A6C751CE-48FB-4584-B194-EF3F81C51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43025"/>
            <a:ext cx="419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PURPOSE</a:t>
            </a:r>
          </a:p>
        </p:txBody>
      </p:sp>
      <p:sp>
        <p:nvSpPr>
          <p:cNvPr id="7" name="m0-text-68">
            <a:extLst xmlns:a="http://schemas.openxmlformats.org/drawingml/2006/main">
              <a:ext uri="{FF2B5EF4-FFF2-40B4-BE49-F238E27FC236}">
                <a16:creationId xmlns:a16="http://schemas.microsoft.com/office/drawing/2014/main" id="{D3A45D08-63A6-4EA2-B6C1-6C0CDD4D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343025"/>
            <a:ext cx="11620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RESOURCE</a:t>
            </a:r>
          </a:p>
        </p:txBody>
      </p:sp>
      <p:sp>
        <p:nvSpPr>
          <p:cNvPr id="8" name="m0-text-69">
            <a:extLst xmlns:a="http://schemas.openxmlformats.org/drawingml/2006/main">
              <a:ext uri="{FF2B5EF4-FFF2-40B4-BE49-F238E27FC236}">
                <a16:creationId xmlns:a16="http://schemas.microsoft.com/office/drawing/2014/main" id="{E617B4C8-1DCD-4D52-BA62-53779BF6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859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VS Code</a:t>
            </a:r>
          </a:p>
        </p:txBody>
      </p:sp>
      <p:sp>
        <p:nvSpPr>
          <p:cNvPr id="9" name="m0-text-70">
            <a:extLst xmlns:a="http://schemas.openxmlformats.org/drawingml/2006/main">
              <a:ext uri="{FF2B5EF4-FFF2-40B4-BE49-F238E27FC236}">
                <a16:creationId xmlns:a16="http://schemas.microsoft.com/office/drawing/2014/main" id="{CA539BEA-976A-4F36-91FD-44EF0DC78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954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IDE and notebook editor</a:t>
            </a:r>
          </a:p>
        </p:txBody>
      </p:sp>
      <p:sp>
        <p:nvSpPr>
          <p:cNvPr id="10" name="m0-text-71">
            <a:extLst xmlns:a="http://schemas.openxmlformats.org/drawingml/2006/main">
              <a:ext uri="{FF2B5EF4-FFF2-40B4-BE49-F238E27FC236}">
                <a16:creationId xmlns:a16="http://schemas.microsoft.com/office/drawing/2014/main" id="{70DC84BD-5C27-416F-B21C-283352D97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954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416b292e5244eeb"/>
              </a:rPr>
              <a:t>Open</a:t>
            </a:r>
          </a:p>
        </p:txBody>
      </p:sp>
      <p:sp>
        <p:nvSpPr>
          <p:cNvPr id="11" name="m0-text-72">
            <a:extLst xmlns:a="http://schemas.openxmlformats.org/drawingml/2006/main">
              <a:ext uri="{FF2B5EF4-FFF2-40B4-BE49-F238E27FC236}">
                <a16:creationId xmlns:a16="http://schemas.microsoft.com/office/drawing/2014/main" id="{55BDE3C6-A960-48DC-9D81-87252848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288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Python</a:t>
            </a:r>
          </a:p>
        </p:txBody>
      </p:sp>
      <p:sp>
        <p:nvSpPr>
          <p:cNvPr id="12" name="m0-text-73">
            <a:extLst xmlns:a="http://schemas.openxmlformats.org/drawingml/2006/main">
              <a:ext uri="{FF2B5EF4-FFF2-40B4-BE49-F238E27FC236}">
                <a16:creationId xmlns:a16="http://schemas.microsoft.com/office/drawing/2014/main" id="{38B015BE-4F45-4A9D-8D70-67EE4A88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383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Runtime for all course code</a:t>
            </a:r>
          </a:p>
        </p:txBody>
      </p:sp>
      <p:sp>
        <p:nvSpPr>
          <p:cNvPr id="13" name="m0-text-74">
            <a:extLst xmlns:a="http://schemas.openxmlformats.org/drawingml/2006/main">
              <a:ext uri="{FF2B5EF4-FFF2-40B4-BE49-F238E27FC236}">
                <a16:creationId xmlns:a16="http://schemas.microsoft.com/office/drawing/2014/main" id="{2503273C-92F3-48A9-8930-17C91AD3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74c4f9c1a734486"/>
              </a:rPr>
              <a:t>Open</a:t>
            </a:r>
          </a:p>
        </p:txBody>
      </p:sp>
      <p:sp>
        <p:nvSpPr>
          <p:cNvPr id="14" name="m0-text-75">
            <a:extLst xmlns:a="http://schemas.openxmlformats.org/drawingml/2006/main">
              <a:ext uri="{FF2B5EF4-FFF2-40B4-BE49-F238E27FC236}">
                <a16:creationId xmlns:a16="http://schemas.microsoft.com/office/drawing/2014/main" id="{01F9328C-5726-434B-A31D-F0CC7CEA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17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VS Code extensions</a:t>
            </a:r>
          </a:p>
        </p:txBody>
      </p:sp>
      <p:sp>
        <p:nvSpPr>
          <p:cNvPr id="15" name="m0-text-76">
            <a:extLst xmlns:a="http://schemas.openxmlformats.org/drawingml/2006/main">
              <a:ext uri="{FF2B5EF4-FFF2-40B4-BE49-F238E27FC236}">
                <a16:creationId xmlns:a16="http://schemas.microsoft.com/office/drawing/2014/main" id="{C44A325A-AF4B-4DB1-BD0C-46A7510A6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3812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Python and Jupyter support</a:t>
            </a:r>
          </a:p>
        </p:txBody>
      </p:sp>
      <p:sp>
        <p:nvSpPr>
          <p:cNvPr id="16" name="m0-text-77">
            <a:extLst xmlns:a="http://schemas.openxmlformats.org/drawingml/2006/main">
              <a:ext uri="{FF2B5EF4-FFF2-40B4-BE49-F238E27FC236}">
                <a16:creationId xmlns:a16="http://schemas.microsoft.com/office/drawing/2014/main" id="{3B2E14F8-8DAD-4A26-A5D4-5B1B1A7E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812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0ab13c37dc14903"/>
              </a:rPr>
              <a:t>Open</a:t>
            </a:r>
          </a:p>
        </p:txBody>
      </p:sp>
      <p:sp>
        <p:nvSpPr>
          <p:cNvPr id="17" name="m0-text-78">
            <a:extLst xmlns:a="http://schemas.openxmlformats.org/drawingml/2006/main">
              <a:ext uri="{FF2B5EF4-FFF2-40B4-BE49-F238E27FC236}">
                <a16:creationId xmlns:a16="http://schemas.microsoft.com/office/drawing/2014/main" id="{2F3ABD37-AFCE-426A-9493-8F033748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146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Provider SDKs</a:t>
            </a:r>
          </a:p>
        </p:txBody>
      </p:sp>
      <p:sp>
        <p:nvSpPr>
          <p:cNvPr id="18" name="m0-text-79">
            <a:extLst xmlns:a="http://schemas.openxmlformats.org/drawingml/2006/main">
              <a:ext uri="{FF2B5EF4-FFF2-40B4-BE49-F238E27FC236}">
                <a16:creationId xmlns:a16="http://schemas.microsoft.com/office/drawing/2014/main" id="{5370CBAA-F576-4601-964A-107A5305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7241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Python clients for model providers</a:t>
            </a:r>
          </a:p>
        </p:txBody>
      </p:sp>
      <p:sp>
        <p:nvSpPr>
          <p:cNvPr id="19" name="m0-text-80">
            <a:extLst xmlns:a="http://schemas.openxmlformats.org/drawingml/2006/main">
              <a:ext uri="{FF2B5EF4-FFF2-40B4-BE49-F238E27FC236}">
                <a16:creationId xmlns:a16="http://schemas.microsoft.com/office/drawing/2014/main" id="{9C904CE2-6025-437C-885A-07FAEF80B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241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42304543d3a48fc"/>
              </a:rPr>
              <a:t>Open</a:t>
            </a:r>
          </a:p>
        </p:txBody>
      </p:sp>
      <p:sp>
        <p:nvSpPr>
          <p:cNvPr id="20" name="m0-text-81">
            <a:extLst xmlns:a="http://schemas.openxmlformats.org/drawingml/2006/main">
              <a:ext uri="{FF2B5EF4-FFF2-40B4-BE49-F238E27FC236}">
                <a16:creationId xmlns:a16="http://schemas.microsoft.com/office/drawing/2014/main" id="{FB02973F-8339-4FB5-B4C5-2466F24D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575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LangChain</a:t>
            </a:r>
          </a:p>
        </p:txBody>
      </p:sp>
      <p:sp>
        <p:nvSpPr>
          <p:cNvPr id="21" name="m0-text-82">
            <a:extLst xmlns:a="http://schemas.openxmlformats.org/drawingml/2006/main">
              <a:ext uri="{FF2B5EF4-FFF2-40B4-BE49-F238E27FC236}">
                <a16:creationId xmlns:a16="http://schemas.microsoft.com/office/drawing/2014/main" id="{CB6288B6-A47B-4651-A03C-011F5FEB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0670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 interfaces and prompt workflows</a:t>
            </a:r>
          </a:p>
        </p:txBody>
      </p:sp>
      <p:sp>
        <p:nvSpPr>
          <p:cNvPr id="22" name="m0-text-83">
            <a:extLst xmlns:a="http://schemas.openxmlformats.org/drawingml/2006/main">
              <a:ext uri="{FF2B5EF4-FFF2-40B4-BE49-F238E27FC236}">
                <a16:creationId xmlns:a16="http://schemas.microsoft.com/office/drawing/2014/main" id="{4C41B710-C8EF-49DE-9A1A-8BD31E9A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cbc2fd33ceb4b89"/>
              </a:rPr>
              <a:t>Open</a:t>
            </a:r>
          </a:p>
        </p:txBody>
      </p:sp>
      <p:sp>
        <p:nvSpPr>
          <p:cNvPr id="23" name="m0-text-84">
            <a:extLst xmlns:a="http://schemas.openxmlformats.org/drawingml/2006/main">
              <a:ext uri="{FF2B5EF4-FFF2-40B4-BE49-F238E27FC236}">
                <a16:creationId xmlns:a16="http://schemas.microsoft.com/office/drawing/2014/main" id="{E55EFCBA-B474-4208-AB12-3360ECBD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004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LangGraph</a:t>
            </a:r>
          </a:p>
        </p:txBody>
      </p:sp>
      <p:sp>
        <p:nvSpPr>
          <p:cNvPr id="24" name="m0-text-85">
            <a:extLst xmlns:a="http://schemas.openxmlformats.org/drawingml/2006/main">
              <a:ext uri="{FF2B5EF4-FFF2-40B4-BE49-F238E27FC236}">
                <a16:creationId xmlns:a16="http://schemas.microsoft.com/office/drawing/2014/main" id="{3889ADFD-9E4A-4E17-AE70-066AF77B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099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 and agent orchestration</a:t>
            </a:r>
          </a:p>
        </p:txBody>
      </p:sp>
      <p:sp>
        <p:nvSpPr>
          <p:cNvPr id="25" name="m0-text-86">
            <a:extLst xmlns:a="http://schemas.openxmlformats.org/drawingml/2006/main">
              <a:ext uri="{FF2B5EF4-FFF2-40B4-BE49-F238E27FC236}">
                <a16:creationId xmlns:a16="http://schemas.microsoft.com/office/drawing/2014/main" id="{192B55D4-B323-43E6-AD62-D4BE9011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099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5ae88e3cabf472b"/>
              </a:rPr>
              <a:t>Open</a:t>
            </a:r>
          </a:p>
        </p:txBody>
      </p:sp>
      <p:sp>
        <p:nvSpPr>
          <p:cNvPr id="26" name="m0-text-87">
            <a:extLst xmlns:a="http://schemas.openxmlformats.org/drawingml/2006/main">
              <a:ext uri="{FF2B5EF4-FFF2-40B4-BE49-F238E27FC236}">
                <a16:creationId xmlns:a16="http://schemas.microsoft.com/office/drawing/2014/main" id="{657600A2-91C7-439D-BC05-9023FC26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433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Pydantic</a:t>
            </a:r>
          </a:p>
        </p:txBody>
      </p:sp>
      <p:sp>
        <p:nvSpPr>
          <p:cNvPr id="27" name="m0-text-88">
            <a:extLst xmlns:a="http://schemas.openxmlformats.org/drawingml/2006/main">
              <a:ext uri="{FF2B5EF4-FFF2-40B4-BE49-F238E27FC236}">
                <a16:creationId xmlns:a16="http://schemas.microsoft.com/office/drawing/2014/main" id="{80597C93-464E-4553-9C2E-FED4A9F7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7528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Structured data and response validation</a:t>
            </a:r>
          </a:p>
        </p:txBody>
      </p:sp>
      <p:sp>
        <p:nvSpPr>
          <p:cNvPr id="28" name="m0-text-89">
            <a:extLst xmlns:a="http://schemas.openxmlformats.org/drawingml/2006/main">
              <a:ext uri="{FF2B5EF4-FFF2-40B4-BE49-F238E27FC236}">
                <a16:creationId xmlns:a16="http://schemas.microsoft.com/office/drawing/2014/main" id="{67BE4F67-BCD2-49B9-AC99-7B0C0F0A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528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a70ea35cdee45fb"/>
              </a:rPr>
              <a:t>Open</a:t>
            </a:r>
          </a:p>
        </p:txBody>
      </p:sp>
      <p:sp>
        <p:nvSpPr>
          <p:cNvPr id="29" name="m0-text-90">
            <a:extLst xmlns:a="http://schemas.openxmlformats.org/drawingml/2006/main">
              <a:ext uri="{FF2B5EF4-FFF2-40B4-BE49-F238E27FC236}">
                <a16:creationId xmlns:a16="http://schemas.microsoft.com/office/drawing/2014/main" id="{AC706163-1DAD-4B10-9E06-0DBE5D900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862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FastAPI</a:t>
            </a:r>
          </a:p>
        </p:txBody>
      </p:sp>
      <p:sp>
        <p:nvSpPr>
          <p:cNvPr id="30" name="m0-text-91">
            <a:extLst xmlns:a="http://schemas.openxmlformats.org/drawingml/2006/main">
              <a:ext uri="{FF2B5EF4-FFF2-40B4-BE49-F238E27FC236}">
                <a16:creationId xmlns:a16="http://schemas.microsoft.com/office/drawing/2014/main" id="{1BAA6DC1-1EEE-4B66-8351-BA2A1BE2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0957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API between the avatar and the agent</a:t>
            </a:r>
          </a:p>
        </p:txBody>
      </p:sp>
      <p:sp>
        <p:nvSpPr>
          <p:cNvPr id="31" name="m0-text-92">
            <a:extLst xmlns:a="http://schemas.openxmlformats.org/drawingml/2006/main">
              <a:ext uri="{FF2B5EF4-FFF2-40B4-BE49-F238E27FC236}">
                <a16:creationId xmlns:a16="http://schemas.microsoft.com/office/drawing/2014/main" id="{5592CFA6-06D9-4467-9B6C-7AC66EE5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479f9e23a46408c"/>
              </a:rPr>
              <a:t>Open</a:t>
            </a:r>
          </a:p>
        </p:txBody>
      </p:sp>
      <p:sp>
        <p:nvSpPr>
          <p:cNvPr id="32" name="m0-text-93">
            <a:extLst xmlns:a="http://schemas.openxmlformats.org/drawingml/2006/main">
              <a:ext uri="{FF2B5EF4-FFF2-40B4-BE49-F238E27FC236}">
                <a16:creationId xmlns:a16="http://schemas.microsoft.com/office/drawing/2014/main" id="{4AAE2A02-8CEB-4B88-852F-5362271A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291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Ollama</a:t>
            </a:r>
          </a:p>
        </p:txBody>
      </p:sp>
      <p:sp>
        <p:nvSpPr>
          <p:cNvPr id="33" name="m0-text-94">
            <a:extLst xmlns:a="http://schemas.openxmlformats.org/drawingml/2006/main">
              <a:ext uri="{FF2B5EF4-FFF2-40B4-BE49-F238E27FC236}">
                <a16:creationId xmlns:a16="http://schemas.microsoft.com/office/drawing/2014/main" id="{ED34F0B2-9DBA-4BDF-971B-9AB22AF8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386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Local model server</a:t>
            </a:r>
          </a:p>
        </p:txBody>
      </p:sp>
      <p:sp>
        <p:nvSpPr>
          <p:cNvPr id="34" name="m0-text-95">
            <a:extLst xmlns:a="http://schemas.openxmlformats.org/drawingml/2006/main">
              <a:ext uri="{FF2B5EF4-FFF2-40B4-BE49-F238E27FC236}">
                <a16:creationId xmlns:a16="http://schemas.microsoft.com/office/drawing/2014/main" id="{B50F5BA6-3F7F-4AEB-BC52-93517087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4386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ac27e74941f448e"/>
              </a:rPr>
              <a:t>Open</a:t>
            </a:r>
          </a:p>
        </p:txBody>
      </p:sp>
    </p:spTree>
    <p:extLst>
      <p:ext uri="{BB962C8B-B14F-4D97-AF65-F5344CB8AC3E}">
        <p14:creationId xmlns:p14="http://schemas.microsoft.com/office/powerpoint/2010/main" val="100576268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m0-text-96">
            <a:extLst xmlns:a="http://schemas.openxmlformats.org/drawingml/2006/main">
              <a:ext uri="{FF2B5EF4-FFF2-40B4-BE49-F238E27FC236}">
                <a16:creationId xmlns:a16="http://schemas.microsoft.com/office/drawing/2014/main" id="{5029C8ED-163D-450C-9BE2-718BBBB4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97">
            <a:extLst xmlns:a="http://schemas.openxmlformats.org/drawingml/2006/main">
              <a:ext uri="{FF2B5EF4-FFF2-40B4-BE49-F238E27FC236}">
                <a16:creationId xmlns:a16="http://schemas.microsoft.com/office/drawing/2014/main" id="{EE485A19-C1D8-4CFB-899D-75FC2ED7B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98">
            <a:extLst xmlns:a="http://schemas.openxmlformats.org/drawingml/2006/main">
              <a:ext uri="{FF2B5EF4-FFF2-40B4-BE49-F238E27FC236}">
                <a16:creationId xmlns:a16="http://schemas.microsoft.com/office/drawing/2014/main" id="{90A9E30E-95E3-44B8-BF5F-EBAEE21F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4" name="m0-text-99">
            <a:extLst xmlns:a="http://schemas.openxmlformats.org/drawingml/2006/main">
              <a:ext uri="{FF2B5EF4-FFF2-40B4-BE49-F238E27FC236}">
                <a16:creationId xmlns:a16="http://schemas.microsoft.com/office/drawing/2014/main" id="{E3D02CD2-5D08-41E1-BA8D-70D8A14A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1. Download the Course Project</a:t>
            </a:r>
          </a:p>
        </p:txBody>
      </p:sp>
      <p:sp>
        <p:nvSpPr>
          <p:cNvPr id="5" name="m0-text-100">
            <a:extLst xmlns:a="http://schemas.openxmlformats.org/drawingml/2006/main">
              <a:ext uri="{FF2B5EF4-FFF2-40B4-BE49-F238E27FC236}">
                <a16:creationId xmlns:a16="http://schemas.microsoft.com/office/drawing/2014/main" id="{3292EFBA-267A-4947-A4C5-2DCC80844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76375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3115274d08c49bf"/>
              </a:rPr>
              <a:t>Open the course repository on GitHub.</a:t>
            </a:r>
          </a:p>
        </p:txBody>
      </p:sp>
      <p:sp>
        <p:nvSpPr>
          <p:cNvPr id="6" name="m0-text-101">
            <a:extLst xmlns:a="http://schemas.openxmlformats.org/drawingml/2006/main">
              <a:ext uri="{FF2B5EF4-FFF2-40B4-BE49-F238E27FC236}">
                <a16:creationId xmlns:a16="http://schemas.microsoft.com/office/drawing/2014/main" id="{36B30A2B-9076-4EA0-B70A-DE96E987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8229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Choose Code &gt; Download ZIP, then extract the archive.</a:t>
            </a:r>
          </a:p>
        </p:txBody>
      </p:sp>
      <p:sp>
        <p:nvSpPr>
          <p:cNvPr id="7" name="m0-text-102">
            <a:extLst xmlns:a="http://schemas.openxmlformats.org/drawingml/2006/main">
              <a:ext uri="{FF2B5EF4-FFF2-40B4-BE49-F238E27FC236}">
                <a16:creationId xmlns:a16="http://schemas.microsoft.com/office/drawing/2014/main" id="{A21C7902-03D6-4D8D-8819-CBB0C00B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D9A06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virtual_human_course/</a:t>
            </a:r>
          </a:p>
        </p:txBody>
      </p:sp>
      <p:sp>
        <p:nvSpPr>
          <p:cNvPr id="8" name="m0-text-103">
            <a:extLst xmlns:a="http://schemas.openxmlformats.org/drawingml/2006/main">
              <a:ext uri="{FF2B5EF4-FFF2-40B4-BE49-F238E27FC236}">
                <a16:creationId xmlns:a16="http://schemas.microsoft.com/office/drawing/2014/main" id="{912CBCA9-4178-4FF5-8D6E-B78A5469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38525"/>
            <a:ext cx="371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Slides, notebooks and course requirements.</a:t>
            </a:r>
          </a:p>
        </p:txBody>
      </p:sp>
      <p:sp>
        <p:nvSpPr>
          <p:cNvPr id="9" name="m0-text-104">
            <a:extLst xmlns:a="http://schemas.openxmlformats.org/drawingml/2006/main">
              <a:ext uri="{FF2B5EF4-FFF2-40B4-BE49-F238E27FC236}">
                <a16:creationId xmlns:a16="http://schemas.microsoft.com/office/drawing/2014/main" id="{9E4EB070-F199-430B-ADBC-46C941C9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52750"/>
            <a:ext cx="3886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D9A06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virtual_human_project/</a:t>
            </a:r>
          </a:p>
        </p:txBody>
      </p:sp>
      <p:sp>
        <p:nvSpPr>
          <p:cNvPr id="10" name="m0-text-105">
            <a:extLst xmlns:a="http://schemas.openxmlformats.org/drawingml/2006/main">
              <a:ext uri="{FF2B5EF4-FFF2-40B4-BE49-F238E27FC236}">
                <a16:creationId xmlns:a16="http://schemas.microsoft.com/office/drawing/2014/main" id="{EFF180AA-1EDC-4A4F-B91E-03A8B68A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38525"/>
            <a:ext cx="3886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Avatar, cognitive server and installers.</a:t>
            </a:r>
          </a:p>
        </p:txBody>
      </p:sp>
      <p:sp>
        <p:nvSpPr>
          <p:cNvPr id="11" name="m0-text-106">
            <a:extLst xmlns:a="http://schemas.openxmlformats.org/drawingml/2006/main">
              <a:ext uri="{FF2B5EF4-FFF2-40B4-BE49-F238E27FC236}">
                <a16:creationId xmlns:a16="http://schemas.microsoft.com/office/drawing/2014/main" id="{C1730B38-F3F7-46B5-BAD4-18117821F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95800"/>
            <a:ext cx="822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Keep both folders together in the extracted repository.</a:t>
            </a:r>
          </a:p>
        </p:txBody>
      </p:sp>
    </p:spTree>
    <p:extLst>
      <p:ext uri="{BB962C8B-B14F-4D97-AF65-F5344CB8AC3E}">
        <p14:creationId xmlns:p14="http://schemas.microsoft.com/office/powerpoint/2010/main" val="202494728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m0-text-107">
            <a:extLst xmlns:a="http://schemas.openxmlformats.org/drawingml/2006/main">
              <a:ext uri="{FF2B5EF4-FFF2-40B4-BE49-F238E27FC236}">
                <a16:creationId xmlns:a16="http://schemas.microsoft.com/office/drawing/2014/main" id="{3B59EFF3-8D9E-4285-8A8F-9A7CAE5A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08">
            <a:extLst xmlns:a="http://schemas.openxmlformats.org/drawingml/2006/main">
              <a:ext uri="{FF2B5EF4-FFF2-40B4-BE49-F238E27FC236}">
                <a16:creationId xmlns:a16="http://schemas.microsoft.com/office/drawing/2014/main" id="{ED9551EB-FE19-4F46-BF23-1E36C1E7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09">
            <a:extLst xmlns:a="http://schemas.openxmlformats.org/drawingml/2006/main">
              <a:ext uri="{FF2B5EF4-FFF2-40B4-BE49-F238E27FC236}">
                <a16:creationId xmlns:a16="http://schemas.microsoft.com/office/drawing/2014/main" id="{BB893D44-99C9-4EE3-B5A3-EC19F3598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4" name="m0-text-110">
            <a:extLst xmlns:a="http://schemas.openxmlformats.org/drawingml/2006/main">
              <a:ext uri="{FF2B5EF4-FFF2-40B4-BE49-F238E27FC236}">
                <a16:creationId xmlns:a16="http://schemas.microsoft.com/office/drawing/2014/main" id="{74F8AA97-BA5A-470B-9CC3-FDD51CE1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2. Install VS Code and Extensions</a:t>
            </a:r>
          </a:p>
        </p:txBody>
      </p:sp>
      <p:sp>
        <p:nvSpPr>
          <p:cNvPr id="5" name="m0-text-111">
            <a:extLst xmlns:a="http://schemas.openxmlformats.org/drawingml/2006/main">
              <a:ext uri="{FF2B5EF4-FFF2-40B4-BE49-F238E27FC236}">
                <a16:creationId xmlns:a16="http://schemas.microsoft.com/office/drawing/2014/main" id="{9BA8BB5F-6D3A-4B2A-BA71-F0CAA0F3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95425"/>
            <a:ext cx="8229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Visual Studio Code, then open Extensions.</a:t>
            </a:r>
          </a:p>
        </p:txBody>
      </p:sp>
      <p:sp>
        <p:nvSpPr>
          <p:cNvPr id="6" name="m0-text-112">
            <a:extLst xmlns:a="http://schemas.openxmlformats.org/drawingml/2006/main">
              <a:ext uri="{FF2B5EF4-FFF2-40B4-BE49-F238E27FC236}">
                <a16:creationId xmlns:a16="http://schemas.microsoft.com/office/drawing/2014/main" id="{D8B6E393-7787-4B29-A240-63E31585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85975"/>
            <a:ext cx="8229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 the Extensions icon or Ctrl+Shift+X.</a:t>
            </a:r>
          </a:p>
        </p:txBody>
      </p:sp>
      <p:sp>
        <p:nvSpPr>
          <p:cNvPr id="7" name="m0-text-113">
            <a:extLst xmlns:a="http://schemas.openxmlformats.org/drawingml/2006/main">
              <a:ext uri="{FF2B5EF4-FFF2-40B4-BE49-F238E27FC236}">
                <a16:creationId xmlns:a16="http://schemas.microsoft.com/office/drawing/2014/main" id="{E282767A-A3E2-4F9C-B87E-CCE2F945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52725"/>
            <a:ext cx="8229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both Microsoft extensions:</a:t>
            </a:r>
          </a:p>
        </p:txBody>
      </p:sp>
      <p:sp>
        <p:nvSpPr>
          <p:cNvPr id="8" name="m0-text-114">
            <a:extLst xmlns:a="http://schemas.openxmlformats.org/drawingml/2006/main">
              <a:ext uri="{FF2B5EF4-FFF2-40B4-BE49-F238E27FC236}">
                <a16:creationId xmlns:a16="http://schemas.microsoft.com/office/drawing/2014/main" id="{D75CEFC3-31D7-4D81-86AF-5EEA1379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D9A06B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d608f092513496d"/>
              </a:rPr>
              <a:t>Python</a:t>
            </a:r>
          </a:p>
        </p:txBody>
      </p:sp>
      <p:sp>
        <p:nvSpPr>
          <p:cNvPr id="9" name="m0-text-115">
            <a:extLst xmlns:a="http://schemas.openxmlformats.org/drawingml/2006/main">
              <a:ext uri="{FF2B5EF4-FFF2-40B4-BE49-F238E27FC236}">
                <a16:creationId xmlns:a16="http://schemas.microsoft.com/office/drawing/2014/main" id="{A9557BE0-FFC4-4B9E-A2EA-EB4FF8C66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33375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D9A06B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e14f1507d1f4848"/>
              </a:rPr>
              <a:t>Jupyter</a:t>
            </a:r>
          </a:p>
        </p:txBody>
      </p:sp>
      <p:sp>
        <p:nvSpPr>
          <p:cNvPr id="10" name="m0-text-116">
            <a:extLst xmlns:a="http://schemas.openxmlformats.org/drawingml/2006/main">
              <a:ext uri="{FF2B5EF4-FFF2-40B4-BE49-F238E27FC236}">
                <a16:creationId xmlns:a16="http://schemas.microsoft.com/office/drawing/2014/main" id="{3128724E-0E43-440A-807A-53A2B417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1952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Run Python code and choose interpreters.</a:t>
            </a:r>
          </a:p>
        </p:txBody>
      </p:sp>
      <p:sp>
        <p:nvSpPr>
          <p:cNvPr id="11" name="m0-text-117">
            <a:extLst xmlns:a="http://schemas.openxmlformats.org/drawingml/2006/main">
              <a:ext uri="{FF2B5EF4-FFF2-40B4-BE49-F238E27FC236}">
                <a16:creationId xmlns:a16="http://schemas.microsoft.com/office/drawing/2014/main" id="{7AA695C1-08A2-4AA1-9A0B-94C6254F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81952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and run .ipynb notebooks.</a:t>
            </a:r>
          </a:p>
        </p:txBody>
      </p:sp>
      <p:sp>
        <p:nvSpPr>
          <p:cNvPr id="12" name="m0-text-118">
            <a:extLst xmlns:a="http://schemas.openxmlformats.org/drawingml/2006/main">
              <a:ext uri="{FF2B5EF4-FFF2-40B4-BE49-F238E27FC236}">
                <a16:creationId xmlns:a16="http://schemas.microsoft.com/office/drawing/2014/main" id="{529BE396-6581-442C-8E62-FD1F383E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14850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f06942e2044461d"/>
              </a:rPr>
              <a:t>Download VS Code</a:t>
            </a:r>
          </a:p>
        </p:txBody>
      </p:sp>
    </p:spTree>
    <p:extLst>
      <p:ext uri="{BB962C8B-B14F-4D97-AF65-F5344CB8AC3E}">
        <p14:creationId xmlns:p14="http://schemas.microsoft.com/office/powerpoint/2010/main" val="4153368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m0-text-119">
            <a:extLst xmlns:a="http://schemas.openxmlformats.org/drawingml/2006/main">
              <a:ext uri="{FF2B5EF4-FFF2-40B4-BE49-F238E27FC236}">
                <a16:creationId xmlns:a16="http://schemas.microsoft.com/office/drawing/2014/main" id="{8568959E-0473-4700-B537-D936587A8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20">
            <a:extLst xmlns:a="http://schemas.openxmlformats.org/drawingml/2006/main">
              <a:ext uri="{FF2B5EF4-FFF2-40B4-BE49-F238E27FC236}">
                <a16:creationId xmlns:a16="http://schemas.microsoft.com/office/drawing/2014/main" id="{67ADD002-C1BA-4B2C-A395-9466F9921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21">
            <a:extLst xmlns:a="http://schemas.openxmlformats.org/drawingml/2006/main">
              <a:ext uri="{FF2B5EF4-FFF2-40B4-BE49-F238E27FC236}">
                <a16:creationId xmlns:a16="http://schemas.microsoft.com/office/drawing/2014/main" id="{BB7DDE78-DAA3-472C-84EC-45646854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4" name="m0-text-122">
            <a:extLst xmlns:a="http://schemas.openxmlformats.org/drawingml/2006/main">
              <a:ext uri="{FF2B5EF4-FFF2-40B4-BE49-F238E27FC236}">
                <a16:creationId xmlns:a16="http://schemas.microsoft.com/office/drawing/2014/main" id="{FDC120FA-50D4-43FA-A3CE-B9617BC1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3. Install the Virtual Human</a:t>
            </a:r>
          </a:p>
        </p:txBody>
      </p:sp>
      <p:sp>
        <p:nvSpPr>
          <p:cNvPr id="5" name="m0-text-123">
            <a:extLst xmlns:a="http://schemas.openxmlformats.org/drawingml/2006/main">
              <a:ext uri="{FF2B5EF4-FFF2-40B4-BE49-F238E27FC236}">
                <a16:creationId xmlns:a16="http://schemas.microsoft.com/office/drawing/2014/main" id="{D7CBFA85-F9D6-4610-B25B-9C496AE2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7800"/>
            <a:ext cx="8229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38024dc689c4e48"/>
              </a:rPr>
              <a:t>Follow the Installation guide for your computer.</a:t>
            </a:r>
          </a:p>
        </p:txBody>
      </p:sp>
      <p:sp>
        <p:nvSpPr>
          <p:cNvPr id="6" name="m0-text-124">
            <a:extLst xmlns:a="http://schemas.openxmlformats.org/drawingml/2006/main">
              <a:ext uri="{FF2B5EF4-FFF2-40B4-BE49-F238E27FC236}">
                <a16:creationId xmlns:a16="http://schemas.microsoft.com/office/drawing/2014/main" id="{4BA3D725-20B6-4170-9145-1A110FB8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5740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the installer inside virtual_human_project.</a:t>
            </a:r>
          </a:p>
        </p:txBody>
      </p:sp>
      <p:sp>
        <p:nvSpPr>
          <p:cNvPr id="7" name="m0-text-125">
            <a:extLst xmlns:a="http://schemas.openxmlformats.org/drawingml/2006/main">
              <a:ext uri="{FF2B5EF4-FFF2-40B4-BE49-F238E27FC236}">
                <a16:creationId xmlns:a16="http://schemas.microsoft.com/office/drawing/2014/main" id="{E014E254-BE89-4B5C-9276-6B6D003B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33675"/>
            <a:ext cx="3886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9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Windows</a:t>
            </a:r>
          </a:p>
        </p:txBody>
      </p:sp>
      <p:sp>
        <p:nvSpPr>
          <p:cNvPr id="8" name="m0-text-126">
            <a:extLst xmlns:a="http://schemas.openxmlformats.org/drawingml/2006/main">
              <a:ext uri="{FF2B5EF4-FFF2-40B4-BE49-F238E27FC236}">
                <a16:creationId xmlns:a16="http://schemas.microsoft.com/office/drawing/2014/main" id="{478FEA16-3CD7-45A7-B91A-983E31F48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67075"/>
            <a:ext cx="3886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VirtualHuman-Setup.exe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Enable NVIDIA options only if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setup detects a compatible GPU.</a:t>
            </a:r>
          </a:p>
        </p:txBody>
      </p:sp>
      <p:sp>
        <p:nvSpPr>
          <p:cNvPr id="9" name="m0-text-127">
            <a:extLst xmlns:a="http://schemas.openxmlformats.org/drawingml/2006/main">
              <a:ext uri="{FF2B5EF4-FFF2-40B4-BE49-F238E27FC236}">
                <a16:creationId xmlns:a16="http://schemas.microsoft.com/office/drawing/2014/main" id="{7A9DBAE6-A95A-4216-ADB0-6CF2C3AE2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33675"/>
            <a:ext cx="3886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9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Mac</a:t>
            </a:r>
          </a:p>
        </p:txBody>
      </p:sp>
      <p:sp>
        <p:nvSpPr>
          <p:cNvPr id="10" name="m0-text-128">
            <a:extLst xmlns:a="http://schemas.openxmlformats.org/drawingml/2006/main">
              <a:ext uri="{FF2B5EF4-FFF2-40B4-BE49-F238E27FC236}">
                <a16:creationId xmlns:a16="http://schemas.microsoft.com/office/drawing/2014/main" id="{7A5BFB2E-5F5D-414F-BAB4-0EB4C7CB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67075"/>
            <a:ext cx="3886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Virtual Human.app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CPU only; no GPU acceleration.</a:t>
            </a:r>
          </a:p>
        </p:txBody>
      </p:sp>
      <p:sp>
        <p:nvSpPr>
          <p:cNvPr id="11" name="m0-text-129">
            <a:extLst xmlns:a="http://schemas.openxmlformats.org/drawingml/2006/main">
              <a:ext uri="{FF2B5EF4-FFF2-40B4-BE49-F238E27FC236}">
                <a16:creationId xmlns:a16="http://schemas.microsoft.com/office/drawing/2014/main" id="{543B2CE0-5EE8-42E1-B198-A5D2E076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4375"/>
            <a:ext cx="822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Click Install. Setup prepares Python, dependencies and speech models.</a:t>
            </a:r>
          </a:p>
        </p:txBody>
      </p:sp>
    </p:spTree>
    <p:extLst>
      <p:ext uri="{BB962C8B-B14F-4D97-AF65-F5344CB8AC3E}">
        <p14:creationId xmlns:p14="http://schemas.microsoft.com/office/powerpoint/2010/main" val="157211097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0-text-130">
            <a:extLst xmlns:a="http://schemas.openxmlformats.org/drawingml/2006/main">
              <a:ext uri="{FF2B5EF4-FFF2-40B4-BE49-F238E27FC236}">
                <a16:creationId xmlns:a16="http://schemas.microsoft.com/office/drawing/2014/main" id="{029B7412-BA53-4605-BB82-DF440E82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31">
            <a:extLst xmlns:a="http://schemas.openxmlformats.org/drawingml/2006/main">
              <a:ext uri="{FF2B5EF4-FFF2-40B4-BE49-F238E27FC236}">
                <a16:creationId xmlns:a16="http://schemas.microsoft.com/office/drawing/2014/main" id="{D3DAE460-0D0F-4A00-938C-17E2CFB2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32">
            <a:extLst xmlns:a="http://schemas.openxmlformats.org/drawingml/2006/main">
              <a:ext uri="{FF2B5EF4-FFF2-40B4-BE49-F238E27FC236}">
                <a16:creationId xmlns:a16="http://schemas.microsoft.com/office/drawing/2014/main" id="{23F40F8D-6E5B-412C-81EF-C8ECCF20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sp>
        <p:nvSpPr>
          <p:cNvPr id="4" name="m0-text-133">
            <a:extLst xmlns:a="http://schemas.openxmlformats.org/drawingml/2006/main">
              <a:ext uri="{FF2B5EF4-FFF2-40B4-BE49-F238E27FC236}">
                <a16:creationId xmlns:a16="http://schemas.microsoft.com/office/drawing/2014/main" id="{96F08AAF-E58B-4B38-8BF1-5AFB45039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4. Launch and Test the Avatar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9ba429d83d4de0"/>
          <a:stretch xmlns:a="http://schemas.openxmlformats.org/drawingml/2006/main"/>
        </p:blipFill>
        <p:spPr>
          <a:xfrm xmlns:a="http://schemas.openxmlformats.org/drawingml/2006/main">
            <a:off x="762000" y="1323975"/>
            <a:ext cx="5486400" cy="3429000"/>
          </a:xfrm>
          <a:prstGeom xmlns:a="http://schemas.openxmlformats.org/drawingml/2006/main" prst="rect">
            <a:avLst/>
          </a:prstGeom>
        </p:spPr>
      </p:pic>
      <p:sp>
        <p:nvSpPr>
          <p:cNvPr id="6" name="m0-text-134">
            <a:extLst xmlns:a="http://schemas.openxmlformats.org/drawingml/2006/main">
              <a:ext uri="{FF2B5EF4-FFF2-40B4-BE49-F238E27FC236}">
                <a16:creationId xmlns:a16="http://schemas.microsoft.com/office/drawing/2014/main" id="{D596FC88-5C8B-40F6-91A7-68F5FABA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457325"/>
            <a:ext cx="1885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8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Check the result</a:t>
            </a:r>
          </a:p>
        </p:txBody>
      </p:sp>
      <p:sp>
        <p:nvSpPr>
          <p:cNvPr id="7" name="m0-text-135">
            <a:extLst xmlns:a="http://schemas.openxmlformats.org/drawingml/2006/main">
              <a:ext uri="{FF2B5EF4-FFF2-40B4-BE49-F238E27FC236}">
                <a16:creationId xmlns:a16="http://schemas.microsoft.com/office/drawing/2014/main" id="{31D2BA5A-0CC9-49C1-B89B-6681F400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66950"/>
            <a:ext cx="18859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Avatar visible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Connection green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Reply: Hello world</a:t>
            </a:r>
          </a:p>
        </p:txBody>
      </p:sp>
      <p:sp>
        <p:nvSpPr>
          <p:cNvPr id="8" name="m0-text-136">
            <a:extLst xmlns:a="http://schemas.openxmlformats.org/drawingml/2006/main">
              <a:ext uri="{FF2B5EF4-FFF2-40B4-BE49-F238E27FC236}">
                <a16:creationId xmlns:a16="http://schemas.microsoft.com/office/drawing/2014/main" id="{9732BFE1-C86A-4F0C-8A48-30ECCB32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67175"/>
            <a:ext cx="1885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No API key needed.</a:t>
            </a:r>
          </a:p>
        </p:txBody>
      </p:sp>
      <p:sp>
        <p:nvSpPr>
          <p:cNvPr id="9" name="m0-text-137">
            <a:extLst xmlns:a="http://schemas.openxmlformats.org/drawingml/2006/main">
              <a:ext uri="{FF2B5EF4-FFF2-40B4-BE49-F238E27FC236}">
                <a16:creationId xmlns:a16="http://schemas.microsoft.com/office/drawing/2014/main" id="{3406D18F-A5B4-4415-BBF1-D26912B0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9580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04d3a4cbf894e66"/>
              </a:rPr>
              <a:t>Agent guide</a:t>
            </a:r>
          </a:p>
        </p:txBody>
      </p:sp>
    </p:spTree>
    <p:extLst>
      <p:ext uri="{BB962C8B-B14F-4D97-AF65-F5344CB8AC3E}">
        <p14:creationId xmlns:p14="http://schemas.microsoft.com/office/powerpoint/2010/main" val="109624781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m0-text-138">
            <a:extLst xmlns:a="http://schemas.openxmlformats.org/drawingml/2006/main">
              <a:ext uri="{FF2B5EF4-FFF2-40B4-BE49-F238E27FC236}">
                <a16:creationId xmlns:a16="http://schemas.microsoft.com/office/drawing/2014/main" id="{81032119-7E83-44D2-AFBE-2E196256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39">
            <a:extLst xmlns:a="http://schemas.openxmlformats.org/drawingml/2006/main">
              <a:ext uri="{FF2B5EF4-FFF2-40B4-BE49-F238E27FC236}">
                <a16:creationId xmlns:a16="http://schemas.microsoft.com/office/drawing/2014/main" id="{F4BFA072-93FE-4014-832E-C31E76FE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40">
            <a:extLst xmlns:a="http://schemas.openxmlformats.org/drawingml/2006/main">
              <a:ext uri="{FF2B5EF4-FFF2-40B4-BE49-F238E27FC236}">
                <a16:creationId xmlns:a16="http://schemas.microsoft.com/office/drawing/2014/main" id="{EA97F6E6-0D34-4E88-88F2-7C956815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4" name="m0-text-141">
            <a:extLst xmlns:a="http://schemas.openxmlformats.org/drawingml/2006/main">
              <a:ext uri="{FF2B5EF4-FFF2-40B4-BE49-F238E27FC236}">
                <a16:creationId xmlns:a16="http://schemas.microsoft.com/office/drawing/2014/main" id="{896E0258-60E0-48C3-863E-CC3BBA2C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5. Open the Notebook and Select the Kernel</a:t>
            </a:r>
          </a:p>
        </p:txBody>
      </p:sp>
      <p:sp>
        <p:nvSpPr>
          <p:cNvPr id="5" name="m0-text-142">
            <a:extLst xmlns:a="http://schemas.openxmlformats.org/drawingml/2006/main">
              <a:ext uri="{FF2B5EF4-FFF2-40B4-BE49-F238E27FC236}">
                <a16:creationId xmlns:a16="http://schemas.microsoft.com/office/drawing/2014/main" id="{049EE066-E0A6-40B9-BA05-55090996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8229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In virtual_human_course, open: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Module_0/Chapter_01/Code/00_first_call.ipynb</a:t>
            </a:r>
          </a:p>
        </p:txBody>
      </p:sp>
      <p:sp>
        <p:nvSpPr>
          <p:cNvPr id="6" name="m0-text-143">
            <a:extLst xmlns:a="http://schemas.openxmlformats.org/drawingml/2006/main">
              <a:ext uri="{FF2B5EF4-FFF2-40B4-BE49-F238E27FC236}">
                <a16:creationId xmlns:a16="http://schemas.microsoft.com/office/drawing/2014/main" id="{F6C1303F-730C-4EFD-876B-E0501D92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43125"/>
            <a:ext cx="8229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Select Kernel: virtual_human_project/.venv-vh-course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a564139cd4f51"/>
          <a:stretch xmlns:a="http://schemas.openxmlformats.org/drawingml/2006/main"/>
        </p:blipFill>
        <p:spPr>
          <a:xfrm xmlns:a="http://schemas.openxmlformats.org/drawingml/2006/main">
            <a:off x="459033" y="2533650"/>
            <a:ext cx="8225935" cy="2266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01107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m0-text-144">
            <a:extLst xmlns:a="http://schemas.openxmlformats.org/drawingml/2006/main">
              <a:ext uri="{FF2B5EF4-FFF2-40B4-BE49-F238E27FC236}">
                <a16:creationId xmlns:a16="http://schemas.microsoft.com/office/drawing/2014/main" id="{00674F91-2ACE-4888-A85F-81ADBB36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45">
            <a:extLst xmlns:a="http://schemas.openxmlformats.org/drawingml/2006/main">
              <a:ext uri="{FF2B5EF4-FFF2-40B4-BE49-F238E27FC236}">
                <a16:creationId xmlns:a16="http://schemas.microsoft.com/office/drawing/2014/main" id="{22395AD9-4D8B-4DA6-99A0-33D4052D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46">
            <a:extLst xmlns:a="http://schemas.openxmlformats.org/drawingml/2006/main">
              <a:ext uri="{FF2B5EF4-FFF2-40B4-BE49-F238E27FC236}">
                <a16:creationId xmlns:a16="http://schemas.microsoft.com/office/drawing/2014/main" id="{B67DE89E-5B40-4D7B-8F5E-591E4389F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4" name="m0-text-147">
            <a:extLst xmlns:a="http://schemas.openxmlformats.org/drawingml/2006/main">
              <a:ext uri="{FF2B5EF4-FFF2-40B4-BE49-F238E27FC236}">
                <a16:creationId xmlns:a16="http://schemas.microsoft.com/office/drawing/2014/main" id="{7E6CF051-F468-4955-9E56-C6A1BF3E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6. Add Your Provider Key</a:t>
            </a:r>
          </a:p>
        </p:txBody>
      </p:sp>
      <p:sp>
        <p:nvSpPr>
          <p:cNvPr id="5" name="m0-text-148">
            <a:extLst xmlns:a="http://schemas.openxmlformats.org/drawingml/2006/main">
              <a:ext uri="{FF2B5EF4-FFF2-40B4-BE49-F238E27FC236}">
                <a16:creationId xmlns:a16="http://schemas.microsoft.com/office/drawing/2014/main" id="{F3C9899D-F9FE-4D41-9742-ED615F47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Create an </a:t>
            </a: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de83feb47fd4467"/>
              </a:rPr>
              <a:t>Ollama API key</a:t>
            </a: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 and use it in both folders.</a:t>
            </a:r>
          </a:p>
        </p:txBody>
      </p:sp>
      <p:sp>
        <p:nvSpPr>
          <p:cNvPr id="6" name="m0-text-149">
            <a:extLst xmlns:a="http://schemas.openxmlformats.org/drawingml/2006/main">
              <a:ext uri="{FF2B5EF4-FFF2-40B4-BE49-F238E27FC236}">
                <a16:creationId xmlns:a16="http://schemas.microsoft.com/office/drawing/2014/main" id="{39FBE7BB-D107-4CD0-B05C-F3F20564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47875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8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For the notebook</a:t>
            </a:r>
          </a:p>
        </p:txBody>
      </p:sp>
      <p:sp>
        <p:nvSpPr>
          <p:cNvPr id="7" name="m0-text-150">
            <a:extLst xmlns:a="http://schemas.openxmlformats.org/drawingml/2006/main">
              <a:ext uri="{FF2B5EF4-FFF2-40B4-BE49-F238E27FC236}">
                <a16:creationId xmlns:a16="http://schemas.microsoft.com/office/drawing/2014/main" id="{A45E0EEC-8DAD-4F90-9961-9968D91EA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86025"/>
            <a:ext cx="8229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virtual_human_course/</a:t>
            </a:r>
          </a:p>
        </p:txBody>
      </p:sp>
      <p:sp>
        <p:nvSpPr>
          <p:cNvPr id="8" name="m0-text-151">
            <a:extLst xmlns:a="http://schemas.openxmlformats.org/drawingml/2006/main">
              <a:ext uri="{FF2B5EF4-FFF2-40B4-BE49-F238E27FC236}">
                <a16:creationId xmlns:a16="http://schemas.microsoft.com/office/drawing/2014/main" id="{58DB49BD-D5FF-4D68-ADE3-CFBCB7BA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8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For the avatar’s agent</a:t>
            </a:r>
          </a:p>
        </p:txBody>
      </p:sp>
      <p:sp>
        <p:nvSpPr>
          <p:cNvPr id="9" name="m0-text-152">
            <a:extLst xmlns:a="http://schemas.openxmlformats.org/drawingml/2006/main">
              <a:ext uri="{FF2B5EF4-FFF2-40B4-BE49-F238E27FC236}">
                <a16:creationId xmlns:a16="http://schemas.microsoft.com/office/drawing/2014/main" id="{A38D4D82-34FA-4206-9BED-2A8717597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8615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virtual_human_project/vh_cognitive_architecture_server/</a:t>
            </a:r>
          </a:p>
        </p:txBody>
      </p:sp>
      <p:sp>
        <p:nvSpPr>
          <p:cNvPr id="10" name="m0-text-153">
            <a:extLst xmlns:a="http://schemas.openxmlformats.org/drawingml/2006/main">
              <a:ext uri="{FF2B5EF4-FFF2-40B4-BE49-F238E27FC236}">
                <a16:creationId xmlns:a16="http://schemas.microsoft.com/office/drawing/2014/main" id="{ED1DD1FD-797C-4C3E-A1EE-819560022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24325"/>
            <a:ext cx="822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 both folders, copy llm_provider_api_key.example.yaml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 llm_provider_api_key.yaml. Paste your key and keep it private.</a:t>
            </a:r>
          </a:p>
        </p:txBody>
      </p:sp>
    </p:spTree>
    <p:extLst>
      <p:ext uri="{BB962C8B-B14F-4D97-AF65-F5344CB8AC3E}">
        <p14:creationId xmlns:p14="http://schemas.microsoft.com/office/powerpoint/2010/main" val="110574265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m0-text-154">
            <a:extLst xmlns:a="http://schemas.openxmlformats.org/drawingml/2006/main">
              <a:ext uri="{FF2B5EF4-FFF2-40B4-BE49-F238E27FC236}">
                <a16:creationId xmlns:a16="http://schemas.microsoft.com/office/drawing/2014/main" id="{87F78932-E631-4B1F-BFE0-9F44B19C2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55">
            <a:extLst xmlns:a="http://schemas.openxmlformats.org/drawingml/2006/main">
              <a:ext uri="{FF2B5EF4-FFF2-40B4-BE49-F238E27FC236}">
                <a16:creationId xmlns:a16="http://schemas.microsoft.com/office/drawing/2014/main" id="{0C954E76-4935-496B-B8FB-5F7D4DC4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56">
            <a:extLst xmlns:a="http://schemas.openxmlformats.org/drawingml/2006/main">
              <a:ext uri="{FF2B5EF4-FFF2-40B4-BE49-F238E27FC236}">
                <a16:creationId xmlns:a16="http://schemas.microsoft.com/office/drawing/2014/main" id="{C83CDC11-C094-4A2C-8F10-30D73BC4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sp>
        <p:nvSpPr>
          <p:cNvPr id="4" name="m0-text-157">
            <a:extLst xmlns:a="http://schemas.openxmlformats.org/drawingml/2006/main">
              <a:ext uri="{FF2B5EF4-FFF2-40B4-BE49-F238E27FC236}">
                <a16:creationId xmlns:a16="http://schemas.microsoft.com/office/drawing/2014/main" id="{BCA6DB0F-4419-4872-9D31-68408AD7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Try Ollama in the Notebook</a:t>
            </a:r>
          </a:p>
        </p:txBody>
      </p:sp>
      <p:sp>
        <p:nvSpPr>
          <p:cNvPr id="5" name="m0-text-158">
            <a:extLst xmlns:a="http://schemas.openxmlformats.org/drawingml/2006/main">
              <a:ext uri="{FF2B5EF4-FFF2-40B4-BE49-F238E27FC236}">
                <a16:creationId xmlns:a16="http://schemas.microsoft.com/office/drawing/2014/main" id="{8208CA2E-FA31-478E-8025-62F41073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the notebook and try a call with Ollama.</a:t>
            </a:r>
          </a:p>
        </p:txBody>
      </p:sp>
      <p:sp>
        <p:nvSpPr>
          <p:cNvPr id="6" name="m0-text-159">
            <a:extLst xmlns:a="http://schemas.openxmlformats.org/drawingml/2006/main">
              <a:ext uri="{FF2B5EF4-FFF2-40B4-BE49-F238E27FC236}">
                <a16:creationId xmlns:a16="http://schemas.microsoft.com/office/drawing/2014/main" id="{639CC062-8DDD-40FC-BF9C-6BCDE82C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2150"/>
            <a:ext cx="822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Run the key-loading cell, then the Ollama Cloud cells.</a:t>
            </a:r>
          </a:p>
        </p:txBody>
      </p:sp>
      <p:sp>
        <p:nvSpPr>
          <p:cNvPr id="7" name="m0-text-160">
            <a:extLst xmlns:a="http://schemas.openxmlformats.org/drawingml/2006/main">
              <a:ext uri="{FF2B5EF4-FFF2-40B4-BE49-F238E27FC236}">
                <a16:creationId xmlns:a16="http://schemas.microsoft.com/office/drawing/2014/main" id="{05197706-5E09-4CE1-A641-18CCE325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47950"/>
            <a:ext cx="82296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response = client.chat(</a:t>
            </a:r>
          </a:p>
          <a:p xmlns:a="http://schemas.openxmlformats.org/drawingml/2006/main">
            <a:pPr>
              <a:defRPr sz="172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model="gpt-oss:120b",</a:t>
            </a:r>
          </a:p>
          <a:p xmlns:a="http://schemas.openxmlformats.org/drawingml/2006/main">
            <a:pPr>
              <a:defRPr sz="172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messages=[{"role": "user", "content": "Say hello!"}],</a:t>
            </a:r>
          </a:p>
          <a:p xmlns:a="http://schemas.openxmlformats.org/drawingml/2006/main">
            <a:pPr>
              <a:defRPr sz="172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72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print(response.message.content)</a:t>
            </a:r>
          </a:p>
        </p:txBody>
      </p:sp>
      <p:sp>
        <p:nvSpPr>
          <p:cNvPr id="8" name="m0-text-161">
            <a:extLst xmlns:a="http://schemas.openxmlformats.org/drawingml/2006/main">
              <a:ext uri="{FF2B5EF4-FFF2-40B4-BE49-F238E27FC236}">
                <a16:creationId xmlns:a16="http://schemas.microsoft.com/office/drawing/2014/main" id="{563B7635-9549-42CC-8FC8-BFBFF21FD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4375"/>
            <a:ext cx="8229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b39f13399514b89"/>
              </a:rPr>
              <a:t>Open 00_first_call.ipynb</a:t>
            </a:r>
          </a:p>
        </p:txBody>
      </p:sp>
    </p:spTree>
    <p:extLst>
      <p:ext uri="{BB962C8B-B14F-4D97-AF65-F5344CB8AC3E}">
        <p14:creationId xmlns:p14="http://schemas.microsoft.com/office/powerpoint/2010/main" val="25764393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m0-text-162">
            <a:extLst xmlns:a="http://schemas.openxmlformats.org/drawingml/2006/main">
              <a:ext uri="{FF2B5EF4-FFF2-40B4-BE49-F238E27FC236}">
                <a16:creationId xmlns:a16="http://schemas.microsoft.com/office/drawing/2014/main" id="{DAD6C1EE-DDAF-4184-B526-6D944643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63">
            <a:extLst xmlns:a="http://schemas.openxmlformats.org/drawingml/2006/main">
              <a:ext uri="{FF2B5EF4-FFF2-40B4-BE49-F238E27FC236}">
                <a16:creationId xmlns:a16="http://schemas.microsoft.com/office/drawing/2014/main" id="{C3E7A823-EBFF-4174-8302-3B87D6FA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64">
            <a:extLst xmlns:a="http://schemas.openxmlformats.org/drawingml/2006/main">
              <a:ext uri="{FF2B5EF4-FFF2-40B4-BE49-F238E27FC236}">
                <a16:creationId xmlns:a16="http://schemas.microsoft.com/office/drawing/2014/main" id="{4A1FA3E3-8E55-49EE-9AF9-7AD418B73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sp>
        <p:nvSpPr>
          <p:cNvPr id="4" name="m0-text-165">
            <a:extLst xmlns:a="http://schemas.openxmlformats.org/drawingml/2006/main">
              <a:ext uri="{FF2B5EF4-FFF2-40B4-BE49-F238E27FC236}">
                <a16:creationId xmlns:a16="http://schemas.microsoft.com/office/drawing/2014/main" id="{8167A17C-0EB4-48F6-ABEA-C99FCC82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Try the Avatar</a:t>
            </a:r>
          </a:p>
        </p:txBody>
      </p:sp>
      <p:sp>
        <p:nvSpPr>
          <p:cNvPr id="5" name="m0-text-166">
            <a:extLst xmlns:a="http://schemas.openxmlformats.org/drawingml/2006/main">
              <a:ext uri="{FF2B5EF4-FFF2-40B4-BE49-F238E27FC236}">
                <a16:creationId xmlns:a16="http://schemas.microsoft.com/office/drawing/2014/main" id="{728FB183-19C0-4F32-AB1C-7EA7BACE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8229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Your message goes to the agent; its answer returns to the avatar.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E8D51-763A-42B5-B67B-A6A3BCFF0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57425"/>
            <a:ext cx="1714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m0-text-167">
            <a:extLst xmlns:a="http://schemas.openxmlformats.org/drawingml/2006/main">
              <a:ext uri="{FF2B5EF4-FFF2-40B4-BE49-F238E27FC236}">
                <a16:creationId xmlns:a16="http://schemas.microsoft.com/office/drawing/2014/main" id="{2DB0375D-EAA0-4FBB-985D-76B7FBEB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09825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72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You</a:t>
            </a:r>
          </a:p>
        </p:txBody>
      </p:sp>
      <p:sp>
        <p:nvSpPr>
          <p:cNvPr id="8" name="m0-text-168">
            <a:extLst xmlns:a="http://schemas.openxmlformats.org/drawingml/2006/main">
              <a:ext uri="{FF2B5EF4-FFF2-40B4-BE49-F238E27FC236}">
                <a16:creationId xmlns:a16="http://schemas.microsoft.com/office/drawing/2014/main" id="{1465A1A6-BD3A-433E-8EB9-B1D8A308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95600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User / browser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512710-A4A4-448C-B396-17E72E94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257425"/>
            <a:ext cx="1714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m0-text-169">
            <a:extLst xmlns:a="http://schemas.openxmlformats.org/drawingml/2006/main">
              <a:ext uri="{FF2B5EF4-FFF2-40B4-BE49-F238E27FC236}">
                <a16:creationId xmlns:a16="http://schemas.microsoft.com/office/drawing/2014/main" id="{404581CD-ED4D-4056-B91D-4E46ABD0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409825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72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Avatar</a:t>
            </a:r>
          </a:p>
        </p:txBody>
      </p:sp>
      <p:sp>
        <p:nvSpPr>
          <p:cNvPr id="11" name="m0-text-170">
            <a:extLst xmlns:a="http://schemas.openxmlformats.org/drawingml/2006/main">
              <a:ext uri="{FF2B5EF4-FFF2-40B4-BE49-F238E27FC236}">
                <a16:creationId xmlns:a16="http://schemas.microsoft.com/office/drawing/2014/main" id="{42BDCC35-9EC8-45A4-BB23-41F286D9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895600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VH Embodiment</a:t>
            </a:r>
          </a:p>
          <a:p xmlns:a="http://schemas.openxmlformats.org/drawingml/2006/main">
            <a:pPr algn="ctr"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Server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48967B-C745-4F1C-B347-7EB3408F3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257425"/>
            <a:ext cx="1714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m0-text-171">
            <a:extLst xmlns:a="http://schemas.openxmlformats.org/drawingml/2006/main">
              <a:ext uri="{FF2B5EF4-FFF2-40B4-BE49-F238E27FC236}">
                <a16:creationId xmlns:a16="http://schemas.microsoft.com/office/drawing/2014/main" id="{DBEA8A35-4E3C-4708-9C20-995E66F7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09825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72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Python agent</a:t>
            </a:r>
          </a:p>
        </p:txBody>
      </p:sp>
      <p:sp>
        <p:nvSpPr>
          <p:cNvPr id="14" name="m0-text-172">
            <a:extLst xmlns:a="http://schemas.openxmlformats.org/drawingml/2006/main">
              <a:ext uri="{FF2B5EF4-FFF2-40B4-BE49-F238E27FC236}">
                <a16:creationId xmlns:a16="http://schemas.microsoft.com/office/drawing/2014/main" id="{889C2297-8C38-4CAF-BB54-130CB6D9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95600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VH Cognitive</a:t>
            </a:r>
          </a:p>
          <a:p xmlns:a="http://schemas.openxmlformats.org/drawingml/2006/main">
            <a:pPr algn="ctr"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Architecture Server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EC9855-A0FE-41E7-8C10-73947898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57425"/>
            <a:ext cx="1714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6" name="m0-text-173">
            <a:extLst xmlns:a="http://schemas.openxmlformats.org/drawingml/2006/main">
              <a:ext uri="{FF2B5EF4-FFF2-40B4-BE49-F238E27FC236}">
                <a16:creationId xmlns:a16="http://schemas.microsoft.com/office/drawing/2014/main" id="{230BE0CC-09FF-41E0-8BEC-88A6BDEE2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09825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72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LLM provider</a:t>
            </a:r>
          </a:p>
        </p:txBody>
      </p:sp>
      <p:sp>
        <p:nvSpPr>
          <p:cNvPr id="17" name="m0-text-174">
            <a:extLst xmlns:a="http://schemas.openxmlformats.org/drawingml/2006/main">
              <a:ext uri="{FF2B5EF4-FFF2-40B4-BE49-F238E27FC236}">
                <a16:creationId xmlns:a16="http://schemas.microsoft.com/office/drawing/2014/main" id="{BA712FB5-8EB2-4164-9BD8-1D0CD5000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95600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</a:t>
            </a:r>
          </a:p>
        </p:txBody>
      </p:sp>
      <p:sp>
        <p:nvSpPr>
          <p:cNvPr id="18" name="m0-text-175">
            <a:extLst xmlns:a="http://schemas.openxmlformats.org/drawingml/2006/main">
              <a:ext uri="{FF2B5EF4-FFF2-40B4-BE49-F238E27FC236}">
                <a16:creationId xmlns:a16="http://schemas.microsoft.com/office/drawing/2014/main" id="{B0BBE41B-E371-4C59-BD49-5BB779FB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419350"/>
            <a:ext cx="419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25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9" name="m0-text-176">
            <a:extLst xmlns:a="http://schemas.openxmlformats.org/drawingml/2006/main">
              <a:ext uri="{FF2B5EF4-FFF2-40B4-BE49-F238E27FC236}">
                <a16:creationId xmlns:a16="http://schemas.microsoft.com/office/drawing/2014/main" id="{C2923198-7186-4D9F-81F8-97F3D3D8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81325"/>
            <a:ext cx="419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25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←</a:t>
            </a:r>
          </a:p>
        </p:txBody>
      </p:sp>
      <p:sp>
        <p:nvSpPr>
          <p:cNvPr id="20" name="m0-text-177">
            <a:extLst xmlns:a="http://schemas.openxmlformats.org/drawingml/2006/main">
              <a:ext uri="{FF2B5EF4-FFF2-40B4-BE49-F238E27FC236}">
                <a16:creationId xmlns:a16="http://schemas.microsoft.com/office/drawing/2014/main" id="{04997D91-280B-4CBA-8CF2-24A03AD7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419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25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1" name="m0-text-178">
            <a:extLst xmlns:a="http://schemas.openxmlformats.org/drawingml/2006/main">
              <a:ext uri="{FF2B5EF4-FFF2-40B4-BE49-F238E27FC236}">
                <a16:creationId xmlns:a16="http://schemas.microsoft.com/office/drawing/2014/main" id="{87448B4E-07DB-4ACB-BB22-3B2EB75E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81325"/>
            <a:ext cx="419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25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←</a:t>
            </a:r>
          </a:p>
        </p:txBody>
      </p:sp>
      <p:sp>
        <p:nvSpPr>
          <p:cNvPr id="22" name="m0-text-179">
            <a:extLst xmlns:a="http://schemas.openxmlformats.org/drawingml/2006/main">
              <a:ext uri="{FF2B5EF4-FFF2-40B4-BE49-F238E27FC236}">
                <a16:creationId xmlns:a16="http://schemas.microsoft.com/office/drawing/2014/main" id="{94AEB84E-BEFD-4819-87AC-06617918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19350"/>
            <a:ext cx="419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25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3" name="m0-text-180">
            <a:extLst xmlns:a="http://schemas.openxmlformats.org/drawingml/2006/main">
              <a:ext uri="{FF2B5EF4-FFF2-40B4-BE49-F238E27FC236}">
                <a16:creationId xmlns:a16="http://schemas.microsoft.com/office/drawing/2014/main" id="{D57D2B16-429F-4608-AFD4-85B697EE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81325"/>
            <a:ext cx="419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25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←</a:t>
            </a:r>
          </a:p>
        </p:txBody>
      </p:sp>
      <p:sp>
        <p:nvSpPr>
          <p:cNvPr id="24" name="m0-text-181">
            <a:extLst xmlns:a="http://schemas.openxmlformats.org/drawingml/2006/main">
              <a:ext uri="{FF2B5EF4-FFF2-40B4-BE49-F238E27FC236}">
                <a16:creationId xmlns:a16="http://schemas.microsoft.com/office/drawing/2014/main" id="{05101056-D775-48EF-A1EA-82D04A41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71925"/>
            <a:ext cx="82296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mock always says “Hello world”.</a:t>
            </a:r>
          </a:p>
          <a:p xmlns:a="http://schemas.openxmlformats.org/drawingml/2006/main">
            <a:pPr>
              <a:defRPr sz="19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With the naive agent, the LLM writes the answer.</a:t>
            </a:r>
          </a:p>
        </p:txBody>
      </p:sp>
    </p:spTree>
    <p:extLst>
      <p:ext uri="{BB962C8B-B14F-4D97-AF65-F5344CB8AC3E}">
        <p14:creationId xmlns:p14="http://schemas.microsoft.com/office/powerpoint/2010/main" val="129316378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m0-text-182">
            <a:extLst xmlns:a="http://schemas.openxmlformats.org/drawingml/2006/main">
              <a:ext uri="{FF2B5EF4-FFF2-40B4-BE49-F238E27FC236}">
                <a16:creationId xmlns:a16="http://schemas.microsoft.com/office/drawing/2014/main" id="{B8817D03-CE2E-4B34-AD97-CC4D5AC8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83">
            <a:extLst xmlns:a="http://schemas.openxmlformats.org/drawingml/2006/main">
              <a:ext uri="{FF2B5EF4-FFF2-40B4-BE49-F238E27FC236}">
                <a16:creationId xmlns:a16="http://schemas.microsoft.com/office/drawing/2014/main" id="{589CA989-2FB8-43FC-BE31-86CBC93C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84">
            <a:extLst xmlns:a="http://schemas.openxmlformats.org/drawingml/2006/main">
              <a:ext uri="{FF2B5EF4-FFF2-40B4-BE49-F238E27FC236}">
                <a16:creationId xmlns:a16="http://schemas.microsoft.com/office/drawing/2014/main" id="{3B816C85-20E4-4E99-9CA3-FC229E42E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4" name="m0-text-185">
            <a:extLst xmlns:a="http://schemas.openxmlformats.org/drawingml/2006/main">
              <a:ext uri="{FF2B5EF4-FFF2-40B4-BE49-F238E27FC236}">
                <a16:creationId xmlns:a16="http://schemas.microsoft.com/office/drawing/2014/main" id="{5778A885-92DC-4D33-AAB4-A7D0A5B4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Where to Change the Agent</a:t>
            </a:r>
          </a:p>
        </p:txBody>
      </p:sp>
      <p:sp>
        <p:nvSpPr>
          <p:cNvPr id="5" name="m0-text-186">
            <a:extLst xmlns:a="http://schemas.openxmlformats.org/drawingml/2006/main">
              <a:ext uri="{FF2B5EF4-FFF2-40B4-BE49-F238E27FC236}">
                <a16:creationId xmlns:a16="http://schemas.microsoft.com/office/drawing/2014/main" id="{F9FB0C4B-48E5-4C6C-A630-8DF7A555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Edit or create files in agents/ to define the agent’s behaviour.</a:t>
            </a:r>
          </a:p>
        </p:txBody>
      </p:sp>
      <p:sp>
        <p:nvSpPr>
          <p:cNvPr id="6" name="m0-text-187">
            <a:extLst xmlns:a="http://schemas.openxmlformats.org/drawingml/2006/main">
              <a:ext uri="{FF2B5EF4-FFF2-40B4-BE49-F238E27FC236}">
                <a16:creationId xmlns:a16="http://schemas.microsoft.com/office/drawing/2014/main" id="{883CDF7B-12F3-4C19-86E3-27316800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57400"/>
            <a:ext cx="53721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virtual_human_project/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vh_cognitive_architecture_server/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75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vh_cognitive_server.py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7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agents/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  Module_0/Chapter_01/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57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mock_agent.py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57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naive_agent.py</a:t>
            </a:r>
          </a:p>
        </p:txBody>
      </p:sp>
      <p:sp>
        <p:nvSpPr>
          <p:cNvPr id="7" name="m0-text-188">
            <a:extLst xmlns:a="http://schemas.openxmlformats.org/drawingml/2006/main">
              <a:ext uri="{FF2B5EF4-FFF2-40B4-BE49-F238E27FC236}">
                <a16:creationId xmlns:a16="http://schemas.microsoft.com/office/drawing/2014/main" id="{330A7D04-9C86-4350-8DEA-376A6ED7F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62225"/>
            <a:ext cx="2495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Change the import</a:t>
            </a:r>
          </a:p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 select the agent</a:t>
            </a:r>
          </a:p>
        </p:txBody>
      </p:sp>
      <p:sp>
        <p:nvSpPr>
          <p:cNvPr id="8" name="m0-text-189">
            <a:extLst xmlns:a="http://schemas.openxmlformats.org/drawingml/2006/main">
              <a:ext uri="{FF2B5EF4-FFF2-40B4-BE49-F238E27FC236}">
                <a16:creationId xmlns:a16="http://schemas.microsoft.com/office/drawing/2014/main" id="{D9E26D66-81E6-474C-875B-228F3BC0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4802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Fixed reply</a:t>
            </a:r>
          </a:p>
          <a:p xmlns:a="http://schemas.openxmlformats.org/drawingml/2006/main">
            <a:pPr>
              <a:defRPr sz="165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LLM reply</a:t>
            </a:r>
          </a:p>
        </p:txBody>
      </p:sp>
      <p:sp>
        <p:nvSpPr>
          <p:cNvPr id="9" name="m0-text-190">
            <a:extLst xmlns:a="http://schemas.openxmlformats.org/drawingml/2006/main">
              <a:ext uri="{FF2B5EF4-FFF2-40B4-BE49-F238E27FC236}">
                <a16:creationId xmlns:a16="http://schemas.microsoft.com/office/drawing/2014/main" id="{95011E08-899A-4887-9821-4B413FCC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81475"/>
            <a:ext cx="8229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 your files, then restart the server in Settings.</a:t>
            </a:r>
          </a:p>
        </p:txBody>
      </p:sp>
      <p:sp>
        <p:nvSpPr>
          <p:cNvPr id="10" name="m0-text-191">
            <a:extLst xmlns:a="http://schemas.openxmlformats.org/drawingml/2006/main">
              <a:ext uri="{FF2B5EF4-FFF2-40B4-BE49-F238E27FC236}">
                <a16:creationId xmlns:a16="http://schemas.microsoft.com/office/drawing/2014/main" id="{AEEA7EDE-6662-413E-A471-45535882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62475"/>
            <a:ext cx="822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Does the avatar remember your name? Try it.</a:t>
            </a:r>
          </a:p>
        </p:txBody>
      </p:sp>
    </p:spTree>
    <p:extLst>
      <p:ext uri="{BB962C8B-B14F-4D97-AF65-F5344CB8AC3E}">
        <p14:creationId xmlns:p14="http://schemas.microsoft.com/office/powerpoint/2010/main" val="1580085816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m0-text-192">
            <a:extLst xmlns:a="http://schemas.openxmlformats.org/drawingml/2006/main">
              <a:ext uri="{FF2B5EF4-FFF2-40B4-BE49-F238E27FC236}">
                <a16:creationId xmlns:a16="http://schemas.microsoft.com/office/drawing/2014/main" id="{1335A4F0-EFEF-4590-BBCD-6665BEC7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93">
            <a:extLst xmlns:a="http://schemas.openxmlformats.org/drawingml/2006/main">
              <a:ext uri="{FF2B5EF4-FFF2-40B4-BE49-F238E27FC236}">
                <a16:creationId xmlns:a16="http://schemas.microsoft.com/office/drawing/2014/main" id="{C5137457-4286-4FF1-B50D-D8B267116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94">
            <a:extLst xmlns:a="http://schemas.openxmlformats.org/drawingml/2006/main">
              <a:ext uri="{FF2B5EF4-FFF2-40B4-BE49-F238E27FC236}">
                <a16:creationId xmlns:a16="http://schemas.microsoft.com/office/drawing/2014/main" id="{A9E5F447-8E69-4D19-9F4A-775EB846A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sp>
        <p:nvSpPr>
          <p:cNvPr id="4" name="m0-text-195">
            <a:extLst xmlns:a="http://schemas.openxmlformats.org/drawingml/2006/main">
              <a:ext uri="{FF2B5EF4-FFF2-40B4-BE49-F238E27FC236}">
                <a16:creationId xmlns:a16="http://schemas.microsoft.com/office/drawing/2014/main" id="{54AA8617-68E5-4E65-BD91-BB0FDA5C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1E344F1C-A771-47C8-AFC8-555D408E9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196">
            <a:extLst xmlns:a="http://schemas.openxmlformats.org/drawingml/2006/main">
              <a:ext uri="{FF2B5EF4-FFF2-40B4-BE49-F238E27FC236}">
                <a16:creationId xmlns:a16="http://schemas.microsoft.com/office/drawing/2014/main" id="{36C6BDAF-B2A0-4759-ACF5-15C171724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197">
            <a:extLst xmlns:a="http://schemas.openxmlformats.org/drawingml/2006/main">
              <a:ext uri="{FF2B5EF4-FFF2-40B4-BE49-F238E27FC236}">
                <a16:creationId xmlns:a16="http://schemas.microsoft.com/office/drawing/2014/main" id="{4208DE8A-327C-4320-A0FA-F7FA835E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</p:spTree>
    <p:extLst>
      <p:ext uri="{BB962C8B-B14F-4D97-AF65-F5344CB8AC3E}">
        <p14:creationId xmlns:p14="http://schemas.microsoft.com/office/powerpoint/2010/main" val="210238332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m0-text-198">
            <a:extLst xmlns:a="http://schemas.openxmlformats.org/drawingml/2006/main">
              <a:ext uri="{FF2B5EF4-FFF2-40B4-BE49-F238E27FC236}">
                <a16:creationId xmlns:a16="http://schemas.microsoft.com/office/drawing/2014/main" id="{7362D2D9-07D3-4586-814B-F401A5ED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99">
            <a:extLst xmlns:a="http://schemas.openxmlformats.org/drawingml/2006/main">
              <a:ext uri="{FF2B5EF4-FFF2-40B4-BE49-F238E27FC236}">
                <a16:creationId xmlns:a16="http://schemas.microsoft.com/office/drawing/2014/main" id="{C19CFD0B-505D-482C-B3F6-B6FC0E65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00">
            <a:extLst xmlns:a="http://schemas.openxmlformats.org/drawingml/2006/main">
              <a:ext uri="{FF2B5EF4-FFF2-40B4-BE49-F238E27FC236}">
                <a16:creationId xmlns:a16="http://schemas.microsoft.com/office/drawing/2014/main" id="{68EE273C-4A2D-4254-86C6-A005DEFC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4" name="m0-text-201">
            <a:extLst xmlns:a="http://schemas.openxmlformats.org/drawingml/2006/main">
              <a:ext uri="{FF2B5EF4-FFF2-40B4-BE49-F238E27FC236}">
                <a16:creationId xmlns:a16="http://schemas.microsoft.com/office/drawing/2014/main" id="{AFDC8638-6381-4A95-9D31-1B989C9E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7F508DA2-F677-4494-AC9E-968E9647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202">
            <a:extLst xmlns:a="http://schemas.openxmlformats.org/drawingml/2006/main">
              <a:ext uri="{FF2B5EF4-FFF2-40B4-BE49-F238E27FC236}">
                <a16:creationId xmlns:a16="http://schemas.microsoft.com/office/drawing/2014/main" id="{D2950571-67E4-4B4E-BBED-976CF96A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203">
            <a:extLst xmlns:a="http://schemas.openxmlformats.org/drawingml/2006/main">
              <a:ext uri="{FF2B5EF4-FFF2-40B4-BE49-F238E27FC236}">
                <a16:creationId xmlns:a16="http://schemas.microsoft.com/office/drawing/2014/main" id="{D794F7E7-D741-47B1-B110-57DEF2DC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  <p:sp>
        <p:nvSpPr>
          <p:cNvPr id="8" name="Virtual human message">
            <a:extLst xmlns:a="http://schemas.openxmlformats.org/drawingml/2006/main">
              <a:ext uri="{FF2B5EF4-FFF2-40B4-BE49-F238E27FC236}">
                <a16:creationId xmlns:a16="http://schemas.microsoft.com/office/drawing/2014/main" id="{9C205F39-1BE3-47DB-826B-ED5BD3FDB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9055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m0-text-204">
            <a:extLst xmlns:a="http://schemas.openxmlformats.org/drawingml/2006/main">
              <a:ext uri="{FF2B5EF4-FFF2-40B4-BE49-F238E27FC236}">
                <a16:creationId xmlns:a16="http://schemas.microsoft.com/office/drawing/2014/main" id="{943938D7-1597-4993-9812-BB987B08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81300"/>
            <a:ext cx="548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0" name="m0-text-205">
            <a:extLst xmlns:a="http://schemas.openxmlformats.org/drawingml/2006/main">
              <a:ext uri="{FF2B5EF4-FFF2-40B4-BE49-F238E27FC236}">
                <a16:creationId xmlns:a16="http://schemas.microsoft.com/office/drawing/2014/main" id="{02E7E915-546D-4B74-B7B5-63CE6389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548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</p:spTree>
    <p:extLst>
      <p:ext uri="{BB962C8B-B14F-4D97-AF65-F5344CB8AC3E}">
        <p14:creationId xmlns:p14="http://schemas.microsoft.com/office/powerpoint/2010/main" val="98413521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m0-text-206">
            <a:extLst xmlns:a="http://schemas.openxmlformats.org/drawingml/2006/main">
              <a:ext uri="{FF2B5EF4-FFF2-40B4-BE49-F238E27FC236}">
                <a16:creationId xmlns:a16="http://schemas.microsoft.com/office/drawing/2014/main" id="{96D59809-D631-4E61-9094-459C0C04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07">
            <a:extLst xmlns:a="http://schemas.openxmlformats.org/drawingml/2006/main">
              <a:ext uri="{FF2B5EF4-FFF2-40B4-BE49-F238E27FC236}">
                <a16:creationId xmlns:a16="http://schemas.microsoft.com/office/drawing/2014/main" id="{1A36EBCD-9249-4C5A-B90A-85B1835A8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08">
            <a:extLst xmlns:a="http://schemas.openxmlformats.org/drawingml/2006/main">
              <a:ext uri="{FF2B5EF4-FFF2-40B4-BE49-F238E27FC236}">
                <a16:creationId xmlns:a16="http://schemas.microsoft.com/office/drawing/2014/main" id="{CF15A00D-CB1B-4B78-A366-6E55F02C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sp>
        <p:nvSpPr>
          <p:cNvPr id="4" name="m0-text-209">
            <a:extLst xmlns:a="http://schemas.openxmlformats.org/drawingml/2006/main">
              <a:ext uri="{FF2B5EF4-FFF2-40B4-BE49-F238E27FC236}">
                <a16:creationId xmlns:a16="http://schemas.microsoft.com/office/drawing/2014/main" id="{1F54B750-D717-448C-92F6-94E96A2C1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22AD1F33-E47C-466B-9EB5-6C91E611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210">
            <a:extLst xmlns:a="http://schemas.openxmlformats.org/drawingml/2006/main">
              <a:ext uri="{FF2B5EF4-FFF2-40B4-BE49-F238E27FC236}">
                <a16:creationId xmlns:a16="http://schemas.microsoft.com/office/drawing/2014/main" id="{4B41085A-0B29-4E33-AC19-87C8404B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211">
            <a:extLst xmlns:a="http://schemas.openxmlformats.org/drawingml/2006/main">
              <a:ext uri="{FF2B5EF4-FFF2-40B4-BE49-F238E27FC236}">
                <a16:creationId xmlns:a16="http://schemas.microsoft.com/office/drawing/2014/main" id="{0E553D9A-2EB9-435B-A018-A787A251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  <p:sp>
        <p:nvSpPr>
          <p:cNvPr id="8" name="Virtual human message">
            <a:extLst xmlns:a="http://schemas.openxmlformats.org/drawingml/2006/main">
              <a:ext uri="{FF2B5EF4-FFF2-40B4-BE49-F238E27FC236}">
                <a16:creationId xmlns:a16="http://schemas.microsoft.com/office/drawing/2014/main" id="{526A7C3A-3955-427B-B879-F9924DCC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9055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m0-text-212">
            <a:extLst xmlns:a="http://schemas.openxmlformats.org/drawingml/2006/main">
              <a:ext uri="{FF2B5EF4-FFF2-40B4-BE49-F238E27FC236}">
                <a16:creationId xmlns:a16="http://schemas.microsoft.com/office/drawing/2014/main" id="{E1B99A9C-AAC2-412C-A924-CE05E3250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81300"/>
            <a:ext cx="548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0" name="m0-text-213">
            <a:extLst xmlns:a="http://schemas.openxmlformats.org/drawingml/2006/main">
              <a:ext uri="{FF2B5EF4-FFF2-40B4-BE49-F238E27FC236}">
                <a16:creationId xmlns:a16="http://schemas.microsoft.com/office/drawing/2014/main" id="{5670005D-A10A-47D3-BA8B-A8FE2FD8E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548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  <p:sp>
        <p:nvSpPr>
          <p:cNvPr id="11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7EDFC6A2-04A0-445C-A538-240A373F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05250"/>
            <a:ext cx="5334000" cy="809625"/>
          </a:xfrm>
          <a:prstGeom xmlns:a="http://schemas.openxmlformats.org/drawingml/2006/main" prst="roundRect">
            <a:avLst>
              <a:gd name="adj" fmla="val 21176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12" name="m0-text-214">
            <a:extLst xmlns:a="http://schemas.openxmlformats.org/drawingml/2006/main">
              <a:ext uri="{FF2B5EF4-FFF2-40B4-BE49-F238E27FC236}">
                <a16:creationId xmlns:a16="http://schemas.microsoft.com/office/drawing/2014/main" id="{7D830813-540F-43C1-AAC2-3DDC061D2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01955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13" name="m0-text-215">
            <a:extLst xmlns:a="http://schemas.openxmlformats.org/drawingml/2006/main">
              <a:ext uri="{FF2B5EF4-FFF2-40B4-BE49-F238E27FC236}">
                <a16:creationId xmlns:a16="http://schemas.microsoft.com/office/drawing/2014/main" id="{85BF759A-AA30-4B1A-B02A-33378B36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286250"/>
            <a:ext cx="4914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Do you remember my name?</a:t>
            </a:r>
          </a:p>
        </p:txBody>
      </p:sp>
    </p:spTree>
    <p:extLst>
      <p:ext uri="{BB962C8B-B14F-4D97-AF65-F5344CB8AC3E}">
        <p14:creationId xmlns:p14="http://schemas.microsoft.com/office/powerpoint/2010/main" val="1795810905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m0-text-216">
            <a:extLst xmlns:a="http://schemas.openxmlformats.org/drawingml/2006/main">
              <a:ext uri="{FF2B5EF4-FFF2-40B4-BE49-F238E27FC236}">
                <a16:creationId xmlns:a16="http://schemas.microsoft.com/office/drawing/2014/main" id="{4A8935D0-9949-406D-828B-CEB1E2ED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17">
            <a:extLst xmlns:a="http://schemas.openxmlformats.org/drawingml/2006/main">
              <a:ext uri="{FF2B5EF4-FFF2-40B4-BE49-F238E27FC236}">
                <a16:creationId xmlns:a16="http://schemas.microsoft.com/office/drawing/2014/main" id="{0CA3C884-E956-4F58-A324-60E3819A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18">
            <a:extLst xmlns:a="http://schemas.openxmlformats.org/drawingml/2006/main">
              <a:ext uri="{FF2B5EF4-FFF2-40B4-BE49-F238E27FC236}">
                <a16:creationId xmlns:a16="http://schemas.microsoft.com/office/drawing/2014/main" id="{49FA7B82-C13F-4670-851E-9787FE4C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sp>
        <p:nvSpPr>
          <p:cNvPr id="4" name="m0-text-219">
            <a:extLst xmlns:a="http://schemas.openxmlformats.org/drawingml/2006/main">
              <a:ext uri="{FF2B5EF4-FFF2-40B4-BE49-F238E27FC236}">
                <a16:creationId xmlns:a16="http://schemas.microsoft.com/office/drawing/2014/main" id="{01217776-2494-456E-BC06-2D61D083D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1BA14A9B-18FC-48F5-BB7D-764683BE9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220">
            <a:extLst xmlns:a="http://schemas.openxmlformats.org/drawingml/2006/main">
              <a:ext uri="{FF2B5EF4-FFF2-40B4-BE49-F238E27FC236}">
                <a16:creationId xmlns:a16="http://schemas.microsoft.com/office/drawing/2014/main" id="{8B011E73-0733-44F1-8150-87606C3B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221">
            <a:extLst xmlns:a="http://schemas.openxmlformats.org/drawingml/2006/main">
              <a:ext uri="{FF2B5EF4-FFF2-40B4-BE49-F238E27FC236}">
                <a16:creationId xmlns:a16="http://schemas.microsoft.com/office/drawing/2014/main" id="{8C4CA6F1-71F2-4EDA-A3BD-9C60143A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  <p:sp>
        <p:nvSpPr>
          <p:cNvPr id="8" name="Virtual human message">
            <a:extLst xmlns:a="http://schemas.openxmlformats.org/drawingml/2006/main">
              <a:ext uri="{FF2B5EF4-FFF2-40B4-BE49-F238E27FC236}">
                <a16:creationId xmlns:a16="http://schemas.microsoft.com/office/drawing/2014/main" id="{68DD560A-7845-4C9A-9239-92309E39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9055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m0-text-222">
            <a:extLst xmlns:a="http://schemas.openxmlformats.org/drawingml/2006/main">
              <a:ext uri="{FF2B5EF4-FFF2-40B4-BE49-F238E27FC236}">
                <a16:creationId xmlns:a16="http://schemas.microsoft.com/office/drawing/2014/main" id="{6723D0C4-FF2E-4558-BE9B-21C538AC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81300"/>
            <a:ext cx="548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0" name="m0-text-223">
            <a:extLst xmlns:a="http://schemas.openxmlformats.org/drawingml/2006/main">
              <a:ext uri="{FF2B5EF4-FFF2-40B4-BE49-F238E27FC236}">
                <a16:creationId xmlns:a16="http://schemas.microsoft.com/office/drawing/2014/main" id="{BDC199A9-6CB4-4357-8676-7E226479A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548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  <p:sp>
        <p:nvSpPr>
          <p:cNvPr id="11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7ADA21AF-EE3E-4B3B-9F55-0616D41C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05250"/>
            <a:ext cx="5334000" cy="809625"/>
          </a:xfrm>
          <a:prstGeom xmlns:a="http://schemas.openxmlformats.org/drawingml/2006/main" prst="roundRect">
            <a:avLst>
              <a:gd name="adj" fmla="val 21176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12" name="m0-text-224">
            <a:extLst xmlns:a="http://schemas.openxmlformats.org/drawingml/2006/main">
              <a:ext uri="{FF2B5EF4-FFF2-40B4-BE49-F238E27FC236}">
                <a16:creationId xmlns:a16="http://schemas.microsoft.com/office/drawing/2014/main" id="{EADECD75-110C-4995-8A3C-A9875D31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01955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13" name="m0-text-225">
            <a:extLst xmlns:a="http://schemas.openxmlformats.org/drawingml/2006/main">
              <a:ext uri="{FF2B5EF4-FFF2-40B4-BE49-F238E27FC236}">
                <a16:creationId xmlns:a16="http://schemas.microsoft.com/office/drawing/2014/main" id="{007F1786-4050-4C35-9694-429E838D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286250"/>
            <a:ext cx="4914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Do you remember my name?</a:t>
            </a:r>
          </a:p>
        </p:txBody>
      </p:sp>
      <p:sp>
        <p:nvSpPr>
          <p:cNvPr id="14" name="Prediction question sticker">
            <a:extLst xmlns:a="http://schemas.openxmlformats.org/drawingml/2006/main">
              <a:ext uri="{FF2B5EF4-FFF2-40B4-BE49-F238E27FC236}">
                <a16:creationId xmlns:a16="http://schemas.microsoft.com/office/drawing/2014/main" id="{489C31A5-1CF4-412C-9BD3-C2686624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40000">
            <a:off x="2352675" y="2476500"/>
            <a:ext cx="44386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87C"/>
          </a:solidFill>
          <a:ln xmlns:a="http://schemas.openxmlformats.org/drawingml/2006/main" w="0">
            <a:solidFill>
              <a:srgbClr val="E8B87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1B23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61B23"/>
                </a:solidFill>
                <a:latin typeface="Calibri"/>
                <a:ea typeface="Calibri"/>
                <a:cs typeface="Calibri"/>
              </a:rPr>
              <a:t>What will it answer?</a:t>
            </a:r>
          </a:p>
          <a:p xmlns:a="http://schemas.openxmlformats.org/drawingml/2006/main">
            <a:pPr algn="ctr">
              <a:defRPr sz="2325" b="1">
                <a:solidFill>
                  <a:srgbClr val="161B23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61B23"/>
                </a:solidFill>
                <a:latin typeface="Calibri"/>
                <a:ea typeface="Calibri"/>
                <a:cs typeface="Calibri"/>
              </a:rPr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2076600915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m0-text-226">
            <a:extLst xmlns:a="http://schemas.openxmlformats.org/drawingml/2006/main">
              <a:ext uri="{FF2B5EF4-FFF2-40B4-BE49-F238E27FC236}">
                <a16:creationId xmlns:a16="http://schemas.microsoft.com/office/drawing/2014/main" id="{A91456E6-5497-4698-B516-9645BCF0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27">
            <a:extLst xmlns:a="http://schemas.openxmlformats.org/drawingml/2006/main">
              <a:ext uri="{FF2B5EF4-FFF2-40B4-BE49-F238E27FC236}">
                <a16:creationId xmlns:a16="http://schemas.microsoft.com/office/drawing/2014/main" id="{EEB7084C-DE06-4CF6-BCA6-A8FC7447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28">
            <a:extLst xmlns:a="http://schemas.openxmlformats.org/drawingml/2006/main">
              <a:ext uri="{FF2B5EF4-FFF2-40B4-BE49-F238E27FC236}">
                <a16:creationId xmlns:a16="http://schemas.microsoft.com/office/drawing/2014/main" id="{3E131256-FA3E-4383-9E8D-AE997133E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sp>
        <p:nvSpPr>
          <p:cNvPr id="4" name="m0-text-229">
            <a:extLst xmlns:a="http://schemas.openxmlformats.org/drawingml/2006/main">
              <a:ext uri="{FF2B5EF4-FFF2-40B4-BE49-F238E27FC236}">
                <a16:creationId xmlns:a16="http://schemas.microsoft.com/office/drawing/2014/main" id="{CB506BAC-E7D5-440C-98B3-E1F6A983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Without Memory, Each Call Starts Again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6CE566-CCE0-4F30-A62C-20551767A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52550"/>
            <a:ext cx="5334000" cy="619125"/>
          </a:xfrm>
          <a:prstGeom xmlns:a="http://schemas.openxmlformats.org/drawingml/2006/main" prst="roundRect">
            <a:avLst>
              <a:gd name="adj" fmla="val 21538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230">
            <a:extLst xmlns:a="http://schemas.openxmlformats.org/drawingml/2006/main">
              <a:ext uri="{FF2B5EF4-FFF2-40B4-BE49-F238E27FC236}">
                <a16:creationId xmlns:a16="http://schemas.microsoft.com/office/drawing/2014/main" id="{CD936494-2C9E-4F2E-B3E5-880AB33A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438275"/>
            <a:ext cx="499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231">
            <a:extLst xmlns:a="http://schemas.openxmlformats.org/drawingml/2006/main">
              <a:ext uri="{FF2B5EF4-FFF2-40B4-BE49-F238E27FC236}">
                <a16:creationId xmlns:a16="http://schemas.microsoft.com/office/drawing/2014/main" id="{2249C4FF-F896-4972-A939-82FED2E66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628775"/>
            <a:ext cx="499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t>Hi, </a:t>
            </a:r>
            <a:r>
              <a:rPr sz="165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I’m Alessandro</a:t>
            </a:r>
            <a:r>
              <a:t>. And you?</a:t>
            </a:r>
          </a:p>
        </p:txBody>
      </p:sp>
      <p:sp>
        <p:nvSpPr>
          <p:cNvPr id="8" name="Underline the earlier introduction">
            <a:extLst xmlns:a="http://schemas.openxmlformats.org/drawingml/2006/main">
              <a:ext uri="{FF2B5EF4-FFF2-40B4-BE49-F238E27FC236}">
                <a16:creationId xmlns:a16="http://schemas.microsoft.com/office/drawing/2014/main" id="{B377C6EE-D500-41EF-A905-78CE70968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895475"/>
            <a:ext cx="13811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0">
            <a:solidFill>
              <a:srgbClr val="D9A06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9BAD37-BB5F-43D1-B6F3-722D018E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66925"/>
            <a:ext cx="590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m0-text-232">
            <a:extLst xmlns:a="http://schemas.openxmlformats.org/drawingml/2006/main">
              <a:ext uri="{FF2B5EF4-FFF2-40B4-BE49-F238E27FC236}">
                <a16:creationId xmlns:a16="http://schemas.microsoft.com/office/drawing/2014/main" id="{42C76E1D-5313-4BAF-8E8B-EB162EC0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52650"/>
            <a:ext cx="5562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1" name="m0-text-233">
            <a:extLst xmlns:a="http://schemas.openxmlformats.org/drawingml/2006/main">
              <a:ext uri="{FF2B5EF4-FFF2-40B4-BE49-F238E27FC236}">
                <a16:creationId xmlns:a16="http://schemas.microsoft.com/office/drawing/2014/main" id="{6EB4AF37-FA63-4AC3-A3C5-10C71CA1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43150"/>
            <a:ext cx="55626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0DE336-4387-43CE-AFE7-9F7BB3FC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19425"/>
            <a:ext cx="5334000" cy="619125"/>
          </a:xfrm>
          <a:prstGeom xmlns:a="http://schemas.openxmlformats.org/drawingml/2006/main" prst="roundRect">
            <a:avLst>
              <a:gd name="adj" fmla="val 21538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13" name="m0-text-234">
            <a:extLst xmlns:a="http://schemas.openxmlformats.org/drawingml/2006/main">
              <a:ext uri="{FF2B5EF4-FFF2-40B4-BE49-F238E27FC236}">
                <a16:creationId xmlns:a16="http://schemas.microsoft.com/office/drawing/2014/main" id="{31A86259-F24E-409F-97E6-9F37478D4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05150"/>
            <a:ext cx="499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14" name="m0-text-235">
            <a:extLst xmlns:a="http://schemas.openxmlformats.org/drawingml/2006/main">
              <a:ext uri="{FF2B5EF4-FFF2-40B4-BE49-F238E27FC236}">
                <a16:creationId xmlns:a16="http://schemas.microsoft.com/office/drawing/2014/main" id="{24CDFB3F-1102-413D-981F-F979E894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95650"/>
            <a:ext cx="499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Do you remember my name?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5600F9-DD5E-4A9C-8738-DE1A8ABD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33800"/>
            <a:ext cx="7239000" cy="619125"/>
          </a:xfrm>
          <a:prstGeom xmlns:a="http://schemas.openxmlformats.org/drawingml/2006/main" prst="roundRect">
            <a:avLst>
              <a:gd name="adj" fmla="val 21538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6" name="m0-text-236">
            <a:extLst xmlns:a="http://schemas.openxmlformats.org/drawingml/2006/main">
              <a:ext uri="{FF2B5EF4-FFF2-40B4-BE49-F238E27FC236}">
                <a16:creationId xmlns:a16="http://schemas.microsoft.com/office/drawing/2014/main" id="{F8C47596-F2D4-4D14-93CA-9C811529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9525"/>
            <a:ext cx="6896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7" name="m0-text-237">
            <a:extLst xmlns:a="http://schemas.openxmlformats.org/drawingml/2006/main">
              <a:ext uri="{FF2B5EF4-FFF2-40B4-BE49-F238E27FC236}">
                <a16:creationId xmlns:a16="http://schemas.microsoft.com/office/drawing/2014/main" id="{6C92860D-EBDA-4C01-92B6-EE1F82C6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10025"/>
            <a:ext cx="689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 do not know your name. Could you tell me?</a:t>
            </a:r>
          </a:p>
        </p:txBody>
      </p:sp>
      <p:sp>
        <p:nvSpPr>
          <p:cNvPr id="18" name="m0-text-238">
            <a:extLst xmlns:a="http://schemas.openxmlformats.org/drawingml/2006/main">
              <a:ext uri="{FF2B5EF4-FFF2-40B4-BE49-F238E27FC236}">
                <a16:creationId xmlns:a16="http://schemas.microsoft.com/office/drawing/2014/main" id="{86D88EBA-5A78-4DF0-A476-0FBC6D3EC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33900"/>
            <a:ext cx="8229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LLM calls are stateless: we must supply earlier information again.</a:t>
            </a:r>
          </a:p>
        </p:txBody>
      </p:sp>
    </p:spTree>
    <p:extLst>
      <p:ext uri="{BB962C8B-B14F-4D97-AF65-F5344CB8AC3E}">
        <p14:creationId xmlns:p14="http://schemas.microsoft.com/office/powerpoint/2010/main" val="141156544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m0-text-239">
            <a:extLst xmlns:a="http://schemas.openxmlformats.org/drawingml/2006/main">
              <a:ext uri="{FF2B5EF4-FFF2-40B4-BE49-F238E27FC236}">
                <a16:creationId xmlns:a16="http://schemas.microsoft.com/office/drawing/2014/main" id="{A02B4CD8-DCE6-4985-B3A0-D42FEAFFD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40">
            <a:extLst xmlns:a="http://schemas.openxmlformats.org/drawingml/2006/main">
              <a:ext uri="{FF2B5EF4-FFF2-40B4-BE49-F238E27FC236}">
                <a16:creationId xmlns:a16="http://schemas.microsoft.com/office/drawing/2014/main" id="{7A4ABF20-1386-4798-A181-0BB12155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41">
            <a:extLst xmlns:a="http://schemas.openxmlformats.org/drawingml/2006/main">
              <a:ext uri="{FF2B5EF4-FFF2-40B4-BE49-F238E27FC236}">
                <a16:creationId xmlns:a16="http://schemas.microsoft.com/office/drawing/2014/main" id="{41762501-F424-4FA3-BB32-95ADBE2D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sp>
        <p:nvSpPr>
          <p:cNvPr id="4" name="m0-text-242">
            <a:extLst xmlns:a="http://schemas.openxmlformats.org/drawingml/2006/main">
              <a:ext uri="{FF2B5EF4-FFF2-40B4-BE49-F238E27FC236}">
                <a16:creationId xmlns:a16="http://schemas.microsoft.com/office/drawing/2014/main" id="{113C6BEE-3C13-41EE-B237-CBAAE5F3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From Stateless Calls to Cognitive Architecture</a:t>
            </a:r>
          </a:p>
        </p:txBody>
      </p:sp>
      <p:sp>
        <p:nvSpPr>
          <p:cNvPr id="5" name="m0-text-243">
            <a:extLst xmlns:a="http://schemas.openxmlformats.org/drawingml/2006/main">
              <a:ext uri="{FF2B5EF4-FFF2-40B4-BE49-F238E27FC236}">
                <a16:creationId xmlns:a16="http://schemas.microsoft.com/office/drawing/2014/main" id="{5D1BD88D-0331-4D1F-8879-4A0BA2EA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2575"/>
            <a:ext cx="8229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model receives the question, not the conversation.</a:t>
            </a:r>
          </a:p>
        </p:txBody>
      </p:sp>
      <p:sp>
        <p:nvSpPr>
          <p:cNvPr id="6" name="m0-text-244">
            <a:extLst xmlns:a="http://schemas.openxmlformats.org/drawingml/2006/main">
              <a:ext uri="{FF2B5EF4-FFF2-40B4-BE49-F238E27FC236}">
                <a16:creationId xmlns:a16="http://schemas.microsoft.com/office/drawing/2014/main" id="{7B52E62C-79F2-475D-9E00-2DA41379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47950"/>
            <a:ext cx="3886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 remember the name</a:t>
            </a:r>
          </a:p>
        </p:txBody>
      </p:sp>
      <p:sp>
        <p:nvSpPr>
          <p:cNvPr id="7" name="m0-text-245">
            <a:extLst xmlns:a="http://schemas.openxmlformats.org/drawingml/2006/main">
              <a:ext uri="{FF2B5EF4-FFF2-40B4-BE49-F238E27FC236}">
                <a16:creationId xmlns:a16="http://schemas.microsoft.com/office/drawing/2014/main" id="{07005A14-58AE-4222-ACF7-57FCF9763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647950"/>
            <a:ext cx="3886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 build a virtual human</a:t>
            </a:r>
          </a:p>
        </p:txBody>
      </p:sp>
      <p:sp>
        <p:nvSpPr>
          <p:cNvPr id="8" name="m0-text-246">
            <a:extLst xmlns:a="http://schemas.openxmlformats.org/drawingml/2006/main">
              <a:ext uri="{FF2B5EF4-FFF2-40B4-BE49-F238E27FC236}">
                <a16:creationId xmlns:a16="http://schemas.microsoft.com/office/drawing/2014/main" id="{E736F424-2A8A-4252-9E13-35EC1C5D9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76600"/>
            <a:ext cx="3886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 need a </a:t>
            </a:r>
            <a:r>
              <a:rPr sz="2025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memory model</a:t>
            </a: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9" name="m0-text-247">
            <a:extLst xmlns:a="http://schemas.openxmlformats.org/drawingml/2006/main">
              <a:ext uri="{FF2B5EF4-FFF2-40B4-BE49-F238E27FC236}">
                <a16:creationId xmlns:a16="http://schemas.microsoft.com/office/drawing/2014/main" id="{5ACAB674-42EA-4D87-8B2B-12DF0EAB7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76600"/>
            <a:ext cx="3886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 need a </a:t>
            </a:r>
            <a:r>
              <a:rPr sz="2025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cognitive architecture</a:t>
            </a: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m0-text-248">
            <a:extLst xmlns:a="http://schemas.openxmlformats.org/drawingml/2006/main">
              <a:ext uri="{FF2B5EF4-FFF2-40B4-BE49-F238E27FC236}">
                <a16:creationId xmlns:a16="http://schemas.microsoft.com/office/drawing/2014/main" id="{19A3E20E-CAF2-4118-8DA8-F6002EFC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24325"/>
            <a:ext cx="3886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Keep earlier messages available.</a:t>
            </a:r>
          </a:p>
        </p:txBody>
      </p:sp>
      <p:sp>
        <p:nvSpPr>
          <p:cNvPr id="11" name="m0-text-249">
            <a:extLst xmlns:a="http://schemas.openxmlformats.org/drawingml/2006/main">
              <a:ext uri="{FF2B5EF4-FFF2-40B4-BE49-F238E27FC236}">
                <a16:creationId xmlns:a16="http://schemas.microsoft.com/office/drawing/2014/main" id="{15598BC1-C9EE-4A8A-A34D-4A234696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24325"/>
            <a:ext cx="3886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Perception, reasoning (memory),</a:t>
            </a:r>
          </a:p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action.</a:t>
            </a:r>
          </a:p>
        </p:txBody>
      </p:sp>
    </p:spTree>
    <p:extLst>
      <p:ext uri="{BB962C8B-B14F-4D97-AF65-F5344CB8AC3E}">
        <p14:creationId xmlns:p14="http://schemas.microsoft.com/office/powerpoint/2010/main" val="11708757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2026-10-27T15:30:38.9570000Z</dcterms:created>
  <dcterms:modified xsi:type="dcterms:W3CDTF">2026-10-27T15:30:38.9580000Z</dcterms:modified>
</coreProperties>
</file>