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jpeg" ContentType="image/jpeg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844ba1c93442a2" /><Relationship Type="http://schemas.openxmlformats.org/officeDocument/2006/relationships/extended-properties" Target="/docProps/app.xml" Id="R55868ba4a19941c6" /><Relationship Type="http://schemas.openxmlformats.org/officeDocument/2006/relationships/officeDocument" Target="/ppt/presentation.xml" Id="Re776012ef3e34b56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9d880895e303424b"/>
  </ns0:sldMasterIdLst>
  <ns0:sldIdLst>
    <ns0:sldId id="256" ns1:id="R820a70a93ef14637"/>
    <ns0:sldId id="257" ns1:id="Re906a31b25e740f7"/>
    <ns0:sldId id="258" ns1:id="Rc3b87e80ad3c445a"/>
    <ns0:sldId id="259" ns1:id="R324b2ee27c234eb5"/>
    <ns0:sldId id="260" ns1:id="R51d5d440883b4123"/>
    <ns0:sldId id="261" ns1:id="R66837fc60ecf4e8d"/>
    <ns0:sldId id="262" ns1:id="R5539e30d4ade4e6b"/>
    <ns0:sldId id="263" ns1:id="R61f8a9a8d58c468a"/>
    <ns0:sldId id="264" ns1:id="R4c7393171325426c"/>
    <ns0:sldId id="265" ns1:id="R393a4bbf3df54734"/>
    <ns0:sldId id="266" ns1:id="R8c8f228f465b463b"/>
    <ns0:sldId id="267" ns1:id="R42bbef0c31cb4933"/>
    <ns0:sldId id="268" ns1:id="Ra60753ae8ec14be6"/>
    <ns0:sldId id="269" ns1:id="R655beba53d664f6d"/>
    <ns0:sldId id="270" ns1:id="R1a64e504937e4f05"/>
    <ns0:sldId id="271" ns1:id="Rd85d024c0d86400f"/>
    <ns0:sldId id="272" ns1:id="R7e35a1d5ffe44d05"/>
    <ns0:sldId id="273" ns1:id="Ra4efc2f647e048b7"/>
    <ns0:sldId id="274" ns1:id="R6c18aca3faf441f6"/>
    <ns0:sldId id="275" ns1:id="Ref320e144b7e414d"/>
    <ns0:sldId id="276" ns1:id="R3f65c48f053e4340"/>
    <ns0:sldId id="277" ns1:id="R214cc8d2bb0a4a6c"/>
  </ns0:sldIdLst>
  <ns0:sldSz cx="9144000" cy="51435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d49a5e5d2a7d4b18" /><ns0:Relationship Type="http://schemas.openxmlformats.org/officeDocument/2006/relationships/slideMaster" Target="/ppt/slideMasters/slideMaster1.xml" Id="R9d880895e303424b" /><ns0:Relationship Type="http://schemas.openxmlformats.org/officeDocument/2006/relationships/presProps" Target="/ppt/presProps.xml" Id="R5680b6ca1b6a40ac" /><ns0:Relationship Type="http://schemas.openxmlformats.org/officeDocument/2006/relationships/viewProps" Target="/ppt/viewProps.xml" Id="Re6ede94022bf4f22" /><ns0:Relationship Type="http://schemas.openxmlformats.org/officeDocument/2006/relationships/tableStyles" Target="/ppt/tableStyles.xml" Id="R9bc429d8f3094b1f" /><ns0:Relationship Type="http://schemas.openxmlformats.org/officeDocument/2006/relationships/slide" Target="/ppt/slides/slide1.xml" Id="R820a70a93ef14637" /><ns0:Relationship Type="http://schemas.openxmlformats.org/officeDocument/2006/relationships/slide" Target="/ppt/slides/slide2.xml" Id="Re906a31b25e740f7" /><ns0:Relationship Type="http://schemas.openxmlformats.org/officeDocument/2006/relationships/slide" Target="/ppt/slides/slide3.xml" Id="Rc3b87e80ad3c445a" /><ns0:Relationship Type="http://schemas.openxmlformats.org/officeDocument/2006/relationships/slide" Target="/ppt/slides/slide4.xml" Id="R324b2ee27c234eb5" /><ns0:Relationship Type="http://schemas.openxmlformats.org/officeDocument/2006/relationships/slide" Target="/ppt/slides/slide5.xml" Id="R51d5d440883b4123" /><ns0:Relationship Type="http://schemas.openxmlformats.org/officeDocument/2006/relationships/slide" Target="/ppt/slides/slide6.xml" Id="R66837fc60ecf4e8d" /><ns0:Relationship Type="http://schemas.openxmlformats.org/officeDocument/2006/relationships/slide" Target="/ppt/slides/slide7.xml" Id="R5539e30d4ade4e6b" /><ns0:Relationship Type="http://schemas.openxmlformats.org/officeDocument/2006/relationships/slide" Target="/ppt/slides/slide8.xml" Id="R61f8a9a8d58c468a" /><ns0:Relationship Type="http://schemas.openxmlformats.org/officeDocument/2006/relationships/slide" Target="/ppt/slides/slide9.xml" Id="R4c7393171325426c" /><ns0:Relationship Type="http://schemas.openxmlformats.org/officeDocument/2006/relationships/slide" Target="/ppt/slides/slide10.xml" Id="R393a4bbf3df54734" /><ns0:Relationship Type="http://schemas.openxmlformats.org/officeDocument/2006/relationships/slide" Target="/ppt/slides/slide11.xml" Id="R8c8f228f465b463b" /><ns0:Relationship Type="http://schemas.openxmlformats.org/officeDocument/2006/relationships/slide" Target="/ppt/slides/slide12.xml" Id="R42bbef0c31cb4933" /><ns0:Relationship Type="http://schemas.openxmlformats.org/officeDocument/2006/relationships/slide" Target="/ppt/slides/slide13.xml" Id="Ra60753ae8ec14be6" /><ns0:Relationship Type="http://schemas.openxmlformats.org/officeDocument/2006/relationships/slide" Target="/ppt/slides/slide14.xml" Id="R655beba53d664f6d" /><ns0:Relationship Type="http://schemas.openxmlformats.org/officeDocument/2006/relationships/slide" Target="/ppt/slides/slide15.xml" Id="R1a64e504937e4f05" /><ns0:Relationship Type="http://schemas.openxmlformats.org/officeDocument/2006/relationships/slide" Target="/ppt/slides/slide16.xml" Id="Rd85d024c0d86400f" /><ns0:Relationship Type="http://schemas.openxmlformats.org/officeDocument/2006/relationships/slide" Target="/ppt/slides/slide17.xml" Id="R7e35a1d5ffe44d05" /><ns0:Relationship Type="http://schemas.openxmlformats.org/officeDocument/2006/relationships/slide" Target="/ppt/slides/slide18.xml" Id="Ra4efc2f647e048b7" /><ns0:Relationship Type="http://schemas.openxmlformats.org/officeDocument/2006/relationships/slide" Target="/ppt/slides/slide19.xml" Id="R6c18aca3faf441f6" /><ns0:Relationship Type="http://schemas.openxmlformats.org/officeDocument/2006/relationships/slide" Target="/ppt/slides/slide20.xml" Id="Ref320e144b7e414d" /><ns0:Relationship Type="http://schemas.openxmlformats.org/officeDocument/2006/relationships/slide" Target="/ppt/slides/slide21.xml" Id="R3f65c48f053e4340" /><ns0:Relationship Type="http://schemas.openxmlformats.org/officeDocument/2006/relationships/slide" Target="/ppt/slides/slide22.xml" Id="R214cc8d2bb0a4a6c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a9b0a7ff44a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76f8b4e284a69" /><Relationship Type="http://schemas.openxmlformats.org/officeDocument/2006/relationships/image" Target="/ppt/media/image.jpeg" Id="R513a0ca57cd74b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b960c549b3430d" /><Relationship Type="http://schemas.openxmlformats.org/officeDocument/2006/relationships/image" Target="/ppt/media/image.png" Id="Rad63c447284942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23d521f544c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c24cc5f764a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bd34663224a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ddeb58cf14b0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6bae235624b4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a0ca57cd74be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316A46A-A674-48B0-8141-BF2B739B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185A010-543A-4FC7-88FC-41E222AA77D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_P2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3c447284942f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4D1D352-F9F9-4085-829F-BC21B330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B0550D2-6BA6-4E22-8D04-27BE5EAE22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SECTION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7F8D1A-64F0-4FD5-8765-879277A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B116CE5-EE4A-4A56-807C-EF1DAA79668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7EE577-FB21-4BE9-9614-22A5C778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/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133D84-31EB-4608-B016-06F946A9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74912DC-B31F-4521-8F54-909CC479D06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CONTENT_P1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22E960-C4CA-4283-8B39-481B7292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PART 1 · VIRTUAL HUMANS FOUNDATIONS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DB8AB1-7453-480C-A609-F1222F73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E89E472-8F18-4AFD-B746-5C67B77E3AF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CODE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EC9089-CF27-4AE2-9163-1728A62B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3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HANDS-ON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6A314E-44E8-4EE7-9778-63152923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6A167A9-B555-4951-841D-2F7303F555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STATEMENT">
    <p:bg>
      <p:bgPr>
        <a:solidFill xmlns:a="http://schemas.openxmlformats.org/drawingml/2006/main">
          <a:srgbClr val="0A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F3771D-BFA7-4B35-BA49-17DEF122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/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6BB7748-C7D2-41A2-A56A-CDB7E621C06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3b75049f0b4663" /><Relationship Type="http://schemas.openxmlformats.org/officeDocument/2006/relationships/slideLayout" Target="/ppt/slideLayouts/slideLayout1.xml" Id="Rd098c5917ee54036" /><Relationship Type="http://schemas.openxmlformats.org/officeDocument/2006/relationships/slideLayout" Target="/ppt/slideLayouts/slideLayout2.xml" Id="Re2cada54b0474472" /><Relationship Type="http://schemas.openxmlformats.org/officeDocument/2006/relationships/slideLayout" Target="/ppt/slideLayouts/slideLayout3.xml" Id="R6b6611b53f724cb8" /><Relationship Type="http://schemas.openxmlformats.org/officeDocument/2006/relationships/slideLayout" Target="/ppt/slideLayouts/slideLayout4.xml" Id="R98e270661f194ec2" /><Relationship Type="http://schemas.openxmlformats.org/officeDocument/2006/relationships/slideLayout" Target="/ppt/slideLayouts/slideLayout5.xml" Id="Rae44665887eb4879" /><Relationship Type="http://schemas.openxmlformats.org/officeDocument/2006/relationships/slideLayout" Target="/ppt/slideLayouts/slideLayout6.xml" Id="Rb3839baeaa9b4dd0" /><Relationship Type="http://schemas.openxmlformats.org/officeDocument/2006/relationships/slideLayout" Target="/ppt/slideLayouts/slideLayout7.xml" Id="Rf99333974ac04fc2" /><Relationship Type="http://schemas.openxmlformats.org/officeDocument/2006/relationships/slideLayout" Target="/ppt/slideLayouts/slideLayout8.xml" Id="R804d24458b3f4e6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DACBE42-8C3B-4E3A-B98F-A3033AA54B1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98c5917ee54036"/>
    <p:sldLayoutId xmlns:r="http://schemas.openxmlformats.org/officeDocument/2006/relationships" id="2147483650" r:id="Re2cada54b0474472"/>
    <p:sldLayoutId xmlns:r="http://schemas.openxmlformats.org/officeDocument/2006/relationships" id="2147483651" r:id="R6b6611b53f724cb8"/>
    <p:sldLayoutId xmlns:r="http://schemas.openxmlformats.org/officeDocument/2006/relationships" id="2147483652" r:id="R98e270661f194ec2"/>
    <p:sldLayoutId xmlns:r="http://schemas.openxmlformats.org/officeDocument/2006/relationships" id="2147483653" r:id="Rae44665887eb4879"/>
    <p:sldLayoutId xmlns:r="http://schemas.openxmlformats.org/officeDocument/2006/relationships" id="2147483654" r:id="Rb3839baeaa9b4dd0"/>
    <p:sldLayoutId xmlns:r="http://schemas.openxmlformats.org/officeDocument/2006/relationships" id="2147483655" r:id="Rf99333974ac04fc2"/>
    <p:sldLayoutId xmlns:r="http://schemas.openxmlformats.org/officeDocument/2006/relationships" id="2147483656" r:id="R804d24458b3f4e6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3.xml" Id="R89cc0ae8f7e146f6" /><ns0:Relationship Type="http://schemas.openxmlformats.org/officeDocument/2006/relationships/image" Target="/ppt/media/image2.png" Id="Rd97c045846174af8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118625672089402f" /><ns0:Relationship Type="http://schemas.openxmlformats.org/officeDocument/2006/relationships/image" Target="/ppt/media/image3.png" Id="R33631d152c104659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f5d6feaf6e004f14" /><ns0:Relationship Type="http://schemas.openxmlformats.org/officeDocument/2006/relationships/hyperlink" Target="https://github.com/alessandropec/virtual-humans-cognitive-architectures" TargetMode="External" Id="Reef89a9ef2634eef" /><ns0:Relationship Type="http://schemas.openxmlformats.org/officeDocument/2006/relationships/hyperlink" Target="https://github.com/alessandropec/virtual-humans-cognitive-architectures" TargetMode="External" Id="R39307842476f4651" /><ns0:Relationship Type="http://schemas.openxmlformats.org/officeDocument/2006/relationships/image" Target="/ppt/media/image4.png" Id="Rdb689e3676a04538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10fb5cdd158b4809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bbb51daf50d04ba0" /><ns0:Relationship Type="http://schemas.openxmlformats.org/officeDocument/2006/relationships/hyperlink" Target="https://github.com/stevieTheTurtle/AI_powered_VH_2026-Part_1" TargetMode="External" Id="R70f86f5a569b4f10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86403ca1cba94523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91881fe635a9440d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8b17e496bb6542db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364eb5ba79cc46c9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71b9165bb43f48ff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0786869deb63406c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cf95cdd4f876462b" /><ns0:Relationship Type="http://schemas.openxmlformats.org/officeDocument/2006/relationships/image" Target="/ppt/media/image5.png" Id="R1d75872c664e4005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504b69c46e124e08" /><ns0:Relationship Type="http://schemas.openxmlformats.org/officeDocument/2006/relationships/hyperlink" Target="https://aistudio.google.com/" TargetMode="External" Id="Rd359e3760dda40b0" /><ns0:Relationship Type="http://schemas.openxmlformats.org/officeDocument/2006/relationships/hyperlink" Target="https://console.groq.com/" TargetMode="External" Id="Rcc7385880d2e4000" /><ns0:Relationship Type="http://schemas.openxmlformats.org/officeDocument/2006/relationships/hyperlink" Target="https://openrouter.ai/" TargetMode="External" Id="R4482ae0e52a74caa" /><ns0:Relationship Type="http://schemas.openxmlformats.org/officeDocument/2006/relationships/hyperlink" Target="https://ollama.com/" TargetMode="External" Id="Rf0b6986bbdeb4e7c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4ccdb069eb724ae2" /><ns0:Relationship Type="http://schemas.openxmlformats.org/officeDocument/2006/relationships/hyperlink" Target="https://ollama.com/download" TargetMode="External" Id="R8b41f5bf7eae4c25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9888cbbdd25a4634" /><ns0:Relationship Type="http://schemas.openxmlformats.org/officeDocument/2006/relationships/hyperlink" Target="https://code.visualstudio.com/download" TargetMode="External" Id="R4e64187b915b44b6" /><ns0:Relationship Type="http://schemas.openxmlformats.org/officeDocument/2006/relationships/hyperlink" Target="https://www.python.org/downloads/" TargetMode="External" Id="Rc19d313600d44ff7" /><ns0:Relationship Type="http://schemas.openxmlformats.org/officeDocument/2006/relationships/hyperlink" Target="https://code.visualstudio.com/docs/datascience/jupyter-notebooks" TargetMode="External" Id="R25334465afa44f4c" /><ns0:Relationship Type="http://schemas.openxmlformats.org/officeDocument/2006/relationships/hyperlink" Target="https://github.com/alessandropec/virtual-humans-cognitive-architectures/blob/main/virtual_human_course/requirements.txt" TargetMode="External" Id="Rab1d05697072478b" /><ns0:Relationship Type="http://schemas.openxmlformats.org/officeDocument/2006/relationships/hyperlink" Target="https://docs.langchain.com/oss/python/langchain/overview" TargetMode="External" Id="R64ca771f5fb844bc" /><ns0:Relationship Type="http://schemas.openxmlformats.org/officeDocument/2006/relationships/hyperlink" Target="https://docs.langchain.com/oss/python/langgraph/overview" TargetMode="External" Id="R019a157305e34c7a" /><ns0:Relationship Type="http://schemas.openxmlformats.org/officeDocument/2006/relationships/hyperlink" Target="https://docs.pydantic.dev/latest/" TargetMode="External" Id="R3f8f64d3e3ce49f6" /><ns0:Relationship Type="http://schemas.openxmlformats.org/officeDocument/2006/relationships/hyperlink" Target="https://fastapi.tiangolo.com/" TargetMode="External" Id="Rf05225b8ed3b4b20" /><ns0:Relationship Type="http://schemas.openxmlformats.org/officeDocument/2006/relationships/hyperlink" Target="https://ollama.com/download" TargetMode="External" Id="Rc0a86ccf4d8d44b0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05c5f8ca5559428b" /><ns0:Relationship Type="http://schemas.openxmlformats.org/officeDocument/2006/relationships/hyperlink" Target="https://github.com/alessandropec/virtual-humans-cognitive-architectures" TargetMode="External" Id="Rcd20eb4b2f1946f5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801bf8fa72864e9b" /><ns0:Relationship Type="http://schemas.openxmlformats.org/officeDocument/2006/relationships/hyperlink" Target="https://marketplace.visualstudio.com/items?itemName=ms-python.python" TargetMode="External" Id="Rf05b438bf40c4dfb" /><ns0:Relationship Type="http://schemas.openxmlformats.org/officeDocument/2006/relationships/hyperlink" Target="https://marketplace.visualstudio.com/items?itemName=ms-toolsai.jupyter" TargetMode="External" Id="Rff07034be6ea4e1e" /><ns0:Relationship Type="http://schemas.openxmlformats.org/officeDocument/2006/relationships/hyperlink" Target="https://code.visualstudio.com/download" TargetMode="External" Id="R56500a1b7e9546fb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e887db9958954246" /><ns0:Relationship Type="http://schemas.openxmlformats.org/officeDocument/2006/relationships/hyperlink" Target="https://github.com/alessandropec/virtual-humans-cognitive-architectures/blob/main/virtual_human_project/vh_embodiment_server/README.md" TargetMode="External" Id="R6c9fa13c84c84286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d8cbbc75b5c54ed8" /><ns0:Relationship Type="http://schemas.openxmlformats.org/officeDocument/2006/relationships/image" Target="/ppt/media/image6.png" Id="R2eb5d9c3f2094380" /><ns0:Relationship Type="http://schemas.openxmlformats.org/officeDocument/2006/relationships/hyperlink" Target="https://github.com/alessandropec/virtual-humans-cognitive-architectures/blob/main/virtual_human_project/vh_cognitive_architecture_server/README.md" TargetMode="External" Id="R3a1f5e6db07641c6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a5a7a81ef6d148d2" /><ns0:Relationship Type="http://schemas.openxmlformats.org/officeDocument/2006/relationships/image" Target="/ppt/media/image7.png" Id="R4a025250d0c640ce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c1ab37acbf53427b" /><ns0:Relationship Type="http://schemas.openxmlformats.org/officeDocument/2006/relationships/hyperlink" Target="https://ollama.com/settings/keys" TargetMode="External" Id="R28d3a401fd11446b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2e61a18e61c24ee1" /><ns0:Relationship Type="http://schemas.openxmlformats.org/officeDocument/2006/relationships/hyperlink" Target="https://github.com/alessandropec/virtual-humans-cognitive-architectures/blob/main/virtual_human_course/Module_0/Chapter_01/Code/00_first_call.ipynb" TargetMode="External" Id="R95da7bc6b6e44395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4E41F8-8E58-4FEA-8893-64B76679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Alessandro Emmanuel Pecora · 29 October 2026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19CFBB7-3835-4BF3-9D24-B36FDF8A52C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66760" y="475488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69ADA83D-DF77-AA76-6DA0-7A70CD7A4D20}" type="slidenum">
              <a:rPr b="0"/>
              <a:t/>
            </a:fld>
            <a:endParaRPr/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c045846174a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m0-text-1">
            <a:extLst xmlns:a="http://schemas.openxmlformats.org/drawingml/2006/main">
              <a:ext uri="{FF2B5EF4-FFF2-40B4-BE49-F238E27FC236}">
                <a16:creationId xmlns:a16="http://schemas.microsoft.com/office/drawing/2014/main" id="{51A1F550-D7FD-4288-A7CD-B69443CB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Module 0 — Course Introduction and Setup</a:t>
            </a:r>
          </a:p>
        </p:txBody>
      </p:sp>
    </p:spTree>
    <p:extLst>
      <p:ext uri="{BB962C8B-B14F-4D97-AF65-F5344CB8AC3E}">
        <p14:creationId xmlns:p14="http://schemas.microsoft.com/office/powerpoint/2010/main" val="12075195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m0-text-2">
            <a:extLst xmlns:a="http://schemas.openxmlformats.org/drawingml/2006/main">
              <a:ext uri="{FF2B5EF4-FFF2-40B4-BE49-F238E27FC236}">
                <a16:creationId xmlns:a16="http://schemas.microsoft.com/office/drawing/2014/main" id="{1D26EC03-E80C-474B-82B6-C7474DE9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31d152c10465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m0-text-3">
            <a:extLst xmlns:a="http://schemas.openxmlformats.org/drawingml/2006/main">
              <a:ext uri="{FF2B5EF4-FFF2-40B4-BE49-F238E27FC236}">
                <a16:creationId xmlns:a16="http://schemas.microsoft.com/office/drawing/2014/main" id="{B8D50A34-AE6E-4C98-9BA5-5F6D4B1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9775"/>
            <a:ext cx="542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40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Course</a:t>
            </a:r>
          </a:p>
          <a:p xmlns:a="http://schemas.openxmlformats.org/drawingml/2006/main">
            <a:pPr>
              <a:defRPr sz="40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40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Introduction</a:t>
            </a:r>
          </a:p>
        </p:txBody>
      </p:sp>
      <p:sp>
        <p:nvSpPr>
          <p:cNvPr id="4" name="m0-text-4">
            <a:extLst xmlns:a="http://schemas.openxmlformats.org/drawingml/2006/main">
              <a:ext uri="{FF2B5EF4-FFF2-40B4-BE49-F238E27FC236}">
                <a16:creationId xmlns:a16="http://schemas.microsoft.com/office/drawing/2014/main" id="{80EE98E9-1B35-4731-8F47-225E1978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44244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0-text-5">
            <a:extLst xmlns:a="http://schemas.openxmlformats.org/drawingml/2006/main">
              <a:ext uri="{FF2B5EF4-FFF2-40B4-BE49-F238E27FC236}">
                <a16:creationId xmlns:a16="http://schemas.microsoft.com/office/drawing/2014/main" id="{5740D887-7D37-4582-BC59-E08DCAC6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6">
            <a:extLst xmlns:a="http://schemas.openxmlformats.org/drawingml/2006/main">
              <a:ext uri="{FF2B5EF4-FFF2-40B4-BE49-F238E27FC236}">
                <a16:creationId xmlns:a16="http://schemas.microsoft.com/office/drawing/2014/main" id="{2D5905FF-0DB7-491A-9DA0-B069E5BF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7">
            <a:extLst xmlns:a="http://schemas.openxmlformats.org/drawingml/2006/main">
              <a:ext uri="{FF2B5EF4-FFF2-40B4-BE49-F238E27FC236}">
                <a16:creationId xmlns:a16="http://schemas.microsoft.com/office/drawing/2014/main" id="{2AC5B8E2-11D1-4BF5-9F7E-A73AF67E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m0-text-8">
            <a:extLst xmlns:a="http://schemas.openxmlformats.org/drawingml/2006/main">
              <a:ext uri="{FF2B5EF4-FFF2-40B4-BE49-F238E27FC236}">
                <a16:creationId xmlns:a16="http://schemas.microsoft.com/office/drawing/2014/main" id="{9A0B14F9-24B8-4F77-AF50-E960CD37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Course Materials</a:t>
            </a:r>
          </a:p>
        </p:txBody>
      </p:sp>
      <p:sp>
        <p:nvSpPr>
          <p:cNvPr id="5" name="m0-text-9">
            <a:extLst xmlns:a="http://schemas.openxmlformats.org/drawingml/2006/main">
              <a:ext uri="{FF2B5EF4-FFF2-40B4-BE49-F238E27FC236}">
                <a16:creationId xmlns:a16="http://schemas.microsoft.com/office/drawing/2014/main" id="{46FC1847-A011-45C2-A3DD-A9F0BCE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Everything you need is on GitHub.</a:t>
            </a:r>
          </a:p>
        </p:txBody>
      </p:sp>
      <p:sp>
        <p:nvSpPr>
          <p:cNvPr id="6" name="m0-text-10">
            <a:extLst xmlns:a="http://schemas.openxmlformats.org/drawingml/2006/main">
              <a:ext uri="{FF2B5EF4-FFF2-40B4-BE49-F238E27FC236}">
                <a16:creationId xmlns:a16="http://schemas.microsoft.com/office/drawing/2014/main" id="{12325470-57A6-42ED-98DE-D251E20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5429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Slides in PowerPoint and PDF</a:t>
            </a:r>
          </a:p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Notebooks and setup instructions</a:t>
            </a:r>
          </a:p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Browser avatar and Python agent</a:t>
            </a:r>
          </a:p>
        </p:txBody>
      </p:sp>
      <p:sp>
        <p:nvSpPr>
          <p:cNvPr id="7" name="m0-text-11">
            <a:extLst xmlns:a="http://schemas.openxmlformats.org/drawingml/2006/main">
              <a:ext uri="{FF2B5EF4-FFF2-40B4-BE49-F238E27FC236}">
                <a16:creationId xmlns:a16="http://schemas.microsoft.com/office/drawing/2014/main" id="{7DF01DD5-4985-4361-BDCE-8442317E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42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ef89a9ef2634eef"/>
              </a:rPr>
              <a:t>github.com/alessandropec/</a:t>
            </a:r>
          </a:p>
          <a:p xmlns:a="http://schemas.openxmlformats.org/drawingml/2006/main">
            <a:pPr>
              <a:defRPr sz="1575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9307842476f4651"/>
              </a:rPr>
              <a:t>virtual-humans-cognitive-architectures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89e3676a04538"/>
          <a:stretch xmlns:a="http://schemas.openxmlformats.org/drawingml/2006/main"/>
        </p:blipFill>
        <p:spPr>
          <a:xfrm xmlns:a="http://schemas.openxmlformats.org/drawingml/2006/main">
            <a:off x="6534150" y="1847850"/>
            <a:ext cx="2076450" cy="2076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599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0-text-12">
            <a:extLst xmlns:a="http://schemas.openxmlformats.org/drawingml/2006/main">
              <a:ext uri="{FF2B5EF4-FFF2-40B4-BE49-F238E27FC236}">
                <a16:creationId xmlns:a16="http://schemas.microsoft.com/office/drawing/2014/main" id="{B0D3AD6A-D30B-4FF1-826F-8A2EB22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13">
            <a:extLst xmlns:a="http://schemas.openxmlformats.org/drawingml/2006/main">
              <a:ext uri="{FF2B5EF4-FFF2-40B4-BE49-F238E27FC236}">
                <a16:creationId xmlns:a16="http://schemas.microsoft.com/office/drawing/2014/main" id="{346F55C3-DC4B-4F17-8A6C-84561E5C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14">
            <a:extLst xmlns:a="http://schemas.openxmlformats.org/drawingml/2006/main">
              <a:ext uri="{FF2B5EF4-FFF2-40B4-BE49-F238E27FC236}">
                <a16:creationId xmlns:a16="http://schemas.microsoft.com/office/drawing/2014/main" id="{7BF2EF70-61EA-43F9-B3C5-1C9B77B7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m0-text-15">
            <a:extLst xmlns:a="http://schemas.openxmlformats.org/drawingml/2006/main">
              <a:ext uri="{FF2B5EF4-FFF2-40B4-BE49-F238E27FC236}">
                <a16:creationId xmlns:a16="http://schemas.microsoft.com/office/drawing/2014/main" id="{67CFC0D4-49FF-4078-852A-72C4ED24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Course Programme</a:t>
            </a:r>
          </a:p>
        </p:txBody>
      </p:sp>
      <p:sp>
        <p:nvSpPr>
          <p:cNvPr id="5" name="m0-text-16">
            <a:extLst xmlns:a="http://schemas.openxmlformats.org/drawingml/2006/main">
              <a:ext uri="{FF2B5EF4-FFF2-40B4-BE49-F238E27FC236}">
                <a16:creationId xmlns:a16="http://schemas.microsoft.com/office/drawing/2014/main" id="{E7CBD5C5-E5B3-4D80-BF29-00881598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Module 0</a:t>
            </a:r>
          </a:p>
        </p:txBody>
      </p:sp>
      <p:sp>
        <p:nvSpPr>
          <p:cNvPr id="6" name="m0-text-17">
            <a:extLst xmlns:a="http://schemas.openxmlformats.org/drawingml/2006/main">
              <a:ext uri="{FF2B5EF4-FFF2-40B4-BE49-F238E27FC236}">
                <a16:creationId xmlns:a16="http://schemas.microsoft.com/office/drawing/2014/main" id="{0105F11C-147D-4239-ABEA-2443F470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352550"/>
            <a:ext cx="671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Course Introduction and Setup</a:t>
            </a:r>
          </a:p>
        </p:txBody>
      </p:sp>
      <p:sp>
        <p:nvSpPr>
          <p:cNvPr id="7" name="m0-text-18">
            <a:extLst xmlns:a="http://schemas.openxmlformats.org/drawingml/2006/main">
              <a:ext uri="{FF2B5EF4-FFF2-40B4-BE49-F238E27FC236}">
                <a16:creationId xmlns:a16="http://schemas.microsoft.com/office/drawing/2014/main" id="{BAA9B219-EB86-4861-B2DB-DC32D92C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Module 1</a:t>
            </a:r>
          </a:p>
        </p:txBody>
      </p:sp>
      <p:sp>
        <p:nvSpPr>
          <p:cNvPr id="8" name="m0-text-19">
            <a:extLst xmlns:a="http://schemas.openxmlformats.org/drawingml/2006/main">
              <a:ext uri="{FF2B5EF4-FFF2-40B4-BE49-F238E27FC236}">
                <a16:creationId xmlns:a16="http://schemas.microsoft.com/office/drawing/2014/main" id="{AF4ADE45-FF4F-4051-80E6-833AEDA1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962150"/>
            <a:ext cx="671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Cognitive Architectures and Large Language Models</a:t>
            </a:r>
          </a:p>
        </p:txBody>
      </p:sp>
      <p:sp>
        <p:nvSpPr>
          <p:cNvPr id="9" name="m0-text-20">
            <a:extLst xmlns:a="http://schemas.openxmlformats.org/drawingml/2006/main">
              <a:ext uri="{FF2B5EF4-FFF2-40B4-BE49-F238E27FC236}">
                <a16:creationId xmlns:a16="http://schemas.microsoft.com/office/drawing/2014/main" id="{A9CC968D-346D-4004-B2AD-0766F81D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343150"/>
            <a:ext cx="671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1. Psychological Foundations of Cognitive Architectures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2. LLMs, Working Memory and Prompting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3. Introduction to LangChain</a:t>
            </a:r>
          </a:p>
        </p:txBody>
      </p:sp>
      <p:sp>
        <p:nvSpPr>
          <p:cNvPr id="10" name="m0-text-21">
            <a:extLst xmlns:a="http://schemas.openxmlformats.org/drawingml/2006/main">
              <a:ext uri="{FF2B5EF4-FFF2-40B4-BE49-F238E27FC236}">
                <a16:creationId xmlns:a16="http://schemas.microsoft.com/office/drawing/2014/main" id="{D80B60C1-968F-4458-A158-4896DE48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Module 2</a:t>
            </a:r>
          </a:p>
        </p:txBody>
      </p:sp>
      <p:sp>
        <p:nvSpPr>
          <p:cNvPr id="11" name="m0-text-22">
            <a:extLst xmlns:a="http://schemas.openxmlformats.org/drawingml/2006/main">
              <a:ext uri="{FF2B5EF4-FFF2-40B4-BE49-F238E27FC236}">
                <a16:creationId xmlns:a16="http://schemas.microsoft.com/office/drawing/2014/main" id="{6A80077F-5B9C-4028-9AE1-C9B2888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38500"/>
            <a:ext cx="671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From Large Language Models to Virtual Humans</a:t>
            </a:r>
          </a:p>
        </p:txBody>
      </p:sp>
      <p:sp>
        <p:nvSpPr>
          <p:cNvPr id="12" name="m0-text-23">
            <a:extLst xmlns:a="http://schemas.openxmlformats.org/drawingml/2006/main">
              <a:ext uri="{FF2B5EF4-FFF2-40B4-BE49-F238E27FC236}">
                <a16:creationId xmlns:a16="http://schemas.microsoft.com/office/drawing/2014/main" id="{B0477EAE-2609-4324-8BCD-38302006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19500"/>
            <a:ext cx="671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1. Agentic Frameworks and LangGraph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2. Building Stateful Agents with Memory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3. Integration with the Virtual Human</a:t>
            </a:r>
          </a:p>
        </p:txBody>
      </p:sp>
      <p:sp>
        <p:nvSpPr>
          <p:cNvPr id="13" name="m0-text-24">
            <a:extLst xmlns:a="http://schemas.openxmlformats.org/drawingml/2006/main">
              <a:ext uri="{FF2B5EF4-FFF2-40B4-BE49-F238E27FC236}">
                <a16:creationId xmlns:a16="http://schemas.microsoft.com/office/drawing/2014/main" id="{C51974E2-461E-412E-8965-92192424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Webinar</a:t>
            </a:r>
          </a:p>
        </p:txBody>
      </p:sp>
      <p:sp>
        <p:nvSpPr>
          <p:cNvPr id="14" name="m0-text-25">
            <a:extLst xmlns:a="http://schemas.openxmlformats.org/drawingml/2006/main">
              <a:ext uri="{FF2B5EF4-FFF2-40B4-BE49-F238E27FC236}">
                <a16:creationId xmlns:a16="http://schemas.microsoft.com/office/drawing/2014/main" id="{D931C2AA-DF1D-4E5B-BEB6-E1B9AFB1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57700"/>
            <a:ext cx="671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The Virtual Meteorologist</a:t>
            </a:r>
          </a:p>
        </p:txBody>
      </p:sp>
    </p:spTree>
    <p:extLst>
      <p:ext uri="{BB962C8B-B14F-4D97-AF65-F5344CB8AC3E}">
        <p14:creationId xmlns:p14="http://schemas.microsoft.com/office/powerpoint/2010/main" val="8705786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0-text-26">
            <a:extLst xmlns:a="http://schemas.openxmlformats.org/drawingml/2006/main">
              <a:ext uri="{FF2B5EF4-FFF2-40B4-BE49-F238E27FC236}">
                <a16:creationId xmlns:a16="http://schemas.microsoft.com/office/drawing/2014/main" id="{A842BEC5-0E33-48EB-8A4A-8BB75020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27">
            <a:extLst xmlns:a="http://schemas.openxmlformats.org/drawingml/2006/main">
              <a:ext uri="{FF2B5EF4-FFF2-40B4-BE49-F238E27FC236}">
                <a16:creationId xmlns:a16="http://schemas.microsoft.com/office/drawing/2014/main" id="{4FA0EC82-29D7-48E1-98C8-BF714A7B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28">
            <a:extLst xmlns:a="http://schemas.openxmlformats.org/drawingml/2006/main">
              <a:ext uri="{FF2B5EF4-FFF2-40B4-BE49-F238E27FC236}">
                <a16:creationId xmlns:a16="http://schemas.microsoft.com/office/drawing/2014/main" id="{5D2EC9F4-56EE-4FF3-84B2-78E33140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m0-text-29">
            <a:extLst xmlns:a="http://schemas.openxmlformats.org/drawingml/2006/main">
              <a:ext uri="{FF2B5EF4-FFF2-40B4-BE49-F238E27FC236}">
                <a16:creationId xmlns:a16="http://schemas.microsoft.com/office/drawing/2014/main" id="{E3336271-A0CA-4C67-B88F-C5971265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Virtual Humans Foundations</a:t>
            </a:r>
          </a:p>
        </p:txBody>
      </p:sp>
      <p:sp>
        <p:nvSpPr>
          <p:cNvPr id="5" name="m0-text-30">
            <a:extLst xmlns:a="http://schemas.openxmlformats.org/drawingml/2006/main">
              <a:ext uri="{FF2B5EF4-FFF2-40B4-BE49-F238E27FC236}">
                <a16:creationId xmlns:a16="http://schemas.microsoft.com/office/drawing/2014/main" id="{65081201-C7CB-4B66-905F-428BDEA5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AI-Powered Virtual Humans</a:t>
            </a:r>
          </a:p>
        </p:txBody>
      </p:sp>
      <p:sp>
        <p:nvSpPr>
          <p:cNvPr id="6" name="m0-text-31">
            <a:extLst xmlns:a="http://schemas.openxmlformats.org/drawingml/2006/main">
              <a:ext uri="{FF2B5EF4-FFF2-40B4-BE49-F238E27FC236}">
                <a16:creationId xmlns:a16="http://schemas.microsoft.com/office/drawing/2014/main" id="{5096CE81-08B4-4D89-BB6B-E4FA21ED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Stefano Calzolari</a:t>
            </a:r>
          </a:p>
        </p:txBody>
      </p:sp>
      <p:sp>
        <p:nvSpPr>
          <p:cNvPr id="7" name="m0-text-32">
            <a:extLst xmlns:a="http://schemas.openxmlformats.org/drawingml/2006/main">
              <a:ext uri="{FF2B5EF4-FFF2-40B4-BE49-F238E27FC236}">
                <a16:creationId xmlns:a16="http://schemas.microsoft.com/office/drawing/2014/main" id="{15B5F1FE-5C9D-4EFC-BD8D-E3F94DFB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Foundations of virtual humans.</a:t>
            </a:r>
          </a:p>
          <a:p xmlns:a="http://schemas.openxmlformats.org/drawingml/2006/main">
            <a:pPr>
              <a:defRPr sz="20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Build an embodiment in Unity with speech,</a:t>
            </a:r>
          </a:p>
          <a:p xmlns:a="http://schemas.openxmlformats.org/drawingml/2006/main">
            <a:pPr>
              <a:defRPr sz="20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lip-sync, gestures and emotions.</a:t>
            </a:r>
          </a:p>
        </p:txBody>
      </p:sp>
      <p:sp>
        <p:nvSpPr>
          <p:cNvPr id="8" name="m0-text-33">
            <a:extLst xmlns:a="http://schemas.openxmlformats.org/drawingml/2006/main">
              <a:ext uri="{FF2B5EF4-FFF2-40B4-BE49-F238E27FC236}">
                <a16:creationId xmlns:a16="http://schemas.microsoft.com/office/drawing/2014/main" id="{A1E93486-C1E1-45BC-9877-22D4408E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Recommended background; not required for this course.</a:t>
            </a:r>
          </a:p>
        </p:txBody>
      </p:sp>
      <p:sp>
        <p:nvSpPr>
          <p:cNvPr id="9" name="m0-text-34">
            <a:extLst xmlns:a="http://schemas.openxmlformats.org/drawingml/2006/main">
              <a:ext uri="{FF2B5EF4-FFF2-40B4-BE49-F238E27FC236}">
                <a16:creationId xmlns:a16="http://schemas.microsoft.com/office/drawing/2014/main" id="{F899DFEC-A38F-4100-BC90-BD8AB72E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0f86f5a569b4f10"/>
              </a:rPr>
              <a:t>Course repository</a:t>
            </a:r>
          </a:p>
        </p:txBody>
      </p:sp>
    </p:spTree>
    <p:extLst>
      <p:ext uri="{BB962C8B-B14F-4D97-AF65-F5344CB8AC3E}">
        <p14:creationId xmlns:p14="http://schemas.microsoft.com/office/powerpoint/2010/main" val="1295395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0-text-35">
            <a:extLst xmlns:a="http://schemas.openxmlformats.org/drawingml/2006/main">
              <a:ext uri="{FF2B5EF4-FFF2-40B4-BE49-F238E27FC236}">
                <a16:creationId xmlns:a16="http://schemas.microsoft.com/office/drawing/2014/main" id="{4F5ABE38-4C96-48B6-A28D-617233BB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36">
            <a:extLst xmlns:a="http://schemas.openxmlformats.org/drawingml/2006/main">
              <a:ext uri="{FF2B5EF4-FFF2-40B4-BE49-F238E27FC236}">
                <a16:creationId xmlns:a16="http://schemas.microsoft.com/office/drawing/2014/main" id="{6E8AB100-CC51-47EE-9549-7D496105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37">
            <a:extLst xmlns:a="http://schemas.openxmlformats.org/drawingml/2006/main">
              <a:ext uri="{FF2B5EF4-FFF2-40B4-BE49-F238E27FC236}">
                <a16:creationId xmlns:a16="http://schemas.microsoft.com/office/drawing/2014/main" id="{83A27CCA-1D52-4F5A-BD55-96F23663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m0-text-38">
            <a:extLst xmlns:a="http://schemas.openxmlformats.org/drawingml/2006/main">
              <a:ext uri="{FF2B5EF4-FFF2-40B4-BE49-F238E27FC236}">
                <a16:creationId xmlns:a16="http://schemas.microsoft.com/office/drawing/2014/main" id="{BEA827C6-728B-4C9F-AABB-A593BC27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Why Do We Need a Cognitive Architecture?</a:t>
            </a:r>
          </a:p>
        </p:txBody>
      </p:sp>
      <p:sp>
        <p:nvSpPr>
          <p:cNvPr id="5" name="User message">
            <a:extLst xmlns:a="http://schemas.openxmlformats.org/drawingml/2006/main">
              <a:ext uri="{FF2B5EF4-FFF2-40B4-BE49-F238E27FC236}">
                <a16:creationId xmlns:a16="http://schemas.microsoft.com/office/drawing/2014/main" id="{5D299004-2BE1-4E5B-BAF9-759BEF64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533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223550"/>
          </a:solidFill>
          <a:ln xmlns:a="http://schemas.openxmlformats.org/drawingml/2006/main" w="9525">
            <a:solidFill>
              <a:srgbClr val="48668E"/>
            </a:solidFill>
          </a:ln>
        </p:spPr>
      </p:sp>
      <p:sp>
        <p:nvSpPr>
          <p:cNvPr id="6" name="m0-text-39">
            <a:extLst xmlns:a="http://schemas.openxmlformats.org/drawingml/2006/main">
              <a:ext uri="{FF2B5EF4-FFF2-40B4-BE49-F238E27FC236}">
                <a16:creationId xmlns:a16="http://schemas.microsoft.com/office/drawing/2014/main" id="{BDBCA138-C8EE-4439-A98B-871071C9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526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YOU</a:t>
            </a:r>
          </a:p>
        </p:txBody>
      </p:sp>
      <p:sp>
        <p:nvSpPr>
          <p:cNvPr id="7" name="m0-text-40">
            <a:extLst xmlns:a="http://schemas.openxmlformats.org/drawingml/2006/main">
              <a:ext uri="{FF2B5EF4-FFF2-40B4-BE49-F238E27FC236}">
                <a16:creationId xmlns:a16="http://schemas.microsoft.com/office/drawing/2014/main" id="{F3241825-B4A1-4AB2-BEEE-1B174A1E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193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Hi, I’m Alessandro. And you?</a:t>
            </a:r>
          </a:p>
        </p:txBody>
      </p:sp>
    </p:spTree>
    <p:extLst>
      <p:ext uri="{BB962C8B-B14F-4D97-AF65-F5344CB8AC3E}">
        <p14:creationId xmlns:p14="http://schemas.microsoft.com/office/powerpoint/2010/main" val="12158783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m0-text-41">
            <a:extLst xmlns:a="http://schemas.openxmlformats.org/drawingml/2006/main">
              <a:ext uri="{FF2B5EF4-FFF2-40B4-BE49-F238E27FC236}">
                <a16:creationId xmlns:a16="http://schemas.microsoft.com/office/drawing/2014/main" id="{C109C6F1-165C-47E0-B85D-FCEFAF62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42">
            <a:extLst xmlns:a="http://schemas.openxmlformats.org/drawingml/2006/main">
              <a:ext uri="{FF2B5EF4-FFF2-40B4-BE49-F238E27FC236}">
                <a16:creationId xmlns:a16="http://schemas.microsoft.com/office/drawing/2014/main" id="{701DE962-8219-4AA5-8729-0FAB86B9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43">
            <a:extLst xmlns:a="http://schemas.openxmlformats.org/drawingml/2006/main">
              <a:ext uri="{FF2B5EF4-FFF2-40B4-BE49-F238E27FC236}">
                <a16:creationId xmlns:a16="http://schemas.microsoft.com/office/drawing/2014/main" id="{ECE30224-E586-4A10-9C9E-ED8D9BEA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m0-text-44">
            <a:extLst xmlns:a="http://schemas.openxmlformats.org/drawingml/2006/main">
              <a:ext uri="{FF2B5EF4-FFF2-40B4-BE49-F238E27FC236}">
                <a16:creationId xmlns:a16="http://schemas.microsoft.com/office/drawing/2014/main" id="{3C4AAD27-89BD-4F76-8CB0-BB0A01F8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Why Do We Need a Cognitive Architecture?</a:t>
            </a:r>
          </a:p>
        </p:txBody>
      </p:sp>
      <p:sp>
        <p:nvSpPr>
          <p:cNvPr id="5" name="User message">
            <a:extLst xmlns:a="http://schemas.openxmlformats.org/drawingml/2006/main">
              <a:ext uri="{FF2B5EF4-FFF2-40B4-BE49-F238E27FC236}">
                <a16:creationId xmlns:a16="http://schemas.microsoft.com/office/drawing/2014/main" id="{C8B49836-BDF2-4668-9D38-14CE94CD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533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223550"/>
          </a:solidFill>
          <a:ln xmlns:a="http://schemas.openxmlformats.org/drawingml/2006/main" w="9525">
            <a:solidFill>
              <a:srgbClr val="48668E"/>
            </a:solidFill>
          </a:ln>
        </p:spPr>
      </p:sp>
      <p:sp>
        <p:nvSpPr>
          <p:cNvPr id="6" name="m0-text-45">
            <a:extLst xmlns:a="http://schemas.openxmlformats.org/drawingml/2006/main">
              <a:ext uri="{FF2B5EF4-FFF2-40B4-BE49-F238E27FC236}">
                <a16:creationId xmlns:a16="http://schemas.microsoft.com/office/drawing/2014/main" id="{6FE855B6-383C-438F-B968-8D5D9F7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526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YOU</a:t>
            </a:r>
          </a:p>
        </p:txBody>
      </p:sp>
      <p:sp>
        <p:nvSpPr>
          <p:cNvPr id="7" name="m0-text-46">
            <a:extLst xmlns:a="http://schemas.openxmlformats.org/drawingml/2006/main">
              <a:ext uri="{FF2B5EF4-FFF2-40B4-BE49-F238E27FC236}">
                <a16:creationId xmlns:a16="http://schemas.microsoft.com/office/drawing/2014/main" id="{C89055F2-85D2-4B0F-B80C-42F96728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193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Hi, I’m Alessandro. And you?</a:t>
            </a:r>
          </a:p>
        </p:txBody>
      </p:sp>
      <p:sp>
        <p:nvSpPr>
          <p:cNvPr id="8" name="Virtual human message">
            <a:extLst xmlns:a="http://schemas.openxmlformats.org/drawingml/2006/main">
              <a:ext uri="{FF2B5EF4-FFF2-40B4-BE49-F238E27FC236}">
                <a16:creationId xmlns:a16="http://schemas.microsoft.com/office/drawing/2014/main" id="{BAF0582C-7D73-4FF4-ADD3-9C0E5646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9055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m0-text-47">
            <a:extLst xmlns:a="http://schemas.openxmlformats.org/drawingml/2006/main">
              <a:ext uri="{FF2B5EF4-FFF2-40B4-BE49-F238E27FC236}">
                <a16:creationId xmlns:a16="http://schemas.microsoft.com/office/drawing/2014/main" id="{7C858D33-D257-40F2-AF76-8207B482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VIRTUAL HUMAN</a:t>
            </a:r>
          </a:p>
        </p:txBody>
      </p:sp>
      <p:sp>
        <p:nvSpPr>
          <p:cNvPr id="10" name="m0-text-48">
            <a:extLst xmlns:a="http://schemas.openxmlformats.org/drawingml/2006/main">
              <a:ext uri="{FF2B5EF4-FFF2-40B4-BE49-F238E27FC236}">
                <a16:creationId xmlns:a16="http://schemas.microsoft.com/office/drawing/2014/main" id="{551C43E6-D1F9-4974-9976-57A4BEB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548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Hi Alessandro, I’m PippoBot.</a:t>
            </a:r>
          </a:p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Nice to meet you!</a:t>
            </a:r>
          </a:p>
        </p:txBody>
      </p:sp>
    </p:spTree>
    <p:extLst>
      <p:ext uri="{BB962C8B-B14F-4D97-AF65-F5344CB8AC3E}">
        <p14:creationId xmlns:p14="http://schemas.microsoft.com/office/powerpoint/2010/main" val="20605543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0-text-49">
            <a:extLst xmlns:a="http://schemas.openxmlformats.org/drawingml/2006/main">
              <a:ext uri="{FF2B5EF4-FFF2-40B4-BE49-F238E27FC236}">
                <a16:creationId xmlns:a16="http://schemas.microsoft.com/office/drawing/2014/main" id="{5440DF9B-F373-4A1F-86D9-20F04042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50">
            <a:extLst xmlns:a="http://schemas.openxmlformats.org/drawingml/2006/main">
              <a:ext uri="{FF2B5EF4-FFF2-40B4-BE49-F238E27FC236}">
                <a16:creationId xmlns:a16="http://schemas.microsoft.com/office/drawing/2014/main" id="{55F90A0B-1A3E-4E4D-8A47-624DC2DE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51">
            <a:extLst xmlns:a="http://schemas.openxmlformats.org/drawingml/2006/main">
              <a:ext uri="{FF2B5EF4-FFF2-40B4-BE49-F238E27FC236}">
                <a16:creationId xmlns:a16="http://schemas.microsoft.com/office/drawing/2014/main" id="{2DE69BC6-066F-41CF-875A-A459334C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m0-text-52">
            <a:extLst xmlns:a="http://schemas.openxmlformats.org/drawingml/2006/main">
              <a:ext uri="{FF2B5EF4-FFF2-40B4-BE49-F238E27FC236}">
                <a16:creationId xmlns:a16="http://schemas.microsoft.com/office/drawing/2014/main" id="{DF32D4CA-7028-47C9-8AB5-72E588E8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Why Do We Need a Cognitive Architecture?</a:t>
            </a:r>
          </a:p>
        </p:txBody>
      </p:sp>
      <p:sp>
        <p:nvSpPr>
          <p:cNvPr id="5" name="User message">
            <a:extLst xmlns:a="http://schemas.openxmlformats.org/drawingml/2006/main">
              <a:ext uri="{FF2B5EF4-FFF2-40B4-BE49-F238E27FC236}">
                <a16:creationId xmlns:a16="http://schemas.microsoft.com/office/drawing/2014/main" id="{30DFAECA-96A1-4A7E-9F44-BD375685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533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223550"/>
          </a:solidFill>
          <a:ln xmlns:a="http://schemas.openxmlformats.org/drawingml/2006/main" w="9525">
            <a:solidFill>
              <a:srgbClr val="48668E"/>
            </a:solidFill>
          </a:ln>
        </p:spPr>
      </p:sp>
      <p:sp>
        <p:nvSpPr>
          <p:cNvPr id="6" name="m0-text-53">
            <a:extLst xmlns:a="http://schemas.openxmlformats.org/drawingml/2006/main">
              <a:ext uri="{FF2B5EF4-FFF2-40B4-BE49-F238E27FC236}">
                <a16:creationId xmlns:a16="http://schemas.microsoft.com/office/drawing/2014/main" id="{B51649E8-59FF-482B-BEBF-8F8D1A01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526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YOU</a:t>
            </a:r>
          </a:p>
        </p:txBody>
      </p:sp>
      <p:sp>
        <p:nvSpPr>
          <p:cNvPr id="7" name="m0-text-54">
            <a:extLst xmlns:a="http://schemas.openxmlformats.org/drawingml/2006/main">
              <a:ext uri="{FF2B5EF4-FFF2-40B4-BE49-F238E27FC236}">
                <a16:creationId xmlns:a16="http://schemas.microsoft.com/office/drawing/2014/main" id="{177A8A51-7CDC-4691-BB5B-4122D05E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193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Hi, I’m Alessandro. And you?</a:t>
            </a:r>
          </a:p>
        </p:txBody>
      </p:sp>
      <p:sp>
        <p:nvSpPr>
          <p:cNvPr id="8" name="Virtual human message">
            <a:extLst xmlns:a="http://schemas.openxmlformats.org/drawingml/2006/main">
              <a:ext uri="{FF2B5EF4-FFF2-40B4-BE49-F238E27FC236}">
                <a16:creationId xmlns:a16="http://schemas.microsoft.com/office/drawing/2014/main" id="{13BA1AAC-555B-4B10-BC18-EF52F2AF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9055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m0-text-55">
            <a:extLst xmlns:a="http://schemas.openxmlformats.org/drawingml/2006/main">
              <a:ext uri="{FF2B5EF4-FFF2-40B4-BE49-F238E27FC236}">
                <a16:creationId xmlns:a16="http://schemas.microsoft.com/office/drawing/2014/main" id="{4B8A8EF0-5E55-4FF6-AB6F-11D81BF3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VIRTUAL HUMAN</a:t>
            </a:r>
          </a:p>
        </p:txBody>
      </p:sp>
      <p:sp>
        <p:nvSpPr>
          <p:cNvPr id="10" name="m0-text-56">
            <a:extLst xmlns:a="http://schemas.openxmlformats.org/drawingml/2006/main">
              <a:ext uri="{FF2B5EF4-FFF2-40B4-BE49-F238E27FC236}">
                <a16:creationId xmlns:a16="http://schemas.microsoft.com/office/drawing/2014/main" id="{743D0EC2-5214-4814-88E1-E1303E31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548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Hi Alessandro, I’m PippoBot.</a:t>
            </a:r>
          </a:p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Nice to meet you!</a:t>
            </a:r>
          </a:p>
        </p:txBody>
      </p:sp>
      <p:sp>
        <p:nvSpPr>
          <p:cNvPr id="11" name="User message">
            <a:extLst xmlns:a="http://schemas.openxmlformats.org/drawingml/2006/main">
              <a:ext uri="{FF2B5EF4-FFF2-40B4-BE49-F238E27FC236}">
                <a16:creationId xmlns:a16="http://schemas.microsoft.com/office/drawing/2014/main" id="{651278B6-82CF-4F72-9DA3-C6488F1D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5334000" cy="809625"/>
          </a:xfrm>
          <a:prstGeom xmlns:a="http://schemas.openxmlformats.org/drawingml/2006/main" prst="roundRect">
            <a:avLst>
              <a:gd name="adj" fmla="val 21176"/>
            </a:avLst>
          </a:prstGeom>
          <a:solidFill xmlns:a="http://schemas.openxmlformats.org/drawingml/2006/main">
            <a:srgbClr val="223550"/>
          </a:solidFill>
          <a:ln xmlns:a="http://schemas.openxmlformats.org/drawingml/2006/main" w="9525">
            <a:solidFill>
              <a:srgbClr val="48668E"/>
            </a:solidFill>
          </a:ln>
        </p:spPr>
      </p:sp>
      <p:sp>
        <p:nvSpPr>
          <p:cNvPr id="12" name="m0-text-57">
            <a:extLst xmlns:a="http://schemas.openxmlformats.org/drawingml/2006/main">
              <a:ext uri="{FF2B5EF4-FFF2-40B4-BE49-F238E27FC236}">
                <a16:creationId xmlns:a16="http://schemas.microsoft.com/office/drawing/2014/main" id="{8EFE39BA-E643-4CD3-8F13-BFCF2735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YOU</a:t>
            </a:r>
          </a:p>
        </p:txBody>
      </p:sp>
      <p:sp>
        <p:nvSpPr>
          <p:cNvPr id="13" name="m0-text-58">
            <a:extLst xmlns:a="http://schemas.openxmlformats.org/drawingml/2006/main">
              <a:ext uri="{FF2B5EF4-FFF2-40B4-BE49-F238E27FC236}">
                <a16:creationId xmlns:a16="http://schemas.microsoft.com/office/drawing/2014/main" id="{363B6DDF-AF4C-45DA-B620-9EFDF9A6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86250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Do you remember my name?</a:t>
            </a:r>
          </a:p>
        </p:txBody>
      </p:sp>
    </p:spTree>
    <p:extLst>
      <p:ext uri="{BB962C8B-B14F-4D97-AF65-F5344CB8AC3E}">
        <p14:creationId xmlns:p14="http://schemas.microsoft.com/office/powerpoint/2010/main" val="17548937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0-text-59">
            <a:extLst xmlns:a="http://schemas.openxmlformats.org/drawingml/2006/main">
              <a:ext uri="{FF2B5EF4-FFF2-40B4-BE49-F238E27FC236}">
                <a16:creationId xmlns:a16="http://schemas.microsoft.com/office/drawing/2014/main" id="{75BB2827-4A4A-4406-99E5-2082BB01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60">
            <a:extLst xmlns:a="http://schemas.openxmlformats.org/drawingml/2006/main">
              <a:ext uri="{FF2B5EF4-FFF2-40B4-BE49-F238E27FC236}">
                <a16:creationId xmlns:a16="http://schemas.microsoft.com/office/drawing/2014/main" id="{C067ECC4-229F-4550-917F-A060489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61">
            <a:extLst xmlns:a="http://schemas.openxmlformats.org/drawingml/2006/main">
              <a:ext uri="{FF2B5EF4-FFF2-40B4-BE49-F238E27FC236}">
                <a16:creationId xmlns:a16="http://schemas.microsoft.com/office/drawing/2014/main" id="{791A67B1-FDD0-4C31-8E83-04EED389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m0-text-62">
            <a:extLst xmlns:a="http://schemas.openxmlformats.org/drawingml/2006/main">
              <a:ext uri="{FF2B5EF4-FFF2-40B4-BE49-F238E27FC236}">
                <a16:creationId xmlns:a16="http://schemas.microsoft.com/office/drawing/2014/main" id="{9A28C9E1-505D-47CB-804E-038A5450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Why Do We Need a Cognitive Architecture?</a:t>
            </a:r>
          </a:p>
        </p:txBody>
      </p:sp>
      <p:sp>
        <p:nvSpPr>
          <p:cNvPr id="5" name="User message">
            <a:extLst xmlns:a="http://schemas.openxmlformats.org/drawingml/2006/main">
              <a:ext uri="{FF2B5EF4-FFF2-40B4-BE49-F238E27FC236}">
                <a16:creationId xmlns:a16="http://schemas.microsoft.com/office/drawing/2014/main" id="{BF8AF05E-FDD8-47C1-9E61-6B0ECA7A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533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223550"/>
          </a:solidFill>
          <a:ln xmlns:a="http://schemas.openxmlformats.org/drawingml/2006/main" w="9525">
            <a:solidFill>
              <a:srgbClr val="48668E"/>
            </a:solidFill>
          </a:ln>
        </p:spPr>
      </p:sp>
      <p:sp>
        <p:nvSpPr>
          <p:cNvPr id="6" name="m0-text-63">
            <a:extLst xmlns:a="http://schemas.openxmlformats.org/drawingml/2006/main">
              <a:ext uri="{FF2B5EF4-FFF2-40B4-BE49-F238E27FC236}">
                <a16:creationId xmlns:a16="http://schemas.microsoft.com/office/drawing/2014/main" id="{096792F5-01C4-4198-A8E3-7CBC4F9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526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YOU</a:t>
            </a:r>
          </a:p>
        </p:txBody>
      </p:sp>
      <p:sp>
        <p:nvSpPr>
          <p:cNvPr id="7" name="m0-text-64">
            <a:extLst xmlns:a="http://schemas.openxmlformats.org/drawingml/2006/main">
              <a:ext uri="{FF2B5EF4-FFF2-40B4-BE49-F238E27FC236}">
                <a16:creationId xmlns:a16="http://schemas.microsoft.com/office/drawing/2014/main" id="{E4A1AFA2-2439-4BB9-A7A4-D2576090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193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Hi, I’m Alessandro. And you?</a:t>
            </a:r>
          </a:p>
        </p:txBody>
      </p:sp>
      <p:sp>
        <p:nvSpPr>
          <p:cNvPr id="8" name="Virtual human message">
            <a:extLst xmlns:a="http://schemas.openxmlformats.org/drawingml/2006/main">
              <a:ext uri="{FF2B5EF4-FFF2-40B4-BE49-F238E27FC236}">
                <a16:creationId xmlns:a16="http://schemas.microsoft.com/office/drawing/2014/main" id="{3F9164FE-208A-47DD-AE46-C362CEEF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9055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m0-text-65">
            <a:extLst xmlns:a="http://schemas.openxmlformats.org/drawingml/2006/main">
              <a:ext uri="{FF2B5EF4-FFF2-40B4-BE49-F238E27FC236}">
                <a16:creationId xmlns:a16="http://schemas.microsoft.com/office/drawing/2014/main" id="{D271E91B-5118-44AD-A3CA-663468E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VIRTUAL HUMAN</a:t>
            </a:r>
          </a:p>
        </p:txBody>
      </p:sp>
      <p:sp>
        <p:nvSpPr>
          <p:cNvPr id="10" name="m0-text-66">
            <a:extLst xmlns:a="http://schemas.openxmlformats.org/drawingml/2006/main">
              <a:ext uri="{FF2B5EF4-FFF2-40B4-BE49-F238E27FC236}">
                <a16:creationId xmlns:a16="http://schemas.microsoft.com/office/drawing/2014/main" id="{A3F9DF0A-15AA-4A28-B3F1-501CA23D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548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Hi Alessandro, I’m PippoBot.</a:t>
            </a:r>
          </a:p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Nice to meet you!</a:t>
            </a:r>
          </a:p>
        </p:txBody>
      </p:sp>
      <p:sp>
        <p:nvSpPr>
          <p:cNvPr id="11" name="User message">
            <a:extLst xmlns:a="http://schemas.openxmlformats.org/drawingml/2006/main">
              <a:ext uri="{FF2B5EF4-FFF2-40B4-BE49-F238E27FC236}">
                <a16:creationId xmlns:a16="http://schemas.microsoft.com/office/drawing/2014/main" id="{D69F2257-9BC6-4039-835E-C8F3D7D4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5334000" cy="809625"/>
          </a:xfrm>
          <a:prstGeom xmlns:a="http://schemas.openxmlformats.org/drawingml/2006/main" prst="roundRect">
            <a:avLst>
              <a:gd name="adj" fmla="val 21176"/>
            </a:avLst>
          </a:prstGeom>
          <a:solidFill xmlns:a="http://schemas.openxmlformats.org/drawingml/2006/main">
            <a:srgbClr val="223550"/>
          </a:solidFill>
          <a:ln xmlns:a="http://schemas.openxmlformats.org/drawingml/2006/main" w="9525">
            <a:solidFill>
              <a:srgbClr val="48668E"/>
            </a:solidFill>
          </a:ln>
        </p:spPr>
      </p:sp>
      <p:sp>
        <p:nvSpPr>
          <p:cNvPr id="12" name="m0-text-67">
            <a:extLst xmlns:a="http://schemas.openxmlformats.org/drawingml/2006/main">
              <a:ext uri="{FF2B5EF4-FFF2-40B4-BE49-F238E27FC236}">
                <a16:creationId xmlns:a16="http://schemas.microsoft.com/office/drawing/2014/main" id="{BED6FBCF-D7BC-4BFC-88F8-4DDDA381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YOU</a:t>
            </a:r>
          </a:p>
        </p:txBody>
      </p:sp>
      <p:sp>
        <p:nvSpPr>
          <p:cNvPr id="13" name="m0-text-68">
            <a:extLst xmlns:a="http://schemas.openxmlformats.org/drawingml/2006/main">
              <a:ext uri="{FF2B5EF4-FFF2-40B4-BE49-F238E27FC236}">
                <a16:creationId xmlns:a16="http://schemas.microsoft.com/office/drawing/2014/main" id="{CACDA498-1FC7-4DBE-8A9E-7FA2DF05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86250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Do you remember my name?</a:t>
            </a:r>
          </a:p>
        </p:txBody>
      </p:sp>
      <p:sp>
        <p:nvSpPr>
          <p:cNvPr id="14" name="Prediction question sticker">
            <a:extLst xmlns:a="http://schemas.openxmlformats.org/drawingml/2006/main">
              <a:ext uri="{FF2B5EF4-FFF2-40B4-BE49-F238E27FC236}">
                <a16:creationId xmlns:a16="http://schemas.microsoft.com/office/drawing/2014/main" id="{7BD2FF19-E67B-4D3F-9166-6DA3F2FF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2352675" y="2476500"/>
            <a:ext cx="4438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87C"/>
          </a:solidFill>
          <a:ln xmlns:a="http://schemas.openxmlformats.org/drawingml/2006/main" w="0">
            <a:solidFill>
              <a:srgbClr val="E8B87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1B2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61B23"/>
                </a:solidFill>
                <a:latin typeface="Calibri"/>
                <a:ea typeface="Calibri"/>
                <a:cs typeface="Calibri"/>
              </a:rPr>
              <a:t>What will it answer?</a:t>
            </a:r>
          </a:p>
          <a:p xmlns:a="http://schemas.openxmlformats.org/drawingml/2006/main">
            <a:pPr algn="ctr">
              <a:defRPr sz="2325" b="1">
                <a:solidFill>
                  <a:srgbClr val="161B23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61B23"/>
                </a:solidFill>
                <a:latin typeface="Calibri"/>
                <a:ea typeface="Calibri"/>
                <a:cs typeface="Calibri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7159591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0-text-69">
            <a:extLst xmlns:a="http://schemas.openxmlformats.org/drawingml/2006/main">
              <a:ext uri="{FF2B5EF4-FFF2-40B4-BE49-F238E27FC236}">
                <a16:creationId xmlns:a16="http://schemas.microsoft.com/office/drawing/2014/main" id="{27E0478B-35A4-440E-9C4D-25672B4E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70">
            <a:extLst xmlns:a="http://schemas.openxmlformats.org/drawingml/2006/main">
              <a:ext uri="{FF2B5EF4-FFF2-40B4-BE49-F238E27FC236}">
                <a16:creationId xmlns:a16="http://schemas.microsoft.com/office/drawing/2014/main" id="{CDE79DFA-E0AE-482C-AC02-83B7224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71">
            <a:extLst xmlns:a="http://schemas.openxmlformats.org/drawingml/2006/main">
              <a:ext uri="{FF2B5EF4-FFF2-40B4-BE49-F238E27FC236}">
                <a16:creationId xmlns:a16="http://schemas.microsoft.com/office/drawing/2014/main" id="{AC313D60-DA34-4D23-8818-9F1C5C36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m0-text-72">
            <a:extLst xmlns:a="http://schemas.openxmlformats.org/drawingml/2006/main">
              <a:ext uri="{FF2B5EF4-FFF2-40B4-BE49-F238E27FC236}">
                <a16:creationId xmlns:a16="http://schemas.microsoft.com/office/drawing/2014/main" id="{1EF6F3DA-5A4A-4DFA-8DFE-A7862A61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Without Memory, Each Call Starts Again</a:t>
            </a:r>
          </a:p>
        </p:txBody>
      </p:sp>
      <p:sp>
        <p:nvSpPr>
          <p:cNvPr id="5" name="User message">
            <a:extLst xmlns:a="http://schemas.openxmlformats.org/drawingml/2006/main">
              <a:ext uri="{FF2B5EF4-FFF2-40B4-BE49-F238E27FC236}">
                <a16:creationId xmlns:a16="http://schemas.microsoft.com/office/drawing/2014/main" id="{037027C6-64E8-4548-A3D7-0F6D1546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5334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223550"/>
          </a:solidFill>
          <a:ln xmlns:a="http://schemas.openxmlformats.org/drawingml/2006/main" w="9525">
            <a:solidFill>
              <a:srgbClr val="48668E"/>
            </a:solidFill>
          </a:ln>
        </p:spPr>
      </p:sp>
      <p:sp>
        <p:nvSpPr>
          <p:cNvPr id="6" name="m0-text-73">
            <a:extLst xmlns:a="http://schemas.openxmlformats.org/drawingml/2006/main">
              <a:ext uri="{FF2B5EF4-FFF2-40B4-BE49-F238E27FC236}">
                <a16:creationId xmlns:a16="http://schemas.microsoft.com/office/drawing/2014/main" id="{BA196935-355C-4E89-AD24-CA1A5336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90675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7FA8E3"/>
                </a:solidFill>
                <a:latin typeface="Calibri"/>
                <a:ea typeface="Calibri"/>
                <a:cs typeface="Calibri"/>
              </a:rPr>
              <a:t>YOU</a:t>
            </a:r>
          </a:p>
        </p:txBody>
      </p:sp>
      <p:sp>
        <p:nvSpPr>
          <p:cNvPr id="7" name="m0-text-74">
            <a:extLst xmlns:a="http://schemas.openxmlformats.org/drawingml/2006/main">
              <a:ext uri="{FF2B5EF4-FFF2-40B4-BE49-F238E27FC236}">
                <a16:creationId xmlns:a16="http://schemas.microsoft.com/office/drawing/2014/main" id="{05D19DBC-A446-44AB-BE7D-55D38132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5737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Do you remember my name?</a:t>
            </a:r>
          </a:p>
        </p:txBody>
      </p:sp>
      <p:sp>
        <p:nvSpPr>
          <p:cNvPr id="8" name="Virtual human message">
            <a:extLst xmlns:a="http://schemas.openxmlformats.org/drawingml/2006/main">
              <a:ext uri="{FF2B5EF4-FFF2-40B4-BE49-F238E27FC236}">
                <a16:creationId xmlns:a16="http://schemas.microsoft.com/office/drawing/2014/main" id="{BC636F0F-2351-4A53-B87A-3DB4BFC6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7239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41A26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9" name="m0-text-75">
            <a:extLst xmlns:a="http://schemas.openxmlformats.org/drawingml/2006/main">
              <a:ext uri="{FF2B5EF4-FFF2-40B4-BE49-F238E27FC236}">
                <a16:creationId xmlns:a16="http://schemas.microsoft.com/office/drawing/2014/main" id="{D06B416D-FD8E-48B0-B551-67BE6D78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38425"/>
            <a:ext cx="681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VIRTUAL HUMAN</a:t>
            </a:r>
          </a:p>
        </p:txBody>
      </p:sp>
      <p:sp>
        <p:nvSpPr>
          <p:cNvPr id="10" name="m0-text-76">
            <a:extLst xmlns:a="http://schemas.openxmlformats.org/drawingml/2006/main">
              <a:ext uri="{FF2B5EF4-FFF2-40B4-BE49-F238E27FC236}">
                <a16:creationId xmlns:a16="http://schemas.microsoft.com/office/drawing/2014/main" id="{95626AE4-2962-410B-B197-D9248A3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681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 do not know your name. Could you tell me?</a:t>
            </a:r>
          </a:p>
        </p:txBody>
      </p:sp>
      <p:sp>
        <p:nvSpPr>
          <p:cNvPr id="11" name="m0-text-77">
            <a:extLst xmlns:a="http://schemas.openxmlformats.org/drawingml/2006/main">
              <a:ext uri="{FF2B5EF4-FFF2-40B4-BE49-F238E27FC236}">
                <a16:creationId xmlns:a16="http://schemas.microsoft.com/office/drawing/2014/main" id="{1878A8BB-1287-4F2F-8E19-C86394EF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6175"/>
            <a:ext cx="822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LLM calls are stateless: earlier messages must be supplied again.</a:t>
            </a:r>
          </a:p>
        </p:txBody>
      </p:sp>
      <p:sp>
        <p:nvSpPr>
          <p:cNvPr id="12" name="m0-text-78">
            <a:extLst xmlns:a="http://schemas.openxmlformats.org/drawingml/2006/main">
              <a:ext uri="{FF2B5EF4-FFF2-40B4-BE49-F238E27FC236}">
                <a16:creationId xmlns:a16="http://schemas.microsoft.com/office/drawing/2014/main" id="{22243E3E-1F3F-4D46-8147-9FEFC56B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Memory is a core component of a cognitive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439857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m0-text-79">
            <a:extLst xmlns:a="http://schemas.openxmlformats.org/drawingml/2006/main">
              <a:ext uri="{FF2B5EF4-FFF2-40B4-BE49-F238E27FC236}">
                <a16:creationId xmlns:a16="http://schemas.microsoft.com/office/drawing/2014/main" id="{A171B9CD-237B-4275-9A16-5DBE2154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80">
            <a:extLst xmlns:a="http://schemas.openxmlformats.org/drawingml/2006/main">
              <a:ext uri="{FF2B5EF4-FFF2-40B4-BE49-F238E27FC236}">
                <a16:creationId xmlns:a16="http://schemas.microsoft.com/office/drawing/2014/main" id="{C80A24BC-C346-4F8E-969D-3F16D995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81">
            <a:extLst xmlns:a="http://schemas.openxmlformats.org/drawingml/2006/main">
              <a:ext uri="{FF2B5EF4-FFF2-40B4-BE49-F238E27FC236}">
                <a16:creationId xmlns:a16="http://schemas.microsoft.com/office/drawing/2014/main" id="{53AB381E-3EF3-4780-A136-CBDB512B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m0-text-82">
            <a:extLst xmlns:a="http://schemas.openxmlformats.org/drawingml/2006/main">
              <a:ext uri="{FF2B5EF4-FFF2-40B4-BE49-F238E27FC236}">
                <a16:creationId xmlns:a16="http://schemas.microsoft.com/office/drawing/2014/main" id="{B42946EB-F79E-4455-B679-ED362B74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From Stateless Calls to Cognitive Architecture</a:t>
            </a:r>
          </a:p>
        </p:txBody>
      </p:sp>
      <p:sp>
        <p:nvSpPr>
          <p:cNvPr id="5" name="m0-text-83">
            <a:extLst xmlns:a="http://schemas.openxmlformats.org/drawingml/2006/main">
              <a:ext uri="{FF2B5EF4-FFF2-40B4-BE49-F238E27FC236}">
                <a16:creationId xmlns:a16="http://schemas.microsoft.com/office/drawing/2014/main" id="{A1C88C7D-434C-4677-BF64-DC0D2852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822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The model receives the question, not the conversation.</a:t>
            </a:r>
          </a:p>
        </p:txBody>
      </p:sp>
      <p:sp>
        <p:nvSpPr>
          <p:cNvPr id="6" name="m0-text-84">
            <a:extLst xmlns:a="http://schemas.openxmlformats.org/drawingml/2006/main">
              <a:ext uri="{FF2B5EF4-FFF2-40B4-BE49-F238E27FC236}">
                <a16:creationId xmlns:a16="http://schemas.microsoft.com/office/drawing/2014/main" id="{5E2EB2D0-F21D-4C61-834B-F5E39DF0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 remember the name</a:t>
            </a:r>
          </a:p>
        </p:txBody>
      </p:sp>
      <p:sp>
        <p:nvSpPr>
          <p:cNvPr id="7" name="m0-text-85">
            <a:extLst xmlns:a="http://schemas.openxmlformats.org/drawingml/2006/main">
              <a:ext uri="{FF2B5EF4-FFF2-40B4-BE49-F238E27FC236}">
                <a16:creationId xmlns:a16="http://schemas.microsoft.com/office/drawing/2014/main" id="{22FF8628-DE50-45BB-A7EB-B3ABB6A6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479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To build a virtual human</a:t>
            </a:r>
          </a:p>
        </p:txBody>
      </p:sp>
      <p:sp>
        <p:nvSpPr>
          <p:cNvPr id="8" name="m0-text-86">
            <a:extLst xmlns:a="http://schemas.openxmlformats.org/drawingml/2006/main">
              <a:ext uri="{FF2B5EF4-FFF2-40B4-BE49-F238E27FC236}">
                <a16:creationId xmlns:a16="http://schemas.microsoft.com/office/drawing/2014/main" id="{077D0502-5EEC-4D65-B8C3-67126217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3886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 need a </a:t>
            </a:r>
            <a:r>
              <a:rPr sz="2025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memory model</a:t>
            </a:r>
            <a:r>
              <a:rPr sz="20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m0-text-87">
            <a:extLst xmlns:a="http://schemas.openxmlformats.org/drawingml/2006/main">
              <a:ext uri="{FF2B5EF4-FFF2-40B4-BE49-F238E27FC236}">
                <a16:creationId xmlns:a16="http://schemas.microsoft.com/office/drawing/2014/main" id="{10A761AE-57D0-4286-B5F7-E33CECAC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3886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We need a </a:t>
            </a:r>
            <a:r>
              <a:rPr sz="2025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cognitive architecture</a:t>
            </a:r>
            <a:r>
              <a:rPr sz="20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m0-text-88">
            <a:extLst xmlns:a="http://schemas.openxmlformats.org/drawingml/2006/main">
              <a:ext uri="{FF2B5EF4-FFF2-40B4-BE49-F238E27FC236}">
                <a16:creationId xmlns:a16="http://schemas.microsoft.com/office/drawing/2014/main" id="{7A69F304-9527-4706-8FD4-9A89FB6A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4325"/>
            <a:ext cx="388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Keep earlier messages available.</a:t>
            </a:r>
          </a:p>
        </p:txBody>
      </p:sp>
      <p:sp>
        <p:nvSpPr>
          <p:cNvPr id="11" name="m0-text-89">
            <a:extLst xmlns:a="http://schemas.openxmlformats.org/drawingml/2006/main">
              <a:ext uri="{FF2B5EF4-FFF2-40B4-BE49-F238E27FC236}">
                <a16:creationId xmlns:a16="http://schemas.microsoft.com/office/drawing/2014/main" id="{BE30152C-E4DF-4BFC-80A1-D744E7C2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24325"/>
            <a:ext cx="388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Perception, reasoning (memory),</a:t>
            </a:r>
          </a:p>
          <a:p xmlns:a="http://schemas.openxmlformats.org/drawingml/2006/main">
            <a:pPr>
              <a:defRPr sz="17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action.</a:t>
            </a:r>
          </a:p>
        </p:txBody>
      </p:sp>
    </p:spTree>
    <p:extLst>
      <p:ext uri="{BB962C8B-B14F-4D97-AF65-F5344CB8AC3E}">
        <p14:creationId xmlns:p14="http://schemas.microsoft.com/office/powerpoint/2010/main" val="2302245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m0-text-90">
            <a:extLst xmlns:a="http://schemas.openxmlformats.org/drawingml/2006/main">
              <a:ext uri="{FF2B5EF4-FFF2-40B4-BE49-F238E27FC236}">
                <a16:creationId xmlns:a16="http://schemas.microsoft.com/office/drawing/2014/main" id="{FF6654E6-9D96-4A5A-97F0-83537920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5872c664e40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m0-text-91">
            <a:extLst xmlns:a="http://schemas.openxmlformats.org/drawingml/2006/main">
              <a:ext uri="{FF2B5EF4-FFF2-40B4-BE49-F238E27FC236}">
                <a16:creationId xmlns:a16="http://schemas.microsoft.com/office/drawing/2014/main" id="{277E935E-EE05-44E4-B116-75420FC0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9775"/>
            <a:ext cx="542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40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Setting Up</a:t>
            </a:r>
          </a:p>
        </p:txBody>
      </p:sp>
      <p:sp>
        <p:nvSpPr>
          <p:cNvPr id="4" name="m0-text-92">
            <a:extLst xmlns:a="http://schemas.openxmlformats.org/drawingml/2006/main">
              <a:ext uri="{FF2B5EF4-FFF2-40B4-BE49-F238E27FC236}">
                <a16:creationId xmlns:a16="http://schemas.microsoft.com/office/drawing/2014/main" id="{3B6E74D6-91A7-41CA-96CD-193D57DD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693311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0-text-93">
            <a:extLst xmlns:a="http://schemas.openxmlformats.org/drawingml/2006/main">
              <a:ext uri="{FF2B5EF4-FFF2-40B4-BE49-F238E27FC236}">
                <a16:creationId xmlns:a16="http://schemas.microsoft.com/office/drawing/2014/main" id="{105D9D32-D896-4C75-BEA5-4A3A5AC8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94">
            <a:extLst xmlns:a="http://schemas.openxmlformats.org/drawingml/2006/main">
              <a:ext uri="{FF2B5EF4-FFF2-40B4-BE49-F238E27FC236}">
                <a16:creationId xmlns:a16="http://schemas.microsoft.com/office/drawing/2014/main" id="{8A267225-1611-463C-903C-70C89524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95">
            <a:extLst xmlns:a="http://schemas.openxmlformats.org/drawingml/2006/main">
              <a:ext uri="{FF2B5EF4-FFF2-40B4-BE49-F238E27FC236}">
                <a16:creationId xmlns:a16="http://schemas.microsoft.com/office/drawing/2014/main" id="{116D1BB6-C795-4522-AE56-4D1B08D4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m0-text-96">
            <a:extLst xmlns:a="http://schemas.openxmlformats.org/drawingml/2006/main">
              <a:ext uri="{FF2B5EF4-FFF2-40B4-BE49-F238E27FC236}">
                <a16:creationId xmlns:a16="http://schemas.microsoft.com/office/drawing/2014/main" id="{DCB4E13E-A23A-460F-A338-AFCA29E6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First, We Need the Models</a:t>
            </a:r>
          </a:p>
        </p:txBody>
      </p:sp>
      <p:sp>
        <p:nvSpPr>
          <p:cNvPr id="5" name="m0-text-97">
            <a:extLst xmlns:a="http://schemas.openxmlformats.org/drawingml/2006/main">
              <a:ext uri="{FF2B5EF4-FFF2-40B4-BE49-F238E27FC236}">
                <a16:creationId xmlns:a16="http://schemas.microsoft.com/office/drawing/2014/main" id="{4216249F-2EAA-4225-B4CE-78FC8838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Providers host models and make them available through an API.</a:t>
            </a:r>
          </a:p>
        </p:txBody>
      </p:sp>
      <p:sp>
        <p:nvSpPr>
          <p:cNvPr id="6" name="m0-text-98">
            <a:extLst xmlns:a="http://schemas.openxmlformats.org/drawingml/2006/main">
              <a:ext uri="{FF2B5EF4-FFF2-40B4-BE49-F238E27FC236}">
                <a16:creationId xmlns:a16="http://schemas.microsoft.com/office/drawing/2014/main" id="{3D6FC7B0-A4A9-424C-89AA-E61D10CF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Google AI Studio</a:t>
            </a:r>
          </a:p>
        </p:txBody>
      </p:sp>
      <p:sp>
        <p:nvSpPr>
          <p:cNvPr id="7" name="m0-text-99">
            <a:extLst xmlns:a="http://schemas.openxmlformats.org/drawingml/2006/main">
              <a:ext uri="{FF2B5EF4-FFF2-40B4-BE49-F238E27FC236}">
                <a16:creationId xmlns:a16="http://schemas.microsoft.com/office/drawing/2014/main" id="{B5ED37E0-571A-44F5-819B-71698FCA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57425"/>
            <a:ext cx="541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359e3760dda40b0"/>
              </a:rPr>
              <a:t>aistudio.google.com</a:t>
            </a:r>
          </a:p>
        </p:txBody>
      </p:sp>
      <p:sp>
        <p:nvSpPr>
          <p:cNvPr id="8" name="m0-text-100">
            <a:extLst xmlns:a="http://schemas.openxmlformats.org/drawingml/2006/main">
              <a:ext uri="{FF2B5EF4-FFF2-40B4-BE49-F238E27FC236}">
                <a16:creationId xmlns:a16="http://schemas.microsoft.com/office/drawing/2014/main" id="{6268749A-9F49-4F45-80EA-FACE97FB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Groq</a:t>
            </a:r>
          </a:p>
        </p:txBody>
      </p:sp>
      <p:sp>
        <p:nvSpPr>
          <p:cNvPr id="9" name="m0-text-101">
            <a:extLst xmlns:a="http://schemas.openxmlformats.org/drawingml/2006/main">
              <a:ext uri="{FF2B5EF4-FFF2-40B4-BE49-F238E27FC236}">
                <a16:creationId xmlns:a16="http://schemas.microsoft.com/office/drawing/2014/main" id="{4219D96B-5144-4DD5-B4D1-15FA1CD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95575"/>
            <a:ext cx="541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c7385880d2e4000"/>
              </a:rPr>
              <a:t>console.groq.com</a:t>
            </a:r>
          </a:p>
        </p:txBody>
      </p:sp>
      <p:sp>
        <p:nvSpPr>
          <p:cNvPr id="10" name="m0-text-102">
            <a:extLst xmlns:a="http://schemas.openxmlformats.org/drawingml/2006/main">
              <a:ext uri="{FF2B5EF4-FFF2-40B4-BE49-F238E27FC236}">
                <a16:creationId xmlns:a16="http://schemas.microsoft.com/office/drawing/2014/main" id="{E7109D45-8009-407C-A875-1D8C37E0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OpenRouter</a:t>
            </a:r>
          </a:p>
        </p:txBody>
      </p:sp>
      <p:sp>
        <p:nvSpPr>
          <p:cNvPr id="11" name="m0-text-103">
            <a:extLst xmlns:a="http://schemas.openxmlformats.org/drawingml/2006/main">
              <a:ext uri="{FF2B5EF4-FFF2-40B4-BE49-F238E27FC236}">
                <a16:creationId xmlns:a16="http://schemas.microsoft.com/office/drawing/2014/main" id="{EAAB50C4-788B-4BC1-865D-3D72903B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33725"/>
            <a:ext cx="541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482ae0e52a74caa"/>
              </a:rPr>
              <a:t>openrouter.ai</a:t>
            </a:r>
          </a:p>
        </p:txBody>
      </p:sp>
      <p:sp>
        <p:nvSpPr>
          <p:cNvPr id="12" name="m0-text-104">
            <a:extLst xmlns:a="http://schemas.openxmlformats.org/drawingml/2006/main">
              <a:ext uri="{FF2B5EF4-FFF2-40B4-BE49-F238E27FC236}">
                <a16:creationId xmlns:a16="http://schemas.microsoft.com/office/drawing/2014/main" id="{F2525A40-969C-4EBF-9199-686FF171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Ollama Cloud</a:t>
            </a:r>
          </a:p>
        </p:txBody>
      </p:sp>
      <p:sp>
        <p:nvSpPr>
          <p:cNvPr id="13" name="m0-text-105">
            <a:extLst xmlns:a="http://schemas.openxmlformats.org/drawingml/2006/main">
              <a:ext uri="{FF2B5EF4-FFF2-40B4-BE49-F238E27FC236}">
                <a16:creationId xmlns:a16="http://schemas.microsoft.com/office/drawing/2014/main" id="{8D0B78E2-F296-485B-A044-BEC419A9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71875"/>
            <a:ext cx="541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0b6986bbdeb4e7c"/>
              </a:rPr>
              <a:t>ollama.com</a:t>
            </a:r>
          </a:p>
        </p:txBody>
      </p:sp>
      <p:sp>
        <p:nvSpPr>
          <p:cNvPr id="14" name="m0-text-106">
            <a:extLst xmlns:a="http://schemas.openxmlformats.org/drawingml/2006/main">
              <a:ext uri="{FF2B5EF4-FFF2-40B4-BE49-F238E27FC236}">
                <a16:creationId xmlns:a16="http://schemas.microsoft.com/office/drawing/2014/main" id="{4C6F3629-F2AE-4B37-8CB5-CEB17F6D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Create an account, generate an API key and save it in the YAML file.</a:t>
            </a:r>
          </a:p>
        </p:txBody>
      </p:sp>
      <p:sp>
        <p:nvSpPr>
          <p:cNvPr id="15" name="m0-text-107">
            <a:extLst xmlns:a="http://schemas.openxmlformats.org/drawingml/2006/main">
              <a:ext uri="{FF2B5EF4-FFF2-40B4-BE49-F238E27FC236}">
                <a16:creationId xmlns:a16="http://schemas.microsoft.com/office/drawing/2014/main" id="{373D24CF-B391-4B9A-8EE0-7970E739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822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Free access has limits: selected models, request quotas and account eligibility.</a:t>
            </a:r>
          </a:p>
        </p:txBody>
      </p:sp>
    </p:spTree>
    <p:extLst>
      <p:ext uri="{BB962C8B-B14F-4D97-AF65-F5344CB8AC3E}">
        <p14:creationId xmlns:p14="http://schemas.microsoft.com/office/powerpoint/2010/main" val="11506253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0-text-108">
            <a:extLst xmlns:a="http://schemas.openxmlformats.org/drawingml/2006/main">
              <a:ext uri="{FF2B5EF4-FFF2-40B4-BE49-F238E27FC236}">
                <a16:creationId xmlns:a16="http://schemas.microsoft.com/office/drawing/2014/main" id="{BAB919CE-8F2F-4D8E-8FC6-67E7A3EB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109">
            <a:extLst xmlns:a="http://schemas.openxmlformats.org/drawingml/2006/main">
              <a:ext uri="{FF2B5EF4-FFF2-40B4-BE49-F238E27FC236}">
                <a16:creationId xmlns:a16="http://schemas.microsoft.com/office/drawing/2014/main" id="{6BD94800-641E-493F-A3BA-0AFFB40F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110">
            <a:extLst xmlns:a="http://schemas.openxmlformats.org/drawingml/2006/main">
              <a:ext uri="{FF2B5EF4-FFF2-40B4-BE49-F238E27FC236}">
                <a16:creationId xmlns:a16="http://schemas.microsoft.com/office/drawing/2014/main" id="{C2405A86-80C5-49E2-9AB1-8F264A8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m0-text-111">
            <a:extLst xmlns:a="http://schemas.openxmlformats.org/drawingml/2006/main">
              <a:ext uri="{FF2B5EF4-FFF2-40B4-BE49-F238E27FC236}">
                <a16:creationId xmlns:a16="http://schemas.microsoft.com/office/drawing/2014/main" id="{AF0D4EDF-B0A4-49F3-A05F-A6210156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Cloud and Local Models</a:t>
            </a:r>
          </a:p>
        </p:txBody>
      </p:sp>
      <p:sp>
        <p:nvSpPr>
          <p:cNvPr id="5" name="m0-text-112">
            <a:extLst xmlns:a="http://schemas.openxmlformats.org/drawingml/2006/main">
              <a:ext uri="{FF2B5EF4-FFF2-40B4-BE49-F238E27FC236}">
                <a16:creationId xmlns:a16="http://schemas.microsoft.com/office/drawing/2014/main" id="{E853C27B-DF45-4D11-8416-5E215926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79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Cloud</a:t>
            </a:r>
          </a:p>
        </p:txBody>
      </p:sp>
      <p:sp>
        <p:nvSpPr>
          <p:cNvPr id="6" name="m0-text-113">
            <a:extLst xmlns:a="http://schemas.openxmlformats.org/drawingml/2006/main">
              <a:ext uri="{FF2B5EF4-FFF2-40B4-BE49-F238E27FC236}">
                <a16:creationId xmlns:a16="http://schemas.microsoft.com/office/drawing/2014/main" id="{10C939C7-5902-4A46-9DBC-9BCFF3FA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37909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Models run on a provider’s servers.</a:t>
            </a:r>
          </a:p>
          <a:p xmlns:a="http://schemas.openxmlformats.org/drawingml/2006/main">
            <a:pPr>
              <a:defRPr sz="180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Access them through an API.</a:t>
            </a:r>
          </a:p>
          <a:p xmlns:a="http://schemas.openxmlformats.org/drawingml/2006/main">
            <a:pPr>
              <a:defRPr sz="180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Use an account and an API key.</a:t>
            </a:r>
          </a:p>
        </p:txBody>
      </p:sp>
      <p:sp>
        <p:nvSpPr>
          <p:cNvPr id="7" name="m0-text-114">
            <a:extLst xmlns:a="http://schemas.openxmlformats.org/drawingml/2006/main">
              <a:ext uri="{FF2B5EF4-FFF2-40B4-BE49-F238E27FC236}">
                <a16:creationId xmlns:a16="http://schemas.microsoft.com/office/drawing/2014/main" id="{FE8CE0E6-F903-4EF9-BC29-FD938BD3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24000"/>
            <a:ext cx="379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Local</a:t>
            </a:r>
          </a:p>
        </p:txBody>
      </p:sp>
      <p:sp>
        <p:nvSpPr>
          <p:cNvPr id="8" name="m0-text-115">
            <a:extLst xmlns:a="http://schemas.openxmlformats.org/drawingml/2006/main">
              <a:ext uri="{FF2B5EF4-FFF2-40B4-BE49-F238E27FC236}">
                <a16:creationId xmlns:a16="http://schemas.microsoft.com/office/drawing/2014/main" id="{A255AB6F-CFDF-486F-BC4D-571CC8B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19325"/>
            <a:ext cx="37909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Models run on your computer.</a:t>
            </a:r>
          </a:p>
          <a:p xmlns:a="http://schemas.openxmlformats.org/drawingml/2006/main">
            <a:pPr>
              <a:defRPr sz="180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b41f5bf7eae4c25"/>
              </a:rPr>
              <a:t>Ollama</a:t>
            </a:r>
            <a:r>
              <a:rPr sz="180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 is one way to run them;</a:t>
            </a:r>
          </a:p>
          <a:p xmlns:a="http://schemas.openxmlformats.org/drawingml/2006/main">
            <a:pPr>
              <a:defRPr sz="180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other tools are available.</a:t>
            </a:r>
          </a:p>
        </p:txBody>
      </p:sp>
      <p:sp>
        <p:nvSpPr>
          <p:cNvPr id="9" name="m0-text-116">
            <a:extLst xmlns:a="http://schemas.openxmlformats.org/drawingml/2006/main">
              <a:ext uri="{FF2B5EF4-FFF2-40B4-BE49-F238E27FC236}">
                <a16:creationId xmlns:a16="http://schemas.microsoft.com/office/drawing/2014/main" id="{A153EB3C-8F3B-4006-9DF2-AB7A1B33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822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D9A06B"/>
                </a:solidFill>
                <a:latin typeface="Calibri"/>
                <a:ea typeface="Calibri"/>
                <a:cs typeface="Calibri"/>
              </a:rPr>
              <a:t>In this course, we use cloud models with free tiers.</a:t>
            </a:r>
          </a:p>
        </p:txBody>
      </p:sp>
    </p:spTree>
    <p:extLst>
      <p:ext uri="{BB962C8B-B14F-4D97-AF65-F5344CB8AC3E}">
        <p14:creationId xmlns:p14="http://schemas.microsoft.com/office/powerpoint/2010/main" val="12181733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0-text-117">
            <a:extLst xmlns:a="http://schemas.openxmlformats.org/drawingml/2006/main">
              <a:ext uri="{FF2B5EF4-FFF2-40B4-BE49-F238E27FC236}">
                <a16:creationId xmlns:a16="http://schemas.microsoft.com/office/drawing/2014/main" id="{0A94414F-DE7F-421E-9FDF-2A118238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118">
            <a:extLst xmlns:a="http://schemas.openxmlformats.org/drawingml/2006/main">
              <a:ext uri="{FF2B5EF4-FFF2-40B4-BE49-F238E27FC236}">
                <a16:creationId xmlns:a16="http://schemas.microsoft.com/office/drawing/2014/main" id="{93CE2DC5-B89F-4724-93BC-FF056469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119">
            <a:extLst xmlns:a="http://schemas.openxmlformats.org/drawingml/2006/main">
              <a:ext uri="{FF2B5EF4-FFF2-40B4-BE49-F238E27FC236}">
                <a16:creationId xmlns:a16="http://schemas.microsoft.com/office/drawing/2014/main" id="{3876A650-19AE-4744-B689-5906F30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m0-text-120">
            <a:extLst xmlns:a="http://schemas.openxmlformats.org/drawingml/2006/main">
              <a:ext uri="{FF2B5EF4-FFF2-40B4-BE49-F238E27FC236}">
                <a16:creationId xmlns:a16="http://schemas.microsoft.com/office/drawing/2014/main" id="{3BB4A596-CFD4-4343-BC48-09866A4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The Technology Stack</a:t>
            </a:r>
          </a:p>
        </p:txBody>
      </p:sp>
      <p:sp>
        <p:nvSpPr>
          <p:cNvPr id="5" name="m0-text-121">
            <a:extLst xmlns:a="http://schemas.openxmlformats.org/drawingml/2006/main">
              <a:ext uri="{FF2B5EF4-FFF2-40B4-BE49-F238E27FC236}">
                <a16:creationId xmlns:a16="http://schemas.microsoft.com/office/drawing/2014/main" id="{5BA443FA-0698-4D49-AFF9-9055BE6D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3025"/>
            <a:ext cx="2228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COMPONENT</a:t>
            </a:r>
          </a:p>
        </p:txBody>
      </p:sp>
      <p:sp>
        <p:nvSpPr>
          <p:cNvPr id="6" name="m0-text-122">
            <a:extLst xmlns:a="http://schemas.openxmlformats.org/drawingml/2006/main">
              <a:ext uri="{FF2B5EF4-FFF2-40B4-BE49-F238E27FC236}">
                <a16:creationId xmlns:a16="http://schemas.microsoft.com/office/drawing/2014/main" id="{6522EDF8-E175-4050-B32E-EC6591AA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430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PURPOSE</a:t>
            </a:r>
          </a:p>
        </p:txBody>
      </p:sp>
      <p:sp>
        <p:nvSpPr>
          <p:cNvPr id="7" name="m0-text-123">
            <a:extLst xmlns:a="http://schemas.openxmlformats.org/drawingml/2006/main">
              <a:ext uri="{FF2B5EF4-FFF2-40B4-BE49-F238E27FC236}">
                <a16:creationId xmlns:a16="http://schemas.microsoft.com/office/drawing/2014/main" id="{A77321B5-59A7-4845-9DD2-6ADA413A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43025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RESOURCE</a:t>
            </a:r>
          </a:p>
        </p:txBody>
      </p:sp>
      <p:sp>
        <p:nvSpPr>
          <p:cNvPr id="8" name="m0-text-124">
            <a:extLst xmlns:a="http://schemas.openxmlformats.org/drawingml/2006/main">
              <a:ext uri="{FF2B5EF4-FFF2-40B4-BE49-F238E27FC236}">
                <a16:creationId xmlns:a16="http://schemas.microsoft.com/office/drawing/2014/main" id="{E8E34546-D46E-4C8C-A8B9-14247F82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5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VS Code</a:t>
            </a:r>
          </a:p>
        </p:txBody>
      </p:sp>
      <p:sp>
        <p:nvSpPr>
          <p:cNvPr id="9" name="m0-text-125">
            <a:extLst xmlns:a="http://schemas.openxmlformats.org/drawingml/2006/main">
              <a:ext uri="{FF2B5EF4-FFF2-40B4-BE49-F238E27FC236}">
                <a16:creationId xmlns:a16="http://schemas.microsoft.com/office/drawing/2014/main" id="{3A4644C3-BF3F-44E2-8EC7-7A26A569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IDE and notebook editor</a:t>
            </a:r>
          </a:p>
        </p:txBody>
      </p:sp>
      <p:sp>
        <p:nvSpPr>
          <p:cNvPr id="10" name="m0-text-126">
            <a:extLst xmlns:a="http://schemas.openxmlformats.org/drawingml/2006/main">
              <a:ext uri="{FF2B5EF4-FFF2-40B4-BE49-F238E27FC236}">
                <a16:creationId xmlns:a16="http://schemas.microsoft.com/office/drawing/2014/main" id="{081443DC-66AC-451D-9D39-5D88C4B4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e64187b915b44b6"/>
              </a:rPr>
              <a:t>Open</a:t>
            </a:r>
          </a:p>
        </p:txBody>
      </p:sp>
      <p:sp>
        <p:nvSpPr>
          <p:cNvPr id="11" name="m0-text-127">
            <a:extLst xmlns:a="http://schemas.openxmlformats.org/drawingml/2006/main">
              <a:ext uri="{FF2B5EF4-FFF2-40B4-BE49-F238E27FC236}">
                <a16:creationId xmlns:a16="http://schemas.microsoft.com/office/drawing/2014/main" id="{37A63C1A-6E10-4002-BDE8-0AF816D6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5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Python</a:t>
            </a:r>
          </a:p>
        </p:txBody>
      </p:sp>
      <p:sp>
        <p:nvSpPr>
          <p:cNvPr id="12" name="m0-text-128">
            <a:extLst xmlns:a="http://schemas.openxmlformats.org/drawingml/2006/main">
              <a:ext uri="{FF2B5EF4-FFF2-40B4-BE49-F238E27FC236}">
                <a16:creationId xmlns:a16="http://schemas.microsoft.com/office/drawing/2014/main" id="{7C91C392-E116-4617-8F6B-765F74E0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Runtime for all course code</a:t>
            </a:r>
          </a:p>
        </p:txBody>
      </p:sp>
      <p:sp>
        <p:nvSpPr>
          <p:cNvPr id="13" name="m0-text-129">
            <a:extLst xmlns:a="http://schemas.openxmlformats.org/drawingml/2006/main">
              <a:ext uri="{FF2B5EF4-FFF2-40B4-BE49-F238E27FC236}">
                <a16:creationId xmlns:a16="http://schemas.microsoft.com/office/drawing/2014/main" id="{19DDD693-7278-4694-A7D1-984B63B5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19d313600d44ff7"/>
              </a:rPr>
              <a:t>Open</a:t>
            </a:r>
          </a:p>
        </p:txBody>
      </p:sp>
      <p:sp>
        <p:nvSpPr>
          <p:cNvPr id="14" name="m0-text-130">
            <a:extLst xmlns:a="http://schemas.openxmlformats.org/drawingml/2006/main">
              <a:ext uri="{FF2B5EF4-FFF2-40B4-BE49-F238E27FC236}">
                <a16:creationId xmlns:a16="http://schemas.microsoft.com/office/drawing/2014/main" id="{F73221EA-0C8D-4074-9A9C-6F53E336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5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VS Code extensions</a:t>
            </a:r>
          </a:p>
        </p:txBody>
      </p:sp>
      <p:sp>
        <p:nvSpPr>
          <p:cNvPr id="15" name="m0-text-131">
            <a:extLst xmlns:a="http://schemas.openxmlformats.org/drawingml/2006/main">
              <a:ext uri="{FF2B5EF4-FFF2-40B4-BE49-F238E27FC236}">
                <a16:creationId xmlns:a16="http://schemas.microsoft.com/office/drawing/2014/main" id="{4D28CA55-52B7-4131-AACB-708D70F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Python and Jupyter support</a:t>
            </a:r>
          </a:p>
        </p:txBody>
      </p:sp>
      <p:sp>
        <p:nvSpPr>
          <p:cNvPr id="16" name="m0-text-132">
            <a:extLst xmlns:a="http://schemas.openxmlformats.org/drawingml/2006/main">
              <a:ext uri="{FF2B5EF4-FFF2-40B4-BE49-F238E27FC236}">
                <a16:creationId xmlns:a16="http://schemas.microsoft.com/office/drawing/2014/main" id="{D5CAF5A1-BD20-4209-B1E6-54BEEC31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5334465afa44f4c"/>
              </a:rPr>
              <a:t>Open</a:t>
            </a:r>
          </a:p>
        </p:txBody>
      </p:sp>
      <p:sp>
        <p:nvSpPr>
          <p:cNvPr id="17" name="m0-text-133">
            <a:extLst xmlns:a="http://schemas.openxmlformats.org/drawingml/2006/main">
              <a:ext uri="{FF2B5EF4-FFF2-40B4-BE49-F238E27FC236}">
                <a16:creationId xmlns:a16="http://schemas.microsoft.com/office/drawing/2014/main" id="{6D1D1D29-327B-49EF-9C48-9FF2D72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5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Provider SDKs</a:t>
            </a:r>
          </a:p>
        </p:txBody>
      </p:sp>
      <p:sp>
        <p:nvSpPr>
          <p:cNvPr id="18" name="m0-text-134">
            <a:extLst xmlns:a="http://schemas.openxmlformats.org/drawingml/2006/main">
              <a:ext uri="{FF2B5EF4-FFF2-40B4-BE49-F238E27FC236}">
                <a16:creationId xmlns:a16="http://schemas.microsoft.com/office/drawing/2014/main" id="{72D3E2ED-408C-4BB9-88AB-708CCDC3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Python clients for model providers</a:t>
            </a:r>
          </a:p>
        </p:txBody>
      </p:sp>
      <p:sp>
        <p:nvSpPr>
          <p:cNvPr id="19" name="m0-text-135">
            <a:extLst xmlns:a="http://schemas.openxmlformats.org/drawingml/2006/main">
              <a:ext uri="{FF2B5EF4-FFF2-40B4-BE49-F238E27FC236}">
                <a16:creationId xmlns:a16="http://schemas.microsoft.com/office/drawing/2014/main" id="{32357E8B-DFCD-4297-A877-D4DEEC04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b1d05697072478b"/>
              </a:rPr>
              <a:t>Open</a:t>
            </a:r>
          </a:p>
        </p:txBody>
      </p:sp>
      <p:sp>
        <p:nvSpPr>
          <p:cNvPr id="20" name="m0-text-136">
            <a:extLst xmlns:a="http://schemas.openxmlformats.org/drawingml/2006/main">
              <a:ext uri="{FF2B5EF4-FFF2-40B4-BE49-F238E27FC236}">
                <a16:creationId xmlns:a16="http://schemas.microsoft.com/office/drawing/2014/main" id="{C6963129-0E3F-4160-B702-EC8E142C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5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LangChain</a:t>
            </a:r>
          </a:p>
        </p:txBody>
      </p:sp>
      <p:sp>
        <p:nvSpPr>
          <p:cNvPr id="21" name="m0-text-137">
            <a:extLst xmlns:a="http://schemas.openxmlformats.org/drawingml/2006/main">
              <a:ext uri="{FF2B5EF4-FFF2-40B4-BE49-F238E27FC236}">
                <a16:creationId xmlns:a16="http://schemas.microsoft.com/office/drawing/2014/main" id="{6E5AF6B3-FC3E-4DEE-B01B-5522340D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Model interfaces and prompt workflows</a:t>
            </a:r>
          </a:p>
        </p:txBody>
      </p:sp>
      <p:sp>
        <p:nvSpPr>
          <p:cNvPr id="22" name="m0-text-138">
            <a:extLst xmlns:a="http://schemas.openxmlformats.org/drawingml/2006/main">
              <a:ext uri="{FF2B5EF4-FFF2-40B4-BE49-F238E27FC236}">
                <a16:creationId xmlns:a16="http://schemas.microsoft.com/office/drawing/2014/main" id="{78A5FD20-4308-40B4-8DB2-F07A3D24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4ca771f5fb844bc"/>
              </a:rPr>
              <a:t>Open</a:t>
            </a:r>
          </a:p>
        </p:txBody>
      </p:sp>
      <p:sp>
        <p:nvSpPr>
          <p:cNvPr id="23" name="m0-text-139">
            <a:extLst xmlns:a="http://schemas.openxmlformats.org/drawingml/2006/main">
              <a:ext uri="{FF2B5EF4-FFF2-40B4-BE49-F238E27FC236}">
                <a16:creationId xmlns:a16="http://schemas.microsoft.com/office/drawing/2014/main" id="{76DF1FFD-9368-406D-B085-D56DD7E1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5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LangGraph</a:t>
            </a:r>
          </a:p>
        </p:txBody>
      </p:sp>
      <p:sp>
        <p:nvSpPr>
          <p:cNvPr id="24" name="m0-text-140">
            <a:extLst xmlns:a="http://schemas.openxmlformats.org/drawingml/2006/main">
              <a:ext uri="{FF2B5EF4-FFF2-40B4-BE49-F238E27FC236}">
                <a16:creationId xmlns:a16="http://schemas.microsoft.com/office/drawing/2014/main" id="{2FB1DFC7-AD46-4AC9-BC13-B67DA10F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09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State and agent orchestration</a:t>
            </a:r>
          </a:p>
        </p:txBody>
      </p:sp>
      <p:sp>
        <p:nvSpPr>
          <p:cNvPr id="25" name="m0-text-141">
            <a:extLst xmlns:a="http://schemas.openxmlformats.org/drawingml/2006/main">
              <a:ext uri="{FF2B5EF4-FFF2-40B4-BE49-F238E27FC236}">
                <a16:creationId xmlns:a16="http://schemas.microsoft.com/office/drawing/2014/main" id="{9AAF9DB1-195D-4AFF-AB18-C9ACB5AA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99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19a157305e34c7a"/>
              </a:rPr>
              <a:t>Open</a:t>
            </a:r>
          </a:p>
        </p:txBody>
      </p:sp>
      <p:sp>
        <p:nvSpPr>
          <p:cNvPr id="26" name="m0-text-142">
            <a:extLst xmlns:a="http://schemas.openxmlformats.org/drawingml/2006/main">
              <a:ext uri="{FF2B5EF4-FFF2-40B4-BE49-F238E27FC236}">
                <a16:creationId xmlns:a16="http://schemas.microsoft.com/office/drawing/2014/main" id="{75B53387-E4CA-4FF5-8F9B-DECFEF9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5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Pydantic</a:t>
            </a:r>
          </a:p>
        </p:txBody>
      </p:sp>
      <p:sp>
        <p:nvSpPr>
          <p:cNvPr id="27" name="m0-text-143">
            <a:extLst xmlns:a="http://schemas.openxmlformats.org/drawingml/2006/main">
              <a:ext uri="{FF2B5EF4-FFF2-40B4-BE49-F238E27FC236}">
                <a16:creationId xmlns:a16="http://schemas.microsoft.com/office/drawing/2014/main" id="{0DB5BEE3-BBB7-4BD9-B972-D2FD060D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52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Structured data and response validation</a:t>
            </a:r>
          </a:p>
        </p:txBody>
      </p:sp>
      <p:sp>
        <p:nvSpPr>
          <p:cNvPr id="28" name="m0-text-144">
            <a:extLst xmlns:a="http://schemas.openxmlformats.org/drawingml/2006/main">
              <a:ext uri="{FF2B5EF4-FFF2-40B4-BE49-F238E27FC236}">
                <a16:creationId xmlns:a16="http://schemas.microsoft.com/office/drawing/2014/main" id="{FFA28D3B-1D9F-407D-A7F0-CC186F2A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f8f64d3e3ce49f6"/>
              </a:rPr>
              <a:t>Open</a:t>
            </a:r>
          </a:p>
        </p:txBody>
      </p:sp>
      <p:sp>
        <p:nvSpPr>
          <p:cNvPr id="29" name="m0-text-145">
            <a:extLst xmlns:a="http://schemas.openxmlformats.org/drawingml/2006/main">
              <a:ext uri="{FF2B5EF4-FFF2-40B4-BE49-F238E27FC236}">
                <a16:creationId xmlns:a16="http://schemas.microsoft.com/office/drawing/2014/main" id="{CF0F1923-12DC-4DF1-8AF9-4DDD3B2B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862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5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FastAPI</a:t>
            </a:r>
          </a:p>
        </p:txBody>
      </p:sp>
      <p:sp>
        <p:nvSpPr>
          <p:cNvPr id="30" name="m0-text-146">
            <a:extLst xmlns:a="http://schemas.openxmlformats.org/drawingml/2006/main">
              <a:ext uri="{FF2B5EF4-FFF2-40B4-BE49-F238E27FC236}">
                <a16:creationId xmlns:a16="http://schemas.microsoft.com/office/drawing/2014/main" id="{DFC8CB4F-AA5B-405D-AEC8-E909D44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9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API between the avatar and the agent</a:t>
            </a:r>
          </a:p>
        </p:txBody>
      </p:sp>
      <p:sp>
        <p:nvSpPr>
          <p:cNvPr id="31" name="m0-text-147">
            <a:extLst xmlns:a="http://schemas.openxmlformats.org/drawingml/2006/main">
              <a:ext uri="{FF2B5EF4-FFF2-40B4-BE49-F238E27FC236}">
                <a16:creationId xmlns:a16="http://schemas.microsoft.com/office/drawing/2014/main" id="{5CDCD175-2389-4349-B102-998879B1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05225b8ed3b4b20"/>
              </a:rPr>
              <a:t>Open</a:t>
            </a:r>
          </a:p>
        </p:txBody>
      </p:sp>
      <p:sp>
        <p:nvSpPr>
          <p:cNvPr id="32" name="m0-text-148">
            <a:extLst xmlns:a="http://schemas.openxmlformats.org/drawingml/2006/main">
              <a:ext uri="{FF2B5EF4-FFF2-40B4-BE49-F238E27FC236}">
                <a16:creationId xmlns:a16="http://schemas.microsoft.com/office/drawing/2014/main" id="{8A3DA162-B96F-4479-B672-36833152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50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Ollama</a:t>
            </a:r>
          </a:p>
        </p:txBody>
      </p:sp>
      <p:sp>
        <p:nvSpPr>
          <p:cNvPr id="33" name="m0-text-149">
            <a:extLst xmlns:a="http://schemas.openxmlformats.org/drawingml/2006/main">
              <a:ext uri="{FF2B5EF4-FFF2-40B4-BE49-F238E27FC236}">
                <a16:creationId xmlns:a16="http://schemas.microsoft.com/office/drawing/2014/main" id="{67BC33E2-47A4-4941-B8F8-4F6C194A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38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Local model server</a:t>
            </a:r>
          </a:p>
        </p:txBody>
      </p:sp>
      <p:sp>
        <p:nvSpPr>
          <p:cNvPr id="34" name="m0-text-150">
            <a:extLst xmlns:a="http://schemas.openxmlformats.org/drawingml/2006/main">
              <a:ext uri="{FF2B5EF4-FFF2-40B4-BE49-F238E27FC236}">
                <a16:creationId xmlns:a16="http://schemas.microsoft.com/office/drawing/2014/main" id="{1459F6A5-87C4-43E1-951F-3565C655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0a86ccf4d8d44b0"/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118455771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m0-text-151">
            <a:extLst xmlns:a="http://schemas.openxmlformats.org/drawingml/2006/main">
              <a:ext uri="{FF2B5EF4-FFF2-40B4-BE49-F238E27FC236}">
                <a16:creationId xmlns:a16="http://schemas.microsoft.com/office/drawing/2014/main" id="{0CF2346D-645B-4E49-8B45-82134FED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152">
            <a:extLst xmlns:a="http://schemas.openxmlformats.org/drawingml/2006/main">
              <a:ext uri="{FF2B5EF4-FFF2-40B4-BE49-F238E27FC236}">
                <a16:creationId xmlns:a16="http://schemas.microsoft.com/office/drawing/2014/main" id="{8DD2F3FF-9082-4F15-90AA-C89595A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153">
            <a:extLst xmlns:a="http://schemas.openxmlformats.org/drawingml/2006/main">
              <a:ext uri="{FF2B5EF4-FFF2-40B4-BE49-F238E27FC236}">
                <a16:creationId xmlns:a16="http://schemas.microsoft.com/office/drawing/2014/main" id="{2CB16D68-6C2B-4903-AE8A-DCC7C594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m0-text-154">
            <a:extLst xmlns:a="http://schemas.openxmlformats.org/drawingml/2006/main">
              <a:ext uri="{FF2B5EF4-FFF2-40B4-BE49-F238E27FC236}">
                <a16:creationId xmlns:a16="http://schemas.microsoft.com/office/drawing/2014/main" id="{6C0805AB-BF9D-4180-BA9F-10446912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1. Download the Course Project</a:t>
            </a:r>
          </a:p>
        </p:txBody>
      </p:sp>
      <p:sp>
        <p:nvSpPr>
          <p:cNvPr id="5" name="m0-text-155">
            <a:extLst xmlns:a="http://schemas.openxmlformats.org/drawingml/2006/main">
              <a:ext uri="{FF2B5EF4-FFF2-40B4-BE49-F238E27FC236}">
                <a16:creationId xmlns:a16="http://schemas.microsoft.com/office/drawing/2014/main" id="{796E96D8-EB7A-44A7-A17B-B58EC0D4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d20eb4b2f1946f5"/>
              </a:rPr>
              <a:t>Open the course repository on GitHub.</a:t>
            </a:r>
          </a:p>
        </p:txBody>
      </p:sp>
      <p:sp>
        <p:nvSpPr>
          <p:cNvPr id="6" name="m0-text-156">
            <a:extLst xmlns:a="http://schemas.openxmlformats.org/drawingml/2006/main">
              <a:ext uri="{FF2B5EF4-FFF2-40B4-BE49-F238E27FC236}">
                <a16:creationId xmlns:a16="http://schemas.microsoft.com/office/drawing/2014/main" id="{47218647-74F8-4D91-B75C-7F5055BD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822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Choose Code &gt; Download ZIP, then extract the archive.</a:t>
            </a:r>
          </a:p>
        </p:txBody>
      </p:sp>
      <p:sp>
        <p:nvSpPr>
          <p:cNvPr id="7" name="m0-text-157">
            <a:extLst xmlns:a="http://schemas.openxmlformats.org/drawingml/2006/main">
              <a:ext uri="{FF2B5EF4-FFF2-40B4-BE49-F238E27FC236}">
                <a16:creationId xmlns:a16="http://schemas.microsoft.com/office/drawing/2014/main" id="{CED9B501-4B64-472E-AEB7-2D1F20D1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A06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D9A06B"/>
                </a:solidFill>
                <a:latin typeface="Consolas"/>
                <a:ea typeface="Consolas"/>
                <a:cs typeface="Consolas"/>
              </a:rPr>
              <a:t>virtual_human_course/</a:t>
            </a:r>
          </a:p>
        </p:txBody>
      </p:sp>
      <p:sp>
        <p:nvSpPr>
          <p:cNvPr id="8" name="m0-text-158">
            <a:extLst xmlns:a="http://schemas.openxmlformats.org/drawingml/2006/main">
              <a:ext uri="{FF2B5EF4-FFF2-40B4-BE49-F238E27FC236}">
                <a16:creationId xmlns:a16="http://schemas.microsoft.com/office/drawing/2014/main" id="{6C0A9EFD-655D-4E9D-BD42-7FF2BF26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Slides, notebooks and course requirements.</a:t>
            </a:r>
          </a:p>
        </p:txBody>
      </p:sp>
      <p:sp>
        <p:nvSpPr>
          <p:cNvPr id="9" name="m0-text-159">
            <a:extLst xmlns:a="http://schemas.openxmlformats.org/drawingml/2006/main">
              <a:ext uri="{FF2B5EF4-FFF2-40B4-BE49-F238E27FC236}">
                <a16:creationId xmlns:a16="http://schemas.microsoft.com/office/drawing/2014/main" id="{0EE4EA60-6502-4EAA-B128-1E52F94F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A06B"/>
                </a:solidFill>
                <a:latin typeface="Consolas"/>
                <a:ea typeface="Consolas"/>
                <a:cs typeface="Consolas"/>
              </a:defRPr>
            </a:pPr>
            <a:r>
              <a:rPr sz="1725">
                <a:solidFill>
                  <a:srgbClr val="D9A06B"/>
                </a:solidFill>
                <a:latin typeface="Consolas"/>
                <a:ea typeface="Consolas"/>
                <a:cs typeface="Consolas"/>
              </a:rPr>
              <a:t>virtual_human_project/</a:t>
            </a:r>
          </a:p>
        </p:txBody>
      </p:sp>
      <p:sp>
        <p:nvSpPr>
          <p:cNvPr id="10" name="m0-text-160">
            <a:extLst xmlns:a="http://schemas.openxmlformats.org/drawingml/2006/main">
              <a:ext uri="{FF2B5EF4-FFF2-40B4-BE49-F238E27FC236}">
                <a16:creationId xmlns:a16="http://schemas.microsoft.com/office/drawing/2014/main" id="{E2E8D06A-72C7-406B-8753-C87965B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38525"/>
            <a:ext cx="3886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Avatar, cognitive server and installers.</a:t>
            </a:r>
          </a:p>
        </p:txBody>
      </p:sp>
      <p:sp>
        <p:nvSpPr>
          <p:cNvPr id="11" name="m0-text-161">
            <a:extLst xmlns:a="http://schemas.openxmlformats.org/drawingml/2006/main">
              <a:ext uri="{FF2B5EF4-FFF2-40B4-BE49-F238E27FC236}">
                <a16:creationId xmlns:a16="http://schemas.microsoft.com/office/drawing/2014/main" id="{AF6D1CDF-CF13-415E-AD75-E63FA6CA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Keep both folders together in the extracted repository.</a:t>
            </a:r>
          </a:p>
        </p:txBody>
      </p:sp>
    </p:spTree>
    <p:extLst>
      <p:ext uri="{BB962C8B-B14F-4D97-AF65-F5344CB8AC3E}">
        <p14:creationId xmlns:p14="http://schemas.microsoft.com/office/powerpoint/2010/main" val="1117529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0-text-162">
            <a:extLst xmlns:a="http://schemas.openxmlformats.org/drawingml/2006/main">
              <a:ext uri="{FF2B5EF4-FFF2-40B4-BE49-F238E27FC236}">
                <a16:creationId xmlns:a16="http://schemas.microsoft.com/office/drawing/2014/main" id="{4852171E-B5F9-4BA6-AD8D-41692838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163">
            <a:extLst xmlns:a="http://schemas.openxmlformats.org/drawingml/2006/main">
              <a:ext uri="{FF2B5EF4-FFF2-40B4-BE49-F238E27FC236}">
                <a16:creationId xmlns:a16="http://schemas.microsoft.com/office/drawing/2014/main" id="{26865E74-8E28-4BFD-ACE2-44C73390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164">
            <a:extLst xmlns:a="http://schemas.openxmlformats.org/drawingml/2006/main">
              <a:ext uri="{FF2B5EF4-FFF2-40B4-BE49-F238E27FC236}">
                <a16:creationId xmlns:a16="http://schemas.microsoft.com/office/drawing/2014/main" id="{9A4137C4-33C2-4D7F-8A7B-FBEB4956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m0-text-165">
            <a:extLst xmlns:a="http://schemas.openxmlformats.org/drawingml/2006/main">
              <a:ext uri="{FF2B5EF4-FFF2-40B4-BE49-F238E27FC236}">
                <a16:creationId xmlns:a16="http://schemas.microsoft.com/office/drawing/2014/main" id="{4D91A63F-8AED-4A01-AFB8-B86815CC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2. Install VS Code and Extensions</a:t>
            </a:r>
          </a:p>
        </p:txBody>
      </p:sp>
      <p:sp>
        <p:nvSpPr>
          <p:cNvPr id="5" name="m0-text-166">
            <a:extLst xmlns:a="http://schemas.openxmlformats.org/drawingml/2006/main">
              <a:ext uri="{FF2B5EF4-FFF2-40B4-BE49-F238E27FC236}">
                <a16:creationId xmlns:a16="http://schemas.microsoft.com/office/drawing/2014/main" id="{6C29B59F-F74F-47FB-AD2C-2E6140DD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822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Install Visual Studio Code, then open Extensions.</a:t>
            </a:r>
          </a:p>
        </p:txBody>
      </p:sp>
      <p:sp>
        <p:nvSpPr>
          <p:cNvPr id="6" name="m0-text-167">
            <a:extLst xmlns:a="http://schemas.openxmlformats.org/drawingml/2006/main">
              <a:ext uri="{FF2B5EF4-FFF2-40B4-BE49-F238E27FC236}">
                <a16:creationId xmlns:a16="http://schemas.microsoft.com/office/drawing/2014/main" id="{217BC665-28C4-4A60-AAD6-38E99657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Use the Extensions icon or Ctrl+Shift+X.</a:t>
            </a:r>
          </a:p>
        </p:txBody>
      </p:sp>
      <p:sp>
        <p:nvSpPr>
          <p:cNvPr id="7" name="m0-text-168">
            <a:extLst xmlns:a="http://schemas.openxmlformats.org/drawingml/2006/main">
              <a:ext uri="{FF2B5EF4-FFF2-40B4-BE49-F238E27FC236}">
                <a16:creationId xmlns:a16="http://schemas.microsoft.com/office/drawing/2014/main" id="{CDB7FCF7-92CD-4FC4-96FC-4AB54BE0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Install both Microsoft extensions:</a:t>
            </a:r>
          </a:p>
        </p:txBody>
      </p:sp>
      <p:sp>
        <p:nvSpPr>
          <p:cNvPr id="8" name="m0-text-169">
            <a:extLst xmlns:a="http://schemas.openxmlformats.org/drawingml/2006/main">
              <a:ext uri="{FF2B5EF4-FFF2-40B4-BE49-F238E27FC236}">
                <a16:creationId xmlns:a16="http://schemas.microsoft.com/office/drawing/2014/main" id="{BB82BAF4-5532-4E69-959D-3E3F383F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D9A06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05b438bf40c4dfb"/>
              </a:rPr>
              <a:t>Python</a:t>
            </a:r>
          </a:p>
        </p:txBody>
      </p:sp>
      <p:sp>
        <p:nvSpPr>
          <p:cNvPr id="9" name="m0-text-170">
            <a:extLst xmlns:a="http://schemas.openxmlformats.org/drawingml/2006/main">
              <a:ext uri="{FF2B5EF4-FFF2-40B4-BE49-F238E27FC236}">
                <a16:creationId xmlns:a16="http://schemas.microsoft.com/office/drawing/2014/main" id="{3AE7CCE3-A3CF-4E9B-89B7-0341BD46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A06B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D9A06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f07034be6ea4e1e"/>
              </a:rPr>
              <a:t>Jupyter</a:t>
            </a:r>
          </a:p>
        </p:txBody>
      </p:sp>
      <p:sp>
        <p:nvSpPr>
          <p:cNvPr id="10" name="m0-text-171">
            <a:extLst xmlns:a="http://schemas.openxmlformats.org/drawingml/2006/main">
              <a:ext uri="{FF2B5EF4-FFF2-40B4-BE49-F238E27FC236}">
                <a16:creationId xmlns:a16="http://schemas.microsoft.com/office/drawing/2014/main" id="{4BA8E3D6-68BF-4AF9-B291-417681FE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Run Python code and choose interpreters.</a:t>
            </a:r>
          </a:p>
        </p:txBody>
      </p:sp>
      <p:sp>
        <p:nvSpPr>
          <p:cNvPr id="11" name="m0-text-172">
            <a:extLst xmlns:a="http://schemas.openxmlformats.org/drawingml/2006/main">
              <a:ext uri="{FF2B5EF4-FFF2-40B4-BE49-F238E27FC236}">
                <a16:creationId xmlns:a16="http://schemas.microsoft.com/office/drawing/2014/main" id="{A90AAE89-AC20-4137-A89D-B03F8370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95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Open and run .ipynb notebooks.</a:t>
            </a:r>
          </a:p>
        </p:txBody>
      </p:sp>
      <p:sp>
        <p:nvSpPr>
          <p:cNvPr id="12" name="m0-text-173">
            <a:extLst xmlns:a="http://schemas.openxmlformats.org/drawingml/2006/main">
              <a:ext uri="{FF2B5EF4-FFF2-40B4-BE49-F238E27FC236}">
                <a16:creationId xmlns:a16="http://schemas.microsoft.com/office/drawing/2014/main" id="{75D56E76-BF64-4DB5-93CB-CDF83CCB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6500a1b7e9546fb"/>
              </a:rPr>
              <a:t>Download VS Code</a:t>
            </a:r>
          </a:p>
        </p:txBody>
      </p:sp>
    </p:spTree>
    <p:extLst>
      <p:ext uri="{BB962C8B-B14F-4D97-AF65-F5344CB8AC3E}">
        <p14:creationId xmlns:p14="http://schemas.microsoft.com/office/powerpoint/2010/main" val="16877107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m0-text-174">
            <a:extLst xmlns:a="http://schemas.openxmlformats.org/drawingml/2006/main">
              <a:ext uri="{FF2B5EF4-FFF2-40B4-BE49-F238E27FC236}">
                <a16:creationId xmlns:a16="http://schemas.microsoft.com/office/drawing/2014/main" id="{364E54C2-EED8-433A-B706-1DF4B0F0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175">
            <a:extLst xmlns:a="http://schemas.openxmlformats.org/drawingml/2006/main">
              <a:ext uri="{FF2B5EF4-FFF2-40B4-BE49-F238E27FC236}">
                <a16:creationId xmlns:a16="http://schemas.microsoft.com/office/drawing/2014/main" id="{B009D6B9-F2FE-4872-A163-E3FE9F1E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176">
            <a:extLst xmlns:a="http://schemas.openxmlformats.org/drawingml/2006/main">
              <a:ext uri="{FF2B5EF4-FFF2-40B4-BE49-F238E27FC236}">
                <a16:creationId xmlns:a16="http://schemas.microsoft.com/office/drawing/2014/main" id="{1410E727-C2E2-4E33-8799-4F97F21C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m0-text-177">
            <a:extLst xmlns:a="http://schemas.openxmlformats.org/drawingml/2006/main">
              <a:ext uri="{FF2B5EF4-FFF2-40B4-BE49-F238E27FC236}">
                <a16:creationId xmlns:a16="http://schemas.microsoft.com/office/drawing/2014/main" id="{884D0823-B23D-41A7-BD69-93EC5BAE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3. Install the Virtual Human</a:t>
            </a:r>
          </a:p>
        </p:txBody>
      </p:sp>
      <p:sp>
        <p:nvSpPr>
          <p:cNvPr id="5" name="m0-text-178">
            <a:extLst xmlns:a="http://schemas.openxmlformats.org/drawingml/2006/main">
              <a:ext uri="{FF2B5EF4-FFF2-40B4-BE49-F238E27FC236}">
                <a16:creationId xmlns:a16="http://schemas.microsoft.com/office/drawing/2014/main" id="{C8CE9E6A-BEFC-4B63-80AD-32044625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822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c9fa13c84c84286"/>
              </a:rPr>
              <a:t>Follow the Installation guide for your computer.</a:t>
            </a:r>
          </a:p>
        </p:txBody>
      </p:sp>
      <p:sp>
        <p:nvSpPr>
          <p:cNvPr id="6" name="m0-text-179">
            <a:extLst xmlns:a="http://schemas.openxmlformats.org/drawingml/2006/main">
              <a:ext uri="{FF2B5EF4-FFF2-40B4-BE49-F238E27FC236}">
                <a16:creationId xmlns:a16="http://schemas.microsoft.com/office/drawing/2014/main" id="{6098A148-6B05-40C2-858E-7FDFF925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Open the installer inside virtual_human_project.</a:t>
            </a:r>
          </a:p>
        </p:txBody>
      </p:sp>
      <p:sp>
        <p:nvSpPr>
          <p:cNvPr id="7" name="m0-text-180">
            <a:extLst xmlns:a="http://schemas.openxmlformats.org/drawingml/2006/main">
              <a:ext uri="{FF2B5EF4-FFF2-40B4-BE49-F238E27FC236}">
                <a16:creationId xmlns:a16="http://schemas.microsoft.com/office/drawing/2014/main" id="{E43181AE-ACF6-46E3-A307-7BE33DCF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95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Windows</a:t>
            </a:r>
          </a:p>
        </p:txBody>
      </p:sp>
      <p:sp>
        <p:nvSpPr>
          <p:cNvPr id="8" name="m0-text-181">
            <a:extLst xmlns:a="http://schemas.openxmlformats.org/drawingml/2006/main">
              <a:ext uri="{FF2B5EF4-FFF2-40B4-BE49-F238E27FC236}">
                <a16:creationId xmlns:a16="http://schemas.microsoft.com/office/drawing/2014/main" id="{5F74803E-8477-425E-B7DA-0219AF19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67075"/>
            <a:ext cx="3886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VirtualHuman-Setup.exe</a:t>
            </a:r>
          </a:p>
          <a:p xmlns:a="http://schemas.openxmlformats.org/drawingml/2006/main">
            <a:pPr>
              <a:defRPr sz="16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Enable NVIDIA options only if</a:t>
            </a:r>
          </a:p>
          <a:p xmlns:a="http://schemas.openxmlformats.org/drawingml/2006/main">
            <a:pPr>
              <a:defRPr sz="16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setup detects a compatible GPU.</a:t>
            </a:r>
          </a:p>
        </p:txBody>
      </p:sp>
      <p:sp>
        <p:nvSpPr>
          <p:cNvPr id="9" name="m0-text-182">
            <a:extLst xmlns:a="http://schemas.openxmlformats.org/drawingml/2006/main">
              <a:ext uri="{FF2B5EF4-FFF2-40B4-BE49-F238E27FC236}">
                <a16:creationId xmlns:a16="http://schemas.microsoft.com/office/drawing/2014/main" id="{7707B701-D0CC-4E77-9963-BCF704CD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33675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950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Mac</a:t>
            </a:r>
          </a:p>
        </p:txBody>
      </p:sp>
      <p:sp>
        <p:nvSpPr>
          <p:cNvPr id="10" name="m0-text-183">
            <a:extLst xmlns:a="http://schemas.openxmlformats.org/drawingml/2006/main">
              <a:ext uri="{FF2B5EF4-FFF2-40B4-BE49-F238E27FC236}">
                <a16:creationId xmlns:a16="http://schemas.microsoft.com/office/drawing/2014/main" id="{F1574564-2407-4FEB-A091-ED25CAB9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67075"/>
            <a:ext cx="3886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Install Virtual Human.app</a:t>
            </a:r>
          </a:p>
          <a:p xmlns:a="http://schemas.openxmlformats.org/drawingml/2006/main">
            <a:pPr>
              <a:defRPr sz="16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CPU only; no GPU acceleration.</a:t>
            </a:r>
          </a:p>
        </p:txBody>
      </p:sp>
      <p:sp>
        <p:nvSpPr>
          <p:cNvPr id="11" name="m0-text-184">
            <a:extLst xmlns:a="http://schemas.openxmlformats.org/drawingml/2006/main">
              <a:ext uri="{FF2B5EF4-FFF2-40B4-BE49-F238E27FC236}">
                <a16:creationId xmlns:a16="http://schemas.microsoft.com/office/drawing/2014/main" id="{34A5A1E8-4720-4242-B1D3-C519EDA5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Click Install. Setup prepares Python, dependencies and speech models.</a:t>
            </a:r>
          </a:p>
        </p:txBody>
      </p:sp>
    </p:spTree>
    <p:extLst>
      <p:ext uri="{BB962C8B-B14F-4D97-AF65-F5344CB8AC3E}">
        <p14:creationId xmlns:p14="http://schemas.microsoft.com/office/powerpoint/2010/main" val="12325445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0-text-185">
            <a:extLst xmlns:a="http://schemas.openxmlformats.org/drawingml/2006/main">
              <a:ext uri="{FF2B5EF4-FFF2-40B4-BE49-F238E27FC236}">
                <a16:creationId xmlns:a16="http://schemas.microsoft.com/office/drawing/2014/main" id="{6153D7A5-73BA-4536-81CA-7C684B44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186">
            <a:extLst xmlns:a="http://schemas.openxmlformats.org/drawingml/2006/main">
              <a:ext uri="{FF2B5EF4-FFF2-40B4-BE49-F238E27FC236}">
                <a16:creationId xmlns:a16="http://schemas.microsoft.com/office/drawing/2014/main" id="{EE23D7F6-E5D8-40DF-A213-394ABF90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187">
            <a:extLst xmlns:a="http://schemas.openxmlformats.org/drawingml/2006/main">
              <a:ext uri="{FF2B5EF4-FFF2-40B4-BE49-F238E27FC236}">
                <a16:creationId xmlns:a16="http://schemas.microsoft.com/office/drawing/2014/main" id="{16355434-4BC7-4F03-8B89-8C77F0AE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m0-text-188">
            <a:extLst xmlns:a="http://schemas.openxmlformats.org/drawingml/2006/main">
              <a:ext uri="{FF2B5EF4-FFF2-40B4-BE49-F238E27FC236}">
                <a16:creationId xmlns:a16="http://schemas.microsoft.com/office/drawing/2014/main" id="{BBA5D10F-2E16-4A13-8AD2-0D74FB10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4. Launch and Test the Avatar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5d9c3f2094380"/>
          <a:stretch xmlns:a="http://schemas.openxmlformats.org/drawingml/2006/main"/>
        </p:blipFill>
        <p:spPr>
          <a:xfrm xmlns:a="http://schemas.openxmlformats.org/drawingml/2006/main">
            <a:off x="762000" y="1323975"/>
            <a:ext cx="54864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m0-text-189">
            <a:extLst xmlns:a="http://schemas.openxmlformats.org/drawingml/2006/main">
              <a:ext uri="{FF2B5EF4-FFF2-40B4-BE49-F238E27FC236}">
                <a16:creationId xmlns:a16="http://schemas.microsoft.com/office/drawing/2014/main" id="{EB995E26-F2C5-426A-8C73-0D0E356D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573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Check the result</a:t>
            </a:r>
          </a:p>
        </p:txBody>
      </p:sp>
      <p:sp>
        <p:nvSpPr>
          <p:cNvPr id="7" name="m0-text-190">
            <a:extLst xmlns:a="http://schemas.openxmlformats.org/drawingml/2006/main">
              <a:ext uri="{FF2B5EF4-FFF2-40B4-BE49-F238E27FC236}">
                <a16:creationId xmlns:a16="http://schemas.microsoft.com/office/drawing/2014/main" id="{32B5CF9F-D582-443F-AD71-A4EA343D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18859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Avatar visible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Connection green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Reply: Hello world</a:t>
            </a:r>
          </a:p>
        </p:txBody>
      </p:sp>
      <p:sp>
        <p:nvSpPr>
          <p:cNvPr id="8" name="m0-text-191">
            <a:extLst xmlns:a="http://schemas.openxmlformats.org/drawingml/2006/main">
              <a:ext uri="{FF2B5EF4-FFF2-40B4-BE49-F238E27FC236}">
                <a16:creationId xmlns:a16="http://schemas.microsoft.com/office/drawing/2014/main" id="{9984F284-3CE9-4668-8638-4AAB5979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6717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No API key needed.</a:t>
            </a:r>
          </a:p>
        </p:txBody>
      </p:sp>
      <p:sp>
        <p:nvSpPr>
          <p:cNvPr id="9" name="m0-text-192">
            <a:extLst xmlns:a="http://schemas.openxmlformats.org/drawingml/2006/main">
              <a:ext uri="{FF2B5EF4-FFF2-40B4-BE49-F238E27FC236}">
                <a16:creationId xmlns:a16="http://schemas.microsoft.com/office/drawing/2014/main" id="{73DF5FB0-D130-4D5B-8D59-C984657E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958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a1f5e6db07641c6"/>
              </a:rPr>
              <a:t>Agent guide</a:t>
            </a:r>
          </a:p>
        </p:txBody>
      </p:sp>
    </p:spTree>
    <p:extLst>
      <p:ext uri="{BB962C8B-B14F-4D97-AF65-F5344CB8AC3E}">
        <p14:creationId xmlns:p14="http://schemas.microsoft.com/office/powerpoint/2010/main" val="130782713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0-text-193">
            <a:extLst xmlns:a="http://schemas.openxmlformats.org/drawingml/2006/main">
              <a:ext uri="{FF2B5EF4-FFF2-40B4-BE49-F238E27FC236}">
                <a16:creationId xmlns:a16="http://schemas.microsoft.com/office/drawing/2014/main" id="{DF01A93C-DC56-4C6C-A4F5-2C897489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194">
            <a:extLst xmlns:a="http://schemas.openxmlformats.org/drawingml/2006/main">
              <a:ext uri="{FF2B5EF4-FFF2-40B4-BE49-F238E27FC236}">
                <a16:creationId xmlns:a16="http://schemas.microsoft.com/office/drawing/2014/main" id="{7E4D86CD-8FC5-4E87-A157-0A120E40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195">
            <a:extLst xmlns:a="http://schemas.openxmlformats.org/drawingml/2006/main">
              <a:ext uri="{FF2B5EF4-FFF2-40B4-BE49-F238E27FC236}">
                <a16:creationId xmlns:a16="http://schemas.microsoft.com/office/drawing/2014/main" id="{CE1DC542-4103-4E78-B5B6-E8973361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m0-text-196">
            <a:extLst xmlns:a="http://schemas.openxmlformats.org/drawingml/2006/main">
              <a:ext uri="{FF2B5EF4-FFF2-40B4-BE49-F238E27FC236}">
                <a16:creationId xmlns:a16="http://schemas.microsoft.com/office/drawing/2014/main" id="{37CFAFBD-0206-48F2-A2BA-191997C0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5. Open the Notebook and Select the Kernel</a:t>
            </a:r>
          </a:p>
        </p:txBody>
      </p:sp>
      <p:sp>
        <p:nvSpPr>
          <p:cNvPr id="5" name="m0-text-197">
            <a:extLst xmlns:a="http://schemas.openxmlformats.org/drawingml/2006/main">
              <a:ext uri="{FF2B5EF4-FFF2-40B4-BE49-F238E27FC236}">
                <a16:creationId xmlns:a16="http://schemas.microsoft.com/office/drawing/2014/main" id="{1497632B-334D-47FA-9EE5-B564E1A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22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In virtual_human_course, open:</a:t>
            </a:r>
          </a:p>
          <a:p xmlns:a="http://schemas.openxmlformats.org/drawingml/2006/main">
            <a:pPr>
              <a:defRPr sz="1575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75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Module_0/Chapter_01/Code/00_first_call.ipynb</a:t>
            </a:r>
          </a:p>
        </p:txBody>
      </p:sp>
      <p:sp>
        <p:nvSpPr>
          <p:cNvPr id="6" name="m0-text-198">
            <a:extLst xmlns:a="http://schemas.openxmlformats.org/drawingml/2006/main">
              <a:ext uri="{FF2B5EF4-FFF2-40B4-BE49-F238E27FC236}">
                <a16:creationId xmlns:a16="http://schemas.microsoft.com/office/drawing/2014/main" id="{823579B4-6EFE-4F1D-A4AB-24858EDA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Select Kernel: virtual_human_project/.venv-vh-course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25250d0c640ce"/>
          <a:stretch xmlns:a="http://schemas.openxmlformats.org/drawingml/2006/main"/>
        </p:blipFill>
        <p:spPr>
          <a:xfrm xmlns:a="http://schemas.openxmlformats.org/drawingml/2006/main">
            <a:off x="459033" y="2533650"/>
            <a:ext cx="8225935" cy="2266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5383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m0-text-199">
            <a:extLst xmlns:a="http://schemas.openxmlformats.org/drawingml/2006/main">
              <a:ext uri="{FF2B5EF4-FFF2-40B4-BE49-F238E27FC236}">
                <a16:creationId xmlns:a16="http://schemas.microsoft.com/office/drawing/2014/main" id="{1DCEAD02-11B6-4EAB-8248-C67E6E32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200">
            <a:extLst xmlns:a="http://schemas.openxmlformats.org/drawingml/2006/main">
              <a:ext uri="{FF2B5EF4-FFF2-40B4-BE49-F238E27FC236}">
                <a16:creationId xmlns:a16="http://schemas.microsoft.com/office/drawing/2014/main" id="{DFA18303-8C9D-426A-9E43-B352BF56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201">
            <a:extLst xmlns:a="http://schemas.openxmlformats.org/drawingml/2006/main">
              <a:ext uri="{FF2B5EF4-FFF2-40B4-BE49-F238E27FC236}">
                <a16:creationId xmlns:a16="http://schemas.microsoft.com/office/drawing/2014/main" id="{9E2B5973-DDA3-4A04-B64D-22080862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m0-text-202">
            <a:extLst xmlns:a="http://schemas.openxmlformats.org/drawingml/2006/main">
              <a:ext uri="{FF2B5EF4-FFF2-40B4-BE49-F238E27FC236}">
                <a16:creationId xmlns:a16="http://schemas.microsoft.com/office/drawing/2014/main" id="{23FAEE02-A75D-4FE6-99DC-C7CABE65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6. Add Your Provider Key</a:t>
            </a:r>
          </a:p>
        </p:txBody>
      </p:sp>
      <p:sp>
        <p:nvSpPr>
          <p:cNvPr id="5" name="m0-text-203">
            <a:extLst xmlns:a="http://schemas.openxmlformats.org/drawingml/2006/main">
              <a:ext uri="{FF2B5EF4-FFF2-40B4-BE49-F238E27FC236}">
                <a16:creationId xmlns:a16="http://schemas.microsoft.com/office/drawing/2014/main" id="{CD39C012-3C1D-4383-8D4C-108897B1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8d3a401fd11446b"/>
              </a:rPr>
              <a:t>Create an Ollama API key</a:t>
            </a:r>
          </a:p>
        </p:txBody>
      </p:sp>
      <p:sp>
        <p:nvSpPr>
          <p:cNvPr id="6" name="m0-text-204">
            <a:extLst xmlns:a="http://schemas.openxmlformats.org/drawingml/2006/main">
              <a:ext uri="{FF2B5EF4-FFF2-40B4-BE49-F238E27FC236}">
                <a16:creationId xmlns:a16="http://schemas.microsoft.com/office/drawing/2014/main" id="{B7239F71-DA3F-4C7A-89AD-71A1E01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Duplicate llm_provider_api_key.example.yaml.</a:t>
            </a:r>
          </a:p>
          <a:p xmlns:a="http://schemas.openxmlformats.org/drawingml/2006/main">
            <a:pPr>
              <a:defRPr sz="1725">
                <a:solidFill>
                  <a:srgbClr val="ECE6D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ECE6DE"/>
                </a:solidFill>
                <a:latin typeface="Calibri"/>
                <a:ea typeface="Calibri"/>
                <a:cs typeface="Calibri"/>
              </a:rPr>
              <a:t>Name the copy llm_provider_api_key.yaml and enter your key.</a:t>
            </a:r>
          </a:p>
        </p:txBody>
      </p:sp>
      <p:sp>
        <p:nvSpPr>
          <p:cNvPr id="7" name="m0-text-205">
            <a:extLst xmlns:a="http://schemas.openxmlformats.org/drawingml/2006/main">
              <a:ext uri="{FF2B5EF4-FFF2-40B4-BE49-F238E27FC236}">
                <a16:creationId xmlns:a16="http://schemas.microsoft.com/office/drawing/2014/main" id="{260AF101-6C89-494F-95F1-A6F2266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For course notebooks</a:t>
            </a:r>
          </a:p>
        </p:txBody>
      </p:sp>
      <p:sp>
        <p:nvSpPr>
          <p:cNvPr id="8" name="m0-text-206">
            <a:extLst xmlns:a="http://schemas.openxmlformats.org/drawingml/2006/main">
              <a:ext uri="{FF2B5EF4-FFF2-40B4-BE49-F238E27FC236}">
                <a16:creationId xmlns:a16="http://schemas.microsoft.com/office/drawing/2014/main" id="{4FCDBD19-C7D4-448E-82D9-B336BA0A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virtual_human_course/</a:t>
            </a:r>
          </a:p>
        </p:txBody>
      </p:sp>
      <p:sp>
        <p:nvSpPr>
          <p:cNvPr id="9" name="m0-text-207">
            <a:extLst xmlns:a="http://schemas.openxmlformats.org/drawingml/2006/main">
              <a:ext uri="{FF2B5EF4-FFF2-40B4-BE49-F238E27FC236}">
                <a16:creationId xmlns:a16="http://schemas.microsoft.com/office/drawing/2014/main" id="{52BF181B-C9BC-4014-966C-B8FF7397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3370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9A06B"/>
                </a:solidFill>
                <a:latin typeface="Georgia"/>
                <a:ea typeface="Georgia"/>
                <a:cs typeface="Georgia"/>
              </a:defRPr>
            </a:pPr>
            <a:r>
              <a:rPr sz="1875">
                <a:solidFill>
                  <a:srgbClr val="D9A06B"/>
                </a:solidFill>
                <a:latin typeface="Georgia"/>
                <a:ea typeface="Georgia"/>
                <a:cs typeface="Georgia"/>
              </a:rPr>
              <a:t>For the project agent</a:t>
            </a:r>
          </a:p>
        </p:txBody>
      </p:sp>
      <p:sp>
        <p:nvSpPr>
          <p:cNvPr id="10" name="m0-text-208">
            <a:extLst xmlns:a="http://schemas.openxmlformats.org/drawingml/2006/main">
              <a:ext uri="{FF2B5EF4-FFF2-40B4-BE49-F238E27FC236}">
                <a16:creationId xmlns:a16="http://schemas.microsoft.com/office/drawing/2014/main" id="{AA4C2830-8A1D-46E3-9CCB-1B78B7F6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3886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virtual_human_project/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vh_cognitive_architecture_server/</a:t>
            </a:r>
          </a:p>
        </p:txBody>
      </p:sp>
      <p:sp>
        <p:nvSpPr>
          <p:cNvPr id="11" name="m0-text-209">
            <a:extLst xmlns:a="http://schemas.openxmlformats.org/drawingml/2006/main">
              <a:ext uri="{FF2B5EF4-FFF2-40B4-BE49-F238E27FC236}">
                <a16:creationId xmlns:a16="http://schemas.microsoft.com/office/drawing/2014/main" id="{F31BEE9F-2357-4AA7-8D37-857877B3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Repeat in both folders when using LLMs in both. Keep key files private.</a:t>
            </a:r>
          </a:p>
        </p:txBody>
      </p:sp>
    </p:spTree>
    <p:extLst>
      <p:ext uri="{BB962C8B-B14F-4D97-AF65-F5344CB8AC3E}">
        <p14:creationId xmlns:p14="http://schemas.microsoft.com/office/powerpoint/2010/main" val="5086078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0-text-210">
            <a:extLst xmlns:a="http://schemas.openxmlformats.org/drawingml/2006/main">
              <a:ext uri="{FF2B5EF4-FFF2-40B4-BE49-F238E27FC236}">
                <a16:creationId xmlns:a16="http://schemas.microsoft.com/office/drawing/2014/main" id="{95FC7D16-E5CC-4359-80D0-058754C8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AI-Powered Virtual Humans: LLM-Powered Cognitive Architectures</a:t>
            </a:r>
          </a:p>
        </p:txBody>
      </p:sp>
      <p:sp>
        <p:nvSpPr>
          <p:cNvPr id="2" name="m0-text-211">
            <a:extLst xmlns:a="http://schemas.openxmlformats.org/drawingml/2006/main">
              <a:ext uri="{FF2B5EF4-FFF2-40B4-BE49-F238E27FC236}">
                <a16:creationId xmlns:a16="http://schemas.microsoft.com/office/drawing/2014/main" id="{23BAA4B9-B3B8-4AD2-B555-0FBB69A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Module 0 · Chapter 01</a:t>
            </a:r>
          </a:p>
        </p:txBody>
      </p:sp>
      <p:sp>
        <p:nvSpPr>
          <p:cNvPr id="3" name="m0-text-212">
            <a:extLst xmlns:a="http://schemas.openxmlformats.org/drawingml/2006/main">
              <a:ext uri="{FF2B5EF4-FFF2-40B4-BE49-F238E27FC236}">
                <a16:creationId xmlns:a16="http://schemas.microsoft.com/office/drawing/2014/main" id="{D1721CEE-D6B7-4537-ABDD-3FD277D9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14900"/>
            <a:ext cx="352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8E97A8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8E97A8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m0-text-213">
            <a:extLst xmlns:a="http://schemas.openxmlformats.org/drawingml/2006/main">
              <a:ext uri="{FF2B5EF4-FFF2-40B4-BE49-F238E27FC236}">
                <a16:creationId xmlns:a16="http://schemas.microsoft.com/office/drawing/2014/main" id="{6406BD69-3EF0-4618-9EA2-E0FA16DB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CE6DE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ECE6DE"/>
                </a:solidFill>
                <a:latin typeface="Georgia"/>
                <a:ea typeface="Georgia"/>
                <a:cs typeface="Georgia"/>
              </a:rPr>
              <a:t>Test with Ollama 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C8BE1-3310-4CBF-A66F-82AA68E2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2771775"/>
          </a:xfrm>
          <a:prstGeom xmlns:a="http://schemas.openxmlformats.org/drawingml/2006/main" prst="roundRect">
            <a:avLst>
              <a:gd name="adj" fmla="val 3436"/>
            </a:avLst>
          </a:prstGeom>
          <a:solidFill xmlns:a="http://schemas.openxmlformats.org/drawingml/2006/main">
            <a:srgbClr val="121A26"/>
          </a:solidFill>
          <a:ln xmlns:a="http://schemas.openxmlformats.org/drawingml/2006/main" w="9525">
            <a:solidFill>
              <a:srgbClr val="3A4458"/>
            </a:solidFill>
          </a:ln>
        </p:spPr>
      </p:sp>
      <p:sp>
        <p:nvSpPr>
          <p:cNvPr id="6" name="m0-text-214">
            <a:extLst xmlns:a="http://schemas.openxmlformats.org/drawingml/2006/main">
              <a:ext uri="{FF2B5EF4-FFF2-40B4-BE49-F238E27FC236}">
                <a16:creationId xmlns:a16="http://schemas.microsoft.com/office/drawing/2014/main" id="{E06D5394-C6CC-4F85-8CE8-7FD9C8F3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478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E97A8"/>
                </a:solidFill>
                <a:latin typeface="Consolas"/>
                <a:ea typeface="Consolas"/>
                <a:cs typeface="Consolas"/>
              </a:defRPr>
            </a:pPr>
            <a:r>
              <a:rPr sz="900">
                <a:solidFill>
                  <a:srgbClr val="8E97A8"/>
                </a:solidFill>
                <a:latin typeface="Consolas"/>
                <a:ea typeface="Consolas"/>
                <a:cs typeface="Consolas"/>
              </a:rPr>
              <a:t>In [1]:</a:t>
            </a:r>
          </a:p>
        </p:txBody>
      </p:sp>
      <p:sp>
        <p:nvSpPr>
          <p:cNvPr id="7" name="m0-text-215">
            <a:extLst xmlns:a="http://schemas.openxmlformats.org/drawingml/2006/main">
              <a:ext uri="{FF2B5EF4-FFF2-40B4-BE49-F238E27FC236}">
                <a16:creationId xmlns:a16="http://schemas.microsoft.com/office/drawing/2014/main" id="{120A6CD6-3C77-43D8-BDD6-C6138531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47825"/>
            <a:ext cx="6972300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ollama </a:t>
            </a:r>
            <a:r>
              <a:rPr sz="1350">
                <a:solidFill>
                  <a:srgbClr val="C792EA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Client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client = Client(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host=</a:t>
            </a:r>
            <a:r>
              <a:rPr sz="1350">
                <a:solidFill>
                  <a:srgbClr val="C3E88D"/>
                </a:solidFill>
                <a:latin typeface="Consolas"/>
                <a:ea typeface="Consolas"/>
                <a:cs typeface="Consolas"/>
              </a:rPr>
              <a:t>"https://ollama.com"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headers={</a:t>
            </a:r>
            <a:r>
              <a:rPr sz="1350">
                <a:solidFill>
                  <a:srgbClr val="C3E88D"/>
                </a:solidFill>
                <a:latin typeface="Consolas"/>
                <a:ea typeface="Consolas"/>
                <a:cs typeface="Consolas"/>
              </a:rPr>
              <a:t>"Authorization"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50">
                <a:solidFill>
                  <a:srgbClr val="C3E88D"/>
                </a:solidFill>
                <a:latin typeface="Consolas"/>
                <a:ea typeface="Consolas"/>
                <a:cs typeface="Consolas"/>
              </a:rPr>
              <a:t>f"Bearer {OLLAMA_API_KEY}"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},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response = client.chat(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model=</a:t>
            </a:r>
            <a:r>
              <a:rPr sz="1350">
                <a:solidFill>
                  <a:srgbClr val="C3E88D"/>
                </a:solidFill>
                <a:latin typeface="Consolas"/>
                <a:ea typeface="Consolas"/>
                <a:cs typeface="Consolas"/>
              </a:rPr>
              <a:t>"YOUR_CLOUD_MODEL"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    messages=[{</a:t>
            </a:r>
            <a:r>
              <a:rPr sz="1350">
                <a:solidFill>
                  <a:srgbClr val="C3E88D"/>
                </a:solidFill>
                <a:latin typeface="Consolas"/>
                <a:ea typeface="Consolas"/>
                <a:cs typeface="Consolas"/>
              </a:rPr>
              <a:t>"role"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50">
                <a:solidFill>
                  <a:srgbClr val="C3E88D"/>
                </a:solidFill>
                <a:latin typeface="Consolas"/>
                <a:ea typeface="Consolas"/>
                <a:cs typeface="Consolas"/>
              </a:rPr>
              <a:t>"user"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350">
                <a:solidFill>
                  <a:srgbClr val="C3E88D"/>
                </a:solidFill>
                <a:latin typeface="Consolas"/>
                <a:ea typeface="Consolas"/>
                <a:cs typeface="Consolas"/>
              </a:rPr>
              <a:t>"content"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350">
                <a:solidFill>
                  <a:srgbClr val="C3E88D"/>
                </a:solidFill>
                <a:latin typeface="Consolas"/>
                <a:ea typeface="Consolas"/>
                <a:cs typeface="Consolas"/>
              </a:rPr>
              <a:t>"Say hello!"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}],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ECE6DE"/>
                </a:solidFill>
                <a:latin typeface="Consolas"/>
                <a:ea typeface="Consolas"/>
                <a:cs typeface="Consolas"/>
              </a:defRPr>
            </a:pPr>
            <a:r>
              <a:rPr sz="1350">
                <a:solidFill>
                  <a:srgbClr val="82AAFF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350">
                <a:solidFill>
                  <a:srgbClr val="ECE6DE"/>
                </a:solidFill>
                <a:latin typeface="Consolas"/>
                <a:ea typeface="Consolas"/>
                <a:cs typeface="Consolas"/>
              </a:rPr>
              <a:t>(response.message.content)</a:t>
            </a:r>
          </a:p>
        </p:txBody>
      </p:sp>
      <p:sp>
        <p:nvSpPr>
          <p:cNvPr id="8" name="m0-text-216">
            <a:extLst xmlns:a="http://schemas.openxmlformats.org/drawingml/2006/main">
              <a:ext uri="{FF2B5EF4-FFF2-40B4-BE49-F238E27FC236}">
                <a16:creationId xmlns:a16="http://schemas.microsoft.com/office/drawing/2014/main" id="{9C3AA8C7-F0AB-413F-A67C-F3E33ECE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A8E3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7FA8E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5da7bc6b6e44395"/>
              </a:rPr>
              <a:t>Hands-on: 00_first_call.ipynb</a:t>
            </a:r>
          </a:p>
        </p:txBody>
      </p:sp>
    </p:spTree>
    <p:extLst>
      <p:ext uri="{BB962C8B-B14F-4D97-AF65-F5344CB8AC3E}">
        <p14:creationId xmlns:p14="http://schemas.microsoft.com/office/powerpoint/2010/main" val="4985611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2026-10-22T23:12:25.2200000Z</dcterms:created>
  <dcterms:modified xsi:type="dcterms:W3CDTF">2026-10-22T23:12:25.2200000Z</dcterms:modified>
</coreProperties>
</file>