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f57418193e46e4" /><Relationship Type="http://schemas.openxmlformats.org/officeDocument/2006/relationships/extended-properties" Target="/docProps/app.xml" Id="R943db2784dad414d" /><Relationship Type="http://schemas.openxmlformats.org/officeDocument/2006/relationships/officeDocument" Target="/ppt/presentation.xml" Id="R5ab9c9a1253f4292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1164a6e9335d4293"/>
  </ns0:sldMasterIdLst>
  <ns0:sldIdLst>
    <ns0:sldId id="256" ns1:id="R716f1b0546e144ee"/>
    <ns0:sldId id="257" ns1:id="Red961d60c0274a74"/>
    <ns0:sldId id="258" ns1:id="R079018d949e64f46"/>
    <ns0:sldId id="259" ns1:id="R2abbbaf877d14db7"/>
    <ns0:sldId id="260" ns1:id="R1c970b48016a45fe"/>
    <ns0:sldId id="261" ns1:id="Ra5806be995e042e8"/>
    <ns0:sldId id="262" ns1:id="R4007f9c079c94d34"/>
    <ns0:sldId id="263" ns1:id="R9bb77f4963fd4954"/>
    <ns0:sldId id="264" ns1:id="R1fca80011ca243c9"/>
    <ns0:sldId id="265" ns1:id="R084db2aed4ea4001"/>
    <ns0:sldId id="266" ns1:id="R846d7babb4a248d1"/>
    <ns0:sldId id="267" ns1:id="Rd1aaee10c4f34333"/>
    <ns0:sldId id="268" ns1:id="R05452746cab54c06"/>
    <ns0:sldId id="269" ns1:id="R97f52dbbfc7c4078"/>
    <ns0:sldId id="270" ns1:id="R2ffafa64e24b41f3"/>
    <ns0:sldId id="271" ns1:id="Rb2ec1a65cb5c4662"/>
    <ns0:sldId id="272" ns1:id="R1cdd8288b54644e6"/>
    <ns0:sldId id="273" ns1:id="Rc667e6e1b26e4f44"/>
    <ns0:sldId id="274" ns1:id="R93fd617aac484834"/>
    <ns0:sldId id="275" ns1:id="Re7f9af04bab64f43"/>
    <ns0:sldId id="276" ns1:id="Rf6e2ffa30b914425"/>
    <ns0:sldId id="277" ns1:id="Rb627a41ee9684c1b"/>
    <ns0:sldId id="278" ns1:id="R3a65ee4be4434e90"/>
    <ns0:sldId id="279" ns1:id="R46fd25266dd04fb3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96ccdbf4ba5e49af" /><ns0:Relationship Type="http://schemas.openxmlformats.org/officeDocument/2006/relationships/slideMaster" Target="/ppt/slideMasters/slideMaster1.xml" Id="R1164a6e9335d4293" /><ns0:Relationship Type="http://schemas.openxmlformats.org/officeDocument/2006/relationships/presProps" Target="/ppt/presProps.xml" Id="R17d9424c7bb84663" /><ns0:Relationship Type="http://schemas.openxmlformats.org/officeDocument/2006/relationships/viewProps" Target="/ppt/viewProps.xml" Id="Re83803d37a234d14" /><ns0:Relationship Type="http://schemas.openxmlformats.org/officeDocument/2006/relationships/tableStyles" Target="/ppt/tableStyles.xml" Id="R86124c1abb0b42cd" /><ns0:Relationship Type="http://schemas.openxmlformats.org/officeDocument/2006/relationships/slide" Target="/ppt/slides/slide1.xml" Id="R716f1b0546e144ee" /><ns0:Relationship Type="http://schemas.openxmlformats.org/officeDocument/2006/relationships/slide" Target="/ppt/slides/slide2.xml" Id="Red961d60c0274a74" /><ns0:Relationship Type="http://schemas.openxmlformats.org/officeDocument/2006/relationships/slide" Target="/ppt/slides/slide3.xml" Id="R079018d949e64f46" /><ns0:Relationship Type="http://schemas.openxmlformats.org/officeDocument/2006/relationships/slide" Target="/ppt/slides/slide4.xml" Id="R2abbbaf877d14db7" /><ns0:Relationship Type="http://schemas.openxmlformats.org/officeDocument/2006/relationships/slide" Target="/ppt/slides/slide5.xml" Id="R1c970b48016a45fe" /><ns0:Relationship Type="http://schemas.openxmlformats.org/officeDocument/2006/relationships/slide" Target="/ppt/slides/slide6.xml" Id="Ra5806be995e042e8" /><ns0:Relationship Type="http://schemas.openxmlformats.org/officeDocument/2006/relationships/slide" Target="/ppt/slides/slide7.xml" Id="R4007f9c079c94d34" /><ns0:Relationship Type="http://schemas.openxmlformats.org/officeDocument/2006/relationships/slide" Target="/ppt/slides/slide8.xml" Id="R9bb77f4963fd4954" /><ns0:Relationship Type="http://schemas.openxmlformats.org/officeDocument/2006/relationships/slide" Target="/ppt/slides/slide9.xml" Id="R1fca80011ca243c9" /><ns0:Relationship Type="http://schemas.openxmlformats.org/officeDocument/2006/relationships/slide" Target="/ppt/slides/slide10.xml" Id="R084db2aed4ea4001" /><ns0:Relationship Type="http://schemas.openxmlformats.org/officeDocument/2006/relationships/slide" Target="/ppt/slides/slide11.xml" Id="R846d7babb4a248d1" /><ns0:Relationship Type="http://schemas.openxmlformats.org/officeDocument/2006/relationships/slide" Target="/ppt/slides/slide12.xml" Id="Rd1aaee10c4f34333" /><ns0:Relationship Type="http://schemas.openxmlformats.org/officeDocument/2006/relationships/slide" Target="/ppt/slides/slide13.xml" Id="R05452746cab54c06" /><ns0:Relationship Type="http://schemas.openxmlformats.org/officeDocument/2006/relationships/slide" Target="/ppt/slides/slide14.xml" Id="R97f52dbbfc7c4078" /><ns0:Relationship Type="http://schemas.openxmlformats.org/officeDocument/2006/relationships/slide" Target="/ppt/slides/slide15.xml" Id="R2ffafa64e24b41f3" /><ns0:Relationship Type="http://schemas.openxmlformats.org/officeDocument/2006/relationships/slide" Target="/ppt/slides/slide16.xml" Id="Rb2ec1a65cb5c4662" /><ns0:Relationship Type="http://schemas.openxmlformats.org/officeDocument/2006/relationships/slide" Target="/ppt/slides/slide17.xml" Id="R1cdd8288b54644e6" /><ns0:Relationship Type="http://schemas.openxmlformats.org/officeDocument/2006/relationships/slide" Target="/ppt/slides/slide18.xml" Id="Rc667e6e1b26e4f44" /><ns0:Relationship Type="http://schemas.openxmlformats.org/officeDocument/2006/relationships/slide" Target="/ppt/slides/slide19.xml" Id="R93fd617aac484834" /><ns0:Relationship Type="http://schemas.openxmlformats.org/officeDocument/2006/relationships/slide" Target="/ppt/slides/slide20.xml" Id="Re7f9af04bab64f43" /><ns0:Relationship Type="http://schemas.openxmlformats.org/officeDocument/2006/relationships/slide" Target="/ppt/slides/slide21.xml" Id="Rf6e2ffa30b914425" /><ns0:Relationship Type="http://schemas.openxmlformats.org/officeDocument/2006/relationships/slide" Target="/ppt/slides/slide22.xml" Id="Rb627a41ee9684c1b" /><ns0:Relationship Type="http://schemas.openxmlformats.org/officeDocument/2006/relationships/slide" Target="/ppt/slides/slide23.xml" Id="R3a65ee4be4434e90" /><ns0:Relationship Type="http://schemas.openxmlformats.org/officeDocument/2006/relationships/slide" Target="/ppt/slides/slide24.xml" Id="R46fd25266dd04fb3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a6d5dc9cd64ac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5c2cd0ce3e41ea" /><Relationship Type="http://schemas.openxmlformats.org/officeDocument/2006/relationships/image" Target="/ppt/media/image.jpeg" Id="Ra552baf7f05641b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cfc37f4f4c46b3" /><Relationship Type="http://schemas.openxmlformats.org/officeDocument/2006/relationships/image" Target="/ppt/media/image.png" Id="Rd6e96bd473544ff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1b3201d01f427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6e2ac7f9324c7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80e5bff4d3461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71d4531ba9460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8a60eb6e2d438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52baf7f05641b1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72C0C468-DD8D-42CE-9703-91240042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8206A51-9884-47AF-BBFD-C8274C1DE76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e96bd473544ff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EFE10B1-D29C-431F-814C-6C01505A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371D3E2-ACF0-4A8F-9178-4664A3C63E5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77FBDFF-5F5B-4805-98DE-170850C2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DB60F50-3101-4B86-B2D9-7510C1BC475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0ADDF8E-27E2-4915-BD24-E2386C76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CA03D98-B609-4B7E-9E34-954DC337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FCC43A6-9C77-4DDB-A57D-D1C0AC1B336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152FFF5-D4F4-4F15-8FB3-EBE215F9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6DB674C-9519-4FB7-ADA6-D0A69FF4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77C5B33-808E-45E5-9DCC-9E265EDA0E4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D49F46E-688C-42F5-86B4-52AAB36D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941E6F2-AA6F-40E5-9C87-369769E3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C180B79-D8E9-45E2-B4EB-FF96B24F53A7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D03C26D-C7D4-43CF-BDB2-7DFADDB2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BFA949F-71A3-4F44-BBA9-467D2FF90E6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c70e66109b426c" /><Relationship Type="http://schemas.openxmlformats.org/officeDocument/2006/relationships/slideLayout" Target="/ppt/slideLayouts/slideLayout1.xml" Id="Rd08d5d25f4784886" /><Relationship Type="http://schemas.openxmlformats.org/officeDocument/2006/relationships/slideLayout" Target="/ppt/slideLayouts/slideLayout2.xml" Id="R9322df7587f74817" /><Relationship Type="http://schemas.openxmlformats.org/officeDocument/2006/relationships/slideLayout" Target="/ppt/slideLayouts/slideLayout3.xml" Id="R2edc1c4dc5e94c5d" /><Relationship Type="http://schemas.openxmlformats.org/officeDocument/2006/relationships/slideLayout" Target="/ppt/slideLayouts/slideLayout4.xml" Id="R8545ad7e5d4d4516" /><Relationship Type="http://schemas.openxmlformats.org/officeDocument/2006/relationships/slideLayout" Target="/ppt/slideLayouts/slideLayout5.xml" Id="R5f09397684a74b53" /><Relationship Type="http://schemas.openxmlformats.org/officeDocument/2006/relationships/slideLayout" Target="/ppt/slideLayouts/slideLayout6.xml" Id="R79477112532e446d" /><Relationship Type="http://schemas.openxmlformats.org/officeDocument/2006/relationships/slideLayout" Target="/ppt/slideLayouts/slideLayout7.xml" Id="R92650df651e849bf" /><Relationship Type="http://schemas.openxmlformats.org/officeDocument/2006/relationships/slideLayout" Target="/ppt/slideLayouts/slideLayout8.xml" Id="Rc8446c13942a43ed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C535F80-2A07-4672-A9E6-8A8EC1193FB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8d5d25f4784886"/>
    <p:sldLayoutId xmlns:r="http://schemas.openxmlformats.org/officeDocument/2006/relationships" id="2147483650" r:id="R9322df7587f74817"/>
    <p:sldLayoutId xmlns:r="http://schemas.openxmlformats.org/officeDocument/2006/relationships" id="2147483651" r:id="R2edc1c4dc5e94c5d"/>
    <p:sldLayoutId xmlns:r="http://schemas.openxmlformats.org/officeDocument/2006/relationships" id="2147483652" r:id="R8545ad7e5d4d4516"/>
    <p:sldLayoutId xmlns:r="http://schemas.openxmlformats.org/officeDocument/2006/relationships" id="2147483653" r:id="R5f09397684a74b53"/>
    <p:sldLayoutId xmlns:r="http://schemas.openxmlformats.org/officeDocument/2006/relationships" id="2147483654" r:id="R79477112532e446d"/>
    <p:sldLayoutId xmlns:r="http://schemas.openxmlformats.org/officeDocument/2006/relationships" id="2147483655" r:id="R92650df651e849bf"/>
    <p:sldLayoutId xmlns:r="http://schemas.openxmlformats.org/officeDocument/2006/relationships" id="2147483656" r:id="Rc8446c13942a43ed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8cf5b85dbab946c2" /><ns0:Relationship Type="http://schemas.openxmlformats.org/officeDocument/2006/relationships/image" Target="/ppt/media/image2.png" Id="R8632afef78474474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77c8922b47fa42fa" /><ns0:Relationship Type="http://schemas.openxmlformats.org/officeDocument/2006/relationships/image" Target="/ppt/media/image3.png" Id="R069a485948924f1b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029182d425db4ca2" /><ns0:Relationship Type="http://schemas.openxmlformats.org/officeDocument/2006/relationships/hyperlink" Target="https://github.com/alessandropec/virtual-humans-cognitive-architectures" TargetMode="External" Id="R900dab3136d04ee6" /><ns0:Relationship Type="http://schemas.openxmlformats.org/officeDocument/2006/relationships/hyperlink" Target="https://github.com/alessandropec/virtual-humans-cognitive-architectures" TargetMode="External" Id="Rfb2273e8b22d41db" /><ns0:Relationship Type="http://schemas.openxmlformats.org/officeDocument/2006/relationships/image" Target="/ppt/media/image4.png" Id="R9c4270b7c7634388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c375b8ced4484915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c0beea7bd5984d24" /><ns0:Relationship Type="http://schemas.openxmlformats.org/officeDocument/2006/relationships/hyperlink" Target="https://github.com/stevieTheTurtle/AI_powered_VH_2026-Part_1" TargetMode="External" Id="Rddb7391d053b4848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16861eedc15141d2" /><ns0:Relationship Type="http://schemas.openxmlformats.org/officeDocument/2006/relationships/image" Target="/ppt/media/image5.png" Id="Rce371031773749a8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301d73693fcc4a48" /><ns0:Relationship Type="http://schemas.openxmlformats.org/officeDocument/2006/relationships/hyperlink" Target="https://aistudio.google.com/" TargetMode="External" Id="R588fd7cd88614b57" /><ns0:Relationship Type="http://schemas.openxmlformats.org/officeDocument/2006/relationships/hyperlink" Target="https://console.groq.com/" TargetMode="External" Id="Rae1e7f6ccc594011" /><ns0:Relationship Type="http://schemas.openxmlformats.org/officeDocument/2006/relationships/hyperlink" Target="https://openrouter.ai/" TargetMode="External" Id="Rcc82a31c727e48f6" /><ns0:Relationship Type="http://schemas.openxmlformats.org/officeDocument/2006/relationships/hyperlink" Target="https://ollama.com/" TargetMode="External" Id="Rca3dc3eae94f4ca9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04af76d40ec748c2" /><ns0:Relationship Type="http://schemas.openxmlformats.org/officeDocument/2006/relationships/hyperlink" Target="https://ollama.com/download" TargetMode="External" Id="Rc5a0e38c27d349af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eaa4250c2fe743ae" /><ns0:Relationship Type="http://schemas.openxmlformats.org/officeDocument/2006/relationships/hyperlink" Target="https://code.visualstudio.com/download" TargetMode="External" Id="R237ad6cde4c245e4" /><ns0:Relationship Type="http://schemas.openxmlformats.org/officeDocument/2006/relationships/hyperlink" Target="https://www.python.org/downloads/" TargetMode="External" Id="R8b5472c24d184416" /><ns0:Relationship Type="http://schemas.openxmlformats.org/officeDocument/2006/relationships/hyperlink" Target="https://code.visualstudio.com/docs/datascience/jupyter-notebooks" TargetMode="External" Id="R0085852d5ce64cd9" /><ns0:Relationship Type="http://schemas.openxmlformats.org/officeDocument/2006/relationships/hyperlink" Target="https://github.com/alessandropec/virtual-humans-cognitive-architectures/blob/main/virtual_human_course/requirements.txt" TargetMode="External" Id="Ref909d6c6cac406f" /><ns0:Relationship Type="http://schemas.openxmlformats.org/officeDocument/2006/relationships/hyperlink" Target="https://docs.langchain.com/oss/python/langchain/overview" TargetMode="External" Id="Rbde9cac4a2cc46bb" /><ns0:Relationship Type="http://schemas.openxmlformats.org/officeDocument/2006/relationships/hyperlink" Target="https://docs.langchain.com/oss/python/langgraph/overview" TargetMode="External" Id="Rfba77ba5cdd74a62" /><ns0:Relationship Type="http://schemas.openxmlformats.org/officeDocument/2006/relationships/hyperlink" Target="https://docs.pydantic.dev/latest/" TargetMode="External" Id="Rb89180c48ae641cd" /><ns0:Relationship Type="http://schemas.openxmlformats.org/officeDocument/2006/relationships/hyperlink" Target="https://fastapi.tiangolo.com/" TargetMode="External" Id="Ra38bc0d894a14717" /><ns0:Relationship Type="http://schemas.openxmlformats.org/officeDocument/2006/relationships/hyperlink" Target="https://ollama.com/download" TargetMode="External" Id="Rf0a734507dab47cd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39b84334b9ff4b91" /><ns0:Relationship Type="http://schemas.openxmlformats.org/officeDocument/2006/relationships/hyperlink" Target="https://github.com/alessandropec/virtual-humans-cognitive-architectures" TargetMode="External" Id="R677e5670e50c4810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17ae79e0462140ff" /><ns0:Relationship Type="http://schemas.openxmlformats.org/officeDocument/2006/relationships/hyperlink" Target="https://marketplace.visualstudio.com/items?itemName=ms-python.python" TargetMode="External" Id="Ra614adaa35cb4b72" /><ns0:Relationship Type="http://schemas.openxmlformats.org/officeDocument/2006/relationships/hyperlink" Target="https://marketplace.visualstudio.com/items?itemName=ms-toolsai.jupyter" TargetMode="External" Id="R8e1554b80be9422d" /><ns0:Relationship Type="http://schemas.openxmlformats.org/officeDocument/2006/relationships/hyperlink" Target="https://code.visualstudio.com/download" TargetMode="External" Id="R3d069934f7194bd5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1bf85a695e004ee9" /><ns0:Relationship Type="http://schemas.openxmlformats.org/officeDocument/2006/relationships/hyperlink" Target="https://github.com/alessandropec/virtual-humans-cognitive-architectures/blob/main/virtual_human_project/vh_embodiment_server/README.md" TargetMode="External" Id="Rc993b321bc32447d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6f593dd5aef1433b" /><ns0:Relationship Type="http://schemas.openxmlformats.org/officeDocument/2006/relationships/image" Target="/ppt/media/image6.png" Id="R200c7f6355cc471f" /><ns0:Relationship Type="http://schemas.openxmlformats.org/officeDocument/2006/relationships/hyperlink" Target="https://github.com/alessandropec/virtual-humans-cognitive-architectures/blob/main/virtual_human_project/vh_cognitive_architecture_server/README.md" TargetMode="External" Id="R997ac7fa307b4481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4eee14743a034a82" /><ns0:Relationship Type="http://schemas.openxmlformats.org/officeDocument/2006/relationships/image" Target="/ppt/media/image7.png" Id="R61bce01bfc1b4f64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f228f4f1467b456d" /><ns0:Relationship Type="http://schemas.openxmlformats.org/officeDocument/2006/relationships/hyperlink" Target="https://ollama.com/settings/keys" TargetMode="External" Id="Rbfcc9ec73ed4429d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2290d08c4ae24646" /><ns0:Relationship Type="http://schemas.openxmlformats.org/officeDocument/2006/relationships/hyperlink" Target="https://github.com/alessandropec/virtual-humans-cognitive-architectures/blob/main/virtual_human_course/Module_0/Chapter_01/Code/00_first_call.ipynb" TargetMode="External" Id="Rc8baec727bea45d5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3f1a17c31f8a424f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c6f06c7e4d404542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f67212210c58403a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5862ec1ec6e44138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eebe5f8583cd48af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7827f32436264162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66902e30783b4998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37d53c38a66e4e58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77E6334-6C6E-4D47-965F-8C855C92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Alessandro Emmanuel Pecora · 29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BF05B19-50B2-483E-92A4-9DBD95C6E25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2afef7847447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7B231A4A-A840-46C7-A86F-7B8BEA1F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90925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Module 0 — Course Introduction and Setup</a:t>
            </a:r>
          </a:p>
        </p:txBody>
      </p:sp>
    </p:spTree>
    <p:extLst>
      <p:ext uri="{BB962C8B-B14F-4D97-AF65-F5344CB8AC3E}">
        <p14:creationId xmlns:p14="http://schemas.microsoft.com/office/powerpoint/2010/main" val="195561243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m0-text-2">
            <a:extLst xmlns:a="http://schemas.openxmlformats.org/drawingml/2006/main">
              <a:ext uri="{FF2B5EF4-FFF2-40B4-BE49-F238E27FC236}">
                <a16:creationId xmlns:a16="http://schemas.microsoft.com/office/drawing/2014/main" id="{D0870AB2-99A9-451C-A631-2FEB444B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9a485948924f1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m0-text-3">
            <a:extLst xmlns:a="http://schemas.openxmlformats.org/drawingml/2006/main">
              <a:ext uri="{FF2B5EF4-FFF2-40B4-BE49-F238E27FC236}">
                <a16:creationId xmlns:a16="http://schemas.microsoft.com/office/drawing/2014/main" id="{A31DE9AE-1D44-43E1-AFC0-448B9623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9775"/>
            <a:ext cx="5429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</a:t>
            </a:r>
          </a:p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Introduction</a:t>
            </a:r>
          </a:p>
        </p:txBody>
      </p:sp>
      <p:sp>
        <p:nvSpPr>
          <p:cNvPr id="4" name="m0-text-4">
            <a:extLst xmlns:a="http://schemas.openxmlformats.org/drawingml/2006/main">
              <a:ext uri="{FF2B5EF4-FFF2-40B4-BE49-F238E27FC236}">
                <a16:creationId xmlns:a16="http://schemas.microsoft.com/office/drawing/2014/main" id="{1DEDB3EA-20E2-4C44-8928-D39E40CE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362890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m0-text-5">
            <a:extLst xmlns:a="http://schemas.openxmlformats.org/drawingml/2006/main">
              <a:ext uri="{FF2B5EF4-FFF2-40B4-BE49-F238E27FC236}">
                <a16:creationId xmlns:a16="http://schemas.microsoft.com/office/drawing/2014/main" id="{808E7D0E-31A4-4440-A079-8B0B0CEE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6">
            <a:extLst xmlns:a="http://schemas.openxmlformats.org/drawingml/2006/main">
              <a:ext uri="{FF2B5EF4-FFF2-40B4-BE49-F238E27FC236}">
                <a16:creationId xmlns:a16="http://schemas.microsoft.com/office/drawing/2014/main" id="{FAC8942A-B921-4D09-A319-584C6E42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7">
            <a:extLst xmlns:a="http://schemas.openxmlformats.org/drawingml/2006/main">
              <a:ext uri="{FF2B5EF4-FFF2-40B4-BE49-F238E27FC236}">
                <a16:creationId xmlns:a16="http://schemas.microsoft.com/office/drawing/2014/main" id="{EA62B745-1E86-4789-94DB-8B78184D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" name="m0-text-8">
            <a:extLst xmlns:a="http://schemas.openxmlformats.org/drawingml/2006/main">
              <a:ext uri="{FF2B5EF4-FFF2-40B4-BE49-F238E27FC236}">
                <a16:creationId xmlns:a16="http://schemas.microsoft.com/office/drawing/2014/main" id="{87443E78-F11A-4B97-A1E0-0FB1D638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 Materials</a:t>
            </a:r>
          </a:p>
        </p:txBody>
      </p:sp>
      <p:sp>
        <p:nvSpPr>
          <p:cNvPr id="5" name="m0-text-9">
            <a:extLst xmlns:a="http://schemas.openxmlformats.org/drawingml/2006/main">
              <a:ext uri="{FF2B5EF4-FFF2-40B4-BE49-F238E27FC236}">
                <a16:creationId xmlns:a16="http://schemas.microsoft.com/office/drawing/2014/main" id="{583145EB-EDC9-4CF2-AFFA-E815DED6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1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Everything you need is on GitHub.</a:t>
            </a:r>
          </a:p>
        </p:txBody>
      </p:sp>
      <p:sp>
        <p:nvSpPr>
          <p:cNvPr id="6" name="m0-text-10">
            <a:extLst xmlns:a="http://schemas.openxmlformats.org/drawingml/2006/main">
              <a:ext uri="{FF2B5EF4-FFF2-40B4-BE49-F238E27FC236}">
                <a16:creationId xmlns:a16="http://schemas.microsoft.com/office/drawing/2014/main" id="{1903F3AF-4A64-4AAE-A07B-1A07CB37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54292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Slides in PowerPoint and PDF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Notebooks and setup instructions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Browser avatar and Python agent</a:t>
            </a:r>
          </a:p>
        </p:txBody>
      </p:sp>
      <p:sp>
        <p:nvSpPr>
          <p:cNvPr id="7" name="m0-text-11">
            <a:extLst xmlns:a="http://schemas.openxmlformats.org/drawingml/2006/main">
              <a:ext uri="{FF2B5EF4-FFF2-40B4-BE49-F238E27FC236}">
                <a16:creationId xmlns:a16="http://schemas.microsoft.com/office/drawing/2014/main" id="{F6D4FEF4-34FD-41AD-8D33-BA70561C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24275"/>
            <a:ext cx="571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00dab3136d04ee6"/>
              </a:rPr>
              <a:t>github.com/alessandropec/</a:t>
            </a:r>
          </a:p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b2273e8b22d41db"/>
              </a:rPr>
              <a:t>virtual-humans-cognitive-architectures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4270b7c7634388"/>
          <a:stretch xmlns:a="http://schemas.openxmlformats.org/drawingml/2006/main"/>
        </p:blipFill>
        <p:spPr>
          <a:xfrm xmlns:a="http://schemas.openxmlformats.org/drawingml/2006/main">
            <a:off x="6534150" y="1847850"/>
            <a:ext cx="2076450" cy="2076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9246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m0-text-12">
            <a:extLst xmlns:a="http://schemas.openxmlformats.org/drawingml/2006/main">
              <a:ext uri="{FF2B5EF4-FFF2-40B4-BE49-F238E27FC236}">
                <a16:creationId xmlns:a16="http://schemas.microsoft.com/office/drawing/2014/main" id="{72FFE585-57B2-42D5-87D5-FC4FAC49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3">
            <a:extLst xmlns:a="http://schemas.openxmlformats.org/drawingml/2006/main">
              <a:ext uri="{FF2B5EF4-FFF2-40B4-BE49-F238E27FC236}">
                <a16:creationId xmlns:a16="http://schemas.microsoft.com/office/drawing/2014/main" id="{FFADCC66-BFFC-418F-8F08-2C84D4A4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4">
            <a:extLst xmlns:a="http://schemas.openxmlformats.org/drawingml/2006/main">
              <a:ext uri="{FF2B5EF4-FFF2-40B4-BE49-F238E27FC236}">
                <a16:creationId xmlns:a16="http://schemas.microsoft.com/office/drawing/2014/main" id="{A65B4C70-45F6-4BED-A9C9-C03E6F81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4" name="m0-text-15">
            <a:extLst xmlns:a="http://schemas.openxmlformats.org/drawingml/2006/main">
              <a:ext uri="{FF2B5EF4-FFF2-40B4-BE49-F238E27FC236}">
                <a16:creationId xmlns:a16="http://schemas.microsoft.com/office/drawing/2014/main" id="{7029DEFA-95CB-4E33-9F37-BDB269AC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 Programme</a:t>
            </a:r>
          </a:p>
        </p:txBody>
      </p:sp>
      <p:sp>
        <p:nvSpPr>
          <p:cNvPr id="5" name="m0-text-16">
            <a:extLst xmlns:a="http://schemas.openxmlformats.org/drawingml/2006/main">
              <a:ext uri="{FF2B5EF4-FFF2-40B4-BE49-F238E27FC236}">
                <a16:creationId xmlns:a16="http://schemas.microsoft.com/office/drawing/2014/main" id="{8BE57BD3-5C5E-44A2-89D5-6C58E3DC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0</a:t>
            </a:r>
          </a:p>
        </p:txBody>
      </p:sp>
      <p:sp>
        <p:nvSpPr>
          <p:cNvPr id="6" name="m0-text-17">
            <a:extLst xmlns:a="http://schemas.openxmlformats.org/drawingml/2006/main">
              <a:ext uri="{FF2B5EF4-FFF2-40B4-BE49-F238E27FC236}">
                <a16:creationId xmlns:a16="http://schemas.microsoft.com/office/drawing/2014/main" id="{E35CFA29-C982-4E93-95F8-3476E109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135255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Course Introduction and Setup</a:t>
            </a:r>
          </a:p>
        </p:txBody>
      </p:sp>
      <p:sp>
        <p:nvSpPr>
          <p:cNvPr id="7" name="m0-text-18">
            <a:extLst xmlns:a="http://schemas.openxmlformats.org/drawingml/2006/main">
              <a:ext uri="{FF2B5EF4-FFF2-40B4-BE49-F238E27FC236}">
                <a16:creationId xmlns:a16="http://schemas.microsoft.com/office/drawing/2014/main" id="{97DE8E66-020B-4067-86BB-27BA5AA1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21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1</a:t>
            </a:r>
          </a:p>
        </p:txBody>
      </p:sp>
      <p:sp>
        <p:nvSpPr>
          <p:cNvPr id="8" name="m0-text-19">
            <a:extLst xmlns:a="http://schemas.openxmlformats.org/drawingml/2006/main">
              <a:ext uri="{FF2B5EF4-FFF2-40B4-BE49-F238E27FC236}">
                <a16:creationId xmlns:a16="http://schemas.microsoft.com/office/drawing/2014/main" id="{A41675B7-FC4F-42AC-93EC-49490989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196215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Cognitive Architectures and Large Language Models</a:t>
            </a:r>
          </a:p>
        </p:txBody>
      </p:sp>
      <p:sp>
        <p:nvSpPr>
          <p:cNvPr id="9" name="m0-text-20">
            <a:extLst xmlns:a="http://schemas.openxmlformats.org/drawingml/2006/main">
              <a:ext uri="{FF2B5EF4-FFF2-40B4-BE49-F238E27FC236}">
                <a16:creationId xmlns:a16="http://schemas.microsoft.com/office/drawing/2014/main" id="{8D74CF3D-2ABA-4DD9-BDED-4FA27B1C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343150"/>
            <a:ext cx="6715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Psychological Foundations of Cognitive Architectures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LLMs, Working Memory and Prompting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Introduction to LangChain</a:t>
            </a:r>
          </a:p>
        </p:txBody>
      </p:sp>
      <p:sp>
        <p:nvSpPr>
          <p:cNvPr id="10" name="m0-text-21">
            <a:extLst xmlns:a="http://schemas.openxmlformats.org/drawingml/2006/main">
              <a:ext uri="{FF2B5EF4-FFF2-40B4-BE49-F238E27FC236}">
                <a16:creationId xmlns:a16="http://schemas.microsoft.com/office/drawing/2014/main" id="{DF55A860-3FDB-4DAB-ADC0-7A208C39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2</a:t>
            </a:r>
          </a:p>
        </p:txBody>
      </p:sp>
      <p:sp>
        <p:nvSpPr>
          <p:cNvPr id="11" name="m0-text-22">
            <a:extLst xmlns:a="http://schemas.openxmlformats.org/drawingml/2006/main">
              <a:ext uri="{FF2B5EF4-FFF2-40B4-BE49-F238E27FC236}">
                <a16:creationId xmlns:a16="http://schemas.microsoft.com/office/drawing/2014/main" id="{CA6C6216-1F2E-4C0E-9260-0D5A07D7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323850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From Large Language Models to Virtual Humans</a:t>
            </a:r>
          </a:p>
        </p:txBody>
      </p:sp>
      <p:sp>
        <p:nvSpPr>
          <p:cNvPr id="12" name="m0-text-23">
            <a:extLst xmlns:a="http://schemas.openxmlformats.org/drawingml/2006/main">
              <a:ext uri="{FF2B5EF4-FFF2-40B4-BE49-F238E27FC236}">
                <a16:creationId xmlns:a16="http://schemas.microsoft.com/office/drawing/2014/main" id="{03A9FC86-8D22-4BA1-9F0C-56DE74F3B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3619500"/>
            <a:ext cx="6715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Agentic Frameworks and LangGraph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Building Stateful Agents with Memory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Integration with the Virtual Human</a:t>
            </a:r>
          </a:p>
        </p:txBody>
      </p:sp>
      <p:sp>
        <p:nvSpPr>
          <p:cNvPr id="13" name="m0-text-24">
            <a:extLst xmlns:a="http://schemas.openxmlformats.org/drawingml/2006/main">
              <a:ext uri="{FF2B5EF4-FFF2-40B4-BE49-F238E27FC236}">
                <a16:creationId xmlns:a16="http://schemas.microsoft.com/office/drawing/2014/main" id="{9198E516-130A-4E54-88A9-413D0539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Webinar</a:t>
            </a:r>
          </a:p>
        </p:txBody>
      </p:sp>
      <p:sp>
        <p:nvSpPr>
          <p:cNvPr id="14" name="m0-text-25">
            <a:extLst xmlns:a="http://schemas.openxmlformats.org/drawingml/2006/main">
              <a:ext uri="{FF2B5EF4-FFF2-40B4-BE49-F238E27FC236}">
                <a16:creationId xmlns:a16="http://schemas.microsoft.com/office/drawing/2014/main" id="{E3090959-348D-40FE-B376-2DBD8053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445770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Further Practice</a:t>
            </a:r>
          </a:p>
        </p:txBody>
      </p:sp>
    </p:spTree>
    <p:extLst>
      <p:ext uri="{BB962C8B-B14F-4D97-AF65-F5344CB8AC3E}">
        <p14:creationId xmlns:p14="http://schemas.microsoft.com/office/powerpoint/2010/main" val="1722634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26">
            <a:extLst xmlns:a="http://schemas.openxmlformats.org/drawingml/2006/main">
              <a:ext uri="{FF2B5EF4-FFF2-40B4-BE49-F238E27FC236}">
                <a16:creationId xmlns:a16="http://schemas.microsoft.com/office/drawing/2014/main" id="{B45FB5EC-37C2-47FD-91A9-DA2A2403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7">
            <a:extLst xmlns:a="http://schemas.openxmlformats.org/drawingml/2006/main">
              <a:ext uri="{FF2B5EF4-FFF2-40B4-BE49-F238E27FC236}">
                <a16:creationId xmlns:a16="http://schemas.microsoft.com/office/drawing/2014/main" id="{F2025961-E682-4087-866B-03B8AD36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8">
            <a:extLst xmlns:a="http://schemas.openxmlformats.org/drawingml/2006/main">
              <a:ext uri="{FF2B5EF4-FFF2-40B4-BE49-F238E27FC236}">
                <a16:creationId xmlns:a16="http://schemas.microsoft.com/office/drawing/2014/main" id="{CE7BE775-D13F-4952-8055-4A0CEDEF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4" name="m0-text-29">
            <a:extLst xmlns:a="http://schemas.openxmlformats.org/drawingml/2006/main">
              <a:ext uri="{FF2B5EF4-FFF2-40B4-BE49-F238E27FC236}">
                <a16:creationId xmlns:a16="http://schemas.microsoft.com/office/drawing/2014/main" id="{313C72A6-65C4-4441-93FD-EECB122B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Virtual Humans Foundations</a:t>
            </a:r>
          </a:p>
        </p:txBody>
      </p:sp>
      <p:sp>
        <p:nvSpPr>
          <p:cNvPr id="5" name="m0-text-30">
            <a:extLst xmlns:a="http://schemas.openxmlformats.org/drawingml/2006/main">
              <a:ext uri="{FF2B5EF4-FFF2-40B4-BE49-F238E27FC236}">
                <a16:creationId xmlns:a16="http://schemas.microsoft.com/office/drawing/2014/main" id="{55229381-5B87-46BB-AACB-C3CFBA16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822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1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AI-Powered Virtual Humans</a:t>
            </a:r>
          </a:p>
        </p:txBody>
      </p:sp>
      <p:sp>
        <p:nvSpPr>
          <p:cNvPr id="6" name="m0-text-31">
            <a:extLst xmlns:a="http://schemas.openxmlformats.org/drawingml/2006/main">
              <a:ext uri="{FF2B5EF4-FFF2-40B4-BE49-F238E27FC236}">
                <a16:creationId xmlns:a16="http://schemas.microsoft.com/office/drawing/2014/main" id="{91D54182-14B4-492D-ACFE-E3262351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822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 optional course to take before this one.</a:t>
            </a:r>
          </a:p>
        </p:txBody>
      </p:sp>
      <p:sp>
        <p:nvSpPr>
          <p:cNvPr id="7" name="m0-text-32">
            <a:extLst xmlns:a="http://schemas.openxmlformats.org/drawingml/2006/main">
              <a:ext uri="{FF2B5EF4-FFF2-40B4-BE49-F238E27FC236}">
                <a16:creationId xmlns:a16="http://schemas.microsoft.com/office/drawing/2014/main" id="{461AC95D-8459-4079-8A15-51CB0B71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Foundations of virtual humans.</a:t>
            </a:r>
          </a:p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Build an embodiment in Unity with speech,</a:t>
            </a:r>
          </a:p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lip-sync, gestures and emotions.</a:t>
            </a:r>
          </a:p>
        </p:txBody>
      </p:sp>
      <p:sp>
        <p:nvSpPr>
          <p:cNvPr id="8" name="m0-text-33">
            <a:extLst xmlns:a="http://schemas.openxmlformats.org/drawingml/2006/main">
              <a:ext uri="{FF2B5EF4-FFF2-40B4-BE49-F238E27FC236}">
                <a16:creationId xmlns:a16="http://schemas.microsoft.com/office/drawing/2014/main" id="{E831EE0E-8EE1-43E4-BDC1-A461DDA0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0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Recommended background; not required for this course.</a:t>
            </a:r>
          </a:p>
        </p:txBody>
      </p:sp>
      <p:sp>
        <p:nvSpPr>
          <p:cNvPr id="9" name="m0-text-34">
            <a:extLst xmlns:a="http://schemas.openxmlformats.org/drawingml/2006/main">
              <a:ext uri="{FF2B5EF4-FFF2-40B4-BE49-F238E27FC236}">
                <a16:creationId xmlns:a16="http://schemas.microsoft.com/office/drawing/2014/main" id="{73BE929B-E5CA-40BD-B93F-95E11F08C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db7391d053b4848"/>
              </a:rPr>
              <a:t>Course repository</a:t>
            </a:r>
          </a:p>
        </p:txBody>
      </p:sp>
    </p:spTree>
    <p:extLst>
      <p:ext uri="{BB962C8B-B14F-4D97-AF65-F5344CB8AC3E}">
        <p14:creationId xmlns:p14="http://schemas.microsoft.com/office/powerpoint/2010/main" val="210815110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m0-text-35">
            <a:extLst xmlns:a="http://schemas.openxmlformats.org/drawingml/2006/main">
              <a:ext uri="{FF2B5EF4-FFF2-40B4-BE49-F238E27FC236}">
                <a16:creationId xmlns:a16="http://schemas.microsoft.com/office/drawing/2014/main" id="{41BAC486-417E-43AB-BA8F-C6431EA4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371031773749a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m0-text-36">
            <a:extLst xmlns:a="http://schemas.openxmlformats.org/drawingml/2006/main">
              <a:ext uri="{FF2B5EF4-FFF2-40B4-BE49-F238E27FC236}">
                <a16:creationId xmlns:a16="http://schemas.microsoft.com/office/drawing/2014/main" id="{49FF1FAD-F436-4985-BF38-1AFCA18E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9775"/>
            <a:ext cx="5429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Setting Up</a:t>
            </a:r>
          </a:p>
        </p:txBody>
      </p:sp>
      <p:sp>
        <p:nvSpPr>
          <p:cNvPr id="4" name="m0-text-37">
            <a:extLst xmlns:a="http://schemas.openxmlformats.org/drawingml/2006/main">
              <a:ext uri="{FF2B5EF4-FFF2-40B4-BE49-F238E27FC236}">
                <a16:creationId xmlns:a16="http://schemas.microsoft.com/office/drawing/2014/main" id="{BE5A2E58-B713-40A5-9C43-B97CFC07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81080956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0-text-38">
            <a:extLst xmlns:a="http://schemas.openxmlformats.org/drawingml/2006/main">
              <a:ext uri="{FF2B5EF4-FFF2-40B4-BE49-F238E27FC236}">
                <a16:creationId xmlns:a16="http://schemas.microsoft.com/office/drawing/2014/main" id="{3F4FDF8A-B28C-408A-9A7C-A013FE3E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39">
            <a:extLst xmlns:a="http://schemas.openxmlformats.org/drawingml/2006/main">
              <a:ext uri="{FF2B5EF4-FFF2-40B4-BE49-F238E27FC236}">
                <a16:creationId xmlns:a16="http://schemas.microsoft.com/office/drawing/2014/main" id="{BF822CE4-DD13-4817-B635-2939E2EA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40">
            <a:extLst xmlns:a="http://schemas.openxmlformats.org/drawingml/2006/main">
              <a:ext uri="{FF2B5EF4-FFF2-40B4-BE49-F238E27FC236}">
                <a16:creationId xmlns:a16="http://schemas.microsoft.com/office/drawing/2014/main" id="{31C7ECD5-9CFA-42DD-80C7-1A0198FB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4" name="m0-text-41">
            <a:extLst xmlns:a="http://schemas.openxmlformats.org/drawingml/2006/main">
              <a:ext uri="{FF2B5EF4-FFF2-40B4-BE49-F238E27FC236}">
                <a16:creationId xmlns:a16="http://schemas.microsoft.com/office/drawing/2014/main" id="{11F00297-5BED-4D28-9EA4-D992201C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First, We Need the Models</a:t>
            </a:r>
          </a:p>
        </p:txBody>
      </p:sp>
      <p:sp>
        <p:nvSpPr>
          <p:cNvPr id="5" name="m0-text-42">
            <a:extLst xmlns:a="http://schemas.openxmlformats.org/drawingml/2006/main">
              <a:ext uri="{FF2B5EF4-FFF2-40B4-BE49-F238E27FC236}">
                <a16:creationId xmlns:a16="http://schemas.microsoft.com/office/drawing/2014/main" id="{335709AD-BD57-47A2-A570-4FF7E10A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822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Providers host models and make them available through an API.</a:t>
            </a:r>
          </a:p>
        </p:txBody>
      </p:sp>
      <p:sp>
        <p:nvSpPr>
          <p:cNvPr id="6" name="m0-text-43">
            <a:extLst xmlns:a="http://schemas.openxmlformats.org/drawingml/2006/main">
              <a:ext uri="{FF2B5EF4-FFF2-40B4-BE49-F238E27FC236}">
                <a16:creationId xmlns:a16="http://schemas.microsoft.com/office/drawing/2014/main" id="{110F779B-6B2F-4DDE-A4ED-E8352870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Google AI Studio</a:t>
            </a:r>
          </a:p>
        </p:txBody>
      </p:sp>
      <p:sp>
        <p:nvSpPr>
          <p:cNvPr id="7" name="m0-text-44">
            <a:extLst xmlns:a="http://schemas.openxmlformats.org/drawingml/2006/main">
              <a:ext uri="{FF2B5EF4-FFF2-40B4-BE49-F238E27FC236}">
                <a16:creationId xmlns:a16="http://schemas.microsoft.com/office/drawing/2014/main" id="{20450010-1872-466C-84BA-32578B0F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5742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88fd7cd88614b57"/>
              </a:rPr>
              <a:t>aistudio.google.com</a:t>
            </a:r>
          </a:p>
        </p:txBody>
      </p:sp>
      <p:sp>
        <p:nvSpPr>
          <p:cNvPr id="8" name="m0-text-45">
            <a:extLst xmlns:a="http://schemas.openxmlformats.org/drawingml/2006/main">
              <a:ext uri="{FF2B5EF4-FFF2-40B4-BE49-F238E27FC236}">
                <a16:creationId xmlns:a16="http://schemas.microsoft.com/office/drawing/2014/main" id="{55A47F3D-E7B3-48F1-BAFA-F31B437E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765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Groq</a:t>
            </a:r>
          </a:p>
        </p:txBody>
      </p:sp>
      <p:sp>
        <p:nvSpPr>
          <p:cNvPr id="9" name="m0-text-46">
            <a:extLst xmlns:a="http://schemas.openxmlformats.org/drawingml/2006/main">
              <a:ext uri="{FF2B5EF4-FFF2-40B4-BE49-F238E27FC236}">
                <a16:creationId xmlns:a16="http://schemas.microsoft.com/office/drawing/2014/main" id="{D50129A6-FE65-47BC-92D5-11309A38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69557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e1e7f6ccc594011"/>
              </a:rPr>
              <a:t>console.groq.com</a:t>
            </a:r>
          </a:p>
        </p:txBody>
      </p:sp>
      <p:sp>
        <p:nvSpPr>
          <p:cNvPr id="10" name="m0-text-47">
            <a:extLst xmlns:a="http://schemas.openxmlformats.org/drawingml/2006/main">
              <a:ext uri="{FF2B5EF4-FFF2-40B4-BE49-F238E27FC236}">
                <a16:creationId xmlns:a16="http://schemas.microsoft.com/office/drawing/2014/main" id="{F118611D-E0B5-469F-9B55-E3427100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146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OpenRouter</a:t>
            </a:r>
          </a:p>
        </p:txBody>
      </p:sp>
      <p:sp>
        <p:nvSpPr>
          <p:cNvPr id="11" name="m0-text-48">
            <a:extLst xmlns:a="http://schemas.openxmlformats.org/drawingml/2006/main">
              <a:ext uri="{FF2B5EF4-FFF2-40B4-BE49-F238E27FC236}">
                <a16:creationId xmlns:a16="http://schemas.microsoft.com/office/drawing/2014/main" id="{35B1AB29-834B-477D-8B91-9882F876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3372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c82a31c727e48f6"/>
              </a:rPr>
              <a:t>openrouter.ai</a:t>
            </a:r>
          </a:p>
        </p:txBody>
      </p:sp>
      <p:sp>
        <p:nvSpPr>
          <p:cNvPr id="12" name="m0-text-49">
            <a:extLst xmlns:a="http://schemas.openxmlformats.org/drawingml/2006/main">
              <a:ext uri="{FF2B5EF4-FFF2-40B4-BE49-F238E27FC236}">
                <a16:creationId xmlns:a16="http://schemas.microsoft.com/office/drawing/2014/main" id="{CAEE09EB-F078-49CC-AFE9-A4580E40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528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Ollama Cloud</a:t>
            </a:r>
          </a:p>
        </p:txBody>
      </p:sp>
      <p:sp>
        <p:nvSpPr>
          <p:cNvPr id="13" name="m0-text-50">
            <a:extLst xmlns:a="http://schemas.openxmlformats.org/drawingml/2006/main">
              <a:ext uri="{FF2B5EF4-FFF2-40B4-BE49-F238E27FC236}">
                <a16:creationId xmlns:a16="http://schemas.microsoft.com/office/drawing/2014/main" id="{0451010B-1C83-4939-BABA-447335C0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57187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a3dc3eae94f4ca9"/>
              </a:rPr>
              <a:t>ollama.com</a:t>
            </a:r>
          </a:p>
        </p:txBody>
      </p:sp>
      <p:sp>
        <p:nvSpPr>
          <p:cNvPr id="14" name="m0-text-51">
            <a:extLst xmlns:a="http://schemas.openxmlformats.org/drawingml/2006/main">
              <a:ext uri="{FF2B5EF4-FFF2-40B4-BE49-F238E27FC236}">
                <a16:creationId xmlns:a16="http://schemas.microsoft.com/office/drawing/2014/main" id="{274DCFB3-B1E6-4F64-AD78-9FE21BF0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43375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Create an account, generate an API key and save it in the YAML file.</a:t>
            </a:r>
          </a:p>
        </p:txBody>
      </p:sp>
      <p:sp>
        <p:nvSpPr>
          <p:cNvPr id="15" name="m0-text-52">
            <a:extLst xmlns:a="http://schemas.openxmlformats.org/drawingml/2006/main">
              <a:ext uri="{FF2B5EF4-FFF2-40B4-BE49-F238E27FC236}">
                <a16:creationId xmlns:a16="http://schemas.microsoft.com/office/drawing/2014/main" id="{3EA2183D-2FD7-4DDB-95A0-8A14E361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822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Free access has limits: selected models, request quotas and account eligibility.</a:t>
            </a:r>
          </a:p>
        </p:txBody>
      </p:sp>
    </p:spTree>
    <p:extLst>
      <p:ext uri="{BB962C8B-B14F-4D97-AF65-F5344CB8AC3E}">
        <p14:creationId xmlns:p14="http://schemas.microsoft.com/office/powerpoint/2010/main" val="129044498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53">
            <a:extLst xmlns:a="http://schemas.openxmlformats.org/drawingml/2006/main">
              <a:ext uri="{FF2B5EF4-FFF2-40B4-BE49-F238E27FC236}">
                <a16:creationId xmlns:a16="http://schemas.microsoft.com/office/drawing/2014/main" id="{685504A8-DC70-40A8-8E89-8BDA6981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54">
            <a:extLst xmlns:a="http://schemas.openxmlformats.org/drawingml/2006/main">
              <a:ext uri="{FF2B5EF4-FFF2-40B4-BE49-F238E27FC236}">
                <a16:creationId xmlns:a16="http://schemas.microsoft.com/office/drawing/2014/main" id="{BAAA0AC3-5F03-4FF3-8C10-8F4AE3AD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55">
            <a:extLst xmlns:a="http://schemas.openxmlformats.org/drawingml/2006/main">
              <a:ext uri="{FF2B5EF4-FFF2-40B4-BE49-F238E27FC236}">
                <a16:creationId xmlns:a16="http://schemas.microsoft.com/office/drawing/2014/main" id="{55F78D8A-ED81-4E33-B44F-AEB48565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" name="m0-text-56">
            <a:extLst xmlns:a="http://schemas.openxmlformats.org/drawingml/2006/main">
              <a:ext uri="{FF2B5EF4-FFF2-40B4-BE49-F238E27FC236}">
                <a16:creationId xmlns:a16="http://schemas.microsoft.com/office/drawing/2014/main" id="{D44AE1F1-F1B0-48C9-9921-AAEE4EBA4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Cloud and Local Models</a:t>
            </a:r>
          </a:p>
        </p:txBody>
      </p:sp>
      <p:sp>
        <p:nvSpPr>
          <p:cNvPr id="5" name="m0-text-57">
            <a:extLst xmlns:a="http://schemas.openxmlformats.org/drawingml/2006/main">
              <a:ext uri="{FF2B5EF4-FFF2-40B4-BE49-F238E27FC236}">
                <a16:creationId xmlns:a16="http://schemas.microsoft.com/office/drawing/2014/main" id="{C8ED5C1A-095A-4B2E-9D27-535085A4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3790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Cloud</a:t>
            </a:r>
          </a:p>
        </p:txBody>
      </p:sp>
      <p:sp>
        <p:nvSpPr>
          <p:cNvPr id="6" name="m0-text-58">
            <a:extLst xmlns:a="http://schemas.openxmlformats.org/drawingml/2006/main">
              <a:ext uri="{FF2B5EF4-FFF2-40B4-BE49-F238E27FC236}">
                <a16:creationId xmlns:a16="http://schemas.microsoft.com/office/drawing/2014/main" id="{8F56305B-DC3A-42BF-AA38-E410C511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19325"/>
            <a:ext cx="37909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Models run on a provider’s servers.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Access them through an API.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an account and an API key.</a:t>
            </a:r>
          </a:p>
        </p:txBody>
      </p:sp>
      <p:sp>
        <p:nvSpPr>
          <p:cNvPr id="7" name="m0-text-59">
            <a:extLst xmlns:a="http://schemas.openxmlformats.org/drawingml/2006/main">
              <a:ext uri="{FF2B5EF4-FFF2-40B4-BE49-F238E27FC236}">
                <a16:creationId xmlns:a16="http://schemas.microsoft.com/office/drawing/2014/main" id="{A7421C88-204F-4CE7-BA38-B2B8904F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24000"/>
            <a:ext cx="3790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Local</a:t>
            </a:r>
          </a:p>
        </p:txBody>
      </p:sp>
      <p:sp>
        <p:nvSpPr>
          <p:cNvPr id="8" name="m0-text-60">
            <a:extLst xmlns:a="http://schemas.openxmlformats.org/drawingml/2006/main">
              <a:ext uri="{FF2B5EF4-FFF2-40B4-BE49-F238E27FC236}">
                <a16:creationId xmlns:a16="http://schemas.microsoft.com/office/drawing/2014/main" id="{4B5A3566-2C17-4E87-B87C-69036812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9325"/>
            <a:ext cx="37909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Models run on your computer.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5a0e38c27d349af"/>
              </a:rPr>
              <a:t>Ollama</a:t>
            </a: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 is one way to run them;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other tools are available.</a:t>
            </a:r>
          </a:p>
        </p:txBody>
      </p:sp>
      <p:sp>
        <p:nvSpPr>
          <p:cNvPr id="9" name="m0-text-61">
            <a:extLst xmlns:a="http://schemas.openxmlformats.org/drawingml/2006/main">
              <a:ext uri="{FF2B5EF4-FFF2-40B4-BE49-F238E27FC236}">
                <a16:creationId xmlns:a16="http://schemas.microsoft.com/office/drawing/2014/main" id="{FCA74B2B-DA7D-4754-B861-2C208646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9100"/>
            <a:ext cx="8229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In this course, we use cloud models with free tiers.</a:t>
            </a:r>
          </a:p>
        </p:txBody>
      </p:sp>
    </p:spTree>
    <p:extLst>
      <p:ext uri="{BB962C8B-B14F-4D97-AF65-F5344CB8AC3E}">
        <p14:creationId xmlns:p14="http://schemas.microsoft.com/office/powerpoint/2010/main" val="17390880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m0-text-62">
            <a:extLst xmlns:a="http://schemas.openxmlformats.org/drawingml/2006/main">
              <a:ext uri="{FF2B5EF4-FFF2-40B4-BE49-F238E27FC236}">
                <a16:creationId xmlns:a16="http://schemas.microsoft.com/office/drawing/2014/main" id="{515936C3-9768-4966-8E3D-279D13DF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63">
            <a:extLst xmlns:a="http://schemas.openxmlformats.org/drawingml/2006/main">
              <a:ext uri="{FF2B5EF4-FFF2-40B4-BE49-F238E27FC236}">
                <a16:creationId xmlns:a16="http://schemas.microsoft.com/office/drawing/2014/main" id="{68370F11-2D3A-4445-BFF2-2C4E4B36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64">
            <a:extLst xmlns:a="http://schemas.openxmlformats.org/drawingml/2006/main">
              <a:ext uri="{FF2B5EF4-FFF2-40B4-BE49-F238E27FC236}">
                <a16:creationId xmlns:a16="http://schemas.microsoft.com/office/drawing/2014/main" id="{3911EFD1-AA80-4469-B380-E52AC954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4" name="m0-text-65">
            <a:extLst xmlns:a="http://schemas.openxmlformats.org/drawingml/2006/main">
              <a:ext uri="{FF2B5EF4-FFF2-40B4-BE49-F238E27FC236}">
                <a16:creationId xmlns:a16="http://schemas.microsoft.com/office/drawing/2014/main" id="{BF8F7030-FB4A-4AD8-AD59-222141F6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The Technology Stack</a:t>
            </a:r>
          </a:p>
        </p:txBody>
      </p:sp>
      <p:sp>
        <p:nvSpPr>
          <p:cNvPr id="5" name="m0-text-66">
            <a:extLst xmlns:a="http://schemas.openxmlformats.org/drawingml/2006/main">
              <a:ext uri="{FF2B5EF4-FFF2-40B4-BE49-F238E27FC236}">
                <a16:creationId xmlns:a16="http://schemas.microsoft.com/office/drawing/2014/main" id="{9308D838-8588-406C-BA72-8BB3E4D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43025"/>
            <a:ext cx="22288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COMPONENT</a:t>
            </a:r>
          </a:p>
        </p:txBody>
      </p:sp>
      <p:sp>
        <p:nvSpPr>
          <p:cNvPr id="6" name="m0-text-67">
            <a:extLst xmlns:a="http://schemas.openxmlformats.org/drawingml/2006/main">
              <a:ext uri="{FF2B5EF4-FFF2-40B4-BE49-F238E27FC236}">
                <a16:creationId xmlns:a16="http://schemas.microsoft.com/office/drawing/2014/main" id="{D98217F8-0F16-4848-B2D9-CEF63FF4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43025"/>
            <a:ext cx="419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PURPOSE</a:t>
            </a:r>
          </a:p>
        </p:txBody>
      </p:sp>
      <p:sp>
        <p:nvSpPr>
          <p:cNvPr id="7" name="m0-text-68">
            <a:extLst xmlns:a="http://schemas.openxmlformats.org/drawingml/2006/main">
              <a:ext uri="{FF2B5EF4-FFF2-40B4-BE49-F238E27FC236}">
                <a16:creationId xmlns:a16="http://schemas.microsoft.com/office/drawing/2014/main" id="{1043E656-21F4-40D8-A868-97445CD7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43025"/>
            <a:ext cx="1162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RESOURCE</a:t>
            </a:r>
          </a:p>
        </p:txBody>
      </p:sp>
      <p:sp>
        <p:nvSpPr>
          <p:cNvPr id="8" name="m0-text-69">
            <a:extLst xmlns:a="http://schemas.openxmlformats.org/drawingml/2006/main">
              <a:ext uri="{FF2B5EF4-FFF2-40B4-BE49-F238E27FC236}">
                <a16:creationId xmlns:a16="http://schemas.microsoft.com/office/drawing/2014/main" id="{6A50B9B3-08A5-41C0-99D7-31155327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859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VS Code</a:t>
            </a:r>
          </a:p>
        </p:txBody>
      </p:sp>
      <p:sp>
        <p:nvSpPr>
          <p:cNvPr id="9" name="m0-text-70">
            <a:extLst xmlns:a="http://schemas.openxmlformats.org/drawingml/2006/main">
              <a:ext uri="{FF2B5EF4-FFF2-40B4-BE49-F238E27FC236}">
                <a16:creationId xmlns:a16="http://schemas.microsoft.com/office/drawing/2014/main" id="{28305FB9-D04E-4CB8-91E5-EE30C9E3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954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IDE and notebook editor</a:t>
            </a:r>
          </a:p>
        </p:txBody>
      </p:sp>
      <p:sp>
        <p:nvSpPr>
          <p:cNvPr id="10" name="m0-text-71">
            <a:extLst xmlns:a="http://schemas.openxmlformats.org/drawingml/2006/main">
              <a:ext uri="{FF2B5EF4-FFF2-40B4-BE49-F238E27FC236}">
                <a16:creationId xmlns:a16="http://schemas.microsoft.com/office/drawing/2014/main" id="{E3158970-0FE4-4848-87FC-E1315A32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954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37ad6cde4c245e4"/>
              </a:rPr>
              <a:t>Open</a:t>
            </a:r>
          </a:p>
        </p:txBody>
      </p:sp>
      <p:sp>
        <p:nvSpPr>
          <p:cNvPr id="11" name="m0-text-72">
            <a:extLst xmlns:a="http://schemas.openxmlformats.org/drawingml/2006/main">
              <a:ext uri="{FF2B5EF4-FFF2-40B4-BE49-F238E27FC236}">
                <a16:creationId xmlns:a16="http://schemas.microsoft.com/office/drawing/2014/main" id="{D607B2FA-7EBA-458A-831C-B342DDFA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288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Python</a:t>
            </a:r>
          </a:p>
        </p:txBody>
      </p:sp>
      <p:sp>
        <p:nvSpPr>
          <p:cNvPr id="12" name="m0-text-73">
            <a:extLst xmlns:a="http://schemas.openxmlformats.org/drawingml/2006/main">
              <a:ext uri="{FF2B5EF4-FFF2-40B4-BE49-F238E27FC236}">
                <a16:creationId xmlns:a16="http://schemas.microsoft.com/office/drawing/2014/main" id="{0C17A503-8494-4C44-BD23-97DF0C57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383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Runtime for all course code</a:t>
            </a:r>
          </a:p>
        </p:txBody>
      </p:sp>
      <p:sp>
        <p:nvSpPr>
          <p:cNvPr id="13" name="m0-text-74">
            <a:extLst xmlns:a="http://schemas.openxmlformats.org/drawingml/2006/main">
              <a:ext uri="{FF2B5EF4-FFF2-40B4-BE49-F238E27FC236}">
                <a16:creationId xmlns:a16="http://schemas.microsoft.com/office/drawing/2014/main" id="{D987C6CC-B786-4CD9-987E-57F22A11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b5472c24d184416"/>
              </a:rPr>
              <a:t>Open</a:t>
            </a:r>
          </a:p>
        </p:txBody>
      </p:sp>
      <p:sp>
        <p:nvSpPr>
          <p:cNvPr id="14" name="m0-text-75">
            <a:extLst xmlns:a="http://schemas.openxmlformats.org/drawingml/2006/main">
              <a:ext uri="{FF2B5EF4-FFF2-40B4-BE49-F238E27FC236}">
                <a16:creationId xmlns:a16="http://schemas.microsoft.com/office/drawing/2014/main" id="{5F984437-44E2-44F1-A61E-AF5FADEA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17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VS Code extensions</a:t>
            </a:r>
          </a:p>
        </p:txBody>
      </p:sp>
      <p:sp>
        <p:nvSpPr>
          <p:cNvPr id="15" name="m0-text-76">
            <a:extLst xmlns:a="http://schemas.openxmlformats.org/drawingml/2006/main">
              <a:ext uri="{FF2B5EF4-FFF2-40B4-BE49-F238E27FC236}">
                <a16:creationId xmlns:a16="http://schemas.microsoft.com/office/drawing/2014/main" id="{6D78C838-8DFB-4BCB-BD2B-F7223D8E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3812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Python and Jupyter support</a:t>
            </a:r>
          </a:p>
        </p:txBody>
      </p:sp>
      <p:sp>
        <p:nvSpPr>
          <p:cNvPr id="16" name="m0-text-77">
            <a:extLst xmlns:a="http://schemas.openxmlformats.org/drawingml/2006/main">
              <a:ext uri="{FF2B5EF4-FFF2-40B4-BE49-F238E27FC236}">
                <a16:creationId xmlns:a16="http://schemas.microsoft.com/office/drawing/2014/main" id="{D68F6C7B-3380-4DB1-84D8-D4639D57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812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085852d5ce64cd9"/>
              </a:rPr>
              <a:t>Open</a:t>
            </a:r>
          </a:p>
        </p:txBody>
      </p:sp>
      <p:sp>
        <p:nvSpPr>
          <p:cNvPr id="17" name="m0-text-78">
            <a:extLst xmlns:a="http://schemas.openxmlformats.org/drawingml/2006/main">
              <a:ext uri="{FF2B5EF4-FFF2-40B4-BE49-F238E27FC236}">
                <a16:creationId xmlns:a16="http://schemas.microsoft.com/office/drawing/2014/main" id="{85F0A5DD-86B1-4EE3-844E-8EBFED90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146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Provider SDKs</a:t>
            </a:r>
          </a:p>
        </p:txBody>
      </p:sp>
      <p:sp>
        <p:nvSpPr>
          <p:cNvPr id="18" name="m0-text-79">
            <a:extLst xmlns:a="http://schemas.openxmlformats.org/drawingml/2006/main">
              <a:ext uri="{FF2B5EF4-FFF2-40B4-BE49-F238E27FC236}">
                <a16:creationId xmlns:a16="http://schemas.microsoft.com/office/drawing/2014/main" id="{84D38322-BFE9-4FCC-B15C-CEDEB105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7241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Python clients for model providers</a:t>
            </a:r>
          </a:p>
        </p:txBody>
      </p:sp>
      <p:sp>
        <p:nvSpPr>
          <p:cNvPr id="19" name="m0-text-80">
            <a:extLst xmlns:a="http://schemas.openxmlformats.org/drawingml/2006/main">
              <a:ext uri="{FF2B5EF4-FFF2-40B4-BE49-F238E27FC236}">
                <a16:creationId xmlns:a16="http://schemas.microsoft.com/office/drawing/2014/main" id="{3521557B-E249-4842-B133-596776B0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f909d6c6cac406f"/>
              </a:rPr>
              <a:t>Open</a:t>
            </a:r>
          </a:p>
        </p:txBody>
      </p:sp>
      <p:sp>
        <p:nvSpPr>
          <p:cNvPr id="20" name="m0-text-81">
            <a:extLst xmlns:a="http://schemas.openxmlformats.org/drawingml/2006/main">
              <a:ext uri="{FF2B5EF4-FFF2-40B4-BE49-F238E27FC236}">
                <a16:creationId xmlns:a16="http://schemas.microsoft.com/office/drawing/2014/main" id="{C8768683-4095-4AAE-AEAB-088FCA12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575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LangChain</a:t>
            </a:r>
          </a:p>
        </p:txBody>
      </p:sp>
      <p:sp>
        <p:nvSpPr>
          <p:cNvPr id="21" name="m0-text-82">
            <a:extLst xmlns:a="http://schemas.openxmlformats.org/drawingml/2006/main">
              <a:ext uri="{FF2B5EF4-FFF2-40B4-BE49-F238E27FC236}">
                <a16:creationId xmlns:a16="http://schemas.microsoft.com/office/drawing/2014/main" id="{A16C9995-9CEE-4755-B806-4FC5C439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0670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interfaces and prompt workflows</a:t>
            </a:r>
          </a:p>
        </p:txBody>
      </p:sp>
      <p:sp>
        <p:nvSpPr>
          <p:cNvPr id="22" name="m0-text-83">
            <a:extLst xmlns:a="http://schemas.openxmlformats.org/drawingml/2006/main">
              <a:ext uri="{FF2B5EF4-FFF2-40B4-BE49-F238E27FC236}">
                <a16:creationId xmlns:a16="http://schemas.microsoft.com/office/drawing/2014/main" id="{569C6E45-66D2-45DF-86F8-02DA932A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de9cac4a2cc46bb"/>
              </a:rPr>
              <a:t>Open</a:t>
            </a:r>
          </a:p>
        </p:txBody>
      </p:sp>
      <p:sp>
        <p:nvSpPr>
          <p:cNvPr id="23" name="m0-text-84">
            <a:extLst xmlns:a="http://schemas.openxmlformats.org/drawingml/2006/main">
              <a:ext uri="{FF2B5EF4-FFF2-40B4-BE49-F238E27FC236}">
                <a16:creationId xmlns:a16="http://schemas.microsoft.com/office/drawing/2014/main" id="{0F5162CB-42EC-4751-BA49-C20328F0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04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LangGraph</a:t>
            </a:r>
          </a:p>
        </p:txBody>
      </p:sp>
      <p:sp>
        <p:nvSpPr>
          <p:cNvPr id="24" name="m0-text-85">
            <a:extLst xmlns:a="http://schemas.openxmlformats.org/drawingml/2006/main">
              <a:ext uri="{FF2B5EF4-FFF2-40B4-BE49-F238E27FC236}">
                <a16:creationId xmlns:a16="http://schemas.microsoft.com/office/drawing/2014/main" id="{A07AD9CC-BFD7-4BB2-A11B-C3F5F22E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099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 and agent orchestration</a:t>
            </a:r>
          </a:p>
        </p:txBody>
      </p:sp>
      <p:sp>
        <p:nvSpPr>
          <p:cNvPr id="25" name="m0-text-86">
            <a:extLst xmlns:a="http://schemas.openxmlformats.org/drawingml/2006/main">
              <a:ext uri="{FF2B5EF4-FFF2-40B4-BE49-F238E27FC236}">
                <a16:creationId xmlns:a16="http://schemas.microsoft.com/office/drawing/2014/main" id="{5446B606-DF48-4E6D-889E-0FEF6F5A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099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ba77ba5cdd74a62"/>
              </a:rPr>
              <a:t>Open</a:t>
            </a:r>
          </a:p>
        </p:txBody>
      </p:sp>
      <p:sp>
        <p:nvSpPr>
          <p:cNvPr id="26" name="m0-text-87">
            <a:extLst xmlns:a="http://schemas.openxmlformats.org/drawingml/2006/main">
              <a:ext uri="{FF2B5EF4-FFF2-40B4-BE49-F238E27FC236}">
                <a16:creationId xmlns:a16="http://schemas.microsoft.com/office/drawing/2014/main" id="{47F7C7F3-7425-4EB0-987E-D5837B5B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33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Pydantic</a:t>
            </a:r>
          </a:p>
        </p:txBody>
      </p:sp>
      <p:sp>
        <p:nvSpPr>
          <p:cNvPr id="27" name="m0-text-88">
            <a:extLst xmlns:a="http://schemas.openxmlformats.org/drawingml/2006/main">
              <a:ext uri="{FF2B5EF4-FFF2-40B4-BE49-F238E27FC236}">
                <a16:creationId xmlns:a16="http://schemas.microsoft.com/office/drawing/2014/main" id="{28E90E5C-AF7B-48EF-8E9D-4C13030F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7528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data and response validation</a:t>
            </a:r>
          </a:p>
        </p:txBody>
      </p:sp>
      <p:sp>
        <p:nvSpPr>
          <p:cNvPr id="28" name="m0-text-89">
            <a:extLst xmlns:a="http://schemas.openxmlformats.org/drawingml/2006/main">
              <a:ext uri="{FF2B5EF4-FFF2-40B4-BE49-F238E27FC236}">
                <a16:creationId xmlns:a16="http://schemas.microsoft.com/office/drawing/2014/main" id="{88C8101F-55D0-4CC8-942E-FF3E6430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528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89180c48ae641cd"/>
              </a:rPr>
              <a:t>Open</a:t>
            </a:r>
          </a:p>
        </p:txBody>
      </p:sp>
      <p:sp>
        <p:nvSpPr>
          <p:cNvPr id="29" name="m0-text-90">
            <a:extLst xmlns:a="http://schemas.openxmlformats.org/drawingml/2006/main">
              <a:ext uri="{FF2B5EF4-FFF2-40B4-BE49-F238E27FC236}">
                <a16:creationId xmlns:a16="http://schemas.microsoft.com/office/drawing/2014/main" id="{17580A6C-49C1-4673-9280-A2E5D9F0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862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FastAPI</a:t>
            </a:r>
          </a:p>
        </p:txBody>
      </p:sp>
      <p:sp>
        <p:nvSpPr>
          <p:cNvPr id="30" name="m0-text-91">
            <a:extLst xmlns:a="http://schemas.openxmlformats.org/drawingml/2006/main">
              <a:ext uri="{FF2B5EF4-FFF2-40B4-BE49-F238E27FC236}">
                <a16:creationId xmlns:a16="http://schemas.microsoft.com/office/drawing/2014/main" id="{D29D0916-18DF-4587-A881-B8E244FC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0957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API between the avatar and the agent</a:t>
            </a:r>
          </a:p>
        </p:txBody>
      </p:sp>
      <p:sp>
        <p:nvSpPr>
          <p:cNvPr id="31" name="m0-text-92">
            <a:extLst xmlns:a="http://schemas.openxmlformats.org/drawingml/2006/main">
              <a:ext uri="{FF2B5EF4-FFF2-40B4-BE49-F238E27FC236}">
                <a16:creationId xmlns:a16="http://schemas.microsoft.com/office/drawing/2014/main" id="{84CEC6C1-EBBB-41F4-86E5-90C36463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38bc0d894a14717"/>
              </a:rPr>
              <a:t>Open</a:t>
            </a:r>
          </a:p>
        </p:txBody>
      </p:sp>
      <p:sp>
        <p:nvSpPr>
          <p:cNvPr id="32" name="m0-text-93">
            <a:extLst xmlns:a="http://schemas.openxmlformats.org/drawingml/2006/main">
              <a:ext uri="{FF2B5EF4-FFF2-40B4-BE49-F238E27FC236}">
                <a16:creationId xmlns:a16="http://schemas.microsoft.com/office/drawing/2014/main" id="{87193AFA-402A-4656-872D-AD953730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291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Ollama</a:t>
            </a:r>
          </a:p>
        </p:txBody>
      </p:sp>
      <p:sp>
        <p:nvSpPr>
          <p:cNvPr id="33" name="m0-text-94">
            <a:extLst xmlns:a="http://schemas.openxmlformats.org/drawingml/2006/main">
              <a:ext uri="{FF2B5EF4-FFF2-40B4-BE49-F238E27FC236}">
                <a16:creationId xmlns:a16="http://schemas.microsoft.com/office/drawing/2014/main" id="{7FD42728-A45A-428A-A8AA-D473CFC9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386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Local model server</a:t>
            </a:r>
          </a:p>
        </p:txBody>
      </p:sp>
      <p:sp>
        <p:nvSpPr>
          <p:cNvPr id="34" name="m0-text-95">
            <a:extLst xmlns:a="http://schemas.openxmlformats.org/drawingml/2006/main">
              <a:ext uri="{FF2B5EF4-FFF2-40B4-BE49-F238E27FC236}">
                <a16:creationId xmlns:a16="http://schemas.microsoft.com/office/drawing/2014/main" id="{9E5711C8-1F49-4DCD-B809-B3475EFC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386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0a734507dab47cd"/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149488726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96">
            <a:extLst xmlns:a="http://schemas.openxmlformats.org/drawingml/2006/main">
              <a:ext uri="{FF2B5EF4-FFF2-40B4-BE49-F238E27FC236}">
                <a16:creationId xmlns:a16="http://schemas.microsoft.com/office/drawing/2014/main" id="{C74D6D33-7C06-4A0E-AC0A-5DD87368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97">
            <a:extLst xmlns:a="http://schemas.openxmlformats.org/drawingml/2006/main">
              <a:ext uri="{FF2B5EF4-FFF2-40B4-BE49-F238E27FC236}">
                <a16:creationId xmlns:a16="http://schemas.microsoft.com/office/drawing/2014/main" id="{B6CD695B-B702-4050-9775-BF261776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98">
            <a:extLst xmlns:a="http://schemas.openxmlformats.org/drawingml/2006/main">
              <a:ext uri="{FF2B5EF4-FFF2-40B4-BE49-F238E27FC236}">
                <a16:creationId xmlns:a16="http://schemas.microsoft.com/office/drawing/2014/main" id="{22A43EE5-FF6A-4BE4-942E-3958FE39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4" name="m0-text-99">
            <a:extLst xmlns:a="http://schemas.openxmlformats.org/drawingml/2006/main">
              <a:ext uri="{FF2B5EF4-FFF2-40B4-BE49-F238E27FC236}">
                <a16:creationId xmlns:a16="http://schemas.microsoft.com/office/drawing/2014/main" id="{87402A90-943C-41F3-ACF8-45C40EF7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1. Download the Course Project</a:t>
            </a:r>
          </a:p>
        </p:txBody>
      </p:sp>
      <p:sp>
        <p:nvSpPr>
          <p:cNvPr id="5" name="m0-text-100">
            <a:extLst xmlns:a="http://schemas.openxmlformats.org/drawingml/2006/main">
              <a:ext uri="{FF2B5EF4-FFF2-40B4-BE49-F238E27FC236}">
                <a16:creationId xmlns:a16="http://schemas.microsoft.com/office/drawing/2014/main" id="{88092D6A-0533-4E26-8CB3-B01D07874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76375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77e5670e50c4810"/>
              </a:rPr>
              <a:t>Open the course repository on GitHub.</a:t>
            </a:r>
          </a:p>
        </p:txBody>
      </p:sp>
      <p:sp>
        <p:nvSpPr>
          <p:cNvPr id="6" name="m0-text-101">
            <a:extLst xmlns:a="http://schemas.openxmlformats.org/drawingml/2006/main">
              <a:ext uri="{FF2B5EF4-FFF2-40B4-BE49-F238E27FC236}">
                <a16:creationId xmlns:a16="http://schemas.microsoft.com/office/drawing/2014/main" id="{02564C01-EB45-48A1-94A1-D4DA68A4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8229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Code &gt; Download ZIP, then extract the archive.</a:t>
            </a:r>
          </a:p>
        </p:txBody>
      </p:sp>
      <p:sp>
        <p:nvSpPr>
          <p:cNvPr id="7" name="m0-text-102">
            <a:extLst xmlns:a="http://schemas.openxmlformats.org/drawingml/2006/main">
              <a:ext uri="{FF2B5EF4-FFF2-40B4-BE49-F238E27FC236}">
                <a16:creationId xmlns:a16="http://schemas.microsoft.com/office/drawing/2014/main" id="{3391FEBC-12AD-4534-9289-27FEC20A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D9A06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virtual_human_course/</a:t>
            </a:r>
          </a:p>
        </p:txBody>
      </p:sp>
      <p:sp>
        <p:nvSpPr>
          <p:cNvPr id="8" name="m0-text-103">
            <a:extLst xmlns:a="http://schemas.openxmlformats.org/drawingml/2006/main">
              <a:ext uri="{FF2B5EF4-FFF2-40B4-BE49-F238E27FC236}">
                <a16:creationId xmlns:a16="http://schemas.microsoft.com/office/drawing/2014/main" id="{CC9471B3-FB95-478D-8062-9C6795EC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38525"/>
            <a:ext cx="371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Slides, notebooks and course requirements.</a:t>
            </a:r>
          </a:p>
        </p:txBody>
      </p:sp>
      <p:sp>
        <p:nvSpPr>
          <p:cNvPr id="9" name="m0-text-104">
            <a:extLst xmlns:a="http://schemas.openxmlformats.org/drawingml/2006/main">
              <a:ext uri="{FF2B5EF4-FFF2-40B4-BE49-F238E27FC236}">
                <a16:creationId xmlns:a16="http://schemas.microsoft.com/office/drawing/2014/main" id="{B9358A16-853D-49D9-BB7E-B0AB6A37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52750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D9A06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virtual_human_project/</a:t>
            </a:r>
          </a:p>
        </p:txBody>
      </p:sp>
      <p:sp>
        <p:nvSpPr>
          <p:cNvPr id="10" name="m0-text-105">
            <a:extLst xmlns:a="http://schemas.openxmlformats.org/drawingml/2006/main">
              <a:ext uri="{FF2B5EF4-FFF2-40B4-BE49-F238E27FC236}">
                <a16:creationId xmlns:a16="http://schemas.microsoft.com/office/drawing/2014/main" id="{D76AF4EB-FC77-4711-A3C9-2032F767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38525"/>
            <a:ext cx="3886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Avatar, cognitive server and installers.</a:t>
            </a:r>
          </a:p>
        </p:txBody>
      </p:sp>
      <p:sp>
        <p:nvSpPr>
          <p:cNvPr id="11" name="m0-text-106">
            <a:extLst xmlns:a="http://schemas.openxmlformats.org/drawingml/2006/main">
              <a:ext uri="{FF2B5EF4-FFF2-40B4-BE49-F238E27FC236}">
                <a16:creationId xmlns:a16="http://schemas.microsoft.com/office/drawing/2014/main" id="{B99C55AA-CA4F-4F62-81DD-451ECFD9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95800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Keep both folders together in the extracted repository.</a:t>
            </a:r>
          </a:p>
        </p:txBody>
      </p:sp>
    </p:spTree>
    <p:extLst>
      <p:ext uri="{BB962C8B-B14F-4D97-AF65-F5344CB8AC3E}">
        <p14:creationId xmlns:p14="http://schemas.microsoft.com/office/powerpoint/2010/main" val="151591172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m0-text-107">
            <a:extLst xmlns:a="http://schemas.openxmlformats.org/drawingml/2006/main">
              <a:ext uri="{FF2B5EF4-FFF2-40B4-BE49-F238E27FC236}">
                <a16:creationId xmlns:a16="http://schemas.microsoft.com/office/drawing/2014/main" id="{0B02F2A5-A43C-4537-8B8A-371483FA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08">
            <a:extLst xmlns:a="http://schemas.openxmlformats.org/drawingml/2006/main">
              <a:ext uri="{FF2B5EF4-FFF2-40B4-BE49-F238E27FC236}">
                <a16:creationId xmlns:a16="http://schemas.microsoft.com/office/drawing/2014/main" id="{3BE377DA-4751-431B-A984-6EC62615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09">
            <a:extLst xmlns:a="http://schemas.openxmlformats.org/drawingml/2006/main">
              <a:ext uri="{FF2B5EF4-FFF2-40B4-BE49-F238E27FC236}">
                <a16:creationId xmlns:a16="http://schemas.microsoft.com/office/drawing/2014/main" id="{466077AE-1999-4C07-A100-5C51A9C8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4" name="m0-text-110">
            <a:extLst xmlns:a="http://schemas.openxmlformats.org/drawingml/2006/main">
              <a:ext uri="{FF2B5EF4-FFF2-40B4-BE49-F238E27FC236}">
                <a16:creationId xmlns:a16="http://schemas.microsoft.com/office/drawing/2014/main" id="{2EF74B6A-A4DE-421E-BD16-52C26C47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2. Install VS Code and Extensions</a:t>
            </a:r>
          </a:p>
        </p:txBody>
      </p:sp>
      <p:sp>
        <p:nvSpPr>
          <p:cNvPr id="5" name="m0-text-111">
            <a:extLst xmlns:a="http://schemas.openxmlformats.org/drawingml/2006/main">
              <a:ext uri="{FF2B5EF4-FFF2-40B4-BE49-F238E27FC236}">
                <a16:creationId xmlns:a16="http://schemas.microsoft.com/office/drawing/2014/main" id="{4B91BEC4-CEDE-4EE8-94AC-104A2B654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95425"/>
            <a:ext cx="8229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Visual Studio Code, then open Extensions.</a:t>
            </a:r>
          </a:p>
        </p:txBody>
      </p:sp>
      <p:sp>
        <p:nvSpPr>
          <p:cNvPr id="6" name="m0-text-112">
            <a:extLst xmlns:a="http://schemas.openxmlformats.org/drawingml/2006/main">
              <a:ext uri="{FF2B5EF4-FFF2-40B4-BE49-F238E27FC236}">
                <a16:creationId xmlns:a16="http://schemas.microsoft.com/office/drawing/2014/main" id="{2D56CF5A-6802-4E1D-BE0D-3AAFCC03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8597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the Extensions icon or Ctrl+Shift+X.</a:t>
            </a:r>
          </a:p>
        </p:txBody>
      </p:sp>
      <p:sp>
        <p:nvSpPr>
          <p:cNvPr id="7" name="m0-text-113">
            <a:extLst xmlns:a="http://schemas.openxmlformats.org/drawingml/2006/main">
              <a:ext uri="{FF2B5EF4-FFF2-40B4-BE49-F238E27FC236}">
                <a16:creationId xmlns:a16="http://schemas.microsoft.com/office/drawing/2014/main" id="{D33C2E45-C81C-48E8-B2BC-871DABAD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5272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both Microsoft extensions:</a:t>
            </a:r>
          </a:p>
        </p:txBody>
      </p:sp>
      <p:sp>
        <p:nvSpPr>
          <p:cNvPr id="8" name="m0-text-114">
            <a:extLst xmlns:a="http://schemas.openxmlformats.org/drawingml/2006/main">
              <a:ext uri="{FF2B5EF4-FFF2-40B4-BE49-F238E27FC236}">
                <a16:creationId xmlns:a16="http://schemas.microsoft.com/office/drawing/2014/main" id="{EBC27718-4F9F-40B0-9655-EAB90165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D9A06B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614adaa35cb4b72"/>
              </a:rPr>
              <a:t>Python</a:t>
            </a:r>
          </a:p>
        </p:txBody>
      </p:sp>
      <p:sp>
        <p:nvSpPr>
          <p:cNvPr id="9" name="m0-text-115">
            <a:extLst xmlns:a="http://schemas.openxmlformats.org/drawingml/2006/main">
              <a:ext uri="{FF2B5EF4-FFF2-40B4-BE49-F238E27FC236}">
                <a16:creationId xmlns:a16="http://schemas.microsoft.com/office/drawing/2014/main" id="{852DBA7B-57E3-4527-94B1-BDC62E3D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33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D9A06B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e1554b80be9422d"/>
              </a:rPr>
              <a:t>Jupyter</a:t>
            </a:r>
          </a:p>
        </p:txBody>
      </p:sp>
      <p:sp>
        <p:nvSpPr>
          <p:cNvPr id="10" name="m0-text-116">
            <a:extLst xmlns:a="http://schemas.openxmlformats.org/drawingml/2006/main">
              <a:ext uri="{FF2B5EF4-FFF2-40B4-BE49-F238E27FC236}">
                <a16:creationId xmlns:a16="http://schemas.microsoft.com/office/drawing/2014/main" id="{2F4CE48E-E1B3-4EAF-9551-434D3382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195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 Python code and choose interpreters.</a:t>
            </a:r>
          </a:p>
        </p:txBody>
      </p:sp>
      <p:sp>
        <p:nvSpPr>
          <p:cNvPr id="11" name="m0-text-117">
            <a:extLst xmlns:a="http://schemas.openxmlformats.org/drawingml/2006/main">
              <a:ext uri="{FF2B5EF4-FFF2-40B4-BE49-F238E27FC236}">
                <a16:creationId xmlns:a16="http://schemas.microsoft.com/office/drawing/2014/main" id="{693C6C1A-4013-4545-9890-9C28B842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195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and run .ipynb notebooks.</a:t>
            </a:r>
          </a:p>
        </p:txBody>
      </p:sp>
      <p:sp>
        <p:nvSpPr>
          <p:cNvPr id="12" name="m0-text-118">
            <a:extLst xmlns:a="http://schemas.openxmlformats.org/drawingml/2006/main">
              <a:ext uri="{FF2B5EF4-FFF2-40B4-BE49-F238E27FC236}">
                <a16:creationId xmlns:a16="http://schemas.microsoft.com/office/drawing/2014/main" id="{FF55CFBB-5828-48A9-9F13-00BF81B4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1485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d069934f7194bd5"/>
              </a:rPr>
              <a:t>Download VS Code</a:t>
            </a:r>
          </a:p>
        </p:txBody>
      </p:sp>
    </p:spTree>
    <p:extLst>
      <p:ext uri="{BB962C8B-B14F-4D97-AF65-F5344CB8AC3E}">
        <p14:creationId xmlns:p14="http://schemas.microsoft.com/office/powerpoint/2010/main" val="134572714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119">
            <a:extLst xmlns:a="http://schemas.openxmlformats.org/drawingml/2006/main">
              <a:ext uri="{FF2B5EF4-FFF2-40B4-BE49-F238E27FC236}">
                <a16:creationId xmlns:a16="http://schemas.microsoft.com/office/drawing/2014/main" id="{EA8BB072-209C-4D13-A7BD-86E649F6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20">
            <a:extLst xmlns:a="http://schemas.openxmlformats.org/drawingml/2006/main">
              <a:ext uri="{FF2B5EF4-FFF2-40B4-BE49-F238E27FC236}">
                <a16:creationId xmlns:a16="http://schemas.microsoft.com/office/drawing/2014/main" id="{A0D7CC8F-E107-4342-B827-28633D41C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21">
            <a:extLst xmlns:a="http://schemas.openxmlformats.org/drawingml/2006/main">
              <a:ext uri="{FF2B5EF4-FFF2-40B4-BE49-F238E27FC236}">
                <a16:creationId xmlns:a16="http://schemas.microsoft.com/office/drawing/2014/main" id="{B71B17E3-E2E6-4F07-8DB0-DF99C314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4" name="m0-text-122">
            <a:extLst xmlns:a="http://schemas.openxmlformats.org/drawingml/2006/main">
              <a:ext uri="{FF2B5EF4-FFF2-40B4-BE49-F238E27FC236}">
                <a16:creationId xmlns:a16="http://schemas.microsoft.com/office/drawing/2014/main" id="{87352232-8FBA-471E-8603-9C770CFE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3. Install the Virtual Human</a:t>
            </a:r>
          </a:p>
        </p:txBody>
      </p:sp>
      <p:sp>
        <p:nvSpPr>
          <p:cNvPr id="5" name="m0-text-123">
            <a:extLst xmlns:a="http://schemas.openxmlformats.org/drawingml/2006/main">
              <a:ext uri="{FF2B5EF4-FFF2-40B4-BE49-F238E27FC236}">
                <a16:creationId xmlns:a16="http://schemas.microsoft.com/office/drawing/2014/main" id="{8210EB14-CB26-497F-B1C7-33C6BC8A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8229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993b321bc32447d"/>
              </a:rPr>
              <a:t>Follow the Installation guide for your computer.</a:t>
            </a:r>
          </a:p>
        </p:txBody>
      </p:sp>
      <p:sp>
        <p:nvSpPr>
          <p:cNvPr id="6" name="m0-text-124">
            <a:extLst xmlns:a="http://schemas.openxmlformats.org/drawingml/2006/main">
              <a:ext uri="{FF2B5EF4-FFF2-40B4-BE49-F238E27FC236}">
                <a16:creationId xmlns:a16="http://schemas.microsoft.com/office/drawing/2014/main" id="{E1A1C4B6-8A04-41A4-ADF5-31312521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installer inside virtual_human_project.</a:t>
            </a:r>
          </a:p>
        </p:txBody>
      </p:sp>
      <p:sp>
        <p:nvSpPr>
          <p:cNvPr id="7" name="m0-text-125">
            <a:extLst xmlns:a="http://schemas.openxmlformats.org/drawingml/2006/main">
              <a:ext uri="{FF2B5EF4-FFF2-40B4-BE49-F238E27FC236}">
                <a16:creationId xmlns:a16="http://schemas.microsoft.com/office/drawing/2014/main" id="{DC3DAE4F-D11B-4DA9-986A-B1D5DD58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33675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9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Windows</a:t>
            </a:r>
          </a:p>
        </p:txBody>
      </p:sp>
      <p:sp>
        <p:nvSpPr>
          <p:cNvPr id="8" name="m0-text-126">
            <a:extLst xmlns:a="http://schemas.openxmlformats.org/drawingml/2006/main">
              <a:ext uri="{FF2B5EF4-FFF2-40B4-BE49-F238E27FC236}">
                <a16:creationId xmlns:a16="http://schemas.microsoft.com/office/drawing/2014/main" id="{C95028A4-6E70-4730-B9C6-8DCAFB07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67075"/>
            <a:ext cx="3886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VirtualHuman-Setup.exe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Enable NVIDIA options only if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setup detects a compatible GPU.</a:t>
            </a:r>
          </a:p>
        </p:txBody>
      </p:sp>
      <p:sp>
        <p:nvSpPr>
          <p:cNvPr id="9" name="m0-text-127">
            <a:extLst xmlns:a="http://schemas.openxmlformats.org/drawingml/2006/main">
              <a:ext uri="{FF2B5EF4-FFF2-40B4-BE49-F238E27FC236}">
                <a16:creationId xmlns:a16="http://schemas.microsoft.com/office/drawing/2014/main" id="{9716D9D2-7B9C-47E4-8537-60277C89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33675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9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Mac</a:t>
            </a:r>
          </a:p>
        </p:txBody>
      </p:sp>
      <p:sp>
        <p:nvSpPr>
          <p:cNvPr id="10" name="m0-text-128">
            <a:extLst xmlns:a="http://schemas.openxmlformats.org/drawingml/2006/main">
              <a:ext uri="{FF2B5EF4-FFF2-40B4-BE49-F238E27FC236}">
                <a16:creationId xmlns:a16="http://schemas.microsoft.com/office/drawing/2014/main" id="{D5581050-5CC2-4BAE-BD1B-053D8EED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67075"/>
            <a:ext cx="3886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Virtual Human.app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CPU only; no GPU acceleration.</a:t>
            </a:r>
          </a:p>
        </p:txBody>
      </p:sp>
      <p:sp>
        <p:nvSpPr>
          <p:cNvPr id="11" name="m0-text-129">
            <a:extLst xmlns:a="http://schemas.openxmlformats.org/drawingml/2006/main">
              <a:ext uri="{FF2B5EF4-FFF2-40B4-BE49-F238E27FC236}">
                <a16:creationId xmlns:a16="http://schemas.microsoft.com/office/drawing/2014/main" id="{EA204773-24C4-41BE-9CEC-8C6ED2C1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Click Install. Setup prepares Python, dependencies and speech models.</a:t>
            </a:r>
          </a:p>
        </p:txBody>
      </p:sp>
    </p:spTree>
    <p:extLst>
      <p:ext uri="{BB962C8B-B14F-4D97-AF65-F5344CB8AC3E}">
        <p14:creationId xmlns:p14="http://schemas.microsoft.com/office/powerpoint/2010/main" val="80600101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130">
            <a:extLst xmlns:a="http://schemas.openxmlformats.org/drawingml/2006/main">
              <a:ext uri="{FF2B5EF4-FFF2-40B4-BE49-F238E27FC236}">
                <a16:creationId xmlns:a16="http://schemas.microsoft.com/office/drawing/2014/main" id="{59F09EBF-5EA1-408B-ACA3-57AB8DF9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31">
            <a:extLst xmlns:a="http://schemas.openxmlformats.org/drawingml/2006/main">
              <a:ext uri="{FF2B5EF4-FFF2-40B4-BE49-F238E27FC236}">
                <a16:creationId xmlns:a16="http://schemas.microsoft.com/office/drawing/2014/main" id="{6CE73CC0-31D9-4022-A1BB-FC456DCB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32">
            <a:extLst xmlns:a="http://schemas.openxmlformats.org/drawingml/2006/main">
              <a:ext uri="{FF2B5EF4-FFF2-40B4-BE49-F238E27FC236}">
                <a16:creationId xmlns:a16="http://schemas.microsoft.com/office/drawing/2014/main" id="{15B51512-281C-4CB0-A9D9-F18FF226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4" name="m0-text-133">
            <a:extLst xmlns:a="http://schemas.openxmlformats.org/drawingml/2006/main">
              <a:ext uri="{FF2B5EF4-FFF2-40B4-BE49-F238E27FC236}">
                <a16:creationId xmlns:a16="http://schemas.microsoft.com/office/drawing/2014/main" id="{1AAA032B-D947-4E92-AB89-7F9A828A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4. Launch and Test the Avatar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0c7f6355cc471f"/>
          <a:stretch xmlns:a="http://schemas.openxmlformats.org/drawingml/2006/main"/>
        </p:blipFill>
        <p:spPr>
          <a:xfrm xmlns:a="http://schemas.openxmlformats.org/drawingml/2006/main">
            <a:off x="762000" y="1323975"/>
            <a:ext cx="5486400" cy="3429000"/>
          </a:xfrm>
          <a:prstGeom xmlns:a="http://schemas.openxmlformats.org/drawingml/2006/main" prst="rect">
            <a:avLst/>
          </a:prstGeom>
        </p:spPr>
      </p:pic>
      <p:sp>
        <p:nvSpPr>
          <p:cNvPr id="6" name="m0-text-134">
            <a:extLst xmlns:a="http://schemas.openxmlformats.org/drawingml/2006/main">
              <a:ext uri="{FF2B5EF4-FFF2-40B4-BE49-F238E27FC236}">
                <a16:creationId xmlns:a16="http://schemas.microsoft.com/office/drawing/2014/main" id="{96A91EC1-A2A7-467C-B9B2-B7AB0816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457325"/>
            <a:ext cx="1885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Check the result</a:t>
            </a:r>
          </a:p>
        </p:txBody>
      </p:sp>
      <p:sp>
        <p:nvSpPr>
          <p:cNvPr id="7" name="m0-text-135">
            <a:extLst xmlns:a="http://schemas.openxmlformats.org/drawingml/2006/main">
              <a:ext uri="{FF2B5EF4-FFF2-40B4-BE49-F238E27FC236}">
                <a16:creationId xmlns:a16="http://schemas.microsoft.com/office/drawing/2014/main" id="{744AD068-8F65-4AEC-88E8-5FF3003A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66950"/>
            <a:ext cx="18859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Avatar visible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Connection green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Reply: Hello world</a:t>
            </a:r>
          </a:p>
        </p:txBody>
      </p:sp>
      <p:sp>
        <p:nvSpPr>
          <p:cNvPr id="8" name="m0-text-136">
            <a:extLst xmlns:a="http://schemas.openxmlformats.org/drawingml/2006/main">
              <a:ext uri="{FF2B5EF4-FFF2-40B4-BE49-F238E27FC236}">
                <a16:creationId xmlns:a16="http://schemas.microsoft.com/office/drawing/2014/main" id="{35A00B44-20F3-4A4F-9949-626AB50B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67175"/>
            <a:ext cx="1885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No API key needed.</a:t>
            </a:r>
          </a:p>
        </p:txBody>
      </p:sp>
      <p:sp>
        <p:nvSpPr>
          <p:cNvPr id="9" name="m0-text-137">
            <a:extLst xmlns:a="http://schemas.openxmlformats.org/drawingml/2006/main">
              <a:ext uri="{FF2B5EF4-FFF2-40B4-BE49-F238E27FC236}">
                <a16:creationId xmlns:a16="http://schemas.microsoft.com/office/drawing/2014/main" id="{439F8C6D-28AD-4972-B392-C21FD741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9580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97ac7fa307b4481"/>
              </a:rPr>
              <a:t>Agent guide</a:t>
            </a:r>
          </a:p>
        </p:txBody>
      </p:sp>
    </p:spTree>
    <p:extLst>
      <p:ext uri="{BB962C8B-B14F-4D97-AF65-F5344CB8AC3E}">
        <p14:creationId xmlns:p14="http://schemas.microsoft.com/office/powerpoint/2010/main" val="114380551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0-text-138">
            <a:extLst xmlns:a="http://schemas.openxmlformats.org/drawingml/2006/main">
              <a:ext uri="{FF2B5EF4-FFF2-40B4-BE49-F238E27FC236}">
                <a16:creationId xmlns:a16="http://schemas.microsoft.com/office/drawing/2014/main" id="{CE4ECF51-B098-4A68-8E46-547261A8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39">
            <a:extLst xmlns:a="http://schemas.openxmlformats.org/drawingml/2006/main">
              <a:ext uri="{FF2B5EF4-FFF2-40B4-BE49-F238E27FC236}">
                <a16:creationId xmlns:a16="http://schemas.microsoft.com/office/drawing/2014/main" id="{D54E96AE-9230-40E3-9A91-EC57783D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40">
            <a:extLst xmlns:a="http://schemas.openxmlformats.org/drawingml/2006/main">
              <a:ext uri="{FF2B5EF4-FFF2-40B4-BE49-F238E27FC236}">
                <a16:creationId xmlns:a16="http://schemas.microsoft.com/office/drawing/2014/main" id="{AC180316-B0CC-44D8-BAF3-B3A1AA86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4" name="m0-text-141">
            <a:extLst xmlns:a="http://schemas.openxmlformats.org/drawingml/2006/main">
              <a:ext uri="{FF2B5EF4-FFF2-40B4-BE49-F238E27FC236}">
                <a16:creationId xmlns:a16="http://schemas.microsoft.com/office/drawing/2014/main" id="{E9E2178F-092C-4AD3-9442-5925B3ED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5. Open the Notebook and Select the Kernel</a:t>
            </a:r>
          </a:p>
        </p:txBody>
      </p:sp>
      <p:sp>
        <p:nvSpPr>
          <p:cNvPr id="5" name="m0-text-142">
            <a:extLst xmlns:a="http://schemas.openxmlformats.org/drawingml/2006/main">
              <a:ext uri="{FF2B5EF4-FFF2-40B4-BE49-F238E27FC236}">
                <a16:creationId xmlns:a16="http://schemas.microsoft.com/office/drawing/2014/main" id="{54C87A0A-2305-41E1-87A8-1534F0DC1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8229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In virtual_human_course, open: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Module_0/Chapter_01/Code/00_first_call.ipynb</a:t>
            </a:r>
          </a:p>
        </p:txBody>
      </p:sp>
      <p:sp>
        <p:nvSpPr>
          <p:cNvPr id="6" name="m0-text-143">
            <a:extLst xmlns:a="http://schemas.openxmlformats.org/drawingml/2006/main">
              <a:ext uri="{FF2B5EF4-FFF2-40B4-BE49-F238E27FC236}">
                <a16:creationId xmlns:a16="http://schemas.microsoft.com/office/drawing/2014/main" id="{CCC0504B-F46A-477A-BFC1-23C81F11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312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Select Kernel: virtual_human_project/.venv-vh-course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bce01bfc1b4f64"/>
          <a:stretch xmlns:a="http://schemas.openxmlformats.org/drawingml/2006/main"/>
        </p:blipFill>
        <p:spPr>
          <a:xfrm xmlns:a="http://schemas.openxmlformats.org/drawingml/2006/main">
            <a:off x="459033" y="2533650"/>
            <a:ext cx="8225935" cy="2266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84548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m0-text-144">
            <a:extLst xmlns:a="http://schemas.openxmlformats.org/drawingml/2006/main">
              <a:ext uri="{FF2B5EF4-FFF2-40B4-BE49-F238E27FC236}">
                <a16:creationId xmlns:a16="http://schemas.microsoft.com/office/drawing/2014/main" id="{EDEC7714-61AC-4451-B776-19CF708E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45">
            <a:extLst xmlns:a="http://schemas.openxmlformats.org/drawingml/2006/main">
              <a:ext uri="{FF2B5EF4-FFF2-40B4-BE49-F238E27FC236}">
                <a16:creationId xmlns:a16="http://schemas.microsoft.com/office/drawing/2014/main" id="{E0B1736A-31D6-44A0-870E-BC2930FF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46">
            <a:extLst xmlns:a="http://schemas.openxmlformats.org/drawingml/2006/main">
              <a:ext uri="{FF2B5EF4-FFF2-40B4-BE49-F238E27FC236}">
                <a16:creationId xmlns:a16="http://schemas.microsoft.com/office/drawing/2014/main" id="{147E2285-66F7-49E5-8A85-0EF68C09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4" name="m0-text-147">
            <a:extLst xmlns:a="http://schemas.openxmlformats.org/drawingml/2006/main">
              <a:ext uri="{FF2B5EF4-FFF2-40B4-BE49-F238E27FC236}">
                <a16:creationId xmlns:a16="http://schemas.microsoft.com/office/drawing/2014/main" id="{E7E5E728-DCC2-466D-82B8-A803E072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6. Add Your Provider Key</a:t>
            </a:r>
          </a:p>
        </p:txBody>
      </p:sp>
      <p:sp>
        <p:nvSpPr>
          <p:cNvPr id="5" name="m0-text-148">
            <a:extLst xmlns:a="http://schemas.openxmlformats.org/drawingml/2006/main">
              <a:ext uri="{FF2B5EF4-FFF2-40B4-BE49-F238E27FC236}">
                <a16:creationId xmlns:a16="http://schemas.microsoft.com/office/drawing/2014/main" id="{79842250-3723-427F-803A-FC837B8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Create an </a:t>
            </a: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fcc9ec73ed4429d"/>
              </a:rPr>
              <a:t>Ollama API key</a:t>
            </a: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 and use it in both folders.</a:t>
            </a:r>
          </a:p>
        </p:txBody>
      </p:sp>
      <p:sp>
        <p:nvSpPr>
          <p:cNvPr id="6" name="m0-text-149">
            <a:extLst xmlns:a="http://schemas.openxmlformats.org/drawingml/2006/main">
              <a:ext uri="{FF2B5EF4-FFF2-40B4-BE49-F238E27FC236}">
                <a16:creationId xmlns:a16="http://schemas.microsoft.com/office/drawing/2014/main" id="{0FD251D8-9DB1-4899-9CE5-C969CCA6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47875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For the notebook</a:t>
            </a:r>
          </a:p>
        </p:txBody>
      </p:sp>
      <p:sp>
        <p:nvSpPr>
          <p:cNvPr id="7" name="m0-text-150">
            <a:extLst xmlns:a="http://schemas.openxmlformats.org/drawingml/2006/main">
              <a:ext uri="{FF2B5EF4-FFF2-40B4-BE49-F238E27FC236}">
                <a16:creationId xmlns:a16="http://schemas.microsoft.com/office/drawing/2014/main" id="{36B7A041-8AFD-4F93-88B6-28B7B6E8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86025"/>
            <a:ext cx="8229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virtual_human_course/</a:t>
            </a:r>
          </a:p>
        </p:txBody>
      </p:sp>
      <p:sp>
        <p:nvSpPr>
          <p:cNvPr id="8" name="m0-text-151">
            <a:extLst xmlns:a="http://schemas.openxmlformats.org/drawingml/2006/main">
              <a:ext uri="{FF2B5EF4-FFF2-40B4-BE49-F238E27FC236}">
                <a16:creationId xmlns:a16="http://schemas.microsoft.com/office/drawing/2014/main" id="{75C5675C-F980-461A-8D20-516674403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For the avatar’s agent</a:t>
            </a:r>
          </a:p>
        </p:txBody>
      </p:sp>
      <p:sp>
        <p:nvSpPr>
          <p:cNvPr id="9" name="m0-text-152">
            <a:extLst xmlns:a="http://schemas.openxmlformats.org/drawingml/2006/main">
              <a:ext uri="{FF2B5EF4-FFF2-40B4-BE49-F238E27FC236}">
                <a16:creationId xmlns:a16="http://schemas.microsoft.com/office/drawing/2014/main" id="{C5873990-549B-400B-AF4A-B70BD3B8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8615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virtual_human_project/vh_cognitive_architecture_server/</a:t>
            </a:r>
          </a:p>
        </p:txBody>
      </p:sp>
      <p:sp>
        <p:nvSpPr>
          <p:cNvPr id="10" name="m0-text-153">
            <a:extLst xmlns:a="http://schemas.openxmlformats.org/drawingml/2006/main">
              <a:ext uri="{FF2B5EF4-FFF2-40B4-BE49-F238E27FC236}">
                <a16:creationId xmlns:a16="http://schemas.microsoft.com/office/drawing/2014/main" id="{5934D5ED-573D-4636-9015-81329E52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24325"/>
            <a:ext cx="822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 both folders, copy llm_provider_api_key.example.yaml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llm_provider_api_key.yaml. Paste your key and keep it private.</a:t>
            </a:r>
          </a:p>
        </p:txBody>
      </p:sp>
    </p:spTree>
    <p:extLst>
      <p:ext uri="{BB962C8B-B14F-4D97-AF65-F5344CB8AC3E}">
        <p14:creationId xmlns:p14="http://schemas.microsoft.com/office/powerpoint/2010/main" val="178422541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m0-text-154">
            <a:extLst xmlns:a="http://schemas.openxmlformats.org/drawingml/2006/main">
              <a:ext uri="{FF2B5EF4-FFF2-40B4-BE49-F238E27FC236}">
                <a16:creationId xmlns:a16="http://schemas.microsoft.com/office/drawing/2014/main" id="{7521502F-3177-4DB9-82C0-DAEFB6B4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55">
            <a:extLst xmlns:a="http://schemas.openxmlformats.org/drawingml/2006/main">
              <a:ext uri="{FF2B5EF4-FFF2-40B4-BE49-F238E27FC236}">
                <a16:creationId xmlns:a16="http://schemas.microsoft.com/office/drawing/2014/main" id="{FD9568D9-39C3-4981-B242-6C7A25C8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56">
            <a:extLst xmlns:a="http://schemas.openxmlformats.org/drawingml/2006/main">
              <a:ext uri="{FF2B5EF4-FFF2-40B4-BE49-F238E27FC236}">
                <a16:creationId xmlns:a16="http://schemas.microsoft.com/office/drawing/2014/main" id="{0E74E028-CDCA-4D57-A912-61B947D5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4" name="m0-text-157">
            <a:extLst xmlns:a="http://schemas.openxmlformats.org/drawingml/2006/main">
              <a:ext uri="{FF2B5EF4-FFF2-40B4-BE49-F238E27FC236}">
                <a16:creationId xmlns:a16="http://schemas.microsoft.com/office/drawing/2014/main" id="{E9371C3B-E0AA-4A1D-A95C-33C86A53E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Try Ollama in the Notebook</a:t>
            </a:r>
          </a:p>
        </p:txBody>
      </p:sp>
      <p:sp>
        <p:nvSpPr>
          <p:cNvPr id="5" name="m0-text-158">
            <a:extLst xmlns:a="http://schemas.openxmlformats.org/drawingml/2006/main">
              <a:ext uri="{FF2B5EF4-FFF2-40B4-BE49-F238E27FC236}">
                <a16:creationId xmlns:a16="http://schemas.microsoft.com/office/drawing/2014/main" id="{0CADD1A6-86DC-4B92-BD94-8C3BE076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notebook and try a call with Ollama.</a:t>
            </a:r>
          </a:p>
        </p:txBody>
      </p:sp>
      <p:sp>
        <p:nvSpPr>
          <p:cNvPr id="6" name="m0-text-159">
            <a:extLst xmlns:a="http://schemas.openxmlformats.org/drawingml/2006/main">
              <a:ext uri="{FF2B5EF4-FFF2-40B4-BE49-F238E27FC236}">
                <a16:creationId xmlns:a16="http://schemas.microsoft.com/office/drawing/2014/main" id="{9C0A344A-B24C-45C5-A661-3431BFBB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2150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 the key-loading cell, then the Ollama Cloud cells.</a:t>
            </a:r>
          </a:p>
        </p:txBody>
      </p:sp>
      <p:sp>
        <p:nvSpPr>
          <p:cNvPr id="7" name="m0-text-160">
            <a:extLst xmlns:a="http://schemas.openxmlformats.org/drawingml/2006/main">
              <a:ext uri="{FF2B5EF4-FFF2-40B4-BE49-F238E27FC236}">
                <a16:creationId xmlns:a16="http://schemas.microsoft.com/office/drawing/2014/main" id="{C64F70A5-73D2-4D49-AC44-84A7F7FA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47950"/>
            <a:ext cx="82296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response = client.chat(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model="gpt-oss:120b",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messages=[{"role": "user", "content": "Say hello!"}],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print(response.message.content)</a:t>
            </a:r>
          </a:p>
        </p:txBody>
      </p:sp>
      <p:sp>
        <p:nvSpPr>
          <p:cNvPr id="8" name="m0-text-161">
            <a:extLst xmlns:a="http://schemas.openxmlformats.org/drawingml/2006/main">
              <a:ext uri="{FF2B5EF4-FFF2-40B4-BE49-F238E27FC236}">
                <a16:creationId xmlns:a16="http://schemas.microsoft.com/office/drawing/2014/main" id="{CD7CD54A-A922-437E-867E-49223B29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8baec727bea45d5"/>
              </a:rPr>
              <a:t>Open 00_first_call.ipynb</a:t>
            </a:r>
          </a:p>
        </p:txBody>
      </p:sp>
    </p:spTree>
    <p:extLst>
      <p:ext uri="{BB962C8B-B14F-4D97-AF65-F5344CB8AC3E}">
        <p14:creationId xmlns:p14="http://schemas.microsoft.com/office/powerpoint/2010/main" val="28703006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m0-text-162">
            <a:extLst xmlns:a="http://schemas.openxmlformats.org/drawingml/2006/main">
              <a:ext uri="{FF2B5EF4-FFF2-40B4-BE49-F238E27FC236}">
                <a16:creationId xmlns:a16="http://schemas.microsoft.com/office/drawing/2014/main" id="{3C3D309D-EADB-4F04-B073-B32A4222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63">
            <a:extLst xmlns:a="http://schemas.openxmlformats.org/drawingml/2006/main">
              <a:ext uri="{FF2B5EF4-FFF2-40B4-BE49-F238E27FC236}">
                <a16:creationId xmlns:a16="http://schemas.microsoft.com/office/drawing/2014/main" id="{50AEC0B3-90FF-4EF7-A140-A5FBB665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64">
            <a:extLst xmlns:a="http://schemas.openxmlformats.org/drawingml/2006/main">
              <a:ext uri="{FF2B5EF4-FFF2-40B4-BE49-F238E27FC236}">
                <a16:creationId xmlns:a16="http://schemas.microsoft.com/office/drawing/2014/main" id="{F9F8317B-97AF-4572-A754-109AD253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sp>
        <p:nvSpPr>
          <p:cNvPr id="4" name="m0-text-165">
            <a:extLst xmlns:a="http://schemas.openxmlformats.org/drawingml/2006/main">
              <a:ext uri="{FF2B5EF4-FFF2-40B4-BE49-F238E27FC236}">
                <a16:creationId xmlns:a16="http://schemas.microsoft.com/office/drawing/2014/main" id="{DD944642-A2EB-47D0-AF98-B9A91C72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Try the Avatar</a:t>
            </a:r>
          </a:p>
        </p:txBody>
      </p:sp>
      <p:sp>
        <p:nvSpPr>
          <p:cNvPr id="5" name="m0-text-166">
            <a:extLst xmlns:a="http://schemas.openxmlformats.org/drawingml/2006/main">
              <a:ext uri="{FF2B5EF4-FFF2-40B4-BE49-F238E27FC236}">
                <a16:creationId xmlns:a16="http://schemas.microsoft.com/office/drawing/2014/main" id="{E3D2FBE8-2E5C-460F-91C2-6A56904A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8229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message goes to the agent; its answer returns to the avatar.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83B2F-8492-457A-B844-657F6257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57425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m0-text-167">
            <a:extLst xmlns:a="http://schemas.openxmlformats.org/drawingml/2006/main">
              <a:ext uri="{FF2B5EF4-FFF2-40B4-BE49-F238E27FC236}">
                <a16:creationId xmlns:a16="http://schemas.microsoft.com/office/drawing/2014/main" id="{5970A953-E526-4F99-8A61-C5D7A931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09825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7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You</a:t>
            </a:r>
          </a:p>
        </p:txBody>
      </p:sp>
      <p:sp>
        <p:nvSpPr>
          <p:cNvPr id="8" name="m0-text-168">
            <a:extLst xmlns:a="http://schemas.openxmlformats.org/drawingml/2006/main">
              <a:ext uri="{FF2B5EF4-FFF2-40B4-BE49-F238E27FC236}">
                <a16:creationId xmlns:a16="http://schemas.microsoft.com/office/drawing/2014/main" id="{D74F29C0-D145-4263-BBC1-629D6FA4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User / browser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E5D456-3EA7-4EDB-A23B-D5A7475E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257425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m0-text-169">
            <a:extLst xmlns:a="http://schemas.openxmlformats.org/drawingml/2006/main">
              <a:ext uri="{FF2B5EF4-FFF2-40B4-BE49-F238E27FC236}">
                <a16:creationId xmlns:a16="http://schemas.microsoft.com/office/drawing/2014/main" id="{D4FBB997-53FD-4355-901F-BC1516A0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409825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7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Avatar</a:t>
            </a:r>
          </a:p>
        </p:txBody>
      </p:sp>
      <p:sp>
        <p:nvSpPr>
          <p:cNvPr id="11" name="m0-text-170">
            <a:extLst xmlns:a="http://schemas.openxmlformats.org/drawingml/2006/main">
              <a:ext uri="{FF2B5EF4-FFF2-40B4-BE49-F238E27FC236}">
                <a16:creationId xmlns:a16="http://schemas.microsoft.com/office/drawing/2014/main" id="{B35F7670-71BD-43D0-8B2A-E29640C0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895600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VH Embodiment</a:t>
            </a:r>
          </a:p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Server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D63897-B331-4918-959D-FCAD452E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257425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m0-text-171">
            <a:extLst xmlns:a="http://schemas.openxmlformats.org/drawingml/2006/main">
              <a:ext uri="{FF2B5EF4-FFF2-40B4-BE49-F238E27FC236}">
                <a16:creationId xmlns:a16="http://schemas.microsoft.com/office/drawing/2014/main" id="{2F7F80BD-E3E1-442A-B06D-1DFD4463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09825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7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Python agent</a:t>
            </a:r>
          </a:p>
        </p:txBody>
      </p:sp>
      <p:sp>
        <p:nvSpPr>
          <p:cNvPr id="14" name="m0-text-172">
            <a:extLst xmlns:a="http://schemas.openxmlformats.org/drawingml/2006/main">
              <a:ext uri="{FF2B5EF4-FFF2-40B4-BE49-F238E27FC236}">
                <a16:creationId xmlns:a16="http://schemas.microsoft.com/office/drawing/2014/main" id="{8E60A9DE-9373-4483-BC98-65CE319C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95600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VH Cognitive</a:t>
            </a:r>
          </a:p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Architecture Server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174320-612D-4F17-942B-2D5F6792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57425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m0-text-173">
            <a:extLst xmlns:a="http://schemas.openxmlformats.org/drawingml/2006/main">
              <a:ext uri="{FF2B5EF4-FFF2-40B4-BE49-F238E27FC236}">
                <a16:creationId xmlns:a16="http://schemas.microsoft.com/office/drawing/2014/main" id="{80D3FD7C-8A5E-490E-964B-5267952D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09825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7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LLM provider</a:t>
            </a:r>
          </a:p>
        </p:txBody>
      </p:sp>
      <p:sp>
        <p:nvSpPr>
          <p:cNvPr id="17" name="m0-text-174">
            <a:extLst xmlns:a="http://schemas.openxmlformats.org/drawingml/2006/main">
              <a:ext uri="{FF2B5EF4-FFF2-40B4-BE49-F238E27FC236}">
                <a16:creationId xmlns:a16="http://schemas.microsoft.com/office/drawing/2014/main" id="{C80430A3-7160-4CFF-92BB-C6AF7227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95600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</a:t>
            </a:r>
          </a:p>
        </p:txBody>
      </p:sp>
      <p:sp>
        <p:nvSpPr>
          <p:cNvPr id="18" name="m0-text-175">
            <a:extLst xmlns:a="http://schemas.openxmlformats.org/drawingml/2006/main">
              <a:ext uri="{FF2B5EF4-FFF2-40B4-BE49-F238E27FC236}">
                <a16:creationId xmlns:a16="http://schemas.microsoft.com/office/drawing/2014/main" id="{6D24F9DD-BA3B-4AC2-B2EA-F274302A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419350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9" name="m0-text-176">
            <a:extLst xmlns:a="http://schemas.openxmlformats.org/drawingml/2006/main">
              <a:ext uri="{FF2B5EF4-FFF2-40B4-BE49-F238E27FC236}">
                <a16:creationId xmlns:a16="http://schemas.microsoft.com/office/drawing/2014/main" id="{E753E8CD-E9F4-4538-9E4D-1D952699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81325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20" name="m0-text-177">
            <a:extLst xmlns:a="http://schemas.openxmlformats.org/drawingml/2006/main">
              <a:ext uri="{FF2B5EF4-FFF2-40B4-BE49-F238E27FC236}">
                <a16:creationId xmlns:a16="http://schemas.microsoft.com/office/drawing/2014/main" id="{2DC2746B-E78A-4FA8-B7FD-1FA6009A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1" name="m0-text-178">
            <a:extLst xmlns:a="http://schemas.openxmlformats.org/drawingml/2006/main">
              <a:ext uri="{FF2B5EF4-FFF2-40B4-BE49-F238E27FC236}">
                <a16:creationId xmlns:a16="http://schemas.microsoft.com/office/drawing/2014/main" id="{3FE912E2-868A-4940-B1ED-20C0902A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81325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22" name="m0-text-179">
            <a:extLst xmlns:a="http://schemas.openxmlformats.org/drawingml/2006/main">
              <a:ext uri="{FF2B5EF4-FFF2-40B4-BE49-F238E27FC236}">
                <a16:creationId xmlns:a16="http://schemas.microsoft.com/office/drawing/2014/main" id="{F03CC2AE-91EC-48EC-9301-49B78C0A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19350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3" name="m0-text-180">
            <a:extLst xmlns:a="http://schemas.openxmlformats.org/drawingml/2006/main">
              <a:ext uri="{FF2B5EF4-FFF2-40B4-BE49-F238E27FC236}">
                <a16:creationId xmlns:a16="http://schemas.microsoft.com/office/drawing/2014/main" id="{B69886BB-7A48-4AD5-9DC5-D556E8F2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81325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24" name="m0-text-181">
            <a:extLst xmlns:a="http://schemas.openxmlformats.org/drawingml/2006/main">
              <a:ext uri="{FF2B5EF4-FFF2-40B4-BE49-F238E27FC236}">
                <a16:creationId xmlns:a16="http://schemas.microsoft.com/office/drawing/2014/main" id="{22FBB2C4-BE05-4066-A167-5BD271F1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71925"/>
            <a:ext cx="82296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mock always says “Hello world”.</a:t>
            </a:r>
          </a:p>
          <a:p xmlns:a="http://schemas.openxmlformats.org/drawingml/2006/main">
            <a:pPr>
              <a:defRPr sz="19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With the naive agent, the LLM writes the answer.</a:t>
            </a:r>
          </a:p>
        </p:txBody>
      </p:sp>
    </p:spTree>
    <p:extLst>
      <p:ext uri="{BB962C8B-B14F-4D97-AF65-F5344CB8AC3E}">
        <p14:creationId xmlns:p14="http://schemas.microsoft.com/office/powerpoint/2010/main" val="20317566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m0-text-182">
            <a:extLst xmlns:a="http://schemas.openxmlformats.org/drawingml/2006/main">
              <a:ext uri="{FF2B5EF4-FFF2-40B4-BE49-F238E27FC236}">
                <a16:creationId xmlns:a16="http://schemas.microsoft.com/office/drawing/2014/main" id="{E1689A20-B74F-4082-8B80-0170742A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83">
            <a:extLst xmlns:a="http://schemas.openxmlformats.org/drawingml/2006/main">
              <a:ext uri="{FF2B5EF4-FFF2-40B4-BE49-F238E27FC236}">
                <a16:creationId xmlns:a16="http://schemas.microsoft.com/office/drawing/2014/main" id="{1F037C0B-4CCC-4047-AC4E-894C843B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84">
            <a:extLst xmlns:a="http://schemas.openxmlformats.org/drawingml/2006/main">
              <a:ext uri="{FF2B5EF4-FFF2-40B4-BE49-F238E27FC236}">
                <a16:creationId xmlns:a16="http://schemas.microsoft.com/office/drawing/2014/main" id="{35CD1964-5B8E-463D-BEAA-9CBAED24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4" name="m0-text-185">
            <a:extLst xmlns:a="http://schemas.openxmlformats.org/drawingml/2006/main">
              <a:ext uri="{FF2B5EF4-FFF2-40B4-BE49-F238E27FC236}">
                <a16:creationId xmlns:a16="http://schemas.microsoft.com/office/drawing/2014/main" id="{D69EDD28-608E-49C4-89AE-F7EF29F8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Where to Change the Agent</a:t>
            </a:r>
          </a:p>
        </p:txBody>
      </p:sp>
      <p:sp>
        <p:nvSpPr>
          <p:cNvPr id="5" name="m0-text-186">
            <a:extLst xmlns:a="http://schemas.openxmlformats.org/drawingml/2006/main">
              <a:ext uri="{FF2B5EF4-FFF2-40B4-BE49-F238E27FC236}">
                <a16:creationId xmlns:a16="http://schemas.microsoft.com/office/drawing/2014/main" id="{D4A4C1CE-B43E-4027-9DDF-B9396813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Edit or create files in agents/ to define the agent’s behaviour.</a:t>
            </a:r>
          </a:p>
        </p:txBody>
      </p:sp>
      <p:sp>
        <p:nvSpPr>
          <p:cNvPr id="6" name="m0-text-187">
            <a:extLst xmlns:a="http://schemas.openxmlformats.org/drawingml/2006/main">
              <a:ext uri="{FF2B5EF4-FFF2-40B4-BE49-F238E27FC236}">
                <a16:creationId xmlns:a16="http://schemas.microsoft.com/office/drawing/2014/main" id="{4E63B9BE-CBBB-4C39-B59F-6512E694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53721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virtual_human_project/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vh_cognitive_architecture_server/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75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vh_cognitive_server.py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7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agents/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  Module_0/Chapter_01/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57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mock_agent.py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57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naive_agent.py</a:t>
            </a:r>
          </a:p>
        </p:txBody>
      </p:sp>
      <p:sp>
        <p:nvSpPr>
          <p:cNvPr id="7" name="m0-text-188">
            <a:extLst xmlns:a="http://schemas.openxmlformats.org/drawingml/2006/main">
              <a:ext uri="{FF2B5EF4-FFF2-40B4-BE49-F238E27FC236}">
                <a16:creationId xmlns:a16="http://schemas.microsoft.com/office/drawing/2014/main" id="{6BFFB041-F951-433F-B143-E166A9E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62225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Change the import</a:t>
            </a:r>
          </a:p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 select the agent</a:t>
            </a:r>
          </a:p>
        </p:txBody>
      </p:sp>
      <p:sp>
        <p:nvSpPr>
          <p:cNvPr id="8" name="m0-text-189">
            <a:extLst xmlns:a="http://schemas.openxmlformats.org/drawingml/2006/main">
              <a:ext uri="{FF2B5EF4-FFF2-40B4-BE49-F238E27FC236}">
                <a16:creationId xmlns:a16="http://schemas.microsoft.com/office/drawing/2014/main" id="{42B13C77-5AF8-40CE-9AD4-A17A7F6DB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4802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Fixed reply</a:t>
            </a:r>
          </a:p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LLM reply</a:t>
            </a:r>
          </a:p>
        </p:txBody>
      </p:sp>
      <p:sp>
        <p:nvSpPr>
          <p:cNvPr id="9" name="m0-text-190">
            <a:extLst xmlns:a="http://schemas.openxmlformats.org/drawingml/2006/main">
              <a:ext uri="{FF2B5EF4-FFF2-40B4-BE49-F238E27FC236}">
                <a16:creationId xmlns:a16="http://schemas.microsoft.com/office/drawing/2014/main" id="{8D37B85B-4C51-4C95-8294-DDD071B4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81475"/>
            <a:ext cx="8229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your files, then restart the server in Settings.</a:t>
            </a:r>
          </a:p>
        </p:txBody>
      </p:sp>
      <p:sp>
        <p:nvSpPr>
          <p:cNvPr id="10" name="m0-text-191">
            <a:extLst xmlns:a="http://schemas.openxmlformats.org/drawingml/2006/main">
              <a:ext uri="{FF2B5EF4-FFF2-40B4-BE49-F238E27FC236}">
                <a16:creationId xmlns:a16="http://schemas.microsoft.com/office/drawing/2014/main" id="{0C936B7A-53C8-440A-9CB6-B5D39998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62475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Does the avatar remember your name? Try it.</a:t>
            </a:r>
          </a:p>
        </p:txBody>
      </p:sp>
    </p:spTree>
    <p:extLst>
      <p:ext uri="{BB962C8B-B14F-4D97-AF65-F5344CB8AC3E}">
        <p14:creationId xmlns:p14="http://schemas.microsoft.com/office/powerpoint/2010/main" val="179022155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0-text-192">
            <a:extLst xmlns:a="http://schemas.openxmlformats.org/drawingml/2006/main">
              <a:ext uri="{FF2B5EF4-FFF2-40B4-BE49-F238E27FC236}">
                <a16:creationId xmlns:a16="http://schemas.microsoft.com/office/drawing/2014/main" id="{5B8F07CA-6AEC-4036-AED0-1206AF31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93">
            <a:extLst xmlns:a="http://schemas.openxmlformats.org/drawingml/2006/main">
              <a:ext uri="{FF2B5EF4-FFF2-40B4-BE49-F238E27FC236}">
                <a16:creationId xmlns:a16="http://schemas.microsoft.com/office/drawing/2014/main" id="{9EA01131-A96D-401B-BD50-92906C79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94">
            <a:extLst xmlns:a="http://schemas.openxmlformats.org/drawingml/2006/main">
              <a:ext uri="{FF2B5EF4-FFF2-40B4-BE49-F238E27FC236}">
                <a16:creationId xmlns:a16="http://schemas.microsoft.com/office/drawing/2014/main" id="{46520523-753E-469A-AAD7-53C12A1A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4" name="m0-text-195">
            <a:extLst xmlns:a="http://schemas.openxmlformats.org/drawingml/2006/main">
              <a:ext uri="{FF2B5EF4-FFF2-40B4-BE49-F238E27FC236}">
                <a16:creationId xmlns:a16="http://schemas.microsoft.com/office/drawing/2014/main" id="{EA19C6A1-C0AF-456F-8EAC-9B010E4E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900DA3DE-2632-4684-91A0-A7F369777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196">
            <a:extLst xmlns:a="http://schemas.openxmlformats.org/drawingml/2006/main">
              <a:ext uri="{FF2B5EF4-FFF2-40B4-BE49-F238E27FC236}">
                <a16:creationId xmlns:a16="http://schemas.microsoft.com/office/drawing/2014/main" id="{9C983EA7-8867-408C-867B-5ADF26E3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197">
            <a:extLst xmlns:a="http://schemas.openxmlformats.org/drawingml/2006/main">
              <a:ext uri="{FF2B5EF4-FFF2-40B4-BE49-F238E27FC236}">
                <a16:creationId xmlns:a16="http://schemas.microsoft.com/office/drawing/2014/main" id="{22803270-639F-41AF-A07E-1E9ED2B2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</p:spTree>
    <p:extLst>
      <p:ext uri="{BB962C8B-B14F-4D97-AF65-F5344CB8AC3E}">
        <p14:creationId xmlns:p14="http://schemas.microsoft.com/office/powerpoint/2010/main" val="133952520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m0-text-198">
            <a:extLst xmlns:a="http://schemas.openxmlformats.org/drawingml/2006/main">
              <a:ext uri="{FF2B5EF4-FFF2-40B4-BE49-F238E27FC236}">
                <a16:creationId xmlns:a16="http://schemas.microsoft.com/office/drawing/2014/main" id="{0F47BBCE-C009-4F02-BCF5-56D79FE6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99">
            <a:extLst xmlns:a="http://schemas.openxmlformats.org/drawingml/2006/main">
              <a:ext uri="{FF2B5EF4-FFF2-40B4-BE49-F238E27FC236}">
                <a16:creationId xmlns:a16="http://schemas.microsoft.com/office/drawing/2014/main" id="{24719DB4-36F0-4B45-9747-E80A6918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00">
            <a:extLst xmlns:a="http://schemas.openxmlformats.org/drawingml/2006/main">
              <a:ext uri="{FF2B5EF4-FFF2-40B4-BE49-F238E27FC236}">
                <a16:creationId xmlns:a16="http://schemas.microsoft.com/office/drawing/2014/main" id="{A2628076-E89A-486A-BDB6-F400FEC4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4" name="m0-text-201">
            <a:extLst xmlns:a="http://schemas.openxmlformats.org/drawingml/2006/main">
              <a:ext uri="{FF2B5EF4-FFF2-40B4-BE49-F238E27FC236}">
                <a16:creationId xmlns:a16="http://schemas.microsoft.com/office/drawing/2014/main" id="{0878D044-D880-454E-9476-A6ED5E24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C6E267CA-C3DE-4424-8559-AD0472BA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202">
            <a:extLst xmlns:a="http://schemas.openxmlformats.org/drawingml/2006/main">
              <a:ext uri="{FF2B5EF4-FFF2-40B4-BE49-F238E27FC236}">
                <a16:creationId xmlns:a16="http://schemas.microsoft.com/office/drawing/2014/main" id="{848AF0FA-C227-4F5E-9059-74E78651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203">
            <a:extLst xmlns:a="http://schemas.openxmlformats.org/drawingml/2006/main">
              <a:ext uri="{FF2B5EF4-FFF2-40B4-BE49-F238E27FC236}">
                <a16:creationId xmlns:a16="http://schemas.microsoft.com/office/drawing/2014/main" id="{A1CB6BE5-2508-4A4D-A44B-4586F30F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46265A3A-AD00-46C4-BF94-CEAB7821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204">
            <a:extLst xmlns:a="http://schemas.openxmlformats.org/drawingml/2006/main">
              <a:ext uri="{FF2B5EF4-FFF2-40B4-BE49-F238E27FC236}">
                <a16:creationId xmlns:a16="http://schemas.microsoft.com/office/drawing/2014/main" id="{FA1D919A-AB0D-4844-A500-05450F71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205">
            <a:extLst xmlns:a="http://schemas.openxmlformats.org/drawingml/2006/main">
              <a:ext uri="{FF2B5EF4-FFF2-40B4-BE49-F238E27FC236}">
                <a16:creationId xmlns:a16="http://schemas.microsoft.com/office/drawing/2014/main" id="{B9297D5A-75F4-45E8-9D6B-19FE855C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</p:spTree>
    <p:extLst>
      <p:ext uri="{BB962C8B-B14F-4D97-AF65-F5344CB8AC3E}">
        <p14:creationId xmlns:p14="http://schemas.microsoft.com/office/powerpoint/2010/main" val="186834524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m0-text-206">
            <a:extLst xmlns:a="http://schemas.openxmlformats.org/drawingml/2006/main">
              <a:ext uri="{FF2B5EF4-FFF2-40B4-BE49-F238E27FC236}">
                <a16:creationId xmlns:a16="http://schemas.microsoft.com/office/drawing/2014/main" id="{2D949D1C-A997-4D7B-B5F6-A6AF85B0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07">
            <a:extLst xmlns:a="http://schemas.openxmlformats.org/drawingml/2006/main">
              <a:ext uri="{FF2B5EF4-FFF2-40B4-BE49-F238E27FC236}">
                <a16:creationId xmlns:a16="http://schemas.microsoft.com/office/drawing/2014/main" id="{AFE65141-B576-475C-866B-4D3192E6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08">
            <a:extLst xmlns:a="http://schemas.openxmlformats.org/drawingml/2006/main">
              <a:ext uri="{FF2B5EF4-FFF2-40B4-BE49-F238E27FC236}">
                <a16:creationId xmlns:a16="http://schemas.microsoft.com/office/drawing/2014/main" id="{8D27525B-DD95-44E0-B0DC-2EE15013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sp>
        <p:nvSpPr>
          <p:cNvPr id="4" name="m0-text-209">
            <a:extLst xmlns:a="http://schemas.openxmlformats.org/drawingml/2006/main">
              <a:ext uri="{FF2B5EF4-FFF2-40B4-BE49-F238E27FC236}">
                <a16:creationId xmlns:a16="http://schemas.microsoft.com/office/drawing/2014/main" id="{07EE66EE-9692-4720-9D0E-095FD295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E173155E-EBC7-41A2-AEA4-5A9D3547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210">
            <a:extLst xmlns:a="http://schemas.openxmlformats.org/drawingml/2006/main">
              <a:ext uri="{FF2B5EF4-FFF2-40B4-BE49-F238E27FC236}">
                <a16:creationId xmlns:a16="http://schemas.microsoft.com/office/drawing/2014/main" id="{68F0B2E3-2E3B-400B-B0B3-913C6C1B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211">
            <a:extLst xmlns:a="http://schemas.openxmlformats.org/drawingml/2006/main">
              <a:ext uri="{FF2B5EF4-FFF2-40B4-BE49-F238E27FC236}">
                <a16:creationId xmlns:a16="http://schemas.microsoft.com/office/drawing/2014/main" id="{D4560C43-01E8-4A48-8C8C-0265D1BB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5C07D3B8-11E9-4B8A-A345-DE30BE8B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212">
            <a:extLst xmlns:a="http://schemas.openxmlformats.org/drawingml/2006/main">
              <a:ext uri="{FF2B5EF4-FFF2-40B4-BE49-F238E27FC236}">
                <a16:creationId xmlns:a16="http://schemas.microsoft.com/office/drawing/2014/main" id="{84A6741B-5F47-4F4C-A617-7D0BB95A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213">
            <a:extLst xmlns:a="http://schemas.openxmlformats.org/drawingml/2006/main">
              <a:ext uri="{FF2B5EF4-FFF2-40B4-BE49-F238E27FC236}">
                <a16:creationId xmlns:a16="http://schemas.microsoft.com/office/drawing/2014/main" id="{63645253-F171-4568-9724-7D95037B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1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AEA86ADE-8782-44F7-8DA0-B9E64883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05250"/>
            <a:ext cx="5334000" cy="809625"/>
          </a:xfrm>
          <a:prstGeom xmlns:a="http://schemas.openxmlformats.org/drawingml/2006/main" prst="roundRect">
            <a:avLst>
              <a:gd name="adj" fmla="val 21176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2" name="m0-text-214">
            <a:extLst xmlns:a="http://schemas.openxmlformats.org/drawingml/2006/main">
              <a:ext uri="{FF2B5EF4-FFF2-40B4-BE49-F238E27FC236}">
                <a16:creationId xmlns:a16="http://schemas.microsoft.com/office/drawing/2014/main" id="{FFEDC2D0-C6F7-45DE-83E3-2BB542D6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1955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3" name="m0-text-215">
            <a:extLst xmlns:a="http://schemas.openxmlformats.org/drawingml/2006/main">
              <a:ext uri="{FF2B5EF4-FFF2-40B4-BE49-F238E27FC236}">
                <a16:creationId xmlns:a16="http://schemas.microsoft.com/office/drawing/2014/main" id="{C7B20588-E7F1-4EC1-859A-EA4AFED7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286250"/>
            <a:ext cx="4914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</p:spTree>
    <p:extLst>
      <p:ext uri="{BB962C8B-B14F-4D97-AF65-F5344CB8AC3E}">
        <p14:creationId xmlns:p14="http://schemas.microsoft.com/office/powerpoint/2010/main" val="195545379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m0-text-216">
            <a:extLst xmlns:a="http://schemas.openxmlformats.org/drawingml/2006/main">
              <a:ext uri="{FF2B5EF4-FFF2-40B4-BE49-F238E27FC236}">
                <a16:creationId xmlns:a16="http://schemas.microsoft.com/office/drawing/2014/main" id="{065220BD-EB90-4984-8CFB-D75459FC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17">
            <a:extLst xmlns:a="http://schemas.openxmlformats.org/drawingml/2006/main">
              <a:ext uri="{FF2B5EF4-FFF2-40B4-BE49-F238E27FC236}">
                <a16:creationId xmlns:a16="http://schemas.microsoft.com/office/drawing/2014/main" id="{6F02BD92-F7CB-4504-86D5-F3B8436E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18">
            <a:extLst xmlns:a="http://schemas.openxmlformats.org/drawingml/2006/main">
              <a:ext uri="{FF2B5EF4-FFF2-40B4-BE49-F238E27FC236}">
                <a16:creationId xmlns:a16="http://schemas.microsoft.com/office/drawing/2014/main" id="{62393683-F2E8-4051-B960-DFE869F3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sp>
        <p:nvSpPr>
          <p:cNvPr id="4" name="m0-text-219">
            <a:extLst xmlns:a="http://schemas.openxmlformats.org/drawingml/2006/main">
              <a:ext uri="{FF2B5EF4-FFF2-40B4-BE49-F238E27FC236}">
                <a16:creationId xmlns:a16="http://schemas.microsoft.com/office/drawing/2014/main" id="{3FBBE2BE-E1D9-46B1-8F5E-A7973CE4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7E047299-847A-4D48-97D4-22DB7F26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220">
            <a:extLst xmlns:a="http://schemas.openxmlformats.org/drawingml/2006/main">
              <a:ext uri="{FF2B5EF4-FFF2-40B4-BE49-F238E27FC236}">
                <a16:creationId xmlns:a16="http://schemas.microsoft.com/office/drawing/2014/main" id="{9EF2256F-9A04-4D7C-B3B5-5114E43D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221">
            <a:extLst xmlns:a="http://schemas.openxmlformats.org/drawingml/2006/main">
              <a:ext uri="{FF2B5EF4-FFF2-40B4-BE49-F238E27FC236}">
                <a16:creationId xmlns:a16="http://schemas.microsoft.com/office/drawing/2014/main" id="{2811DE5F-4D28-44F4-AD5E-C81E32916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BAECDF62-8C23-48F2-A00F-10B033C0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222">
            <a:extLst xmlns:a="http://schemas.openxmlformats.org/drawingml/2006/main">
              <a:ext uri="{FF2B5EF4-FFF2-40B4-BE49-F238E27FC236}">
                <a16:creationId xmlns:a16="http://schemas.microsoft.com/office/drawing/2014/main" id="{510D7750-32A7-4882-B6B6-9FE7722F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223">
            <a:extLst xmlns:a="http://schemas.openxmlformats.org/drawingml/2006/main">
              <a:ext uri="{FF2B5EF4-FFF2-40B4-BE49-F238E27FC236}">
                <a16:creationId xmlns:a16="http://schemas.microsoft.com/office/drawing/2014/main" id="{AED281ED-58AD-4DBC-A6E0-C4C487BD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1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0449F77C-39FA-4941-A6A5-79853EF3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05250"/>
            <a:ext cx="5334000" cy="809625"/>
          </a:xfrm>
          <a:prstGeom xmlns:a="http://schemas.openxmlformats.org/drawingml/2006/main" prst="roundRect">
            <a:avLst>
              <a:gd name="adj" fmla="val 21176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2" name="m0-text-224">
            <a:extLst xmlns:a="http://schemas.openxmlformats.org/drawingml/2006/main">
              <a:ext uri="{FF2B5EF4-FFF2-40B4-BE49-F238E27FC236}">
                <a16:creationId xmlns:a16="http://schemas.microsoft.com/office/drawing/2014/main" id="{B99C8E59-7ADB-40A0-A7A3-E5C8980C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1955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3" name="m0-text-225">
            <a:extLst xmlns:a="http://schemas.openxmlformats.org/drawingml/2006/main">
              <a:ext uri="{FF2B5EF4-FFF2-40B4-BE49-F238E27FC236}">
                <a16:creationId xmlns:a16="http://schemas.microsoft.com/office/drawing/2014/main" id="{30BBD855-539E-4B74-8E63-E246F498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286250"/>
            <a:ext cx="4914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  <p:sp>
        <p:nvSpPr>
          <p:cNvPr id="14" name="Prediction question sticker">
            <a:extLst xmlns:a="http://schemas.openxmlformats.org/drawingml/2006/main">
              <a:ext uri="{FF2B5EF4-FFF2-40B4-BE49-F238E27FC236}">
                <a16:creationId xmlns:a16="http://schemas.microsoft.com/office/drawing/2014/main" id="{7C676D6B-D4A7-4F6C-9CD6-B92BB9B8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2352675" y="2476500"/>
            <a:ext cx="44386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87C"/>
          </a:solidFill>
          <a:ln xmlns:a="http://schemas.openxmlformats.org/drawingml/2006/main" w="0">
            <a:solidFill>
              <a:srgbClr val="E8B87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B23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61B23"/>
                </a:solidFill>
                <a:latin typeface="Calibri"/>
                <a:ea typeface="Calibri"/>
                <a:cs typeface="Calibri"/>
              </a:rPr>
              <a:t>What will it answer?</a:t>
            </a:r>
          </a:p>
          <a:p xmlns:a="http://schemas.openxmlformats.org/drawingml/2006/main">
            <a:pPr algn="ctr">
              <a:defRPr sz="2325" b="1">
                <a:solidFill>
                  <a:srgbClr val="161B23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61B23"/>
                </a:solidFill>
                <a:latin typeface="Calibri"/>
                <a:ea typeface="Calibri"/>
                <a:cs typeface="Calibri"/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110019673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m0-text-226">
            <a:extLst xmlns:a="http://schemas.openxmlformats.org/drawingml/2006/main">
              <a:ext uri="{FF2B5EF4-FFF2-40B4-BE49-F238E27FC236}">
                <a16:creationId xmlns:a16="http://schemas.microsoft.com/office/drawing/2014/main" id="{5B4E326E-8708-4064-8332-78D8F339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27">
            <a:extLst xmlns:a="http://schemas.openxmlformats.org/drawingml/2006/main">
              <a:ext uri="{FF2B5EF4-FFF2-40B4-BE49-F238E27FC236}">
                <a16:creationId xmlns:a16="http://schemas.microsoft.com/office/drawing/2014/main" id="{3EFFDCF7-FF9C-4FFD-8E62-4663D595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28">
            <a:extLst xmlns:a="http://schemas.openxmlformats.org/drawingml/2006/main">
              <a:ext uri="{FF2B5EF4-FFF2-40B4-BE49-F238E27FC236}">
                <a16:creationId xmlns:a16="http://schemas.microsoft.com/office/drawing/2014/main" id="{6306F95B-2D46-4BDF-808B-2F008B5F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4" name="m0-text-229">
            <a:extLst xmlns:a="http://schemas.openxmlformats.org/drawingml/2006/main">
              <a:ext uri="{FF2B5EF4-FFF2-40B4-BE49-F238E27FC236}">
                <a16:creationId xmlns:a16="http://schemas.microsoft.com/office/drawing/2014/main" id="{2F59B8E3-3BAD-4A96-BCFF-EAFF3E56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Without Memory, Each Call Starts Again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CDA3E-15FB-4A3A-AB88-32BC7823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52550"/>
            <a:ext cx="5334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230">
            <a:extLst xmlns:a="http://schemas.openxmlformats.org/drawingml/2006/main">
              <a:ext uri="{FF2B5EF4-FFF2-40B4-BE49-F238E27FC236}">
                <a16:creationId xmlns:a16="http://schemas.microsoft.com/office/drawing/2014/main" id="{9837A7FC-B9E7-49DD-A6E5-6AA1D0A0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438275"/>
            <a:ext cx="499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231">
            <a:extLst xmlns:a="http://schemas.openxmlformats.org/drawingml/2006/main">
              <a:ext uri="{FF2B5EF4-FFF2-40B4-BE49-F238E27FC236}">
                <a16:creationId xmlns:a16="http://schemas.microsoft.com/office/drawing/2014/main" id="{3DA8CB87-9BB7-40AC-8B98-4BCC90D1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28775"/>
            <a:ext cx="499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t>Hi, </a:t>
            </a:r>
            <a:r>
              <a:rPr sz="16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I’m Alessandro</a:t>
            </a:r>
            <a:r>
              <a:t>. And you?</a:t>
            </a:r>
          </a:p>
        </p:txBody>
      </p:sp>
      <p:sp>
        <p:nvSpPr>
          <p:cNvPr id="8" name="Underline the earlier introduction">
            <a:extLst xmlns:a="http://schemas.openxmlformats.org/drawingml/2006/main">
              <a:ext uri="{FF2B5EF4-FFF2-40B4-BE49-F238E27FC236}">
                <a16:creationId xmlns:a16="http://schemas.microsoft.com/office/drawing/2014/main" id="{92CC4470-0BF8-4A1B-8473-62AD888B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895475"/>
            <a:ext cx="1381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0">
            <a:solidFill>
              <a:srgbClr val="D9A06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68B926-3275-4DE1-AAAF-74483E02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66925"/>
            <a:ext cx="590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m0-text-232">
            <a:extLst xmlns:a="http://schemas.openxmlformats.org/drawingml/2006/main">
              <a:ext uri="{FF2B5EF4-FFF2-40B4-BE49-F238E27FC236}">
                <a16:creationId xmlns:a16="http://schemas.microsoft.com/office/drawing/2014/main" id="{6B14CA6E-E150-47BA-9580-A13C36F6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52650"/>
            <a:ext cx="5562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1" name="m0-text-233">
            <a:extLst xmlns:a="http://schemas.openxmlformats.org/drawingml/2006/main">
              <a:ext uri="{FF2B5EF4-FFF2-40B4-BE49-F238E27FC236}">
                <a16:creationId xmlns:a16="http://schemas.microsoft.com/office/drawing/2014/main" id="{6A209D52-8694-4417-9ABB-A957A8BD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43150"/>
            <a:ext cx="5562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F8D2A6-CFB0-4730-8E0B-12B95B2D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19425"/>
            <a:ext cx="5334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3" name="m0-text-234">
            <a:extLst xmlns:a="http://schemas.openxmlformats.org/drawingml/2006/main">
              <a:ext uri="{FF2B5EF4-FFF2-40B4-BE49-F238E27FC236}">
                <a16:creationId xmlns:a16="http://schemas.microsoft.com/office/drawing/2014/main" id="{EB9E3CC6-087B-4803-814C-8AA535ED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05150"/>
            <a:ext cx="499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4" name="m0-text-235">
            <a:extLst xmlns:a="http://schemas.openxmlformats.org/drawingml/2006/main">
              <a:ext uri="{FF2B5EF4-FFF2-40B4-BE49-F238E27FC236}">
                <a16:creationId xmlns:a16="http://schemas.microsoft.com/office/drawing/2014/main" id="{C973A3B9-33E3-4D7F-BCEF-6977CD1F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95650"/>
            <a:ext cx="499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11172B-8BF8-408B-98F9-C6370B23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33800"/>
            <a:ext cx="7239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m0-text-236">
            <a:extLst xmlns:a="http://schemas.openxmlformats.org/drawingml/2006/main">
              <a:ext uri="{FF2B5EF4-FFF2-40B4-BE49-F238E27FC236}">
                <a16:creationId xmlns:a16="http://schemas.microsoft.com/office/drawing/2014/main" id="{3CF530F7-7A49-42C7-A36F-55C6023D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9525"/>
            <a:ext cx="6896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7" name="m0-text-237">
            <a:extLst xmlns:a="http://schemas.openxmlformats.org/drawingml/2006/main">
              <a:ext uri="{FF2B5EF4-FFF2-40B4-BE49-F238E27FC236}">
                <a16:creationId xmlns:a16="http://schemas.microsoft.com/office/drawing/2014/main" id="{B5F9561B-6B1D-469A-8DBE-397F78FE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10025"/>
            <a:ext cx="689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 do not know your name. Could you tell me?</a:t>
            </a:r>
          </a:p>
        </p:txBody>
      </p:sp>
      <p:sp>
        <p:nvSpPr>
          <p:cNvPr id="18" name="m0-text-238">
            <a:extLst xmlns:a="http://schemas.openxmlformats.org/drawingml/2006/main">
              <a:ext uri="{FF2B5EF4-FFF2-40B4-BE49-F238E27FC236}">
                <a16:creationId xmlns:a16="http://schemas.microsoft.com/office/drawing/2014/main" id="{78CBC11B-03A4-4FF6-8F21-1EB1F92A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33900"/>
            <a:ext cx="8229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LLM calls are stateless: we must supply earlier information again.</a:t>
            </a:r>
          </a:p>
        </p:txBody>
      </p:sp>
    </p:spTree>
    <p:extLst>
      <p:ext uri="{BB962C8B-B14F-4D97-AF65-F5344CB8AC3E}">
        <p14:creationId xmlns:p14="http://schemas.microsoft.com/office/powerpoint/2010/main" val="198246438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m0-text-239">
            <a:extLst xmlns:a="http://schemas.openxmlformats.org/drawingml/2006/main">
              <a:ext uri="{FF2B5EF4-FFF2-40B4-BE49-F238E27FC236}">
                <a16:creationId xmlns:a16="http://schemas.microsoft.com/office/drawing/2014/main" id="{8EDA3846-0BB7-406F-9DE5-8929E862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40">
            <a:extLst xmlns:a="http://schemas.openxmlformats.org/drawingml/2006/main">
              <a:ext uri="{FF2B5EF4-FFF2-40B4-BE49-F238E27FC236}">
                <a16:creationId xmlns:a16="http://schemas.microsoft.com/office/drawing/2014/main" id="{C3AE0648-AB17-4266-A36D-E41576BD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41">
            <a:extLst xmlns:a="http://schemas.openxmlformats.org/drawingml/2006/main">
              <a:ext uri="{FF2B5EF4-FFF2-40B4-BE49-F238E27FC236}">
                <a16:creationId xmlns:a16="http://schemas.microsoft.com/office/drawing/2014/main" id="{93A00715-905E-448A-A0AA-FA3ADD21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4" name="m0-text-242">
            <a:extLst xmlns:a="http://schemas.openxmlformats.org/drawingml/2006/main">
              <a:ext uri="{FF2B5EF4-FFF2-40B4-BE49-F238E27FC236}">
                <a16:creationId xmlns:a16="http://schemas.microsoft.com/office/drawing/2014/main" id="{EDB02145-4D1C-4976-897B-EBEB96BA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From Stateless Calls to Cognitive Architecture</a:t>
            </a:r>
          </a:p>
        </p:txBody>
      </p:sp>
      <p:sp>
        <p:nvSpPr>
          <p:cNvPr id="5" name="m0-text-243">
            <a:extLst xmlns:a="http://schemas.openxmlformats.org/drawingml/2006/main">
              <a:ext uri="{FF2B5EF4-FFF2-40B4-BE49-F238E27FC236}">
                <a16:creationId xmlns:a16="http://schemas.microsoft.com/office/drawing/2014/main" id="{05AC9F9E-EB27-4B16-9E54-74947751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8229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receives the question, not the conversation.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CE43A0-7CB2-440D-A86D-3208BC70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62200"/>
            <a:ext cx="38862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12383">
            <a:solidFill>
              <a:srgbClr val="D9A06B"/>
            </a:solidFill>
          </a:ln>
        </p:spPr>
      </p:sp>
      <p:sp>
        <p:nvSpPr>
          <p:cNvPr id="7" name="m0-text-244">
            <a:extLst xmlns:a="http://schemas.openxmlformats.org/drawingml/2006/main">
              <a:ext uri="{FF2B5EF4-FFF2-40B4-BE49-F238E27FC236}">
                <a16:creationId xmlns:a16="http://schemas.microsoft.com/office/drawing/2014/main" id="{AAA8F91E-F462-4CA0-B666-F9DED9AB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remember the name</a:t>
            </a:r>
          </a:p>
        </p:txBody>
      </p:sp>
      <p:sp>
        <p:nvSpPr>
          <p:cNvPr id="8" name="m0-text-245">
            <a:extLst xmlns:a="http://schemas.openxmlformats.org/drawingml/2006/main">
              <a:ext uri="{FF2B5EF4-FFF2-40B4-BE49-F238E27FC236}">
                <a16:creationId xmlns:a16="http://schemas.microsoft.com/office/drawing/2014/main" id="{D87B40A7-A5F7-4CFE-9832-C9557AF5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1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Memory model</a:t>
            </a:r>
          </a:p>
        </p:txBody>
      </p:sp>
      <p:sp>
        <p:nvSpPr>
          <p:cNvPr id="9" name="m0-text-246">
            <a:extLst xmlns:a="http://schemas.openxmlformats.org/drawingml/2006/main">
              <a:ext uri="{FF2B5EF4-FFF2-40B4-BE49-F238E27FC236}">
                <a16:creationId xmlns:a16="http://schemas.microsoft.com/office/drawing/2014/main" id="{3060861B-94D3-4FDC-A264-26426B6C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95725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Keep useful information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across interactions.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1F8D03-E9D8-497C-9215-B36F738D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62200"/>
            <a:ext cx="38862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12383">
            <a:solidFill>
              <a:srgbClr val="7FA8E3"/>
            </a:solidFill>
          </a:ln>
        </p:spPr>
      </p:sp>
      <p:sp>
        <p:nvSpPr>
          <p:cNvPr id="11" name="m0-text-247">
            <a:extLst xmlns:a="http://schemas.openxmlformats.org/drawingml/2006/main">
              <a:ext uri="{FF2B5EF4-FFF2-40B4-BE49-F238E27FC236}">
                <a16:creationId xmlns:a16="http://schemas.microsoft.com/office/drawing/2014/main" id="{50A26CAD-F584-4042-9183-C1A1C6E2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5908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build a virtual human</a:t>
            </a:r>
          </a:p>
        </p:txBody>
      </p:sp>
      <p:sp>
        <p:nvSpPr>
          <p:cNvPr id="12" name="m0-text-248">
            <a:extLst xmlns:a="http://schemas.openxmlformats.org/drawingml/2006/main">
              <a:ext uri="{FF2B5EF4-FFF2-40B4-BE49-F238E27FC236}">
                <a16:creationId xmlns:a16="http://schemas.microsoft.com/office/drawing/2014/main" id="{42EE6216-2A10-4992-B1C4-D5146A84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06705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7FA8E3"/>
                </a:solidFill>
                <a:latin typeface="Georgia"/>
                <a:ea typeface="Georgia"/>
                <a:cs typeface="Georgia"/>
              </a:defRPr>
            </a:pPr>
            <a:r>
              <a:rPr sz="2100">
                <a:solidFill>
                  <a:srgbClr val="7FA8E3"/>
                </a:solidFill>
                <a:latin typeface="Georgia"/>
                <a:ea typeface="Georgia"/>
                <a:cs typeface="Georgia"/>
              </a:rPr>
              <a:t>Cognitive architecture</a:t>
            </a:r>
          </a:p>
        </p:txBody>
      </p:sp>
      <p:sp>
        <p:nvSpPr>
          <p:cNvPr id="13" name="m0-text-249">
            <a:extLst xmlns:a="http://schemas.openxmlformats.org/drawingml/2006/main">
              <a:ext uri="{FF2B5EF4-FFF2-40B4-BE49-F238E27FC236}">
                <a16:creationId xmlns:a16="http://schemas.microsoft.com/office/drawing/2014/main" id="{613D86B2-1E38-4778-863D-DE5EFE69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895725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Connect perception, reasoning,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memory and action.</a:t>
            </a:r>
          </a:p>
        </p:txBody>
      </p:sp>
    </p:spTree>
    <p:extLst>
      <p:ext uri="{BB962C8B-B14F-4D97-AF65-F5344CB8AC3E}">
        <p14:creationId xmlns:p14="http://schemas.microsoft.com/office/powerpoint/2010/main" val="49503573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2026-10-27T18:52:15.0800000Z</dcterms:created>
  <dcterms:modified xsi:type="dcterms:W3CDTF">2026-10-27T18:52:15.0810000Z</dcterms:modified>
</coreProperties>
</file>